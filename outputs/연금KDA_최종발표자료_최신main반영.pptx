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5338aeabe945f9" /><Relationship Type="http://schemas.openxmlformats.org/officeDocument/2006/relationships/extended-properties" Target="/docProps/app.xml" Id="R2ea22aa43c784029" /><Relationship Type="http://schemas.openxmlformats.org/officeDocument/2006/relationships/officeDocument" Target="/ppt/presentation.xml" Id="R2d0d681640d648c2" /></Relationships>
</file>

<file path=ppt/presentation.xml><?xml version="1.0" encoding="utf-8"?>
<p:presentation xmlns:p="http://schemas.openxmlformats.org/presentationml/2006/main">
  <p:sldMasterIdLst>
    <p:sldMasterId xmlns:r="http://schemas.openxmlformats.org/officeDocument/2006/relationships" id="2147483648" r:id="R35d0adb173334f77"/>
  </p:sldMasterIdLst>
  <p:notesMasterIdLst>
    <p:notesMasterId xmlns:r="http://schemas.openxmlformats.org/officeDocument/2006/relationships" r:id="R675619b4518247be"/>
  </p:notesMasterIdLst>
  <p:sldIdLst>
    <p:sldId xmlns:r="http://schemas.openxmlformats.org/officeDocument/2006/relationships" id="256" r:id="Re092cf70d78f4ed6"/>
    <p:sldId xmlns:r="http://schemas.openxmlformats.org/officeDocument/2006/relationships" id="257" r:id="Rf9fd1cd8219b40bd"/>
    <p:sldId xmlns:r="http://schemas.openxmlformats.org/officeDocument/2006/relationships" id="258" r:id="Rcae2898c4d394ac2"/>
    <p:sldId xmlns:r="http://schemas.openxmlformats.org/officeDocument/2006/relationships" id="259" r:id="R2af3c8e3963e4227"/>
    <p:sldId xmlns:r="http://schemas.openxmlformats.org/officeDocument/2006/relationships" id="260" r:id="Rdfcf64ce21bb43cb"/>
    <p:sldId xmlns:r="http://schemas.openxmlformats.org/officeDocument/2006/relationships" id="261" r:id="R710b5c8cd58c4353"/>
    <p:sldId xmlns:r="http://schemas.openxmlformats.org/officeDocument/2006/relationships" id="262" r:id="Rabbe18a869524338"/>
    <p:sldId xmlns:r="http://schemas.openxmlformats.org/officeDocument/2006/relationships" id="263" r:id="R03abeb7b79e9446b"/>
    <p:sldId xmlns:r="http://schemas.openxmlformats.org/officeDocument/2006/relationships" id="264" r:id="Rd00da38a973f4c9a"/>
    <p:sldId xmlns:r="http://schemas.openxmlformats.org/officeDocument/2006/relationships" id="265" r:id="R0a9a96a01aad46d8"/>
    <p:sldId xmlns:r="http://schemas.openxmlformats.org/officeDocument/2006/relationships" id="266" r:id="R143e7c9ecbf24b17"/>
    <p:sldId xmlns:r="http://schemas.openxmlformats.org/officeDocument/2006/relationships" id="267" r:id="R7838b0f5c19945f1"/>
    <p:sldId xmlns:r="http://schemas.openxmlformats.org/officeDocument/2006/relationships" id="268" r:id="R5f145b7c5e27463e"/>
    <p:sldId xmlns:r="http://schemas.openxmlformats.org/officeDocument/2006/relationships" id="269" r:id="R9e314b6185a44282"/>
    <p:sldId xmlns:r="http://schemas.openxmlformats.org/officeDocument/2006/relationships" id="270" r:id="Rd9aa36649fd8432b"/>
    <p:sldId xmlns:r="http://schemas.openxmlformats.org/officeDocument/2006/relationships" id="271" r:id="R518bc9af2e724799"/>
    <p:sldId xmlns:r="http://schemas.openxmlformats.org/officeDocument/2006/relationships" id="272" r:id="Rd5b2e90940644614"/>
    <p:sldId xmlns:r="http://schemas.openxmlformats.org/officeDocument/2006/relationships" id="273" r:id="Rbaa413fa60f54c83"/>
    <p:sldId xmlns:r="http://schemas.openxmlformats.org/officeDocument/2006/relationships" id="274" r:id="R6c328de400bc42f8"/>
    <p:sldId xmlns:r="http://schemas.openxmlformats.org/officeDocument/2006/relationships" id="275" r:id="R2d518947736d46c1"/>
    <p:sldId xmlns:r="http://schemas.openxmlformats.org/officeDocument/2006/relationships" id="276" r:id="Rb7d43265eb1e48b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a5f1c97d06243ba" /><Relationship Type="http://schemas.openxmlformats.org/officeDocument/2006/relationships/slideMaster" Target="/ppt/slideMasters/slideMaster1.xml" Id="R35d0adb173334f77" /><Relationship Type="http://schemas.openxmlformats.org/officeDocument/2006/relationships/notesMaster" Target="/ppt/notesMasters/notesMaster1.xml" Id="R675619b4518247be" /><Relationship Type="http://schemas.openxmlformats.org/officeDocument/2006/relationships/presProps" Target="/ppt/presProps.xml" Id="Rd30310a39ca041a7" /><Relationship Type="http://schemas.openxmlformats.org/officeDocument/2006/relationships/viewProps" Target="/ppt/viewProps.xml" Id="R2369b0393d754e41" /><Relationship Type="http://schemas.openxmlformats.org/officeDocument/2006/relationships/tableStyles" Target="/ppt/tableStyles.xml" Id="R489e197724a94bcf" /><Relationship Type="http://schemas.openxmlformats.org/officeDocument/2006/relationships/slide" Target="/ppt/slides/slide1.xml" Id="Re092cf70d78f4ed6" /><Relationship Type="http://schemas.openxmlformats.org/officeDocument/2006/relationships/slide" Target="/ppt/slides/slide2.xml" Id="Rf9fd1cd8219b40bd" /><Relationship Type="http://schemas.openxmlformats.org/officeDocument/2006/relationships/slide" Target="/ppt/slides/slide3.xml" Id="Rcae2898c4d394ac2" /><Relationship Type="http://schemas.openxmlformats.org/officeDocument/2006/relationships/slide" Target="/ppt/slides/slide4.xml" Id="R2af3c8e3963e4227" /><Relationship Type="http://schemas.openxmlformats.org/officeDocument/2006/relationships/slide" Target="/ppt/slides/slide5.xml" Id="Rdfcf64ce21bb43cb" /><Relationship Type="http://schemas.openxmlformats.org/officeDocument/2006/relationships/slide" Target="/ppt/slides/slide6.xml" Id="R710b5c8cd58c4353" /><Relationship Type="http://schemas.openxmlformats.org/officeDocument/2006/relationships/slide" Target="/ppt/slides/slide7.xml" Id="Rabbe18a869524338" /><Relationship Type="http://schemas.openxmlformats.org/officeDocument/2006/relationships/slide" Target="/ppt/slides/slide8.xml" Id="R03abeb7b79e9446b" /><Relationship Type="http://schemas.openxmlformats.org/officeDocument/2006/relationships/slide" Target="/ppt/slides/slide9.xml" Id="Rd00da38a973f4c9a" /><Relationship Type="http://schemas.openxmlformats.org/officeDocument/2006/relationships/slide" Target="/ppt/slides/slide10.xml" Id="R0a9a96a01aad46d8" /><Relationship Type="http://schemas.openxmlformats.org/officeDocument/2006/relationships/slide" Target="/ppt/slides/slide11.xml" Id="R143e7c9ecbf24b17" /><Relationship Type="http://schemas.openxmlformats.org/officeDocument/2006/relationships/slide" Target="/ppt/slides/slide12.xml" Id="R7838b0f5c19945f1" /><Relationship Type="http://schemas.openxmlformats.org/officeDocument/2006/relationships/slide" Target="/ppt/slides/slide13.xml" Id="R5f145b7c5e27463e" /><Relationship Type="http://schemas.openxmlformats.org/officeDocument/2006/relationships/slide" Target="/ppt/slides/slide14.xml" Id="R9e314b6185a44282" /><Relationship Type="http://schemas.openxmlformats.org/officeDocument/2006/relationships/slide" Target="/ppt/slides/slide15.xml" Id="Rd9aa36649fd8432b" /><Relationship Type="http://schemas.openxmlformats.org/officeDocument/2006/relationships/slide" Target="/ppt/slides/slide16.xml" Id="R518bc9af2e724799" /><Relationship Type="http://schemas.openxmlformats.org/officeDocument/2006/relationships/slide" Target="/ppt/slides/slide17.xml" Id="Rd5b2e90940644614" /><Relationship Type="http://schemas.openxmlformats.org/officeDocument/2006/relationships/slide" Target="/ppt/slides/slide18.xml" Id="Rbaa413fa60f54c83" /><Relationship Type="http://schemas.openxmlformats.org/officeDocument/2006/relationships/slide" Target="/ppt/slides/slide19.xml" Id="R6c328de400bc42f8" /><Relationship Type="http://schemas.openxmlformats.org/officeDocument/2006/relationships/slide" Target="/ppt/slides/slide20.xml" Id="R2d518947736d46c1" /><Relationship Type="http://schemas.openxmlformats.org/officeDocument/2006/relationships/slide" Target="/ppt/slides/slide21.xml" Id="Rb7d43265eb1e48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50b386603649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8bdea00f9f4544" /><Relationship Type="http://schemas.openxmlformats.org/officeDocument/2006/relationships/notesMaster" Target="/ppt/notesMasters/notesMaster1.xml" Id="R6abe58d52f0645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11eedcbdea465f" /><Relationship Type="http://schemas.openxmlformats.org/officeDocument/2006/relationships/notesMaster" Target="/ppt/notesMasters/notesMaster1.xml" Id="Rcee4baf3373b44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c6ee1fdbe34130" /><Relationship Type="http://schemas.openxmlformats.org/officeDocument/2006/relationships/notesMaster" Target="/ppt/notesMasters/notesMaster1.xml" Id="R9d2a7502bee942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da0fe482f74036" /><Relationship Type="http://schemas.openxmlformats.org/officeDocument/2006/relationships/notesMaster" Target="/ppt/notesMasters/notesMaster1.xml" Id="Ra99a10f6d44546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9b92d1f64c4818" /><Relationship Type="http://schemas.openxmlformats.org/officeDocument/2006/relationships/notesMaster" Target="/ppt/notesMasters/notesMaster1.xml" Id="R5900c0d117044d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5c9958ac60439b" /><Relationship Type="http://schemas.openxmlformats.org/officeDocument/2006/relationships/notesMaster" Target="/ppt/notesMasters/notesMaster1.xml" Id="Rac47cd8330d94c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cc8fc64f2248c8" /><Relationship Type="http://schemas.openxmlformats.org/officeDocument/2006/relationships/notesMaster" Target="/ppt/notesMasters/notesMaster1.xml" Id="Rf47d9fcfb38e44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2cc1d9d7c144d4" /><Relationship Type="http://schemas.openxmlformats.org/officeDocument/2006/relationships/notesMaster" Target="/ppt/notesMasters/notesMaster1.xml" Id="R923c0869160c46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2a3b8f884f49db" /><Relationship Type="http://schemas.openxmlformats.org/officeDocument/2006/relationships/notesMaster" Target="/ppt/notesMasters/notesMaster1.xml" Id="R5d0151b7e5f24d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d5d94171e748be" /><Relationship Type="http://schemas.openxmlformats.org/officeDocument/2006/relationships/notesMaster" Target="/ppt/notesMasters/notesMaster1.xml" Id="R33864c2bdfd542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64987db46d464d" /><Relationship Type="http://schemas.openxmlformats.org/officeDocument/2006/relationships/notesMaster" Target="/ppt/notesMasters/notesMaster1.xml" Id="R4e3e34ff094c44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12f2383b3d40ff" /><Relationship Type="http://schemas.openxmlformats.org/officeDocument/2006/relationships/notesMaster" Target="/ppt/notesMasters/notesMaster1.xml" Id="R0403efc318b04f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b31f76308f49bf" /><Relationship Type="http://schemas.openxmlformats.org/officeDocument/2006/relationships/notesMaster" Target="/ppt/notesMasters/notesMaster1.xml" Id="R5edb53c22c3342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b6d97775f7497a" /><Relationship Type="http://schemas.openxmlformats.org/officeDocument/2006/relationships/notesMaster" Target="/ppt/notesMasters/notesMaster1.xml" Id="R5904adc248884b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5fcd9d45fa4ae3" /><Relationship Type="http://schemas.openxmlformats.org/officeDocument/2006/relationships/notesMaster" Target="/ppt/notesMasters/notesMaster1.xml" Id="R37743ffac80c41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b89cc55159a4064" /><Relationship Type="http://schemas.openxmlformats.org/officeDocument/2006/relationships/notesMaster" Target="/ppt/notesMasters/notesMaster1.xml" Id="R3a5a69fc985d41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6464344db7475a" /><Relationship Type="http://schemas.openxmlformats.org/officeDocument/2006/relationships/notesMaster" Target="/ppt/notesMasters/notesMaster1.xml" Id="Reff8fa3f3768444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0c02faa2b844ab" /><Relationship Type="http://schemas.openxmlformats.org/officeDocument/2006/relationships/notesMaster" Target="/ppt/notesMasters/notesMaster1.xml" Id="R09c80e1b8b134e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bf5ab32afb44be" /><Relationship Type="http://schemas.openxmlformats.org/officeDocument/2006/relationships/notesMaster" Target="/ppt/notesMasters/notesMaster1.xml" Id="Rb11bbdb03b504e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ad6dbc15444569" /><Relationship Type="http://schemas.openxmlformats.org/officeDocument/2006/relationships/notesMaster" Target="/ppt/notesMasters/notesMaster1.xml" Id="R69bb6bb963e4469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21e2ed3baa40bb" /><Relationship Type="http://schemas.openxmlformats.org/officeDocument/2006/relationships/notesMaster" Target="/ppt/notesMasters/notesMaster1.xml" Id="R56b3ac1c9bdf4c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 KDA 증권의 연금:KDA — '연금:크다'라고 읽습니다. 이 서비스를 통해 고객의 연금이 커지기를 바란다는 의미를 담아 지은 이름이며, 연금 포트폴리오 가이드 PB 서비스입니다. DC형 퇴직연금·IRP·연금저축 세 계좌를 한곳에서 설명하며, 일임이 아니라 자문·정보 제공형입니다. 핵심 한 줄: 계산은 규칙 엔진이 하고, AI는 설명만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결론부터: 공식 데이터 861개 ETF 유니버스와 규칙 엔진을 만들었고, AI 답변의 모든 숫자는 근거와 대조됩니다. 실측 수치 네 가지만 기억해 주세요 — 861개 적격 ETF, 21만 8천 행 수익 이력, 포트폴리오 120개 검증 위반 0건, 테스트 944개 통과.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왜 지금인가. 적립금 508조, 2035년 1200조 전망의 시장에서 2024년 12월 일임 규제가 열리며 경쟁이 시작됐습니다. 그런데 이용자 여정을 보면 조회는 커머디티가 됐지만 진단과 설명, 실행이 끊겨 있습니다. 시장은 블랙박스 일임 아니면 참고용 정보제공 두 갈래뿐이고, 우리는 그 사이의 '설명 레이어'를 채웁니다.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검증은 네 축입니다. 포트폴리오 120개 전수 0건, 테스트 944개, 원격 E2E 다섯 종, 그리고 PR을 막는 품질 게이트 8종. 성능은 공시 응답 3분의 1, 부팅 3분의 1 이상 단축했고, 스트리밍 구조로 체감 대기를 없앴습니다.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비즈니스 가치는 네 가지입니다. 규제·민원 리스크를 구조로 낮추고, 운영을 무인화하고, AI 비용을 캐시와 작은 모델로 억제하며, 실물이전 시대에 설명 레이어로 고객을 유입·락인합니다. ROI는 지어내지 않고 실측 지표로만 말합니다.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타깃은 연금 방치형 3040 직장인입니다. 시연은 완전 합성 페르소나 6인이 5개 투자성향을 나눠 맡습니다. 해결책은 5대 기능 — 자산 홈, 챗봇, 투자전략, 타 고객 포트폴리오, 세금계산이며, 방향은 '대신'이 아니라 '스스로 굴리게 돕는' AI입니다.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가지 설계 원칙입니다. 자문형이라 일임 규제를 구조적으로 피하고, 계산과 설명을 분리해 환각을 차단하며, 계좌별 규칙 혼합과 실·목 데이터 경계는 코드 레벨에서 강제합니다. 여기에 출처 칩과 성향 밖 제안 금지가 항상 붙습니다.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데이터는 전부 공식 API 8종입니다. 수정주가 89만 관측, 분배 공시 8천 건까지 결합했고, 법령 원문의 '100분의 70' 문구를 기계로 검증해 규칙 마스터를 만듭니다. 모든 수집은 원본 보존과 SHA-256 매니페스트로 재현 가능하고, 뉴스와 구성종목은 cron으로 무인 운영됩니다.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전처리 핵심은 '가격'을 '총수익'으로 바꾸는 것입니다. 수정주가에 분배금 재투자를 결합해 TR 지수를 만들고, 못 만드는 구간은 추정하지 않고 제외·표기합니다. ETF 후보 랭킹은 품질점수 6요소로만 매기고 과거수익률은 쓰지 않습니다 — 추천이 아니라는 방어선입니다.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파이프라인 여섯 단계입니다. 질문은 가드레일을 거쳐 여덟 개 인텐트로 라우팅되고, 계산은 전부 결정론 규칙 엔진이 합니다. 핵심은 다섯 번째 — 답변 숫자를 근거 객체와 대조해서 안 맞으면 응답 자체가 안 만들어집니다. LLM 재서술은 옵션 부품이라 꺼져도 서비스가 돌아갑니다.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규칙 엔진에는 연금 제도가 그대로 들어가 있습니다. 70% 한도, 세액공제 한도와 공제율, 연령별 연금소득세, 1500만 원 룰, 수령한도까지 전부 코드화됐습니다. 오른쪽은 교육용 포트폴리오 파이프라인 다섯 단계이고, 120개 조합 전수 생성에서 한도 위반이 0건입니다.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규칙 엔진에는 연금 제도가 그대로 들어가 있습니다. 70% 한도, 세액공제 한도와 공제율, 연령별 연금소득세, 1500만 원 룰, 수령한도까지 전부 코드화됐습니다. 오른쪽은 교육용 포트폴리오 파이프라인 다섯 단계이고, 120개 조합 전수 생성에서 한도 위반이 0건입니다.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 선정은 벤치마크가 아니라 우리 가드 검증 통과율로 했습니다. Haiku가 60%로 Sonnet의 3배였고 속도도 2배라 채택했습니다. RAG는 승인 문서 16종만, BGE-M3 임베딩과 전문검색을 RRF로 융합하고, 대표 질의 18케이스에서 Hit@1 1.0을 기록했습니다.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검증은 네 축입니다. 포트폴리오 120개 전수 0건, 테스트 944개, 원격 E2E 다섯 종, 그리고 PR을 막는 품질 게이트 8종. 성능은 공시 응답 3분의 1, 부팅 3분의 1 이상 단축했고, 스트리밍 구조로 체감 대기를 없앴습니다.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아키텍처는 단방향 4계층입니다. 프론트는 라이브러리 최소주의 PWA, 백엔드는 FastAPI 39개 엔드포인트, 계산은 의존성 제로 규칙 엔진, 데이터는 PostgreSQL 53개 테이블 전면 RLS입니다. Claude는 점선 — 서술만 담당하는 선택 부품입니다.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 흐름입니다. 데모 계정으로 로그인하면 계좌 연동 동의와 성향 진단을 거쳐 메인 홈, 그리고 핵심인 연금가이드 챗으로 갑니다. 답변이 먼저 타이핑되고 AI 재서술이 교체되는 것, 그리고 모든 숫자의 출처 칩을 눈으로 확인시켜 주세요. 여기에 시연 영상을 넣으면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비즈니스 가치는 네 가지입니다. 규제·민원 리스크를 구조로 낮추고, 운영을 무인화하고, AI 비용을 캐시와 작은 모델로 억제하며, 실물이전 시대에 설명 레이어로 고객을 유입·락인합니다. ROI는 지어내지 않고 실측 지표로만 말합니다.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한계는 숨기지 않습니다. 실계좌 미연동, 가드 잔여 결함, 전용 화면 일부 미연결, 그리고 표현 규제 유예까지 그대로 공개합니다. 로드맵은 가드 보강과 화면 연결이 최우선이고, 장기적으로 실계좌 연동까지 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역할 분담입니다. 아키텍처·총괄 질문은 이재용, 챗봇·백엔드는 이호연, 엔진·산식은 김태형, 화면은 최호택·진재현, 확장 기능은 정인성이 답합니다. 마지막 한 줄 — 정보가 충분하면 투자자는 현명하다. 연금:KDA는 그 정보를 검증된 구조로 전합니다.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역할 분담입니다. 아키텍처·총괄 질문은 이재용, 챗봇·백엔드는 이호연, 엔진·산식은 김태형, 화면은 최호택·진재현, 확장 기능은 정인성이 답합니다. 마지막 한 줄 — 정보가 충분하면 투자자는 현명하다. 연금:KDA는 그 정보를 검증된 구조로 전합니다.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데이터는 전부 공식 API 8종입니다. 수정주가 89만 관측, 분배 공시 8천 건까지 결합했고, 법령 원문의 '100분의 70' 문구를 기계로 검증해 규칙 마스터를 만듭니다. 모든 수집은 원본 보존과 SHA-256 매니페스트로 재현 가능하고, 뉴스와 구성종목은 cron으로 무인 운영됩니다.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0175d79aba4fd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71bc35a2a94415" /><Relationship Type="http://schemas.openxmlformats.org/officeDocument/2006/relationships/slideLayout" Target="/ppt/slideLayouts/slideLayout1.xml" Id="R75cdbb8070214ee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cdbb8070214ee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2866227a3f43ad" /><Relationship Type="http://schemas.openxmlformats.org/officeDocument/2006/relationships/notesSlide" Target="/ppt/notesSlides/notesSlide1.xml" Id="R8460b9a568d94e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4201dbf77244b9" /><Relationship Type="http://schemas.openxmlformats.org/officeDocument/2006/relationships/notesSlide" Target="/ppt/notesSlides/notesSlide2.xml" Id="Rb201f4510b684c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9360ad3233479b" /><Relationship Type="http://schemas.openxmlformats.org/officeDocument/2006/relationships/chart" Target="/ppt/slides/charts/chart1.xml" Id="R089b057838794cc7" /><Relationship Type="http://schemas.openxmlformats.org/officeDocument/2006/relationships/notesSlide" Target="/ppt/notesSlides/notesSlide3.xml" Id="Rcd5264e59b0e47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8a27d8d0184b02" /><Relationship Type="http://schemas.openxmlformats.org/officeDocument/2006/relationships/chart" Target="/ppt/slides/charts/chart2.xml" Id="Rc7a450dd346149f2" /><Relationship Type="http://schemas.openxmlformats.org/officeDocument/2006/relationships/notesSlide" Target="/ppt/notesSlides/notesSlide4.xml" Id="R03ff60bea6604a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d740bcd3534f4b" /><Relationship Type="http://schemas.openxmlformats.org/officeDocument/2006/relationships/notesSlide" Target="/ppt/notesSlides/notesSlide5.xml" Id="R6a990fb098734d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7799a67e554182" /><Relationship Type="http://schemas.openxmlformats.org/officeDocument/2006/relationships/notesSlide" Target="/ppt/notesSlides/notesSlide6.xml" Id="R2c907f61d96445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730f915b044a88" /><Relationship Type="http://schemas.openxmlformats.org/officeDocument/2006/relationships/notesSlide" Target="/ppt/notesSlides/notesSlide7.xml" Id="R910fe199e5834c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400872b10042a4" /><Relationship Type="http://schemas.openxmlformats.org/officeDocument/2006/relationships/notesSlide" Target="/ppt/notesSlides/notesSlide8.xml" Id="R5605cb0599a34b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43735e86aa4450" /><Relationship Type="http://schemas.openxmlformats.org/officeDocument/2006/relationships/chart" Target="/ppt/slides/charts/chart3.xml" Id="R38ccbec84e8c4d18" /><Relationship Type="http://schemas.openxmlformats.org/officeDocument/2006/relationships/notesSlide" Target="/ppt/notesSlides/notesSlide9.xml" Id="R9d84a67d0f7e40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c424c73c0d41d2" /><Relationship Type="http://schemas.openxmlformats.org/officeDocument/2006/relationships/notesSlide" Target="/ppt/notesSlides/notesSlide10.xml" Id="R9672f945ab5d45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e53462d89ea447a" /><Relationship Type="http://schemas.openxmlformats.org/officeDocument/2006/relationships/notesSlide" Target="/ppt/notesSlides/notesSlide11.xml" Id="R4460e9cfe45742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e9f0de71a34c5a" /><Relationship Type="http://schemas.openxmlformats.org/officeDocument/2006/relationships/notesSlide" Target="/ppt/notesSlides/notesSlide12.xml" Id="Re569299b20ca4c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1279661f4ec4b70" /><Relationship Type="http://schemas.openxmlformats.org/officeDocument/2006/relationships/chart" Target="/ppt/slides/charts/chart4.xml" Id="Ree314ecc1cfe4688" /><Relationship Type="http://schemas.openxmlformats.org/officeDocument/2006/relationships/notesSlide" Target="/ppt/notesSlides/notesSlide13.xml" Id="R453b20b8350948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ed1d9a95b343a3" /><Relationship Type="http://schemas.openxmlformats.org/officeDocument/2006/relationships/notesSlide" Target="/ppt/notesSlides/notesSlide14.xml" Id="Rf089dece6e344b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bbb3acd4b604ba7" /><Relationship Type="http://schemas.openxmlformats.org/officeDocument/2006/relationships/notesSlide" Target="/ppt/notesSlides/notesSlide15.xml" Id="R50869bbca20a4c3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b1ab97339014c73" /><Relationship Type="http://schemas.openxmlformats.org/officeDocument/2006/relationships/image" Target="/ppt/media/image.jpeg" Id="R876f70da1f0744ab" /><Relationship Type="http://schemas.openxmlformats.org/officeDocument/2006/relationships/notesSlide" Target="/ppt/notesSlides/notesSlide16.xml" Id="R62bd33a0d3a94e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e2659477aa84780" /><Relationship Type="http://schemas.openxmlformats.org/officeDocument/2006/relationships/notesSlide" Target="/ppt/notesSlides/notesSlide17.xml" Id="Ra1973aa60bbd444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05278c72faf43ef" /><Relationship Type="http://schemas.openxmlformats.org/officeDocument/2006/relationships/notesSlide" Target="/ppt/notesSlides/notesSlide18.xml" Id="R6379f3eb7220447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ff3d304ba154627" /><Relationship Type="http://schemas.openxmlformats.org/officeDocument/2006/relationships/notesSlide" Target="/ppt/notesSlides/notesSlide19.xml" Id="R358fc309ecb74bb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0e4f249738f4bcc" /><Relationship Type="http://schemas.openxmlformats.org/officeDocument/2006/relationships/notesSlide" Target="/ppt/notesSlides/notesSlide20.xml" Id="Rf96e028b55794f0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7415ad0e62b4955" /><Relationship Type="http://schemas.openxmlformats.org/officeDocument/2006/relationships/notesSlide" Target="/ppt/notesSlides/notesSlide21.xml" Id="R223125e5e5c9437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75" b="1">
                <a:solidFill>
                  <a:srgbClr val="172033"/>
                </a:solidFill>
              </a:rPr>
              <a:t>운용이 멈추는 지점 — 응답 비율(%)</a:t>
            </a:r>
          </a:p>
        </c:rich>
      </c:tx>
      <c:txPr>
        <a:bodyPr xmlns:a="http://schemas.openxmlformats.org/drawingml/2006/main" anchorCtr="1"/>
        <a:lstStyle xmlns:a="http://schemas.openxmlformats.org/drawingml/2006/main"/>
        <a:p xmlns:a="http://schemas.openxmlformats.org/drawingml/2006/main">
          <a:pPr>
            <a:defRPr sz="1275" b="1">
              <a:solidFill>
                <a:srgbClr val="172033"/>
              </a:solidFill>
            </a:defRPr>
          </a:pPr>
        </a:p>
      </c:txPr>
    </c:title>
    <c:plotArea>
      <c:barChart>
        <c:barDir val="bar"/>
        <c:grouping val="clustered"/>
        <c:varyColors val="0"/>
        <c:ser>
          <c:idx val="0"/>
          <c:order val="0"/>
          <c:tx>
            <c:v>응답 비율</c:v>
          </c:tx>
          <c:spPr>
            <a:solidFill xmlns:a="http://schemas.openxmlformats.org/drawingml/2006/main">
              <a:srgbClr val="2457E6"/>
            </a:solidFill>
          </c:spPr>
          <c:dPt>
            <c:idx val="0"/>
            <c:spPr>
              <a:solidFill xmlns:a="http://schemas.openxmlformats.org/drawingml/2006/main">
                <a:srgbClr val="94AFF5"/>
              </a:solidFill>
            </c:spPr>
          </c:dPt>
          <c:dPt>
            <c:idx val="1"/>
            <c:spPr>
              <a:solidFill xmlns:a="http://schemas.openxmlformats.org/drawingml/2006/main">
                <a:srgbClr val="5D86F0"/>
              </a:solidFill>
            </c:spPr>
          </c:dPt>
          <c:dPt>
            <c:idx val="2"/>
            <c:spPr>
              <a:solidFill xmlns:a="http://schemas.openxmlformats.org/drawingml/2006/main">
                <a:srgbClr val="2457E6"/>
              </a:solidFill>
            </c:spPr>
          </c:dPt>
          <c:cat>
            <c:strLit>
              <c:ptCount val="3"/>
              <c:pt idx="0">
                <c:v>점검 1회 이하·방법 모름</c:v>
              </c:pt>
              <c:pt idx="1">
                <c:v>운용 방법을 모름</c:v>
              </c:pt>
              <c:pt idx="2">
                <c:v>계좌 규칙 이해 부족</c:v>
              </c:pt>
            </c:strLit>
          </c:cat>
          <c:val>
            <c:numLit>
              <c:formatCode>0.0"%"</c:formatCode>
              <c:ptCount val="3"/>
              <c:pt idx="0">
                <c:v>56.7</c:v>
              </c:pt>
              <c:pt idx="1">
                <c:v>57.1</c:v>
              </c:pt>
              <c:pt idx="2">
                <c:v>86.7</c:v>
              </c:pt>
            </c:numLit>
          </c:val>
        </c:ser>
        <c:dLbls>
          <c:txPr>
            <a:bodyPr xmlns:a="http://schemas.openxmlformats.org/drawingml/2006/main" anchorCtr="1"/>
            <a:lstStyle xmlns:a="http://schemas.openxmlformats.org/drawingml/2006/main"/>
            <a:p xmlns:a="http://schemas.openxmlformats.org/drawingml/2006/main">
              <a:pPr>
                <a:defRPr sz="1050" b="1">
                  <a:solidFill>
                    <a:srgbClr val="17203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9E2F2"/>
              </a:solidFill>
              <a:prstDash val="solid"/>
            </a:ln>
          </c:spPr>
        </c:majorGridlines>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1050">
                <a:solidFill>
                  <a:srgbClr val="334155"/>
                </a:solidFil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9525">
      <a:solidFill>
        <a:srgbClr val="D7E0E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연간 수익률</c:v>
          </c:tx>
          <c:spPr>
            <a:solidFill xmlns:a="http://schemas.openxmlformats.org/drawingml/2006/main">
              <a:srgbClr val="2457E6"/>
            </a:solidFill>
          </c:spPr>
          <c:dPt>
            <c:idx val="0"/>
            <c:spPr>
              <a:solidFill xmlns:a="http://schemas.openxmlformats.org/drawingml/2006/main">
                <a:srgbClr val="2457E6"/>
              </a:solidFill>
            </c:spPr>
          </c:dPt>
          <c:dPt>
            <c:idx val="1"/>
            <c:spPr>
              <a:solidFill xmlns:a="http://schemas.openxmlformats.org/drawingml/2006/main">
                <a:srgbClr val="28A86B"/>
              </a:solidFill>
            </c:spPr>
          </c:dPt>
          <c:dPt>
            <c:idx val="2"/>
            <c:spPr>
              <a:solidFill xmlns:a="http://schemas.openxmlformats.org/drawingml/2006/main">
                <a:srgbClr val="AAB7C8"/>
              </a:solidFill>
            </c:spPr>
          </c:dPt>
          <c:cat>
            <c:strLit>
              <c:ptCount val="3"/>
              <c:pt idx="0">
                <c:v>상위 10%</c:v>
              </c:pt>
              <c:pt idx="1">
                <c:v>전체</c:v>
              </c:pt>
              <c:pt idx="2">
                <c:v>하위 10%</c:v>
              </c:pt>
            </c:strLit>
          </c:cat>
          <c:val>
            <c:numLit>
              <c:formatCode>0.0"%"</c:formatCode>
              <c:ptCount val="3"/>
              <c:pt idx="0">
                <c:v>19.5</c:v>
              </c:pt>
              <c:pt idx="1">
                <c:v>6.5</c:v>
              </c:pt>
              <c:pt idx="2">
                <c:v>0.5</c:v>
              </c:pt>
            </c:numLit>
          </c:val>
        </c:ser>
        <c:dLbls>
          <c:txPr>
            <a:bodyPr xmlns:a="http://schemas.openxmlformats.org/drawingml/2006/main" anchorCtr="1"/>
            <a:lstStyle xmlns:a="http://schemas.openxmlformats.org/drawingml/2006/main"/>
            <a:p xmlns:a="http://schemas.openxmlformats.org/drawingml/2006/main">
              <a:pPr>
                <a:defRPr sz="975" b="1">
                  <a:solidFill>
                    <a:srgbClr val="172033"/>
                  </a:solidFil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975">
                <a:solidFill>
                  <a:srgbClr val="334155"/>
                </a:solidFill>
              </a:defRPr>
            </a:pPr>
          </a:p>
        </c:txPr>
        <c:crossAx val="48672768"/>
        <c:lblAlgn val="ctr"/>
        <c:lblOffset val="100"/>
        <c:noMultiLvlLbl val="0"/>
      </c:catAx>
      <c:valAx>
        <c:axId val="48672768"/>
        <c:scaling>
          <c:orientation val="minMax"/>
          <c:max val="20"/>
          <c:min val="0"/>
        </c:scaling>
        <c:delete val="0"/>
        <c:axPos val="l"/>
        <c:majorGridlines>
          <c:spPr>
            <a:ln xmlns:a="http://schemas.openxmlformats.org/drawingml/2006/main" w="9525">
              <a:solidFill>
                <a:srgbClr val="D9E2F2"/>
              </a:solidFill>
              <a:prstDash val="solid"/>
            </a:ln>
          </c:spPr>
        </c:majorGridlines>
        <c:numFmt formatCode="0&quot;%&quot;"/>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48B"/>
                </a:solidFill>
              </a:defRPr>
            </a:pPr>
          </a:p>
        </c:txPr>
        <c:crossAx val="48650112"/>
        <c:crossBetween val="between"/>
        <c:majorUnit val="5"/>
      </c:valAx>
      <c:spPr>
        <a:solidFill xmlns:a="http://schemas.openxmlformats.org/drawingml/2006/main">
          <a:srgbClr val="FFFFFF"/>
        </a:solidFill>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9525">
      <a:solidFill>
        <a:srgbClr val="D7E0EF"/>
      </a:solidFill>
      <a:prstDash val="solid"/>
    </a:ln>
  </c:spPr>
</c:chartSpace>
</file>

<file path=ppt/slides/charts/chart3.xml><?xml version="1.0" encoding="utf-8"?>
<c:chartSpace xmlns:c="http://schemas.openxmlformats.org/drawingml/2006/chart">
  <c:lang val="en-US"/>
  <c:chart>
    <c:plotArea>
      <c:doughnutChart>
        <c:ser>
          <c:idx val="0"/>
          <c:order val="0"/>
          <c:tx>
            <c:v>가중치</c:v>
          </c:tx>
          <c:dPt>
            <c:idx val="0"/>
            <c:spPr>
              <a:solidFill xmlns:a="http://schemas.openxmlformats.org/drawingml/2006/main">
                <a:srgbClr val="1D4ED8"/>
              </a:solidFill>
            </c:spPr>
          </c:dPt>
          <c:dPt>
            <c:idx val="1"/>
            <c:spPr>
              <a:solidFill xmlns:a="http://schemas.openxmlformats.org/drawingml/2006/main">
                <a:srgbClr val="2F63DE"/>
              </a:solidFill>
            </c:spPr>
          </c:dPt>
          <c:dPt>
            <c:idx val="2"/>
            <c:spPr>
              <a:solidFill xmlns:a="http://schemas.openxmlformats.org/drawingml/2006/main">
                <a:srgbClr val="4779E5"/>
              </a:solidFill>
            </c:spPr>
          </c:dPt>
          <c:dPt>
            <c:idx val="3"/>
            <c:spPr>
              <a:solidFill xmlns:a="http://schemas.openxmlformats.org/drawingml/2006/main">
                <a:srgbClr val="6590EA"/>
              </a:solidFill>
            </c:spPr>
          </c:dPt>
          <c:dPt>
            <c:idx val="4"/>
            <c:spPr>
              <a:solidFill xmlns:a="http://schemas.openxmlformats.org/drawingml/2006/main">
                <a:srgbClr val="82A5EF"/>
              </a:solidFill>
            </c:spPr>
          </c:dPt>
          <c:dPt>
            <c:idx val="5"/>
            <c:spPr>
              <a:solidFill xmlns:a="http://schemas.openxmlformats.org/drawingml/2006/main">
                <a:srgbClr val="A8BEF4"/>
              </a:solidFill>
            </c:spPr>
          </c:dPt>
          <c:cat>
            <c:strLit>
              <c:ptCount val="6"/>
              <c:pt idx="0">
                <c:v>유동성</c:v>
              </c:pt>
              <c:pt idx="1">
                <c:v>비용</c:v>
              </c:pt>
              <c:pt idx="2">
                <c:v>규모</c:v>
              </c:pt>
              <c:pt idx="3">
                <c:v>NAV 괴리</c:v>
              </c:pt>
              <c:pt idx="4">
                <c:v>추적오차</c:v>
              </c:pt>
              <c:pt idx="5">
                <c:v>이력 길이</c:v>
              </c:pt>
            </c:strLit>
          </c:cat>
          <c:val>
            <c:numLit>
              <c:formatCode>General</c:formatCode>
              <c:ptCount val="6"/>
              <c:pt idx="0">
                <c:v>25</c:v>
              </c:pt>
              <c:pt idx="1">
                <c:v>20</c:v>
              </c:pt>
              <c:pt idx="2">
                <c:v>20</c:v>
              </c:pt>
              <c:pt idx="3">
                <c:v>15</c:v>
              </c:pt>
              <c:pt idx="4">
                <c:v>15</c:v>
              </c:pt>
              <c:pt idx="5">
                <c:v>5</c:v>
              </c:pt>
            </c:numLit>
          </c:val>
        </c:ser>
        <c:dLbls>
          <c:txPr>
            <a:bodyPr xmlns:a="http://schemas.openxmlformats.org/drawingml/2006/main" anchorCtr="1"/>
            <a:lstStyle xmlns:a="http://schemas.openxmlformats.org/drawingml/2006/main"/>
            <a:p xmlns:a="http://schemas.openxmlformats.org/drawingml/2006/main">
              <a:pPr>
                <a:defRPr sz="900" b="1">
                  <a:solidFill>
                    <a:srgbClr val="1F2937"/>
                  </a:solidFill>
                </a:defRPr>
              </a:pPr>
            </a:p>
          </c:txPr>
          <c:dLblPos val="outEnd"/>
          <c:showLegendKey val="0"/>
          <c:showVal val="0"/>
          <c:showCatName val="0"/>
          <c:showSerName val="0"/>
          <c:showPercent val="1"/>
          <c:showBubbleSize val="0"/>
          <c:showLeaderLines val="1"/>
        </c:dLbls>
        <c:firstSliceAng val="270"/>
        <c:holeSize val="62"/>
      </c:doughnutChart>
      <c:spPr>
        <a:ln xmlns:a="http://schemas.openxmlformats.org/drawingml/2006/main" w="0">
          <a:noFill/>
        </a:ln>
      </c:spPr>
    </c:plotArea>
    <c:legend>
      <c:legendPos val="r"/>
      <c:overlay val="0"/>
      <c:txPr>
        <a:bodyPr xmlns:a="http://schemas.openxmlformats.org/drawingml/2006/main" anchorCtr="1"/>
        <a:lstStyle xmlns:a="http://schemas.openxmlformats.org/drawingml/2006/main"/>
        <a:p xmlns:a="http://schemas.openxmlformats.org/drawingml/2006/main">
          <a:pPr>
            <a:defRPr sz="900">
              <a:solidFill>
                <a:srgbClr val="374151"/>
              </a:solidFill>
            </a:defRPr>
          </a:pPr>
        </a:p>
      </c:txPr>
    </c:legend>
    <c:plotVisOnly val="1"/>
  </c:chart>
  <c:spPr>
    <a:ln xmlns:a="http://schemas.openxmlformats.org/drawingml/2006/main" w="0">
      <a:noFill/>
    </a:ln>
  </c:spPr>
</c:chartSpace>
</file>

<file path=ppt/slides/charts/chart4.xml><?xml version="1.0" encoding="utf-8"?>
<c:chartSpace xmlns:c="http://schemas.openxmlformats.org/drawingml/2006/chart">
  <c:lang val="en-US"/>
  <c:chart>
    <c:plotArea>
      <c:lineChart>
        <c:grouping val="standard"/>
        <c:varyColors val="0"/>
        <c:ser>
          <c:idx val="0"/>
          <c:order val="0"/>
          <c:tx>
            <c:v>가드 검증 통과율</c:v>
          </c:tx>
          <c:spPr>
            <a:ln xmlns:a="http://schemas.openxmlformats.org/drawingml/2006/main" w="38100">
              <a:solidFill>
                <a:srgbClr val="2455D6"/>
              </a:solidFill>
              <a:prstDash val="solid"/>
            </a:ln>
          </c:spPr>
          <c:marker>
            <c:symbol val="circle"/>
            <c:size val="12"/>
          </c:marker>
          <c:cat>
            <c:strLit>
              <c:ptCount val="2"/>
              <c:pt idx="0">
                <c:v>Haiku
thinking OFF</c:v>
              </c:pt>
              <c:pt idx="1">
                <c:v>Sonnet
adaptive</c:v>
              </c:pt>
            </c:strLit>
          </c:cat>
          <c:val>
            <c:numLit>
              <c:formatCode>0"%"</c:formatCode>
              <c:ptCount val="2"/>
              <c:pt idx="0">
                <c:v>60</c:v>
              </c:pt>
              <c:pt idx="1">
                <c:v>20</c:v>
              </c:pt>
            </c:numLit>
          </c:val>
        </c:ser>
        <c:dLbls>
          <c:txPr>
            <a:bodyPr xmlns:a="http://schemas.openxmlformats.org/drawingml/2006/main" anchorCtr="1"/>
            <a:lstStyle xmlns:a="http://schemas.openxmlformats.org/drawingml/2006/main"/>
            <a:p xmlns:a="http://schemas.openxmlformats.org/drawingml/2006/main">
              <a:pPr>
                <a:defRPr sz="1200" b="1">
                  <a:solidFill>
                    <a:srgbClr val="1F2937"/>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975">
                <a:solidFill>
                  <a:srgbClr val="374151"/>
                </a:solidFill>
              </a:defRPr>
            </a:pPr>
          </a:p>
        </c:txPr>
        <c:crossAx val="48672768"/>
        <c:lblAlgn val="ctr"/>
        <c:lblOffset val="100"/>
        <c:noMultiLvlLbl val="0"/>
      </c:catAx>
      <c:valAx>
        <c:axId val="48672768"/>
        <c:scaling>
          <c:orientation val="minMax"/>
          <c:max val="70"/>
          <c:min val="0"/>
        </c:scaling>
        <c:delete val="0"/>
        <c:axPos val="l"/>
        <c:majorGridlines>
          <c:spPr>
            <a:ln xmlns:a="http://schemas.openxmlformats.org/drawingml/2006/main" w="9525">
              <a:solidFill>
                <a:srgbClr val="E5E7EB"/>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825">
                <a:solidFill>
                  <a:srgbClr val="6B7280"/>
                </a:solidFill>
              </a:defRPr>
            </a:pPr>
          </a:p>
        </c:txPr>
        <c:crossAx val="48650112"/>
        <c:crossBetween val="between"/>
        <c:majorUnit val="10"/>
      </c:valAx>
      <c:spPr>
        <a:ln xmlns:a="http://schemas.openxmlformats.org/drawingml/2006/main" w="0">
          <a:noFill/>
        </a:ln>
      </c:spPr>
    </c:plotArea>
    <c:plotVisOnly val="1"/>
  </c:chart>
  <c:spPr>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F1E45"/>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6F1052-4D66-4287-80F3-DDC3A4F419D3}"/>
              </a:ext>
            </a:extLst>
          </p:cNvPr>
          <p:cNvSpPr>
            <a:spLocks xmlns:a="http://schemas.openxmlformats.org/drawingml/2006/main" noGrp="1"/>
          </p:cNvSpPr>
          <p:nvPr/>
        </p:nvSpPr>
        <p:spPr>
          <a:xfrm xmlns:a="http://schemas.openxmlformats.org/drawingml/2006/main">
            <a:off x="548640" y="502920"/>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8FB0F8"/>
                </a:solidFill>
                <a:latin typeface="Malgun Gothic"/>
                <a:ea typeface="Malgun Gothic"/>
                <a:cs typeface="Malgun Gothic"/>
              </a:rPr>
              <a:t>TEAM  KDA 증권</a:t>
            </a:r>
          </a:p>
        </p:txBody>
      </p:sp>
      <p:sp>
        <p:nvSpPr>
          <p:cNvPr id="3" name="Text 1">
            <a:extLst xmlns:a="http://schemas.openxmlformats.org/drawingml/2006/main">
              <a:ext uri="{FF2B5EF4-FFF2-40B4-BE49-F238E27FC236}">
                <a16:creationId xmlns:a16="http://schemas.microsoft.com/office/drawing/2014/main" id="{212A3D00-12E7-478A-B8A1-9A3B8F557BBC}"/>
              </a:ext>
            </a:extLst>
          </p:cNvPr>
          <p:cNvSpPr>
            <a:spLocks xmlns:a="http://schemas.openxmlformats.org/drawingml/2006/main" noGrp="1"/>
          </p:cNvSpPr>
          <p:nvPr/>
        </p:nvSpPr>
        <p:spPr>
          <a:xfrm xmlns:a="http://schemas.openxmlformats.org/drawingml/2006/main">
            <a:off x="804672" y="1572768"/>
            <a:ext cx="6766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8FB0F8"/>
                </a:solidFill>
                <a:latin typeface="Malgun Gothic"/>
                <a:ea typeface="Malgun Gothic"/>
                <a:cs typeface="Malgun Gothic"/>
              </a:rPr>
              <a:t>설명 가능한 AI 연금 운용 가이드</a:t>
            </a:r>
          </a:p>
        </p:txBody>
      </p:sp>
      <p:sp>
        <p:nvSpPr>
          <p:cNvPr id="4" name="Text 2">
            <a:extLst xmlns:a="http://schemas.openxmlformats.org/drawingml/2006/main">
              <a:ext uri="{FF2B5EF4-FFF2-40B4-BE49-F238E27FC236}">
                <a16:creationId xmlns:a16="http://schemas.microsoft.com/office/drawing/2014/main" id="{315B10D6-B8B9-4858-B073-E12E0272BBE5}"/>
              </a:ext>
            </a:extLst>
          </p:cNvPr>
          <p:cNvSpPr>
            <a:spLocks xmlns:a="http://schemas.openxmlformats.org/drawingml/2006/main" noGrp="1"/>
          </p:cNvSpPr>
          <p:nvPr/>
        </p:nvSpPr>
        <p:spPr>
          <a:xfrm xmlns:a="http://schemas.openxmlformats.org/drawingml/2006/main">
            <a:off x="777240" y="1901952"/>
            <a:ext cx="694944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Malgun Gothic"/>
                <a:ea typeface="Malgun Gothic"/>
                <a:cs typeface="Malgun Gothic"/>
              </a:rPr>
              <a:t>연금:KDA</a:t>
            </a:r>
          </a:p>
        </p:txBody>
      </p:sp>
      <p:sp>
        <p:nvSpPr>
          <p:cNvPr id="5" name="Text 3">
            <a:extLst xmlns:a="http://schemas.openxmlformats.org/drawingml/2006/main">
              <a:ext uri="{FF2B5EF4-FFF2-40B4-BE49-F238E27FC236}">
                <a16:creationId xmlns:a16="http://schemas.microsoft.com/office/drawing/2014/main" id="{4CB31AD8-3A1F-449E-9B3F-AD74D0B26EC1}"/>
              </a:ext>
            </a:extLst>
          </p:cNvPr>
          <p:cNvSpPr>
            <a:spLocks xmlns:a="http://schemas.openxmlformats.org/drawingml/2006/main" noGrp="1"/>
          </p:cNvSpPr>
          <p:nvPr/>
        </p:nvSpPr>
        <p:spPr>
          <a:xfrm xmlns:a="http://schemas.openxmlformats.org/drawingml/2006/main">
            <a:off x="804672" y="3054096"/>
            <a:ext cx="6949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DCE6FB"/>
                </a:solidFill>
                <a:latin typeface="Malgun Gothic"/>
                <a:ea typeface="Malgun Gothic"/>
                <a:cs typeface="Malgun Gothic"/>
              </a:rPr>
              <a:t>전국 조사로 확인한 ‘운용 정보 격차’를 규칙 엔진과 근거 기반 AI로 해결합니다.</a:t>
            </a:r>
          </a:p>
        </p:txBody>
      </p:sp>
      <p:sp>
        <p:nvSpPr>
          <p:cNvPr id="6" name="Text 4">
            <a:extLst xmlns:a="http://schemas.openxmlformats.org/drawingml/2006/main">
              <a:ext uri="{FF2B5EF4-FFF2-40B4-BE49-F238E27FC236}">
                <a16:creationId xmlns:a16="http://schemas.microsoft.com/office/drawing/2014/main" id="{B95DF8F2-3775-4638-865A-29AA082C4A7D}"/>
              </a:ext>
            </a:extLst>
          </p:cNvPr>
          <p:cNvSpPr>
            <a:spLocks xmlns:a="http://schemas.openxmlformats.org/drawingml/2006/main" noGrp="1"/>
          </p:cNvSpPr>
          <p:nvPr/>
        </p:nvSpPr>
        <p:spPr>
          <a:xfrm xmlns:a="http://schemas.openxmlformats.org/drawingml/2006/main">
            <a:off x="804672" y="3529584"/>
            <a:ext cx="6766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9DB0D8"/>
                </a:solidFill>
                <a:latin typeface="Malgun Gothic"/>
                <a:ea typeface="Malgun Gothic"/>
                <a:cs typeface="Malgun Gothic"/>
              </a:rPr>
              <a:t>DC형·IRP·연금저축을 한눈에 진단하고, 사용자가 스스로 운용 결정을 내리도록 돕습니다.</a:t>
            </a:r>
          </a:p>
        </p:txBody>
      </p:sp>
      <p:sp>
        <p:nvSpPr>
          <p:cNvPr id="7" name="Text 5">
            <a:extLst xmlns:a="http://schemas.openxmlformats.org/drawingml/2006/main">
              <a:ext uri="{FF2B5EF4-FFF2-40B4-BE49-F238E27FC236}">
                <a16:creationId xmlns:a16="http://schemas.microsoft.com/office/drawing/2014/main" id="{C9A7BCAB-C18E-4254-B8FE-8B8C608833B8}"/>
              </a:ext>
            </a:extLst>
          </p:cNvPr>
          <p:cNvSpPr>
            <a:spLocks xmlns:a="http://schemas.openxmlformats.org/drawingml/2006/main" noGrp="1"/>
          </p:cNvSpPr>
          <p:nvPr/>
        </p:nvSpPr>
        <p:spPr>
          <a:xfrm xmlns:a="http://schemas.openxmlformats.org/drawingml/2006/main">
            <a:off x="804672" y="4114800"/>
            <a:ext cx="1325880" cy="292608"/>
          </a:xfrm>
          <a:prstGeom xmlns:a="http://schemas.openxmlformats.org/drawingml/2006/main" prst="roundRect">
            <a:avLst>
              <a:gd name="adj" fmla="val 43750"/>
            </a:avLst>
          </a:prstGeom>
          <a:solidFill xmlns:a="http://schemas.openxmlformats.org/drawingml/2006/main">
            <a:srgbClr val="1B2F66"/>
          </a:solidFill>
          <a:ln xmlns:a="http://schemas.openxmlformats.org/drawingml/2006/main" w="9525">
            <a:solidFill>
              <a:srgbClr val="31437F"/>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BFD2F8"/>
                </a:solidFill>
                <a:latin typeface="Malgun Gothic"/>
                <a:ea typeface="Malgun Gothic"/>
                <a:cs typeface="Malgun Gothic"/>
              </a:rPr>
              <a:t>DC형 퇴직연금</a:t>
            </a:r>
          </a:p>
        </p:txBody>
      </p:sp>
      <p:sp>
        <p:nvSpPr>
          <p:cNvPr id="8" name="Text 6">
            <a:extLst xmlns:a="http://schemas.openxmlformats.org/drawingml/2006/main">
              <a:ext uri="{FF2B5EF4-FFF2-40B4-BE49-F238E27FC236}">
                <a16:creationId xmlns:a16="http://schemas.microsoft.com/office/drawing/2014/main" id="{A2DB99EA-F932-4AFF-98DA-C8FED4B45247}"/>
              </a:ext>
            </a:extLst>
          </p:cNvPr>
          <p:cNvSpPr>
            <a:spLocks xmlns:a="http://schemas.openxmlformats.org/drawingml/2006/main" noGrp="1"/>
          </p:cNvSpPr>
          <p:nvPr/>
        </p:nvSpPr>
        <p:spPr>
          <a:xfrm xmlns:a="http://schemas.openxmlformats.org/drawingml/2006/main">
            <a:off x="2276856" y="4114800"/>
            <a:ext cx="685800" cy="292608"/>
          </a:xfrm>
          <a:prstGeom xmlns:a="http://schemas.openxmlformats.org/drawingml/2006/main" prst="roundRect">
            <a:avLst>
              <a:gd name="adj" fmla="val 43750"/>
            </a:avLst>
          </a:prstGeom>
          <a:solidFill xmlns:a="http://schemas.openxmlformats.org/drawingml/2006/main">
            <a:srgbClr val="1B2F66"/>
          </a:solidFill>
          <a:ln xmlns:a="http://schemas.openxmlformats.org/drawingml/2006/main" w="9525">
            <a:solidFill>
              <a:srgbClr val="31437F"/>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BFD2F8"/>
                </a:solidFill>
                <a:latin typeface="Malgun Gothic"/>
                <a:ea typeface="Malgun Gothic"/>
                <a:cs typeface="Malgun Gothic"/>
              </a:rPr>
              <a:t>IRP</a:t>
            </a:r>
          </a:p>
        </p:txBody>
      </p:sp>
      <p:sp>
        <p:nvSpPr>
          <p:cNvPr id="9" name="Text 7">
            <a:extLst xmlns:a="http://schemas.openxmlformats.org/drawingml/2006/main">
              <a:ext uri="{FF2B5EF4-FFF2-40B4-BE49-F238E27FC236}">
                <a16:creationId xmlns:a16="http://schemas.microsoft.com/office/drawing/2014/main" id="{E9D4DBDC-E751-4B28-BDCD-C65E47BF95F4}"/>
              </a:ext>
            </a:extLst>
          </p:cNvPr>
          <p:cNvSpPr>
            <a:spLocks xmlns:a="http://schemas.openxmlformats.org/drawingml/2006/main" noGrp="1"/>
          </p:cNvSpPr>
          <p:nvPr/>
        </p:nvSpPr>
        <p:spPr>
          <a:xfrm xmlns:a="http://schemas.openxmlformats.org/drawingml/2006/main">
            <a:off x="3108960" y="4114800"/>
            <a:ext cx="960120" cy="292608"/>
          </a:xfrm>
          <a:prstGeom xmlns:a="http://schemas.openxmlformats.org/drawingml/2006/main" prst="roundRect">
            <a:avLst>
              <a:gd name="adj" fmla="val 43750"/>
            </a:avLst>
          </a:prstGeom>
          <a:solidFill xmlns:a="http://schemas.openxmlformats.org/drawingml/2006/main">
            <a:srgbClr val="1B2F66"/>
          </a:solidFill>
          <a:ln xmlns:a="http://schemas.openxmlformats.org/drawingml/2006/main" w="9525">
            <a:solidFill>
              <a:srgbClr val="31437F"/>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BFD2F8"/>
                </a:solidFill>
                <a:latin typeface="Malgun Gothic"/>
                <a:ea typeface="Malgun Gothic"/>
                <a:cs typeface="Malgun Gothic"/>
              </a:rPr>
              <a:t>연금저축</a:t>
            </a:r>
          </a:p>
        </p:txBody>
      </p:sp>
      <p:sp>
        <p:nvSpPr>
          <p:cNvPr id="10" name="Text 8">
            <a:extLst xmlns:a="http://schemas.openxmlformats.org/drawingml/2006/main">
              <a:ext uri="{FF2B5EF4-FFF2-40B4-BE49-F238E27FC236}">
                <a16:creationId xmlns:a16="http://schemas.microsoft.com/office/drawing/2014/main" id="{8ABF9280-E4A2-497D-AC70-B59D1DDA0EDB}"/>
              </a:ext>
            </a:extLst>
          </p:cNvPr>
          <p:cNvSpPr>
            <a:spLocks xmlns:a="http://schemas.openxmlformats.org/drawingml/2006/main" noGrp="1"/>
          </p:cNvSpPr>
          <p:nvPr/>
        </p:nvSpPr>
        <p:spPr>
          <a:xfrm xmlns:a="http://schemas.openxmlformats.org/drawingml/2006/main">
            <a:off x="4215384" y="4114800"/>
            <a:ext cx="2148840" cy="292608"/>
          </a:xfrm>
          <a:prstGeom xmlns:a="http://schemas.openxmlformats.org/drawingml/2006/main" prst="roundRect">
            <a:avLst>
              <a:gd name="adj" fmla="val 43750"/>
            </a:avLst>
          </a:prstGeom>
          <a:solidFill xmlns:a="http://schemas.openxmlformats.org/drawingml/2006/main">
            <a:srgbClr val="1B2F66"/>
          </a:solidFill>
          <a:ln xmlns:a="http://schemas.openxmlformats.org/drawingml/2006/main" w="9525">
            <a:solidFill>
              <a:srgbClr val="31437F"/>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BFD2F8"/>
                </a:solidFill>
                <a:latin typeface="Malgun Gothic"/>
                <a:ea typeface="Malgun Gothic"/>
                <a:cs typeface="Malgun Gothic"/>
              </a:rPr>
              <a:t>자문·정보 제공형 (일임 아님)</a:t>
            </a:r>
          </a:p>
        </p:txBody>
      </p:sp>
      <p:sp>
        <p:nvSpPr>
          <p:cNvPr id="11" name="Shape 9">
            <a:extLst xmlns:a="http://schemas.openxmlformats.org/drawingml/2006/main">
              <a:ext uri="{FF2B5EF4-FFF2-40B4-BE49-F238E27FC236}">
                <a16:creationId xmlns:a16="http://schemas.microsoft.com/office/drawing/2014/main" id="{58C60AD5-AF32-4C27-9FCA-97D8AA074021}"/>
              </a:ext>
            </a:extLst>
          </p:cNvPr>
          <p:cNvSpPr>
            <a:spLocks xmlns:a="http://schemas.openxmlformats.org/drawingml/2006/main" noGrp="1"/>
          </p:cNvSpPr>
          <p:nvPr/>
        </p:nvSpPr>
        <p:spPr>
          <a:xfrm xmlns:a="http://schemas.openxmlformats.org/drawingml/2006/main">
            <a:off x="8732520" y="1234440"/>
            <a:ext cx="2697480" cy="4526280"/>
          </a:xfrm>
          <a:prstGeom xmlns:a="http://schemas.openxmlformats.org/drawingml/2006/main" prst="roundRect">
            <a:avLst>
              <a:gd name="adj" fmla="val 7458"/>
            </a:avLst>
          </a:prstGeom>
          <a:solidFill xmlns:a="http://schemas.openxmlformats.org/drawingml/2006/main">
            <a:srgbClr val="1B2F66"/>
          </a:solidFill>
          <a:ln xmlns:a="http://schemas.openxmlformats.org/drawingml/2006/main" w="12700">
            <a:solidFill>
              <a:srgbClr val="31437F"/>
            </a:solidFill>
            <a:prstDash val="solid"/>
          </a:ln>
        </p:spPr>
      </p:sp>
      <p:sp>
        <p:nvSpPr>
          <p:cNvPr id="12" name="Text 10">
            <a:extLst xmlns:a="http://schemas.openxmlformats.org/drawingml/2006/main">
              <a:ext uri="{FF2B5EF4-FFF2-40B4-BE49-F238E27FC236}">
                <a16:creationId xmlns:a16="http://schemas.microsoft.com/office/drawing/2014/main" id="{FC00991D-AD99-446A-9C09-67D87059F824}"/>
              </a:ext>
            </a:extLst>
          </p:cNvPr>
          <p:cNvSpPr>
            <a:spLocks xmlns:a="http://schemas.openxmlformats.org/drawingml/2006/main" noGrp="1"/>
          </p:cNvSpPr>
          <p:nvPr/>
        </p:nvSpPr>
        <p:spPr>
          <a:xfrm xmlns:a="http://schemas.openxmlformats.org/drawingml/2006/main">
            <a:off x="8915400" y="1417320"/>
            <a:ext cx="2331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BFD2F8"/>
                </a:solidFill>
                <a:latin typeface="Malgun Gothic"/>
                <a:ea typeface="Malgun Gothic"/>
                <a:cs typeface="Malgun Gothic"/>
              </a:rPr>
              <a:t>연금가이드</a:t>
            </a:r>
          </a:p>
        </p:txBody>
      </p:sp>
      <p:sp>
        <p:nvSpPr>
          <p:cNvPr id="13" name="Shape 11">
            <a:extLst xmlns:a="http://schemas.openxmlformats.org/drawingml/2006/main">
              <a:ext uri="{FF2B5EF4-FFF2-40B4-BE49-F238E27FC236}">
                <a16:creationId xmlns:a16="http://schemas.microsoft.com/office/drawing/2014/main" id="{35C5E916-FB65-48FF-998D-A1E1B1993B84}"/>
              </a:ext>
            </a:extLst>
          </p:cNvPr>
          <p:cNvSpPr>
            <a:spLocks xmlns:a="http://schemas.openxmlformats.org/drawingml/2006/main" noGrp="1"/>
          </p:cNvSpPr>
          <p:nvPr/>
        </p:nvSpPr>
        <p:spPr>
          <a:xfrm xmlns:a="http://schemas.openxmlformats.org/drawingml/2006/main">
            <a:off x="9646920" y="1828800"/>
            <a:ext cx="1600200" cy="384048"/>
          </a:xfrm>
          <a:prstGeom xmlns:a="http://schemas.openxmlformats.org/drawingml/2006/main" prst="roundRect">
            <a:avLst>
              <a:gd name="adj" fmla="val 28571"/>
            </a:avLst>
          </a:prstGeom>
          <a:solidFill xmlns:a="http://schemas.openxmlformats.org/drawingml/2006/main">
            <a:srgbClr val="1A4FD8"/>
          </a:solidFill>
        </p:spPr>
      </p:sp>
      <p:sp>
        <p:nvSpPr>
          <p:cNvPr id="14" name="Text 12">
            <a:extLst xmlns:a="http://schemas.openxmlformats.org/drawingml/2006/main">
              <a:ext uri="{FF2B5EF4-FFF2-40B4-BE49-F238E27FC236}">
                <a16:creationId xmlns:a16="http://schemas.microsoft.com/office/drawing/2014/main" id="{50536E61-4C97-40EB-BE81-9D43487F1D79}"/>
              </a:ext>
            </a:extLst>
          </p:cNvPr>
          <p:cNvSpPr>
            <a:spLocks xmlns:a="http://schemas.openxmlformats.org/drawingml/2006/main" noGrp="1"/>
          </p:cNvSpPr>
          <p:nvPr/>
        </p:nvSpPr>
        <p:spPr>
          <a:xfrm xmlns:a="http://schemas.openxmlformats.org/drawingml/2006/main">
            <a:off x="9710928" y="1856232"/>
            <a:ext cx="148132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0">
                <a:solidFill>
                  <a:srgbClr val="FFFFFF"/>
                </a:solidFill>
                <a:latin typeface="Malgun Gothic"/>
                <a:ea typeface="Malgun Gothic"/>
                <a:cs typeface="Malgun Gothic"/>
              </a:rPr>
              <a:t>내 연금 포트폴리오를 점검해줘</a:t>
            </a:r>
          </a:p>
        </p:txBody>
      </p:sp>
      <p:sp>
        <p:nvSpPr>
          <p:cNvPr id="15" name="Shape 13">
            <a:extLst xmlns:a="http://schemas.openxmlformats.org/drawingml/2006/main">
              <a:ext uri="{FF2B5EF4-FFF2-40B4-BE49-F238E27FC236}">
                <a16:creationId xmlns:a16="http://schemas.microsoft.com/office/drawing/2014/main" id="{6B2ECD05-854A-4B20-828B-F6B108702F53}"/>
              </a:ext>
            </a:extLst>
          </p:cNvPr>
          <p:cNvSpPr>
            <a:spLocks xmlns:a="http://schemas.openxmlformats.org/drawingml/2006/main" noGrp="1"/>
          </p:cNvSpPr>
          <p:nvPr/>
        </p:nvSpPr>
        <p:spPr>
          <a:xfrm xmlns:a="http://schemas.openxmlformats.org/drawingml/2006/main">
            <a:off x="8915400" y="2377440"/>
            <a:ext cx="2057400" cy="1417320"/>
          </a:xfrm>
          <a:prstGeom xmlns:a="http://schemas.openxmlformats.org/drawingml/2006/main" prst="roundRect">
            <a:avLst>
              <a:gd name="adj" fmla="val 7742"/>
            </a:avLst>
          </a:prstGeom>
          <a:solidFill xmlns:a="http://schemas.openxmlformats.org/drawingml/2006/main">
            <a:srgbClr val="FFFFFF"/>
          </a:solidFill>
        </p:spPr>
      </p:sp>
      <p:sp>
        <p:nvSpPr>
          <p:cNvPr id="16" name="Text 14">
            <a:extLst xmlns:a="http://schemas.openxmlformats.org/drawingml/2006/main">
              <a:ext uri="{FF2B5EF4-FFF2-40B4-BE49-F238E27FC236}">
                <a16:creationId xmlns:a16="http://schemas.microsoft.com/office/drawing/2014/main" id="{60750A1F-294A-4508-96E5-E287BA178C69}"/>
              </a:ext>
            </a:extLst>
          </p:cNvPr>
          <p:cNvSpPr>
            <a:spLocks xmlns:a="http://schemas.openxmlformats.org/drawingml/2006/main" noGrp="1"/>
          </p:cNvSpPr>
          <p:nvPr/>
        </p:nvSpPr>
        <p:spPr>
          <a:xfrm xmlns:a="http://schemas.openxmlformats.org/drawingml/2006/main">
            <a:off x="9025128" y="2468880"/>
            <a:ext cx="184708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18202E"/>
                </a:solidFill>
                <a:latin typeface="Malgun Gothic"/>
                <a:ea typeface="Malgun Gothic"/>
                <a:cs typeface="Malgun Gothic"/>
              </a:rPr>
              <a:t>계좌 규칙·자산 비중</a:t>
            </a:r>
          </a:p>
          <a:p xmlns:a="http://schemas.openxmlformats.org/drawingml/2006/main">
            <a:pPr marL="0" indent="0">
              <a:buNone/>
            </a:pPr>
            <a:r>
              <a:rPr sz="880">
                <a:solidFill>
                  <a:srgbClr val="18202E"/>
                </a:solidFill>
                <a:latin typeface="Malgun Gothic"/>
                <a:ea typeface="Malgun Gothic"/>
                <a:cs typeface="Malgun Gothic"/>
              </a:rPr>
              <a:t>과거 위험지표를 확인해</a:t>
            </a:r>
          </a:p>
          <a:p xmlns:a="http://schemas.openxmlformats.org/drawingml/2006/main">
            <a:pPr marL="0" indent="0">
              <a:buNone/>
            </a:pPr>
            <a:r>
              <a:rPr sz="880">
                <a:solidFill>
                  <a:srgbClr val="18202E"/>
                </a:solidFill>
                <a:latin typeface="Malgun Gothic"/>
                <a:ea typeface="Malgun Gothic"/>
                <a:cs typeface="Malgun Gothic"/>
              </a:rPr>
              <a:t>이해하기 쉽게 설명해드려요.</a:t>
            </a:r>
          </a:p>
        </p:txBody>
      </p:sp>
      <p:sp>
        <p:nvSpPr>
          <p:cNvPr id="17" name="Text 15">
            <a:extLst xmlns:a="http://schemas.openxmlformats.org/drawingml/2006/main">
              <a:ext uri="{FF2B5EF4-FFF2-40B4-BE49-F238E27FC236}">
                <a16:creationId xmlns:a16="http://schemas.microsoft.com/office/drawing/2014/main" id="{0323F0D8-BE8C-43A1-A30F-C34A4F2E101C}"/>
              </a:ext>
            </a:extLst>
          </p:cNvPr>
          <p:cNvSpPr>
            <a:spLocks xmlns:a="http://schemas.openxmlformats.org/drawingml/2006/main" noGrp="1"/>
          </p:cNvSpPr>
          <p:nvPr/>
        </p:nvSpPr>
        <p:spPr>
          <a:xfrm xmlns:a="http://schemas.openxmlformats.org/drawingml/2006/main">
            <a:off x="9025128" y="3401568"/>
            <a:ext cx="841248" cy="237744"/>
          </a:xfrm>
          <a:prstGeom xmlns:a="http://schemas.openxmlformats.org/drawingml/2006/main" prst="roundRect">
            <a:avLst>
              <a:gd name="adj" fmla="val 5384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A4FD8"/>
                </a:solidFill>
                <a:latin typeface="Malgun Gothic"/>
                <a:ea typeface="Malgun Gothic"/>
                <a:cs typeface="Malgun Gothic"/>
              </a:rPr>
              <a:t>출처 3건</a:t>
            </a:r>
          </a:p>
        </p:txBody>
      </p:sp>
      <p:sp>
        <p:nvSpPr>
          <p:cNvPr id="18" name="Text 16">
            <a:extLst xmlns:a="http://schemas.openxmlformats.org/drawingml/2006/main">
              <a:ext uri="{FF2B5EF4-FFF2-40B4-BE49-F238E27FC236}">
                <a16:creationId xmlns:a16="http://schemas.microsoft.com/office/drawing/2014/main" id="{2F712B3F-B098-44B3-8487-918EA253429A}"/>
              </a:ext>
            </a:extLst>
          </p:cNvPr>
          <p:cNvSpPr>
            <a:spLocks xmlns:a="http://schemas.openxmlformats.org/drawingml/2006/main" noGrp="1"/>
          </p:cNvSpPr>
          <p:nvPr/>
        </p:nvSpPr>
        <p:spPr>
          <a:xfrm xmlns:a="http://schemas.openxmlformats.org/drawingml/2006/main">
            <a:off x="9930384" y="3401568"/>
            <a:ext cx="914400" cy="237744"/>
          </a:xfrm>
          <a:prstGeom xmlns:a="http://schemas.openxmlformats.org/drawingml/2006/main" prst="roundRect">
            <a:avLst>
              <a:gd name="adj" fmla="val 53846"/>
            </a:avLst>
          </a:prstGeom>
          <a:solidFill xmlns:a="http://schemas.openxmlformats.org/drawingml/2006/main">
            <a:srgbClr val="E6F3EA"/>
          </a:solidFill>
          <a:ln xmlns:a="http://schemas.openxmlformats.org/drawingml/2006/main" w="9525">
            <a:solidFill>
              <a:srgbClr val="CBE5D4"/>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E8A4C"/>
                </a:solidFill>
                <a:latin typeface="Malgun Gothic"/>
                <a:ea typeface="Malgun Gothic"/>
                <a:cs typeface="Malgun Gothic"/>
              </a:rPr>
              <a:t>과거 데이터</a:t>
            </a:r>
          </a:p>
        </p:txBody>
      </p:sp>
      <p:sp>
        <p:nvSpPr>
          <p:cNvPr id="19" name="Shape 17">
            <a:extLst xmlns:a="http://schemas.openxmlformats.org/drawingml/2006/main">
              <a:ext uri="{FF2B5EF4-FFF2-40B4-BE49-F238E27FC236}">
                <a16:creationId xmlns:a16="http://schemas.microsoft.com/office/drawing/2014/main" id="{BF91B60A-A3E4-4B73-866D-BEB1ECF3E23B}"/>
              </a:ext>
            </a:extLst>
          </p:cNvPr>
          <p:cNvSpPr>
            <a:spLocks xmlns:a="http://schemas.openxmlformats.org/drawingml/2006/main" noGrp="1"/>
          </p:cNvSpPr>
          <p:nvPr/>
        </p:nvSpPr>
        <p:spPr>
          <a:xfrm xmlns:a="http://schemas.openxmlformats.org/drawingml/2006/main">
            <a:off x="8915400" y="4069080"/>
            <a:ext cx="2331720" cy="1051560"/>
          </a:xfrm>
          <a:prstGeom xmlns:a="http://schemas.openxmlformats.org/drawingml/2006/main" prst="roundRect">
            <a:avLst>
              <a:gd name="adj" fmla="val 10435"/>
            </a:avLst>
          </a:prstGeom>
          <a:solidFill xmlns:a="http://schemas.openxmlformats.org/drawingml/2006/main">
            <a:srgbClr val="16295E"/>
          </a:solidFill>
          <a:ln xmlns:a="http://schemas.openxmlformats.org/drawingml/2006/main" w="12700">
            <a:solidFill>
              <a:srgbClr val="31437F"/>
            </a:solidFill>
            <a:prstDash val="solid"/>
          </a:ln>
        </p:spPr>
      </p:sp>
      <p:sp>
        <p:nvSpPr>
          <p:cNvPr id="20" name="Text 18">
            <a:extLst xmlns:a="http://schemas.openxmlformats.org/drawingml/2006/main">
              <a:ext uri="{FF2B5EF4-FFF2-40B4-BE49-F238E27FC236}">
                <a16:creationId xmlns:a16="http://schemas.microsoft.com/office/drawing/2014/main" id="{0FE468C1-8BB9-46D8-8879-785BC4334790}"/>
              </a:ext>
            </a:extLst>
          </p:cNvPr>
          <p:cNvSpPr>
            <a:spLocks xmlns:a="http://schemas.openxmlformats.org/drawingml/2006/main" noGrp="1"/>
          </p:cNvSpPr>
          <p:nvPr/>
        </p:nvSpPr>
        <p:spPr>
          <a:xfrm xmlns:a="http://schemas.openxmlformats.org/drawingml/2006/main">
            <a:off x="9052560" y="41879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8FB0F8"/>
                </a:solidFill>
                <a:latin typeface="Malgun Gothic"/>
                <a:ea typeface="Malgun Gothic"/>
                <a:cs typeface="Malgun Gothic"/>
              </a:rPr>
              <a:t>규칙 엔진 검증 완료</a:t>
            </a:r>
          </a:p>
        </p:txBody>
      </p:sp>
      <p:sp>
        <p:nvSpPr>
          <p:cNvPr id="21" name="Text 19">
            <a:extLst xmlns:a="http://schemas.openxmlformats.org/drawingml/2006/main">
              <a:ext uri="{FF2B5EF4-FFF2-40B4-BE49-F238E27FC236}">
                <a16:creationId xmlns:a16="http://schemas.microsoft.com/office/drawing/2014/main" id="{55B6E420-6754-4E74-9B5D-E2FF88AB9DDE}"/>
              </a:ext>
            </a:extLst>
          </p:cNvPr>
          <p:cNvSpPr>
            <a:spLocks xmlns:a="http://schemas.openxmlformats.org/drawingml/2006/main" noGrp="1"/>
          </p:cNvSpPr>
          <p:nvPr/>
        </p:nvSpPr>
        <p:spPr>
          <a:xfrm xmlns:a="http://schemas.openxmlformats.org/drawingml/2006/main">
            <a:off x="9052560" y="448056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30">
                <a:solidFill>
                  <a:srgbClr val="9DB0D8"/>
                </a:solidFill>
                <a:latin typeface="Malgun Gothic"/>
                <a:ea typeface="Malgun Gothic"/>
                <a:cs typeface="Malgun Gothic"/>
              </a:rPr>
              <a:t>숫자 ↔ 근거 대조 · Decimal 결정론</a:t>
            </a:r>
          </a:p>
          <a:p xmlns:a="http://schemas.openxmlformats.org/drawingml/2006/main">
            <a:pPr marL="0" indent="0">
              <a:buNone/>
            </a:pPr>
            <a:r>
              <a:rPr sz="830">
                <a:solidFill>
                  <a:srgbClr val="9DB0D8"/>
                </a:solidFill>
                <a:latin typeface="Malgun Gothic"/>
                <a:ea typeface="Malgun Gothic"/>
                <a:cs typeface="Malgun Gothic"/>
              </a:rPr>
              <a:t>DC·IRP 위험자산 70% 한도 반영</a:t>
            </a:r>
          </a:p>
        </p:txBody>
      </p:sp>
      <p:sp>
        <p:nvSpPr>
          <p:cNvPr id="22" name="Text 20">
            <a:extLst xmlns:a="http://schemas.openxmlformats.org/drawingml/2006/main">
              <a:ext uri="{FF2B5EF4-FFF2-40B4-BE49-F238E27FC236}">
                <a16:creationId xmlns:a16="http://schemas.microsoft.com/office/drawing/2014/main" id="{9D517F5C-B2AD-4408-BE71-CEA77697A3B2}"/>
              </a:ext>
            </a:extLst>
          </p:cNvPr>
          <p:cNvSpPr>
            <a:spLocks xmlns:a="http://schemas.openxmlformats.org/drawingml/2006/main" noGrp="1"/>
          </p:cNvSpPr>
          <p:nvPr/>
        </p:nvSpPr>
        <p:spPr>
          <a:xfrm xmlns:a="http://schemas.openxmlformats.org/drawingml/2006/main">
            <a:off x="804672" y="5989320"/>
            <a:ext cx="594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DB0D8"/>
                </a:solidFill>
                <a:latin typeface="Malgun Gothic"/>
                <a:ea typeface="Malgun Gothic"/>
                <a:cs typeface="Malgun Gothic"/>
              </a:rPr>
              <a:t>이재용 · 이호연 · 김태형 · 최호택 · 진재현 · 정인성</a:t>
            </a:r>
          </a:p>
        </p:txBody>
      </p:sp>
      <p:sp>
        <p:nvSpPr>
          <p:cNvPr id="23" name="Text 21">
            <a:extLst xmlns:a="http://schemas.openxmlformats.org/drawingml/2006/main">
              <a:ext uri="{FF2B5EF4-FFF2-40B4-BE49-F238E27FC236}">
                <a16:creationId xmlns:a16="http://schemas.microsoft.com/office/drawing/2014/main" id="{083FB8C0-F170-404B-B62D-524C302D4C5B}"/>
              </a:ext>
            </a:extLst>
          </p:cNvPr>
          <p:cNvSpPr>
            <a:spLocks xmlns:a="http://schemas.openxmlformats.org/drawingml/2006/main" noGrp="1"/>
          </p:cNvSpPr>
          <p:nvPr/>
        </p:nvSpPr>
        <p:spPr>
          <a:xfrm xmlns:a="http://schemas.openxmlformats.org/drawingml/2006/main">
            <a:off x="10515600" y="638251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E7FA8"/>
                </a:solidFill>
                <a:latin typeface="Malgun Gothic"/>
                <a:ea typeface="Malgun Gothic"/>
                <a:cs typeface="Malgun Gothic"/>
              </a:rPr>
              <a:t>2026. 07</a:t>
            </a:r>
          </a:p>
        </p:txBody>
      </p:sp>
    </p:spTree>
    <p:extLst>
      <p:ext uri="{BB962C8B-B14F-4D97-AF65-F5344CB8AC3E}">
        <p14:creationId xmlns:p14="http://schemas.microsoft.com/office/powerpoint/2010/main" val="190205472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8AAD29F-332E-4EAE-B636-3781F6F755B2}"/>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01 · EXECUTIVE SUMMARY</a:t>
            </a:r>
          </a:p>
        </p:txBody>
      </p:sp>
      <p:sp>
        <p:nvSpPr>
          <p:cNvPr id="3" name="Text 1">
            <a:extLst xmlns:a="http://schemas.openxmlformats.org/drawingml/2006/main">
              <a:ext uri="{FF2B5EF4-FFF2-40B4-BE49-F238E27FC236}">
                <a16:creationId xmlns:a16="http://schemas.microsoft.com/office/drawing/2014/main" id="{BE084205-E6A3-4BF8-A7E1-2BE1B180097A}"/>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계좌는 있지만 무엇부터 볼지 모르는 사람을 위한 설명형 연금 가이드</a:t>
            </a:r>
          </a:p>
        </p:txBody>
      </p:sp>
      <p:sp>
        <p:nvSpPr>
          <p:cNvPr id="4" name="Text 2">
            <a:extLst xmlns:a="http://schemas.openxmlformats.org/drawingml/2006/main">
              <a:ext uri="{FF2B5EF4-FFF2-40B4-BE49-F238E27FC236}">
                <a16:creationId xmlns:a16="http://schemas.microsoft.com/office/drawing/2014/main" id="{77A4B2A4-2BA1-4683-8B7A-E10C82977C87}"/>
              </a:ext>
            </a:extLst>
          </p:cNvPr>
          <p:cNvSpPr>
            <a:spLocks xmlns:a="http://schemas.openxmlformats.org/drawingml/2006/main" noGrp="1"/>
          </p:cNvSpPr>
          <p:nvPr/>
        </p:nvSpPr>
        <p:spPr>
          <a:xfrm xmlns:a="http://schemas.openxmlformats.org/drawingml/2006/main">
            <a:off x="548640" y="1417320"/>
            <a:ext cx="5943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a:solidFill>
                  <a:srgbClr val="18202E"/>
                </a:solidFill>
                <a:latin typeface="Malgun Gothic"/>
                <a:ea typeface="Malgun Gothic"/>
                <a:cs typeface="Malgun Gothic"/>
              </a:rPr>
              <a:t>전국 조사와 팀 자체 수요조사는 같은 문제를 가리킵니다. 관심은 있지만 계좌 차이와 자산 비중을 이해하기 어려워 관리가 멈춥니다. 연금:KDA는 세 계좌를 한곳에서 진단하고, 규칙 엔진의 결과와 공식 근거를 쉽게 풀어 사용자가 직접 결정하도록 돕습니다.</a:t>
            </a:r>
          </a:p>
        </p:txBody>
      </p:sp>
      <p:sp>
        <p:nvSpPr>
          <p:cNvPr id="5" name="Text 3">
            <a:extLst xmlns:a="http://schemas.openxmlformats.org/drawingml/2006/main">
              <a:ext uri="{FF2B5EF4-FFF2-40B4-BE49-F238E27FC236}">
                <a16:creationId xmlns:a16="http://schemas.microsoft.com/office/drawing/2014/main" id="{5B286A7C-5B66-409C-B1F2-59AB60E67FFD}"/>
              </a:ext>
            </a:extLst>
          </p:cNvPr>
          <p:cNvSpPr>
            <a:spLocks xmlns:a="http://schemas.openxmlformats.org/drawingml/2006/main" noGrp="1"/>
          </p:cNvSpPr>
          <p:nvPr/>
        </p:nvSpPr>
        <p:spPr>
          <a:xfrm xmlns:a="http://schemas.openxmlformats.org/drawingml/2006/main">
            <a:off x="548640" y="2514600"/>
            <a:ext cx="59436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900"/>
              </a:spcAft>
              <a:buSzPct val="100000"/>
              <a:buChar char="•"/>
            </a:pPr>
            <a:r>
              <a:rPr sz="1250">
                <a:solidFill>
                  <a:srgbClr val="18202E"/>
                </a:solidFill>
                <a:latin typeface="Malgun Gothic"/>
                <a:ea typeface="Malgun Gothic"/>
                <a:cs typeface="Malgun Gothic"/>
              </a:rPr>
              <a:t>세 계좌 통합진단 + 연금 제도를 코드로 만든 규칙 엔진</a:t>
            </a:r>
          </a:p>
          <a:p xmlns:a="http://schemas.openxmlformats.org/drawingml/2006/main">
            <a:pPr marL="127000" indent="-127000">
              <a:spcAft>
                <a:spcPts val="900"/>
              </a:spcAft>
              <a:buSzPct val="100000"/>
              <a:buChar char="•"/>
            </a:pPr>
            <a:r>
              <a:rPr sz="1250">
                <a:solidFill>
                  <a:srgbClr val="18202E"/>
                </a:solidFill>
                <a:latin typeface="Malgun Gothic"/>
                <a:ea typeface="Malgun Gothic"/>
                <a:cs typeface="Malgun Gothic"/>
              </a:rPr>
              <a:t>전국 조사·자체 설문·공식 데이터로 문제와 해법을 교차검증</a:t>
            </a:r>
          </a:p>
          <a:p xmlns:a="http://schemas.openxmlformats.org/drawingml/2006/main">
            <a:pPr marL="127000" indent="-127000">
              <a:spcAft>
                <a:spcPts val="900"/>
              </a:spcAft>
              <a:buSzPct val="100000"/>
              <a:buChar char="•"/>
            </a:pPr>
            <a:r>
              <a:rPr sz="1250">
                <a:solidFill>
                  <a:srgbClr val="18202E"/>
                </a:solidFill>
                <a:latin typeface="Malgun Gothic"/>
                <a:ea typeface="Malgun Gothic"/>
                <a:cs typeface="Malgun Gothic"/>
              </a:rPr>
              <a:t>전략·세금·벤치마크까지 하나의 사용자 여정으로 연결</a:t>
            </a:r>
          </a:p>
        </p:txBody>
      </p:sp>
      <p:sp>
        <p:nvSpPr>
          <p:cNvPr id="6" name="Shape 4">
            <a:extLst xmlns:a="http://schemas.openxmlformats.org/drawingml/2006/main">
              <a:ext uri="{FF2B5EF4-FFF2-40B4-BE49-F238E27FC236}">
                <a16:creationId xmlns:a16="http://schemas.microsoft.com/office/drawing/2014/main" id="{4456B843-9EB8-4DED-B8AC-2C87F738AEBD}"/>
              </a:ext>
            </a:extLst>
          </p:cNvPr>
          <p:cNvSpPr>
            <a:spLocks xmlns:a="http://schemas.openxmlformats.org/drawingml/2006/main" noGrp="1"/>
          </p:cNvSpPr>
          <p:nvPr/>
        </p:nvSpPr>
        <p:spPr>
          <a:xfrm xmlns:a="http://schemas.openxmlformats.org/drawingml/2006/main">
            <a:off x="6812280" y="1417320"/>
            <a:ext cx="2377440" cy="1481328"/>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2700">
            <a:solidFill>
              <a:srgbClr val="D9E0EC"/>
            </a:solidFill>
            <a:prstDash val="solid"/>
          </a:ln>
        </p:spPr>
      </p:sp>
      <p:sp>
        <p:nvSpPr>
          <p:cNvPr id="7" name="Text 5">
            <a:extLst xmlns:a="http://schemas.openxmlformats.org/drawingml/2006/main">
              <a:ext uri="{FF2B5EF4-FFF2-40B4-BE49-F238E27FC236}">
                <a16:creationId xmlns:a16="http://schemas.microsoft.com/office/drawing/2014/main" id="{F9BB470B-52CD-42A5-92CB-BBAE54203EE9}"/>
              </a:ext>
            </a:extLst>
          </p:cNvPr>
          <p:cNvSpPr>
            <a:spLocks xmlns:a="http://schemas.openxmlformats.org/drawingml/2006/main" noGrp="1"/>
          </p:cNvSpPr>
          <p:nvPr/>
        </p:nvSpPr>
        <p:spPr>
          <a:xfrm xmlns:a="http://schemas.openxmlformats.org/drawingml/2006/main">
            <a:off x="6958584" y="1508760"/>
            <a:ext cx="2084832" cy="711037"/>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200" b="1">
                <a:solidFill>
                  <a:srgbClr val="1A4FD8"/>
                </a:solidFill>
                <a:latin typeface="Malgun Gothic"/>
                <a:ea typeface="Malgun Gothic"/>
                <a:cs typeface="Malgun Gothic"/>
              </a:rPr>
              <a:t>861 / 945</a:t>
            </a:r>
          </a:p>
        </p:txBody>
      </p:sp>
      <p:sp>
        <p:nvSpPr>
          <p:cNvPr id="8" name="Text 6">
            <a:extLst xmlns:a="http://schemas.openxmlformats.org/drawingml/2006/main">
              <a:ext uri="{FF2B5EF4-FFF2-40B4-BE49-F238E27FC236}">
                <a16:creationId xmlns:a16="http://schemas.microsoft.com/office/drawing/2014/main" id="{2B9294A6-945D-46D2-BB67-DB762CDECD73}"/>
              </a:ext>
            </a:extLst>
          </p:cNvPr>
          <p:cNvSpPr>
            <a:spLocks xmlns:a="http://schemas.openxmlformats.org/drawingml/2006/main" noGrp="1"/>
          </p:cNvSpPr>
          <p:nvPr/>
        </p:nvSpPr>
        <p:spPr>
          <a:xfrm xmlns:a="http://schemas.openxmlformats.org/drawingml/2006/main">
            <a:off x="6958584" y="2242475"/>
            <a:ext cx="20848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연금계좌 적격 ETF</a:t>
            </a:r>
          </a:p>
        </p:txBody>
      </p:sp>
      <p:sp>
        <p:nvSpPr>
          <p:cNvPr id="9" name="Text 7">
            <a:extLst xmlns:a="http://schemas.openxmlformats.org/drawingml/2006/main">
              <a:ext uri="{FF2B5EF4-FFF2-40B4-BE49-F238E27FC236}">
                <a16:creationId xmlns:a16="http://schemas.microsoft.com/office/drawing/2014/main" id="{0B6ABB6F-7E64-4E94-ACCC-B2A7AA0749BC}"/>
              </a:ext>
            </a:extLst>
          </p:cNvPr>
          <p:cNvSpPr>
            <a:spLocks xmlns:a="http://schemas.openxmlformats.org/drawingml/2006/main" noGrp="1"/>
          </p:cNvSpPr>
          <p:nvPr/>
        </p:nvSpPr>
        <p:spPr>
          <a:xfrm xmlns:a="http://schemas.openxmlformats.org/drawingml/2006/main">
            <a:off x="6958584" y="2489363"/>
            <a:ext cx="2084832" cy="38185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DC 823 · IRP 823 · 연금저축 861</a:t>
            </a:r>
          </a:p>
        </p:txBody>
      </p:sp>
      <p:sp>
        <p:nvSpPr>
          <p:cNvPr id="10" name="Shape 8">
            <a:extLst xmlns:a="http://schemas.openxmlformats.org/drawingml/2006/main">
              <a:ext uri="{FF2B5EF4-FFF2-40B4-BE49-F238E27FC236}">
                <a16:creationId xmlns:a16="http://schemas.microsoft.com/office/drawing/2014/main" id="{3CDE755C-1AC2-4C3B-B194-8F7A75BB30B0}"/>
              </a:ext>
            </a:extLst>
          </p:cNvPr>
          <p:cNvSpPr>
            <a:spLocks xmlns:a="http://schemas.openxmlformats.org/drawingml/2006/main" noGrp="1"/>
          </p:cNvSpPr>
          <p:nvPr/>
        </p:nvSpPr>
        <p:spPr>
          <a:xfrm xmlns:a="http://schemas.openxmlformats.org/drawingml/2006/main">
            <a:off x="9409176" y="1417320"/>
            <a:ext cx="2377440" cy="1481328"/>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2700">
            <a:solidFill>
              <a:srgbClr val="D9E0EC"/>
            </a:solidFill>
            <a:prstDash val="solid"/>
          </a:ln>
        </p:spPr>
      </p:sp>
      <p:sp>
        <p:nvSpPr>
          <p:cNvPr id="11" name="Text 9">
            <a:extLst xmlns:a="http://schemas.openxmlformats.org/drawingml/2006/main">
              <a:ext uri="{FF2B5EF4-FFF2-40B4-BE49-F238E27FC236}">
                <a16:creationId xmlns:a16="http://schemas.microsoft.com/office/drawing/2014/main" id="{E0A772AF-F0FD-447C-8128-D96796BC7B55}"/>
              </a:ext>
            </a:extLst>
          </p:cNvPr>
          <p:cNvSpPr>
            <a:spLocks xmlns:a="http://schemas.openxmlformats.org/drawingml/2006/main" noGrp="1"/>
          </p:cNvSpPr>
          <p:nvPr/>
        </p:nvSpPr>
        <p:spPr>
          <a:xfrm xmlns:a="http://schemas.openxmlformats.org/drawingml/2006/main">
            <a:off x="9555480" y="1508760"/>
            <a:ext cx="2084832" cy="711037"/>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200" b="1">
                <a:solidFill>
                  <a:srgbClr val="1A4FD8"/>
                </a:solidFill>
                <a:latin typeface="Malgun Gothic"/>
                <a:ea typeface="Malgun Gothic"/>
                <a:cs typeface="Malgun Gothic"/>
              </a:rPr>
              <a:t>217,833행</a:t>
            </a:r>
          </a:p>
        </p:txBody>
      </p:sp>
      <p:sp>
        <p:nvSpPr>
          <p:cNvPr id="12" name="Text 10">
            <a:extLst xmlns:a="http://schemas.openxmlformats.org/drawingml/2006/main">
              <a:ext uri="{FF2B5EF4-FFF2-40B4-BE49-F238E27FC236}">
                <a16:creationId xmlns:a16="http://schemas.microsoft.com/office/drawing/2014/main" id="{655C64E1-A47A-4AB2-9BE4-75D80759963D}"/>
              </a:ext>
            </a:extLst>
          </p:cNvPr>
          <p:cNvSpPr>
            <a:spLocks xmlns:a="http://schemas.openxmlformats.org/drawingml/2006/main" noGrp="1"/>
          </p:cNvSpPr>
          <p:nvPr/>
        </p:nvSpPr>
        <p:spPr>
          <a:xfrm xmlns:a="http://schemas.openxmlformats.org/drawingml/2006/main">
            <a:off x="9555480" y="2242475"/>
            <a:ext cx="20848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총수익(TR) 이력</a:t>
            </a:r>
          </a:p>
        </p:txBody>
      </p:sp>
      <p:sp>
        <p:nvSpPr>
          <p:cNvPr id="13" name="Text 11">
            <a:extLst xmlns:a="http://schemas.openxmlformats.org/drawingml/2006/main">
              <a:ext uri="{FF2B5EF4-FFF2-40B4-BE49-F238E27FC236}">
                <a16:creationId xmlns:a16="http://schemas.microsoft.com/office/drawing/2014/main" id="{25887AD0-727E-4973-B387-E056149D9CCE}"/>
              </a:ext>
            </a:extLst>
          </p:cNvPr>
          <p:cNvSpPr>
            <a:spLocks xmlns:a="http://schemas.openxmlformats.org/drawingml/2006/main" noGrp="1"/>
          </p:cNvSpPr>
          <p:nvPr/>
        </p:nvSpPr>
        <p:spPr>
          <a:xfrm xmlns:a="http://schemas.openxmlformats.org/drawingml/2006/main">
            <a:off x="9555480" y="2489363"/>
            <a:ext cx="2084832" cy="38185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원격 Supabase 적재 · DB/로컬 동등성 검증</a:t>
            </a:r>
          </a:p>
        </p:txBody>
      </p:sp>
      <p:sp>
        <p:nvSpPr>
          <p:cNvPr id="14" name="Shape 12">
            <a:extLst xmlns:a="http://schemas.openxmlformats.org/drawingml/2006/main">
              <a:ext uri="{FF2B5EF4-FFF2-40B4-BE49-F238E27FC236}">
                <a16:creationId xmlns:a16="http://schemas.microsoft.com/office/drawing/2014/main" id="{EC815773-F533-41F9-B6B5-AD679BC6CF08}"/>
              </a:ext>
            </a:extLst>
          </p:cNvPr>
          <p:cNvSpPr>
            <a:spLocks xmlns:a="http://schemas.openxmlformats.org/drawingml/2006/main" noGrp="1"/>
          </p:cNvSpPr>
          <p:nvPr/>
        </p:nvSpPr>
        <p:spPr>
          <a:xfrm xmlns:a="http://schemas.openxmlformats.org/drawingml/2006/main">
            <a:off x="6812280" y="3118104"/>
            <a:ext cx="2377440" cy="1481328"/>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2700">
            <a:solidFill>
              <a:srgbClr val="D9E0EC"/>
            </a:solidFill>
            <a:prstDash val="solid"/>
          </a:ln>
        </p:spPr>
      </p:sp>
      <p:sp>
        <p:nvSpPr>
          <p:cNvPr id="15" name="Text 13">
            <a:extLst xmlns:a="http://schemas.openxmlformats.org/drawingml/2006/main">
              <a:ext uri="{FF2B5EF4-FFF2-40B4-BE49-F238E27FC236}">
                <a16:creationId xmlns:a16="http://schemas.microsoft.com/office/drawing/2014/main" id="{F1DCF5F9-C639-4F08-B59A-76422C0E0BA8}"/>
              </a:ext>
            </a:extLst>
          </p:cNvPr>
          <p:cNvSpPr>
            <a:spLocks xmlns:a="http://schemas.openxmlformats.org/drawingml/2006/main" noGrp="1"/>
          </p:cNvSpPr>
          <p:nvPr/>
        </p:nvSpPr>
        <p:spPr>
          <a:xfrm xmlns:a="http://schemas.openxmlformats.org/drawingml/2006/main">
            <a:off x="6958584" y="3209544"/>
            <a:ext cx="2084832" cy="711037"/>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200" b="1">
                <a:solidFill>
                  <a:srgbClr val="1E8A4C"/>
                </a:solidFill>
                <a:latin typeface="Malgun Gothic"/>
                <a:ea typeface="Malgun Gothic"/>
                <a:cs typeface="Malgun Gothic"/>
              </a:rPr>
              <a:t>120개 · 0건</a:t>
            </a:r>
          </a:p>
        </p:txBody>
      </p:sp>
      <p:sp>
        <p:nvSpPr>
          <p:cNvPr id="16" name="Text 14">
            <a:extLst xmlns:a="http://schemas.openxmlformats.org/drawingml/2006/main">
              <a:ext uri="{FF2B5EF4-FFF2-40B4-BE49-F238E27FC236}">
                <a16:creationId xmlns:a16="http://schemas.microsoft.com/office/drawing/2014/main" id="{22B33C82-E73C-4B88-A5D2-F3E42CCFC29F}"/>
              </a:ext>
            </a:extLst>
          </p:cNvPr>
          <p:cNvSpPr>
            <a:spLocks xmlns:a="http://schemas.openxmlformats.org/drawingml/2006/main" noGrp="1"/>
          </p:cNvSpPr>
          <p:nvPr/>
        </p:nvSpPr>
        <p:spPr>
          <a:xfrm xmlns:a="http://schemas.openxmlformats.org/drawingml/2006/main">
            <a:off x="6958584" y="3943259"/>
            <a:ext cx="20848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포트폴리오 필수 검증</a:t>
            </a:r>
          </a:p>
        </p:txBody>
      </p:sp>
      <p:sp>
        <p:nvSpPr>
          <p:cNvPr id="17" name="Text 15">
            <a:extLst xmlns:a="http://schemas.openxmlformats.org/drawingml/2006/main">
              <a:ext uri="{FF2B5EF4-FFF2-40B4-BE49-F238E27FC236}">
                <a16:creationId xmlns:a16="http://schemas.microsoft.com/office/drawing/2014/main" id="{E543B46D-9C98-431D-BD57-BEC0CD4E1A2E}"/>
              </a:ext>
            </a:extLst>
          </p:cNvPr>
          <p:cNvSpPr>
            <a:spLocks xmlns:a="http://schemas.openxmlformats.org/drawingml/2006/main" noGrp="1"/>
          </p:cNvSpPr>
          <p:nvPr/>
        </p:nvSpPr>
        <p:spPr>
          <a:xfrm xmlns:a="http://schemas.openxmlformats.org/drawingml/2006/main">
            <a:off x="6958584" y="4190147"/>
            <a:ext cx="2084832" cy="38185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70% 한도 위반 0 · 후보 슬리브 누락 0</a:t>
            </a:r>
          </a:p>
        </p:txBody>
      </p:sp>
      <p:sp>
        <p:nvSpPr>
          <p:cNvPr id="18" name="Shape 16">
            <a:extLst xmlns:a="http://schemas.openxmlformats.org/drawingml/2006/main">
              <a:ext uri="{FF2B5EF4-FFF2-40B4-BE49-F238E27FC236}">
                <a16:creationId xmlns:a16="http://schemas.microsoft.com/office/drawing/2014/main" id="{9102941B-2906-4CA6-978B-70E47AB0E9BF}"/>
              </a:ext>
            </a:extLst>
          </p:cNvPr>
          <p:cNvSpPr>
            <a:spLocks xmlns:a="http://schemas.openxmlformats.org/drawingml/2006/main" noGrp="1"/>
          </p:cNvSpPr>
          <p:nvPr/>
        </p:nvSpPr>
        <p:spPr>
          <a:xfrm xmlns:a="http://schemas.openxmlformats.org/drawingml/2006/main">
            <a:off x="9409176" y="3118104"/>
            <a:ext cx="2377440" cy="1481328"/>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2700">
            <a:solidFill>
              <a:srgbClr val="D9E0EC"/>
            </a:solidFill>
            <a:prstDash val="solid"/>
          </a:ln>
        </p:spPr>
      </p:sp>
      <p:sp>
        <p:nvSpPr>
          <p:cNvPr id="19" name="Text 17">
            <a:extLst xmlns:a="http://schemas.openxmlformats.org/drawingml/2006/main">
              <a:ext uri="{FF2B5EF4-FFF2-40B4-BE49-F238E27FC236}">
                <a16:creationId xmlns:a16="http://schemas.microsoft.com/office/drawing/2014/main" id="{1AA805AE-243A-480E-90B3-EF260EB58D76}"/>
              </a:ext>
            </a:extLst>
          </p:cNvPr>
          <p:cNvSpPr>
            <a:spLocks xmlns:a="http://schemas.openxmlformats.org/drawingml/2006/main" noGrp="1"/>
          </p:cNvSpPr>
          <p:nvPr/>
        </p:nvSpPr>
        <p:spPr>
          <a:xfrm xmlns:a="http://schemas.openxmlformats.org/drawingml/2006/main">
            <a:off x="9555480" y="3209544"/>
            <a:ext cx="2084832" cy="711037"/>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200" b="1">
                <a:solidFill>
                  <a:srgbClr val="1A4FD8"/>
                </a:solidFill>
                <a:latin typeface="Malgun Gothic"/>
                <a:ea typeface="Malgun Gothic"/>
                <a:cs typeface="Malgun Gothic"/>
              </a:rPr>
              <a:t>1,151 + 104</a:t>
            </a:r>
          </a:p>
        </p:txBody>
      </p:sp>
      <p:sp>
        <p:nvSpPr>
          <p:cNvPr id="20" name="Text 18">
            <a:extLst xmlns:a="http://schemas.openxmlformats.org/drawingml/2006/main">
              <a:ext uri="{FF2B5EF4-FFF2-40B4-BE49-F238E27FC236}">
                <a16:creationId xmlns:a16="http://schemas.microsoft.com/office/drawing/2014/main" id="{FA2DBD71-3E55-432A-BC4D-B87FAF5C5A83}"/>
              </a:ext>
            </a:extLst>
          </p:cNvPr>
          <p:cNvSpPr>
            <a:spLocks xmlns:a="http://schemas.openxmlformats.org/drawingml/2006/main" noGrp="1"/>
          </p:cNvSpPr>
          <p:nvPr/>
        </p:nvSpPr>
        <p:spPr>
          <a:xfrm xmlns:a="http://schemas.openxmlformats.org/drawingml/2006/main">
            <a:off x="9555480" y="3943259"/>
            <a:ext cx="20848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백엔드·프론트 테스트</a:t>
            </a:r>
          </a:p>
        </p:txBody>
      </p:sp>
      <p:sp>
        <p:nvSpPr>
          <p:cNvPr id="21" name="Text 19">
            <a:extLst xmlns:a="http://schemas.openxmlformats.org/drawingml/2006/main">
              <a:ext uri="{FF2B5EF4-FFF2-40B4-BE49-F238E27FC236}">
                <a16:creationId xmlns:a16="http://schemas.microsoft.com/office/drawing/2014/main" id="{628F0A21-5536-48EC-9B40-B1E4909E7AF7}"/>
              </a:ext>
            </a:extLst>
          </p:cNvPr>
          <p:cNvSpPr>
            <a:spLocks xmlns:a="http://schemas.openxmlformats.org/drawingml/2006/main" noGrp="1"/>
          </p:cNvSpPr>
          <p:nvPr/>
        </p:nvSpPr>
        <p:spPr>
          <a:xfrm xmlns:a="http://schemas.openxmlformats.org/drawingml/2006/main">
            <a:off x="9555480" y="4190147"/>
            <a:ext cx="2084832" cy="38185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백엔드 1 skipped · TS·Vite build 통과</a:t>
            </a:r>
          </a:p>
        </p:txBody>
      </p:sp>
      <p:sp>
        <p:nvSpPr>
          <p:cNvPr id="22" name="Text 20">
            <a:extLst xmlns:a="http://schemas.openxmlformats.org/drawingml/2006/main">
              <a:ext uri="{FF2B5EF4-FFF2-40B4-BE49-F238E27FC236}">
                <a16:creationId xmlns:a16="http://schemas.microsoft.com/office/drawing/2014/main" id="{9147EBD9-DDCE-4C36-967F-8BE76915C27C}"/>
              </a:ext>
            </a:extLst>
          </p:cNvPr>
          <p:cNvSpPr>
            <a:spLocks xmlns:a="http://schemas.openxmlformats.org/drawingml/2006/main" noGrp="1"/>
          </p:cNvSpPr>
          <p:nvPr/>
        </p:nvSpPr>
        <p:spPr>
          <a:xfrm xmlns:a="http://schemas.openxmlformats.org/drawingml/2006/main">
            <a:off x="548640" y="5120640"/>
            <a:ext cx="105156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전국 설문 1,003명</a:t>
            </a:r>
          </a:p>
        </p:txBody>
      </p:sp>
      <p:sp>
        <p:nvSpPr>
          <p:cNvPr id="23" name="Text 21">
            <a:extLst xmlns:a="http://schemas.openxmlformats.org/drawingml/2006/main">
              <a:ext uri="{FF2B5EF4-FFF2-40B4-BE49-F238E27FC236}">
                <a16:creationId xmlns:a16="http://schemas.microsoft.com/office/drawing/2014/main" id="{A53C11B2-73D7-47C8-8099-0BA4E388F859}"/>
              </a:ext>
            </a:extLst>
          </p:cNvPr>
          <p:cNvSpPr>
            <a:spLocks xmlns:a="http://schemas.openxmlformats.org/drawingml/2006/main" noGrp="1"/>
          </p:cNvSpPr>
          <p:nvPr/>
        </p:nvSpPr>
        <p:spPr>
          <a:xfrm xmlns:a="http://schemas.openxmlformats.org/drawingml/2006/main">
            <a:off x="1764792" y="5120640"/>
            <a:ext cx="96012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자체 설문 n=30</a:t>
            </a:r>
          </a:p>
        </p:txBody>
      </p:sp>
      <p:sp>
        <p:nvSpPr>
          <p:cNvPr id="24" name="Text 22">
            <a:extLst xmlns:a="http://schemas.openxmlformats.org/drawingml/2006/main">
              <a:ext uri="{FF2B5EF4-FFF2-40B4-BE49-F238E27FC236}">
                <a16:creationId xmlns:a16="http://schemas.microsoft.com/office/drawing/2014/main" id="{407E610E-6F18-409A-B147-6214E7CFF05F}"/>
              </a:ext>
            </a:extLst>
          </p:cNvPr>
          <p:cNvSpPr>
            <a:spLocks xmlns:a="http://schemas.openxmlformats.org/drawingml/2006/main" noGrp="1"/>
          </p:cNvSpPr>
          <p:nvPr/>
        </p:nvSpPr>
        <p:spPr>
          <a:xfrm xmlns:a="http://schemas.openxmlformats.org/drawingml/2006/main">
            <a:off x="2889504" y="5120640"/>
            <a:ext cx="123444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공식 출처 8종</a:t>
            </a:r>
          </a:p>
        </p:txBody>
      </p:sp>
      <p:sp>
        <p:nvSpPr>
          <p:cNvPr id="25" name="Text 23">
            <a:extLst xmlns:a="http://schemas.openxmlformats.org/drawingml/2006/main">
              <a:ext uri="{FF2B5EF4-FFF2-40B4-BE49-F238E27FC236}">
                <a16:creationId xmlns:a16="http://schemas.microsoft.com/office/drawing/2014/main" id="{3319D55F-D729-4AC9-8763-6905B68FC5CC}"/>
              </a:ext>
            </a:extLst>
          </p:cNvPr>
          <p:cNvSpPr>
            <a:spLocks xmlns:a="http://schemas.openxmlformats.org/drawingml/2006/main" noGrp="1"/>
          </p:cNvSpPr>
          <p:nvPr/>
        </p:nvSpPr>
        <p:spPr>
          <a:xfrm xmlns:a="http://schemas.openxmlformats.org/drawingml/2006/main">
            <a:off x="4288536" y="5120640"/>
            <a:ext cx="132588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연금 적격 861</a:t>
            </a:r>
          </a:p>
        </p:txBody>
      </p:sp>
      <p:sp>
        <p:nvSpPr>
          <p:cNvPr id="26" name="Text 24">
            <a:extLst xmlns:a="http://schemas.openxmlformats.org/drawingml/2006/main">
              <a:ext uri="{FF2B5EF4-FFF2-40B4-BE49-F238E27FC236}">
                <a16:creationId xmlns:a16="http://schemas.microsoft.com/office/drawing/2014/main" id="{E8BACB2E-1C1E-4A66-95A0-CC127326084F}"/>
              </a:ext>
            </a:extLst>
          </p:cNvPr>
          <p:cNvSpPr>
            <a:spLocks xmlns:a="http://schemas.openxmlformats.org/drawingml/2006/main" noGrp="1"/>
          </p:cNvSpPr>
          <p:nvPr/>
        </p:nvSpPr>
        <p:spPr>
          <a:xfrm xmlns:a="http://schemas.openxmlformats.org/drawingml/2006/main">
            <a:off x="5779008" y="5120640"/>
            <a:ext cx="137160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LLM 최소화</a:t>
            </a:r>
          </a:p>
        </p:txBody>
      </p:sp>
      <p:sp>
        <p:nvSpPr>
          <p:cNvPr id="27" name="Text 25">
            <a:extLst xmlns:a="http://schemas.openxmlformats.org/drawingml/2006/main">
              <a:ext uri="{FF2B5EF4-FFF2-40B4-BE49-F238E27FC236}">
                <a16:creationId xmlns:a16="http://schemas.microsoft.com/office/drawing/2014/main" id="{4BD89651-B6C2-4335-9E1D-4B0C4D3008F0}"/>
              </a:ext>
            </a:extLst>
          </p:cNvPr>
          <p:cNvSpPr>
            <a:spLocks xmlns:a="http://schemas.openxmlformats.org/drawingml/2006/main" noGrp="1"/>
          </p:cNvSpPr>
          <p:nvPr/>
        </p:nvSpPr>
        <p:spPr>
          <a:xfrm xmlns:a="http://schemas.openxmlformats.org/drawingml/2006/main">
            <a:off x="7315200" y="5120640"/>
            <a:ext cx="123444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주문 실행 0건</a:t>
            </a:r>
          </a:p>
        </p:txBody>
      </p:sp>
      <p:sp>
        <p:nvSpPr>
          <p:cNvPr id="28" name="Text 26">
            <a:extLst xmlns:a="http://schemas.openxmlformats.org/drawingml/2006/main">
              <a:ext uri="{FF2B5EF4-FFF2-40B4-BE49-F238E27FC236}">
                <a16:creationId xmlns:a16="http://schemas.microsoft.com/office/drawing/2014/main" id="{D6757BA6-2378-46FC-A7D7-6C6881D21FCC}"/>
              </a:ext>
            </a:extLst>
          </p:cNvPr>
          <p:cNvSpPr>
            <a:spLocks xmlns:a="http://schemas.openxmlformats.org/drawingml/2006/main" noGrp="1"/>
          </p:cNvSpPr>
          <p:nvPr/>
        </p:nvSpPr>
        <p:spPr>
          <a:xfrm xmlns:a="http://schemas.openxmlformats.org/drawingml/2006/main">
            <a:off x="548640" y="5715000"/>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기준: 전국 조사 + 팀 자체 수요조사 + 공식 자료 + 프로젝트 SSOT 문서 + 코드·테스트 실측</a:t>
            </a:r>
          </a:p>
        </p:txBody>
      </p:sp>
      <p:sp>
        <p:nvSpPr>
          <p:cNvPr id="29" name="Text 27">
            <a:extLst xmlns:a="http://schemas.openxmlformats.org/drawingml/2006/main">
              <a:ext uri="{FF2B5EF4-FFF2-40B4-BE49-F238E27FC236}">
                <a16:creationId xmlns:a16="http://schemas.microsoft.com/office/drawing/2014/main" id="{2B7C9449-E056-42FE-92B7-18B6AFE76D9D}"/>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02</a:t>
            </a:r>
          </a:p>
        </p:txBody>
      </p:sp>
    </p:spTree>
    <p:extLst>
      <p:ext uri="{BB962C8B-B14F-4D97-AF65-F5344CB8AC3E}">
        <p14:creationId xmlns:p14="http://schemas.microsoft.com/office/powerpoint/2010/main" val="5855852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8C50A0-D295-4953-8211-486807631D41}"/>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02 · 기획 배경 — 전국 조사 × 팀 설문</a:t>
            </a:r>
          </a:p>
        </p:txBody>
      </p:sp>
      <p:sp>
        <p:nvSpPr>
          <p:cNvPr id="3" name="Text 1">
            <a:extLst xmlns:a="http://schemas.openxmlformats.org/drawingml/2006/main">
              <a:ext uri="{FF2B5EF4-FFF2-40B4-BE49-F238E27FC236}">
                <a16:creationId xmlns:a16="http://schemas.microsoft.com/office/drawing/2014/main" id="{7CBF5CD3-7586-490E-ADD7-E32D7FA8EDFF}"/>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전국 조사와 팀 설문은 같은 지점을 가리켰다 — 관심은 있지만, 이해와 점검에서 멈춘다</a:t>
            </a:r>
          </a:p>
        </p:txBody>
      </p:sp>
      <p:sp>
        <p:nvSpPr>
          <p:cNvPr id="16" name="Text 14">
            <a:extLst xmlns:a="http://schemas.openxmlformats.org/drawingml/2006/main">
              <a:ext uri="{FF2B5EF4-FFF2-40B4-BE49-F238E27FC236}">
                <a16:creationId xmlns:a16="http://schemas.microsoft.com/office/drawing/2014/main" id="{8F1262D4-3833-4E3C-8796-3A53FCA2E3BA}"/>
              </a:ext>
            </a:extLst>
          </p:cNvPr>
          <p:cNvSpPr>
            <a:spLocks xmlns:a="http://schemas.openxmlformats.org/drawingml/2006/main" noGrp="1"/>
          </p:cNvSpPr>
          <p:nvPr/>
        </p:nvSpPr>
        <p:spPr>
          <a:xfrm xmlns:a="http://schemas.openxmlformats.org/drawingml/2006/main">
            <a:off x="5257800" y="1463040"/>
            <a:ext cx="6309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두 설문이 만나는 지점</a:t>
            </a:r>
          </a:p>
        </p:txBody>
      </p:sp>
      <p:sp>
        <p:nvSpPr>
          <p:cNvPr id="17" name="Shape 15">
            <a:extLst xmlns:a="http://schemas.openxmlformats.org/drawingml/2006/main">
              <a:ext uri="{FF2B5EF4-FFF2-40B4-BE49-F238E27FC236}">
                <a16:creationId xmlns:a16="http://schemas.microsoft.com/office/drawing/2014/main" id="{82AEF804-8AB2-4E8E-A283-29F49943FE36}"/>
              </a:ext>
            </a:extLst>
          </p:cNvPr>
          <p:cNvSpPr>
            <a:spLocks xmlns:a="http://schemas.openxmlformats.org/drawingml/2006/main" noGrp="1"/>
          </p:cNvSpPr>
          <p:nvPr/>
        </p:nvSpPr>
        <p:spPr>
          <a:xfrm xmlns:a="http://schemas.openxmlformats.org/drawingml/2006/main">
            <a:off x="5257800" y="1828800"/>
            <a:ext cx="1920240" cy="914400"/>
          </a:xfrm>
          <a:prstGeom xmlns:a="http://schemas.openxmlformats.org/drawingml/2006/main" prst="roundRect">
            <a:avLst>
              <a:gd name="adj" fmla="val 9000"/>
            </a:avLst>
          </a:prstGeom>
          <a:solidFill xmlns:a="http://schemas.openxmlformats.org/drawingml/2006/main">
            <a:srgbClr val="E6F3EA"/>
          </a:solidFill>
        </p:spPr>
      </p:sp>
      <p:sp>
        <p:nvSpPr>
          <p:cNvPr id="18" name="Text 16">
            <a:extLst xmlns:a="http://schemas.openxmlformats.org/drawingml/2006/main">
              <a:ext uri="{FF2B5EF4-FFF2-40B4-BE49-F238E27FC236}">
                <a16:creationId xmlns:a16="http://schemas.microsoft.com/office/drawing/2014/main" id="{29625CF7-92E4-484B-8969-DB88D56D8296}"/>
              </a:ext>
            </a:extLst>
          </p:cNvPr>
          <p:cNvSpPr>
            <a:spLocks xmlns:a="http://schemas.openxmlformats.org/drawingml/2006/main" noGrp="1"/>
          </p:cNvSpPr>
          <p:nvPr/>
        </p:nvSpPr>
        <p:spPr>
          <a:xfrm xmlns:a="http://schemas.openxmlformats.org/drawingml/2006/main">
            <a:off x="5385816" y="1920240"/>
            <a:ext cx="16642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관심</a:t>
            </a:r>
          </a:p>
        </p:txBody>
      </p:sp>
      <p:sp>
        <p:nvSpPr>
          <p:cNvPr id="19" name="Text 17">
            <a:extLst xmlns:a="http://schemas.openxmlformats.org/drawingml/2006/main">
              <a:ext uri="{FF2B5EF4-FFF2-40B4-BE49-F238E27FC236}">
                <a16:creationId xmlns:a16="http://schemas.microsoft.com/office/drawing/2014/main" id="{A31E97B3-9D63-41C6-B7FA-2DE173D2E1B7}"/>
              </a:ext>
            </a:extLst>
          </p:cNvPr>
          <p:cNvSpPr>
            <a:spLocks xmlns:a="http://schemas.openxmlformats.org/drawingml/2006/main" noGrp="1"/>
          </p:cNvSpPr>
          <p:nvPr/>
        </p:nvSpPr>
        <p:spPr>
          <a:xfrm xmlns:a="http://schemas.openxmlformats.org/drawingml/2006/main">
            <a:off x="5385816" y="2231136"/>
            <a:ext cx="16642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연금은 중요하다고 느낀다</a:t>
            </a:r>
          </a:p>
        </p:txBody>
      </p:sp>
      <p:sp>
        <p:nvSpPr>
          <p:cNvPr id="20" name="Text 18">
            <a:extLst xmlns:a="http://schemas.openxmlformats.org/drawingml/2006/main">
              <a:ext uri="{FF2B5EF4-FFF2-40B4-BE49-F238E27FC236}">
                <a16:creationId xmlns:a16="http://schemas.microsoft.com/office/drawing/2014/main" id="{F22D55F7-5DB8-4B9B-AFA7-C23F84C1D197}"/>
              </a:ext>
            </a:extLst>
          </p:cNvPr>
          <p:cNvSpPr>
            <a:spLocks xmlns:a="http://schemas.openxmlformats.org/drawingml/2006/main" noGrp="1"/>
          </p:cNvSpPr>
          <p:nvPr/>
        </p:nvSpPr>
        <p:spPr>
          <a:xfrm xmlns:a="http://schemas.openxmlformats.org/drawingml/2006/main">
            <a:off x="6464808" y="1700784"/>
            <a:ext cx="658368" cy="256032"/>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0EC"/>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1E8A4C"/>
                </a:solidFill>
                <a:latin typeface="Malgun Gothic"/>
                <a:ea typeface="Malgun Gothic"/>
                <a:cs typeface="Malgun Gothic"/>
              </a:rPr>
              <a:t>→</a:t>
            </a:r>
          </a:p>
        </p:txBody>
      </p:sp>
      <p:sp>
        <p:nvSpPr>
          <p:cNvPr id="21" name="Text 19">
            <a:extLst xmlns:a="http://schemas.openxmlformats.org/drawingml/2006/main">
              <a:ext uri="{FF2B5EF4-FFF2-40B4-BE49-F238E27FC236}">
                <a16:creationId xmlns:a16="http://schemas.microsoft.com/office/drawing/2014/main" id="{1CE2EB60-C60F-4D34-A99E-EB31A8627C1E}"/>
              </a:ext>
            </a:extLst>
          </p:cNvPr>
          <p:cNvSpPr>
            <a:spLocks xmlns:a="http://schemas.openxmlformats.org/drawingml/2006/main" noGrp="1"/>
          </p:cNvSpPr>
          <p:nvPr/>
        </p:nvSpPr>
        <p:spPr>
          <a:xfrm xmlns:a="http://schemas.openxmlformats.org/drawingml/2006/main">
            <a:off x="7187184" y="21488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9AA3B2"/>
                </a:solidFill>
                <a:latin typeface="Malgun Gothic"/>
                <a:ea typeface="Malgun Gothic"/>
                <a:cs typeface="Malgun Gothic"/>
              </a:rPr>
              <a:t>→</a:t>
            </a:r>
          </a:p>
        </p:txBody>
      </p:sp>
      <p:sp>
        <p:nvSpPr>
          <p:cNvPr id="22" name="Shape 20">
            <a:extLst xmlns:a="http://schemas.openxmlformats.org/drawingml/2006/main">
              <a:ext uri="{FF2B5EF4-FFF2-40B4-BE49-F238E27FC236}">
                <a16:creationId xmlns:a16="http://schemas.microsoft.com/office/drawing/2014/main" id="{1CA68F76-136F-4CCD-9A23-E77A5D050578}"/>
              </a:ext>
            </a:extLst>
          </p:cNvPr>
          <p:cNvSpPr>
            <a:spLocks xmlns:a="http://schemas.openxmlformats.org/drawingml/2006/main" noGrp="1"/>
          </p:cNvSpPr>
          <p:nvPr/>
        </p:nvSpPr>
        <p:spPr>
          <a:xfrm xmlns:a="http://schemas.openxmlformats.org/drawingml/2006/main">
            <a:off x="7470648" y="1828800"/>
            <a:ext cx="1920240" cy="914400"/>
          </a:xfrm>
          <a:prstGeom xmlns:a="http://schemas.openxmlformats.org/drawingml/2006/main" prst="roundRect">
            <a:avLst>
              <a:gd name="adj" fmla="val 9000"/>
            </a:avLst>
          </a:prstGeom>
          <a:solidFill xmlns:a="http://schemas.openxmlformats.org/drawingml/2006/main">
            <a:srgbClr val="FBF1DF"/>
          </a:solidFill>
        </p:spPr>
      </p:sp>
      <p:sp>
        <p:nvSpPr>
          <p:cNvPr id="23" name="Text 21">
            <a:extLst xmlns:a="http://schemas.openxmlformats.org/drawingml/2006/main">
              <a:ext uri="{FF2B5EF4-FFF2-40B4-BE49-F238E27FC236}">
                <a16:creationId xmlns:a16="http://schemas.microsoft.com/office/drawing/2014/main" id="{58F1328E-9F3B-445B-8539-4332F8AD1C16}"/>
              </a:ext>
            </a:extLst>
          </p:cNvPr>
          <p:cNvSpPr>
            <a:spLocks xmlns:a="http://schemas.openxmlformats.org/drawingml/2006/main" noGrp="1"/>
          </p:cNvSpPr>
          <p:nvPr/>
        </p:nvSpPr>
        <p:spPr>
          <a:xfrm xmlns:a="http://schemas.openxmlformats.org/drawingml/2006/main">
            <a:off x="7598664" y="1920240"/>
            <a:ext cx="16642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이해·점검</a:t>
            </a:r>
          </a:p>
        </p:txBody>
      </p:sp>
      <p:sp>
        <p:nvSpPr>
          <p:cNvPr id="24" name="Text 22">
            <a:extLst xmlns:a="http://schemas.openxmlformats.org/drawingml/2006/main">
              <a:ext uri="{FF2B5EF4-FFF2-40B4-BE49-F238E27FC236}">
                <a16:creationId xmlns:a16="http://schemas.microsoft.com/office/drawing/2014/main" id="{11DB0176-F7F5-4D50-B75D-51953B08EE23}"/>
              </a:ext>
            </a:extLst>
          </p:cNvPr>
          <p:cNvSpPr>
            <a:spLocks xmlns:a="http://schemas.openxmlformats.org/drawingml/2006/main" noGrp="1"/>
          </p:cNvSpPr>
          <p:nvPr/>
        </p:nvSpPr>
        <p:spPr>
          <a:xfrm xmlns:a="http://schemas.openxmlformats.org/drawingml/2006/main">
            <a:off x="7598664" y="2231136"/>
            <a:ext cx="16642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계좌 차이와 자산 비중에서 막힌다</a:t>
            </a:r>
          </a:p>
        </p:txBody>
      </p:sp>
      <p:sp>
        <p:nvSpPr>
          <p:cNvPr id="25" name="Text 23">
            <a:extLst xmlns:a="http://schemas.openxmlformats.org/drawingml/2006/main">
              <a:ext uri="{FF2B5EF4-FFF2-40B4-BE49-F238E27FC236}">
                <a16:creationId xmlns:a16="http://schemas.microsoft.com/office/drawing/2014/main" id="{990390D2-08AE-42AE-8AB5-9FF1EC9DD570}"/>
              </a:ext>
            </a:extLst>
          </p:cNvPr>
          <p:cNvSpPr>
            <a:spLocks xmlns:a="http://schemas.openxmlformats.org/drawingml/2006/main" noGrp="1"/>
          </p:cNvSpPr>
          <p:nvPr/>
        </p:nvSpPr>
        <p:spPr>
          <a:xfrm xmlns:a="http://schemas.openxmlformats.org/drawingml/2006/main">
            <a:off x="8677656" y="1700784"/>
            <a:ext cx="658368" cy="256032"/>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0EC"/>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C77A1E"/>
                </a:solidFill>
                <a:latin typeface="Malgun Gothic"/>
                <a:ea typeface="Malgun Gothic"/>
                <a:cs typeface="Malgun Gothic"/>
              </a:rPr>
              <a:t>→</a:t>
            </a:r>
          </a:p>
        </p:txBody>
      </p:sp>
      <p:sp>
        <p:nvSpPr>
          <p:cNvPr id="26" name="Text 24">
            <a:extLst xmlns:a="http://schemas.openxmlformats.org/drawingml/2006/main">
              <a:ext uri="{FF2B5EF4-FFF2-40B4-BE49-F238E27FC236}">
                <a16:creationId xmlns:a16="http://schemas.microsoft.com/office/drawing/2014/main" id="{396E2E5C-346B-4ED3-8D5E-E37161FC85C7}"/>
              </a:ext>
            </a:extLst>
          </p:cNvPr>
          <p:cNvSpPr>
            <a:spLocks xmlns:a="http://schemas.openxmlformats.org/drawingml/2006/main" noGrp="1"/>
          </p:cNvSpPr>
          <p:nvPr/>
        </p:nvSpPr>
        <p:spPr>
          <a:xfrm xmlns:a="http://schemas.openxmlformats.org/drawingml/2006/main">
            <a:off x="9400032" y="21488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9AA3B2"/>
                </a:solidFill>
                <a:latin typeface="Malgun Gothic"/>
                <a:ea typeface="Malgun Gothic"/>
                <a:cs typeface="Malgun Gothic"/>
              </a:rPr>
              <a:t>→</a:t>
            </a:r>
          </a:p>
        </p:txBody>
      </p:sp>
      <p:sp>
        <p:nvSpPr>
          <p:cNvPr id="27" name="Shape 25">
            <a:extLst xmlns:a="http://schemas.openxmlformats.org/drawingml/2006/main">
              <a:ext uri="{FF2B5EF4-FFF2-40B4-BE49-F238E27FC236}">
                <a16:creationId xmlns:a16="http://schemas.microsoft.com/office/drawing/2014/main" id="{95D9D1AB-E4B4-4964-B208-02AFD77F8269}"/>
              </a:ext>
            </a:extLst>
          </p:cNvPr>
          <p:cNvSpPr>
            <a:spLocks xmlns:a="http://schemas.openxmlformats.org/drawingml/2006/main" noGrp="1"/>
          </p:cNvSpPr>
          <p:nvPr/>
        </p:nvSpPr>
        <p:spPr>
          <a:xfrm xmlns:a="http://schemas.openxmlformats.org/drawingml/2006/main">
            <a:off x="9683496" y="1828800"/>
            <a:ext cx="1920240" cy="914400"/>
          </a:xfrm>
          <a:prstGeom xmlns:a="http://schemas.openxmlformats.org/drawingml/2006/main" prst="roundRect">
            <a:avLst>
              <a:gd name="adj" fmla="val 9000"/>
            </a:avLst>
          </a:prstGeom>
          <a:solidFill xmlns:a="http://schemas.openxmlformats.org/drawingml/2006/main">
            <a:srgbClr val="FDEBEB"/>
          </a:solidFill>
        </p:spPr>
      </p:sp>
      <p:sp>
        <p:nvSpPr>
          <p:cNvPr id="28" name="Text 26">
            <a:extLst xmlns:a="http://schemas.openxmlformats.org/drawingml/2006/main">
              <a:ext uri="{FF2B5EF4-FFF2-40B4-BE49-F238E27FC236}">
                <a16:creationId xmlns:a16="http://schemas.microsoft.com/office/drawing/2014/main" id="{00C1A0F6-2130-40FA-A21D-DFBD08F6BB21}"/>
              </a:ext>
            </a:extLst>
          </p:cNvPr>
          <p:cNvSpPr>
            <a:spLocks xmlns:a="http://schemas.openxmlformats.org/drawingml/2006/main" noGrp="1"/>
          </p:cNvSpPr>
          <p:nvPr/>
        </p:nvSpPr>
        <p:spPr>
          <a:xfrm xmlns:a="http://schemas.openxmlformats.org/drawingml/2006/main">
            <a:off x="9811512" y="1920240"/>
            <a:ext cx="16642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판단</a:t>
            </a:r>
          </a:p>
        </p:txBody>
      </p:sp>
      <p:sp>
        <p:nvSpPr>
          <p:cNvPr id="29" name="Text 27">
            <a:extLst xmlns:a="http://schemas.openxmlformats.org/drawingml/2006/main">
              <a:ext uri="{FF2B5EF4-FFF2-40B4-BE49-F238E27FC236}">
                <a16:creationId xmlns:a16="http://schemas.microsoft.com/office/drawing/2014/main" id="{4AD833B3-1CDD-4A1B-8159-751EED055219}"/>
              </a:ext>
            </a:extLst>
          </p:cNvPr>
          <p:cNvSpPr>
            <a:spLocks xmlns:a="http://schemas.openxmlformats.org/drawingml/2006/main" noGrp="1"/>
          </p:cNvSpPr>
          <p:nvPr/>
        </p:nvSpPr>
        <p:spPr>
          <a:xfrm xmlns:a="http://schemas.openxmlformats.org/drawingml/2006/main">
            <a:off x="9811512" y="2231136"/>
            <a:ext cx="16642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위험과 근거를 확인해야 움직인다</a:t>
            </a:r>
          </a:p>
        </p:txBody>
      </p:sp>
      <p:sp>
        <p:nvSpPr>
          <p:cNvPr id="30" name="Text 28">
            <a:extLst xmlns:a="http://schemas.openxmlformats.org/drawingml/2006/main">
              <a:ext uri="{FF2B5EF4-FFF2-40B4-BE49-F238E27FC236}">
                <a16:creationId xmlns:a16="http://schemas.microsoft.com/office/drawing/2014/main" id="{8C6BEB77-F6F3-4594-9E3C-94CFF16055B4}"/>
              </a:ext>
            </a:extLst>
          </p:cNvPr>
          <p:cNvSpPr>
            <a:spLocks xmlns:a="http://schemas.openxmlformats.org/drawingml/2006/main" noGrp="1"/>
          </p:cNvSpPr>
          <p:nvPr/>
        </p:nvSpPr>
        <p:spPr>
          <a:xfrm xmlns:a="http://schemas.openxmlformats.org/drawingml/2006/main">
            <a:off x="10890504" y="1700784"/>
            <a:ext cx="658368" cy="256032"/>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0EC"/>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B03A3A"/>
                </a:solidFill>
                <a:latin typeface="Malgun Gothic"/>
                <a:ea typeface="Malgun Gothic"/>
                <a:cs typeface="Malgun Gothic"/>
              </a:rPr>
              <a:t>제품 기회</a:t>
            </a:r>
          </a:p>
        </p:txBody>
      </p:sp>
      <p:sp>
        <p:nvSpPr>
          <p:cNvPr id="31" name="Shape 29">
            <a:extLst xmlns:a="http://schemas.openxmlformats.org/drawingml/2006/main">
              <a:ext uri="{FF2B5EF4-FFF2-40B4-BE49-F238E27FC236}">
                <a16:creationId xmlns:a16="http://schemas.microsoft.com/office/drawing/2014/main" id="{432E06AF-E159-4BB6-A81E-4D1B7E09909D}"/>
              </a:ext>
            </a:extLst>
          </p:cNvPr>
          <p:cNvSpPr>
            <a:spLocks xmlns:a="http://schemas.openxmlformats.org/drawingml/2006/main" noGrp="1"/>
          </p:cNvSpPr>
          <p:nvPr/>
        </p:nvSpPr>
        <p:spPr>
          <a:xfrm xmlns:a="http://schemas.openxmlformats.org/drawingml/2006/main">
            <a:off x="5257800" y="3063240"/>
            <a:ext cx="6309360" cy="13716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12700">
            <a:solidFill>
              <a:srgbClr val="D9E0EC"/>
            </a:solidFill>
            <a:prstDash val="solid"/>
          </a:ln>
        </p:spPr>
      </p:sp>
      <p:sp>
        <p:nvSpPr>
          <p:cNvPr id="32" name="Text 30">
            <a:extLst xmlns:a="http://schemas.openxmlformats.org/drawingml/2006/main">
              <a:ext uri="{FF2B5EF4-FFF2-40B4-BE49-F238E27FC236}">
                <a16:creationId xmlns:a16="http://schemas.microsoft.com/office/drawing/2014/main" id="{1101C244-F755-44E8-9179-36CCEE9CCD18}"/>
              </a:ext>
            </a:extLst>
          </p:cNvPr>
          <p:cNvSpPr>
            <a:spLocks xmlns:a="http://schemas.openxmlformats.org/drawingml/2006/main" noGrp="1"/>
          </p:cNvSpPr>
          <p:nvPr/>
        </p:nvSpPr>
        <p:spPr>
          <a:xfrm xmlns:a="http://schemas.openxmlformats.org/drawingml/2006/main">
            <a:off x="5440680" y="320040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설문이 말하는 제품 기회</a:t>
            </a:r>
          </a:p>
        </p:txBody>
      </p:sp>
      <p:sp>
        <p:nvSpPr>
          <p:cNvPr id="33" name="Text 31">
            <a:extLst xmlns:a="http://schemas.openxmlformats.org/drawingml/2006/main">
              <a:ext uri="{FF2B5EF4-FFF2-40B4-BE49-F238E27FC236}">
                <a16:creationId xmlns:a16="http://schemas.microsoft.com/office/drawing/2014/main" id="{D85E2877-6FD8-46B3-B84E-ACC9CB5A8AEF}"/>
              </a:ext>
            </a:extLst>
          </p:cNvPr>
          <p:cNvSpPr>
            <a:spLocks xmlns:a="http://schemas.openxmlformats.org/drawingml/2006/main" noGrp="1"/>
          </p:cNvSpPr>
          <p:nvPr/>
        </p:nvSpPr>
        <p:spPr>
          <a:xfrm xmlns:a="http://schemas.openxmlformats.org/drawingml/2006/main">
            <a:off x="5440680" y="3493008"/>
            <a:ext cx="5943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500"/>
              </a:spcAft>
              <a:buSzPct val="100000"/>
              <a:buChar char="•"/>
            </a:pPr>
            <a:r>
              <a:rPr sz="1050">
                <a:solidFill>
                  <a:srgbClr val="18202E"/>
                </a:solidFill>
                <a:latin typeface="Malgun Gothic"/>
                <a:ea typeface="Malgun Gothic"/>
                <a:cs typeface="Malgun Gothic"/>
              </a:rPr>
              <a:t>자체 설문에서 가장 선호한 지원 방식은 “AI가 진단 결과와 근거를 설명하고 내가 결정”(15/30)이었습니다. 자동 운용(3/30)보다 사용자의 통제권을 남기는 방식에 수요가 더 컸습니다.</a:t>
            </a:r>
          </a:p>
        </p:txBody>
      </p:sp>
      <p:sp>
        <p:nvSpPr>
          <p:cNvPr id="34" name="Shape 32">
            <a:extLst xmlns:a="http://schemas.openxmlformats.org/drawingml/2006/main">
              <a:ext uri="{FF2B5EF4-FFF2-40B4-BE49-F238E27FC236}">
                <a16:creationId xmlns:a16="http://schemas.microsoft.com/office/drawing/2014/main" id="{FB94823F-725C-4B76-BE5A-828DECBA1FC6}"/>
              </a:ext>
            </a:extLst>
          </p:cNvPr>
          <p:cNvSpPr>
            <a:spLocks xmlns:a="http://schemas.openxmlformats.org/drawingml/2006/main" noGrp="1"/>
          </p:cNvSpPr>
          <p:nvPr/>
        </p:nvSpPr>
        <p:spPr>
          <a:xfrm xmlns:a="http://schemas.openxmlformats.org/drawingml/2006/main">
            <a:off x="5257800" y="4617720"/>
            <a:ext cx="6309360" cy="868680"/>
          </a:xfrm>
          <a:prstGeom xmlns:a="http://schemas.openxmlformats.org/drawingml/2006/main" prst="roundRect">
            <a:avLst>
              <a:gd name="adj" fmla="val 9474"/>
            </a:avLst>
          </a:prstGeom>
          <a:solidFill xmlns:a="http://schemas.openxmlformats.org/drawingml/2006/main">
            <a:srgbClr val="EEF3FE"/>
          </a:solidFill>
          <a:ln xmlns:a="http://schemas.openxmlformats.org/drawingml/2006/main" w="12700">
            <a:solidFill>
              <a:srgbClr val="D7E2F8"/>
            </a:solidFill>
            <a:prstDash val="solid"/>
          </a:ln>
        </p:spPr>
      </p:sp>
      <p:sp>
        <p:nvSpPr>
          <p:cNvPr id="35" name="Text 33">
            <a:extLst xmlns:a="http://schemas.openxmlformats.org/drawingml/2006/main">
              <a:ext uri="{FF2B5EF4-FFF2-40B4-BE49-F238E27FC236}">
                <a16:creationId xmlns:a16="http://schemas.microsoft.com/office/drawing/2014/main" id="{8D817DB9-5705-445B-A41A-76E05C98820D}"/>
              </a:ext>
            </a:extLst>
          </p:cNvPr>
          <p:cNvSpPr>
            <a:spLocks xmlns:a="http://schemas.openxmlformats.org/drawingml/2006/main" noGrp="1"/>
          </p:cNvSpPr>
          <p:nvPr/>
        </p:nvSpPr>
        <p:spPr>
          <a:xfrm xmlns:a="http://schemas.openxmlformats.org/drawingml/2006/main">
            <a:off x="5468112" y="4736592"/>
            <a:ext cx="58978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그래서 연금:KDA는 ‘한 줄 진단 → 계좌·세금·위험 근거 → 사용자 선택’ 순서로 설계했습니다.</a:t>
            </a:r>
          </a:p>
        </p:txBody>
      </p:sp>
      <p:sp>
        <p:nvSpPr>
          <p:cNvPr id="36" name="Text 34">
            <a:extLst xmlns:a="http://schemas.openxmlformats.org/drawingml/2006/main">
              <a:ext uri="{FF2B5EF4-FFF2-40B4-BE49-F238E27FC236}">
                <a16:creationId xmlns:a16="http://schemas.microsoft.com/office/drawing/2014/main" id="{73B748B8-7008-4B19-AAEF-D137AFEC1893}"/>
              </a:ext>
            </a:extLst>
          </p:cNvPr>
          <p:cNvSpPr>
            <a:spLocks xmlns:a="http://schemas.openxmlformats.org/drawingml/2006/main" noGrp="1"/>
          </p:cNvSpPr>
          <p:nvPr/>
        </p:nvSpPr>
        <p:spPr>
          <a:xfrm xmlns:a="http://schemas.openxmlformats.org/drawingml/2006/main">
            <a:off x="548640" y="5806440"/>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출처: 한국경영자총협회 2025 직장인 퇴직연금 인식조사(n=1,003) · 팀 자체 수요조사(n=30, 2026.7.13~14) | 자체 조사는 편의표본</a:t>
            </a:r>
          </a:p>
        </p:txBody>
      </p:sp>
      <p:sp>
        <p:nvSpPr>
          <p:cNvPr id="37" name="Text 35">
            <a:extLst xmlns:a="http://schemas.openxmlformats.org/drawingml/2006/main">
              <a:ext uri="{FF2B5EF4-FFF2-40B4-BE49-F238E27FC236}">
                <a16:creationId xmlns:a16="http://schemas.microsoft.com/office/drawing/2014/main" id="{315E6C50-C538-44F7-BC9F-1185D26F9053}"/>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03</a:t>
            </a:r>
          </a:p>
        </p:txBody>
      </p:sp>
      <p:graphicFrame>
        <p:nvGraphicFramePr>
          <p:cNvPr id="63" name="survey-bar-chart"/>
          <p:cNvGraphicFramePr/>
          <p:nvPr/>
        </p:nvGraphicFramePr>
        <p:xfrm>
          <a:off xmlns:a="http://schemas.openxmlformats.org/drawingml/2006/main" x="590550" y="1409700"/>
          <a:ext xmlns:a="http://schemas.openxmlformats.org/drawingml/2006/main" cx="4333875" cy="3638550"/>
        </p:xfrm>
        <a:graphic xmlns:a="http://schemas.openxmlformats.org/drawingml/2006/main">
          <a:graphicData uri="http://schemas.openxmlformats.org/drawingml/2006/chart">
            <c:chart xmlns:r="http://schemas.openxmlformats.org/officeDocument/2006/relationships" xmlns:c="http://schemas.openxmlformats.org/drawingml/2006/chart" r:id="R089b057838794cc7"/>
          </a:graphicData>
        </a:graphic>
      </p:graphicFrame>
    </p:spTree>
    <p:extLst>
      <p:ext uri="{BB962C8B-B14F-4D97-AF65-F5344CB8AC3E}">
        <p14:creationId xmlns:p14="http://schemas.microsoft.com/office/powerpoint/2010/main" val="184379039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83FF94-0A8B-41C9-9795-FA99C0550178}"/>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03 · 기획 배경 — 시장과 운용 격차</a:t>
            </a:r>
          </a:p>
        </p:txBody>
      </p:sp>
      <p:sp>
        <p:nvSpPr>
          <p:cNvPr id="3" name="Text 1">
            <a:extLst xmlns:a="http://schemas.openxmlformats.org/drawingml/2006/main">
              <a:ext uri="{FF2B5EF4-FFF2-40B4-BE49-F238E27FC236}">
                <a16:creationId xmlns:a16="http://schemas.microsoft.com/office/drawing/2014/main" id="{5F5B9265-C2FD-41CC-BBAF-4F7F31357A78}"/>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500조원 시장에서도 운용 방식에 따라 수익률 격차는 19%p다</a:t>
            </a:r>
          </a:p>
        </p:txBody>
      </p:sp>
      <p:sp>
        <p:nvSpPr>
          <p:cNvPr id="4" name="Shape 2">
            <a:extLst xmlns:a="http://schemas.openxmlformats.org/drawingml/2006/main">
              <a:ext uri="{FF2B5EF4-FFF2-40B4-BE49-F238E27FC236}">
                <a16:creationId xmlns:a16="http://schemas.microsoft.com/office/drawing/2014/main" id="{B6E37F83-DAA2-4BD0-8C3D-6F051860B56A}"/>
              </a:ext>
            </a:extLst>
          </p:cNvPr>
          <p:cNvSpPr>
            <a:spLocks xmlns:a="http://schemas.openxmlformats.org/drawingml/2006/main" noGrp="1"/>
          </p:cNvSpPr>
          <p:nvPr/>
        </p:nvSpPr>
        <p:spPr>
          <a:xfrm xmlns:a="http://schemas.openxmlformats.org/drawingml/2006/main">
            <a:off x="548640" y="1463040"/>
            <a:ext cx="265176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BCBE2250-8820-44BF-90A6-84173CB72753}"/>
              </a:ext>
            </a:extLst>
          </p:cNvPr>
          <p:cNvSpPr>
            <a:spLocks xmlns:a="http://schemas.openxmlformats.org/drawingml/2006/main" noGrp="1"/>
          </p:cNvSpPr>
          <p:nvPr/>
        </p:nvSpPr>
        <p:spPr>
          <a:xfrm xmlns:a="http://schemas.openxmlformats.org/drawingml/2006/main">
            <a:off x="694944" y="1554480"/>
            <a:ext cx="2359152" cy="680314"/>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000" b="1">
                <a:solidFill>
                  <a:srgbClr val="1E8A4C"/>
                </a:solidFill>
                <a:latin typeface="Malgun Gothic"/>
                <a:ea typeface="Malgun Gothic"/>
                <a:cs typeface="Malgun Gothic"/>
              </a:rPr>
              <a:t>501.4조원</a:t>
            </a:r>
          </a:p>
        </p:txBody>
      </p:sp>
      <p:sp>
        <p:nvSpPr>
          <p:cNvPr id="6" name="Text 4">
            <a:extLst xmlns:a="http://schemas.openxmlformats.org/drawingml/2006/main">
              <a:ext uri="{FF2B5EF4-FFF2-40B4-BE49-F238E27FC236}">
                <a16:creationId xmlns:a16="http://schemas.microsoft.com/office/drawing/2014/main" id="{4A8B4929-D7A8-49F3-9604-10797056F8B1}"/>
              </a:ext>
            </a:extLst>
          </p:cNvPr>
          <p:cNvSpPr>
            <a:spLocks xmlns:a="http://schemas.openxmlformats.org/drawingml/2006/main" noGrp="1"/>
          </p:cNvSpPr>
          <p:nvPr/>
        </p:nvSpPr>
        <p:spPr>
          <a:xfrm xmlns:a="http://schemas.openxmlformats.org/drawingml/2006/main">
            <a:off x="694944" y="2254910"/>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2025년 말 적립금</a:t>
            </a:r>
          </a:p>
        </p:txBody>
      </p:sp>
      <p:sp>
        <p:nvSpPr>
          <p:cNvPr id="7" name="Text 5">
            <a:extLst xmlns:a="http://schemas.openxmlformats.org/drawingml/2006/main">
              <a:ext uri="{FF2B5EF4-FFF2-40B4-BE49-F238E27FC236}">
                <a16:creationId xmlns:a16="http://schemas.microsoft.com/office/drawing/2014/main" id="{E5DDEEC6-FF6B-4F64-A6E6-8D9EA8B536AF}"/>
              </a:ext>
            </a:extLst>
          </p:cNvPr>
          <p:cNvSpPr>
            <a:spLocks xmlns:a="http://schemas.openxmlformats.org/drawingml/2006/main" noGrp="1"/>
          </p:cNvSpPr>
          <p:nvPr/>
        </p:nvSpPr>
        <p:spPr>
          <a:xfrm xmlns:a="http://schemas.openxmlformats.org/drawingml/2006/main">
            <a:off x="694944" y="2501798"/>
            <a:ext cx="2359152" cy="3511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전년 431.7조원 대비 16.8% 증가</a:t>
            </a:r>
          </a:p>
        </p:txBody>
      </p:sp>
      <p:sp>
        <p:nvSpPr>
          <p:cNvPr id="8" name="Shape 6">
            <a:extLst xmlns:a="http://schemas.openxmlformats.org/drawingml/2006/main">
              <a:ext uri="{FF2B5EF4-FFF2-40B4-BE49-F238E27FC236}">
                <a16:creationId xmlns:a16="http://schemas.microsoft.com/office/drawing/2014/main" id="{4F56F937-A83A-4DC0-A128-9177FF9884DB}"/>
              </a:ext>
            </a:extLst>
          </p:cNvPr>
          <p:cNvSpPr>
            <a:spLocks xmlns:a="http://schemas.openxmlformats.org/drawingml/2006/main" noGrp="1"/>
          </p:cNvSpPr>
          <p:nvPr/>
        </p:nvSpPr>
        <p:spPr>
          <a:xfrm xmlns:a="http://schemas.openxmlformats.org/drawingml/2006/main">
            <a:off x="3401568" y="1463040"/>
            <a:ext cx="265176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D9E0EC"/>
            </a:solidFill>
            <a:prstDash val="solid"/>
          </a:ln>
        </p:spPr>
      </p:sp>
      <p:sp>
        <p:nvSpPr>
          <p:cNvPr id="9" name="Text 7">
            <a:extLst xmlns:a="http://schemas.openxmlformats.org/drawingml/2006/main">
              <a:ext uri="{FF2B5EF4-FFF2-40B4-BE49-F238E27FC236}">
                <a16:creationId xmlns:a16="http://schemas.microsoft.com/office/drawing/2014/main" id="{5DD62123-A366-4ADB-9187-CEBF6596887D}"/>
              </a:ext>
            </a:extLst>
          </p:cNvPr>
          <p:cNvSpPr>
            <a:spLocks xmlns:a="http://schemas.openxmlformats.org/drawingml/2006/main" noGrp="1"/>
          </p:cNvSpPr>
          <p:nvPr/>
        </p:nvSpPr>
        <p:spPr>
          <a:xfrm xmlns:a="http://schemas.openxmlformats.org/drawingml/2006/main">
            <a:off x="3547872" y="1554480"/>
            <a:ext cx="2359152" cy="680314"/>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000" b="1">
                <a:solidFill>
                  <a:srgbClr val="1A4FD8"/>
                </a:solidFill>
                <a:latin typeface="Malgun Gothic"/>
                <a:ea typeface="Malgun Gothic"/>
                <a:cs typeface="Malgun Gothic"/>
              </a:rPr>
              <a:t>24.6%</a:t>
            </a:r>
          </a:p>
        </p:txBody>
      </p:sp>
      <p:sp>
        <p:nvSpPr>
          <p:cNvPr id="10" name="Text 8">
            <a:extLst xmlns:a="http://schemas.openxmlformats.org/drawingml/2006/main">
              <a:ext uri="{FF2B5EF4-FFF2-40B4-BE49-F238E27FC236}">
                <a16:creationId xmlns:a16="http://schemas.microsoft.com/office/drawing/2014/main" id="{17069032-C908-4D56-8C9B-368012A5C45C}"/>
              </a:ext>
            </a:extLst>
          </p:cNvPr>
          <p:cNvSpPr>
            <a:spLocks xmlns:a="http://schemas.openxmlformats.org/drawingml/2006/main" noGrp="1"/>
          </p:cNvSpPr>
          <p:nvPr/>
        </p:nvSpPr>
        <p:spPr>
          <a:xfrm xmlns:a="http://schemas.openxmlformats.org/drawingml/2006/main">
            <a:off x="3547872" y="2254910"/>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실적배당형 비중</a:t>
            </a:r>
          </a:p>
        </p:txBody>
      </p:sp>
      <p:sp>
        <p:nvSpPr>
          <p:cNvPr id="11" name="Text 9">
            <a:extLst xmlns:a="http://schemas.openxmlformats.org/drawingml/2006/main">
              <a:ext uri="{FF2B5EF4-FFF2-40B4-BE49-F238E27FC236}">
                <a16:creationId xmlns:a16="http://schemas.microsoft.com/office/drawing/2014/main" id="{DD2C6096-FAAA-4709-AA84-65698E47FF83}"/>
              </a:ext>
            </a:extLst>
          </p:cNvPr>
          <p:cNvSpPr>
            <a:spLocks xmlns:a="http://schemas.openxmlformats.org/drawingml/2006/main" noGrp="1"/>
          </p:cNvSpPr>
          <p:nvPr/>
        </p:nvSpPr>
        <p:spPr>
          <a:xfrm xmlns:a="http://schemas.openxmlformats.org/drawingml/2006/main">
            <a:off x="3547872" y="2501798"/>
            <a:ext cx="2359152" cy="3511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시장 성장에도 전체 적립금의 4분의 1 수준</a:t>
            </a:r>
          </a:p>
        </p:txBody>
      </p:sp>
      <p:sp>
        <p:nvSpPr>
          <p:cNvPr id="12" name="Shape 10">
            <a:extLst xmlns:a="http://schemas.openxmlformats.org/drawingml/2006/main">
              <a:ext uri="{FF2B5EF4-FFF2-40B4-BE49-F238E27FC236}">
                <a16:creationId xmlns:a16="http://schemas.microsoft.com/office/drawing/2014/main" id="{7BF916A9-BE2C-4084-9DBE-DB1924205452}"/>
              </a:ext>
            </a:extLst>
          </p:cNvPr>
          <p:cNvSpPr>
            <a:spLocks xmlns:a="http://schemas.openxmlformats.org/drawingml/2006/main" noGrp="1"/>
          </p:cNvSpPr>
          <p:nvPr/>
        </p:nvSpPr>
        <p:spPr>
          <a:xfrm xmlns:a="http://schemas.openxmlformats.org/drawingml/2006/main">
            <a:off x="548640" y="3081528"/>
            <a:ext cx="265176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D9E0EC"/>
            </a:solidFill>
            <a:prstDash val="solid"/>
          </a:ln>
        </p:spPr>
      </p:sp>
      <p:sp>
        <p:nvSpPr>
          <p:cNvPr id="13" name="Text 11">
            <a:extLst xmlns:a="http://schemas.openxmlformats.org/drawingml/2006/main">
              <a:ext uri="{FF2B5EF4-FFF2-40B4-BE49-F238E27FC236}">
                <a16:creationId xmlns:a16="http://schemas.microsoft.com/office/drawing/2014/main" id="{66C6FB5A-25D8-4000-9439-E89DCEEDDE3E}"/>
              </a:ext>
            </a:extLst>
          </p:cNvPr>
          <p:cNvSpPr>
            <a:spLocks xmlns:a="http://schemas.openxmlformats.org/drawingml/2006/main" noGrp="1"/>
          </p:cNvSpPr>
          <p:nvPr/>
        </p:nvSpPr>
        <p:spPr>
          <a:xfrm xmlns:a="http://schemas.openxmlformats.org/drawingml/2006/main">
            <a:off x="694944" y="3172968"/>
            <a:ext cx="2359152" cy="680314"/>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000" b="1">
                <a:solidFill>
                  <a:srgbClr val="1A4FD8"/>
                </a:solidFill>
                <a:latin typeface="Malgun Gothic"/>
                <a:ea typeface="Malgun Gothic"/>
                <a:cs typeface="Malgun Gothic"/>
              </a:rPr>
              <a:t>19.0%p</a:t>
            </a:r>
          </a:p>
        </p:txBody>
      </p:sp>
      <p:sp>
        <p:nvSpPr>
          <p:cNvPr id="14" name="Text 12">
            <a:extLst xmlns:a="http://schemas.openxmlformats.org/drawingml/2006/main">
              <a:ext uri="{FF2B5EF4-FFF2-40B4-BE49-F238E27FC236}">
                <a16:creationId xmlns:a16="http://schemas.microsoft.com/office/drawing/2014/main" id="{F489E82C-8F79-408B-97E5-A29AB198B753}"/>
              </a:ext>
            </a:extLst>
          </p:cNvPr>
          <p:cNvSpPr>
            <a:spLocks xmlns:a="http://schemas.openxmlformats.org/drawingml/2006/main" noGrp="1"/>
          </p:cNvSpPr>
          <p:nvPr/>
        </p:nvSpPr>
        <p:spPr>
          <a:xfrm xmlns:a="http://schemas.openxmlformats.org/drawingml/2006/main">
            <a:off x="694944" y="3873398"/>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상·하위 10% 수익률 격차</a:t>
            </a:r>
          </a:p>
        </p:txBody>
      </p:sp>
      <p:sp>
        <p:nvSpPr>
          <p:cNvPr id="15" name="Text 13">
            <a:extLst xmlns:a="http://schemas.openxmlformats.org/drawingml/2006/main">
              <a:ext uri="{FF2B5EF4-FFF2-40B4-BE49-F238E27FC236}">
                <a16:creationId xmlns:a16="http://schemas.microsoft.com/office/drawing/2014/main" id="{FEDCF5CF-D55E-4F62-933C-1BC24624D98B}"/>
              </a:ext>
            </a:extLst>
          </p:cNvPr>
          <p:cNvSpPr>
            <a:spLocks xmlns:a="http://schemas.openxmlformats.org/drawingml/2006/main" noGrp="1"/>
          </p:cNvSpPr>
          <p:nvPr/>
        </p:nvSpPr>
        <p:spPr>
          <a:xfrm xmlns:a="http://schemas.openxmlformats.org/drawingml/2006/main">
            <a:off x="694944" y="4120286"/>
            <a:ext cx="2359152" cy="3511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상위 19.5%와 하위 0.5%의 차이</a:t>
            </a:r>
          </a:p>
        </p:txBody>
      </p:sp>
      <p:sp>
        <p:nvSpPr>
          <p:cNvPr id="16" name="Shape 14">
            <a:extLst xmlns:a="http://schemas.openxmlformats.org/drawingml/2006/main">
              <a:ext uri="{FF2B5EF4-FFF2-40B4-BE49-F238E27FC236}">
                <a16:creationId xmlns:a16="http://schemas.microsoft.com/office/drawing/2014/main" id="{8EDDBE0E-B93B-48C0-8F0E-B97E2B4FE42F}"/>
              </a:ext>
            </a:extLst>
          </p:cNvPr>
          <p:cNvSpPr>
            <a:spLocks xmlns:a="http://schemas.openxmlformats.org/drawingml/2006/main" noGrp="1"/>
          </p:cNvSpPr>
          <p:nvPr/>
        </p:nvSpPr>
        <p:spPr>
          <a:xfrm xmlns:a="http://schemas.openxmlformats.org/drawingml/2006/main">
            <a:off x="3401568" y="3081528"/>
            <a:ext cx="265176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D9E0EC"/>
            </a:solidFill>
            <a:prstDash val="solid"/>
          </a:ln>
        </p:spPr>
      </p:sp>
      <p:sp>
        <p:nvSpPr>
          <p:cNvPr id="17" name="Text 15">
            <a:extLst xmlns:a="http://schemas.openxmlformats.org/drawingml/2006/main">
              <a:ext uri="{FF2B5EF4-FFF2-40B4-BE49-F238E27FC236}">
                <a16:creationId xmlns:a16="http://schemas.microsoft.com/office/drawing/2014/main" id="{4740E27B-4063-469B-8BE6-07BBA979B364}"/>
              </a:ext>
            </a:extLst>
          </p:cNvPr>
          <p:cNvSpPr>
            <a:spLocks xmlns:a="http://schemas.openxmlformats.org/drawingml/2006/main" noGrp="1"/>
          </p:cNvSpPr>
          <p:nvPr/>
        </p:nvSpPr>
        <p:spPr>
          <a:xfrm xmlns:a="http://schemas.openxmlformats.org/drawingml/2006/main">
            <a:off x="3547872" y="3172968"/>
            <a:ext cx="2359152" cy="680314"/>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000" b="1">
                <a:solidFill>
                  <a:srgbClr val="1A4FD8"/>
                </a:solidFill>
                <a:latin typeface="Malgun Gothic"/>
                <a:ea typeface="Malgun Gothic"/>
                <a:cs typeface="Malgun Gothic"/>
              </a:rPr>
              <a:t>85.4%</a:t>
            </a:r>
          </a:p>
        </p:txBody>
      </p:sp>
      <p:sp>
        <p:nvSpPr>
          <p:cNvPr id="18" name="Text 16">
            <a:extLst xmlns:a="http://schemas.openxmlformats.org/drawingml/2006/main">
              <a:ext uri="{FF2B5EF4-FFF2-40B4-BE49-F238E27FC236}">
                <a16:creationId xmlns:a16="http://schemas.microsoft.com/office/drawing/2014/main" id="{984CB7D8-DC39-4BA1-AD38-D9231C75920B}"/>
              </a:ext>
            </a:extLst>
          </p:cNvPr>
          <p:cNvSpPr>
            <a:spLocks xmlns:a="http://schemas.openxmlformats.org/drawingml/2006/main" noGrp="1"/>
          </p:cNvSpPr>
          <p:nvPr/>
        </p:nvSpPr>
        <p:spPr>
          <a:xfrm xmlns:a="http://schemas.openxmlformats.org/drawingml/2006/main">
            <a:off x="3547872" y="3873398"/>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디폴트옵션 안정형 비중</a:t>
            </a:r>
          </a:p>
        </p:txBody>
      </p:sp>
      <p:sp>
        <p:nvSpPr>
          <p:cNvPr id="19" name="Text 17">
            <a:extLst xmlns:a="http://schemas.openxmlformats.org/drawingml/2006/main">
              <a:ext uri="{FF2B5EF4-FFF2-40B4-BE49-F238E27FC236}">
                <a16:creationId xmlns:a16="http://schemas.microsoft.com/office/drawing/2014/main" id="{0EE094D5-4281-48CF-BE96-E41E523A8A8F}"/>
              </a:ext>
            </a:extLst>
          </p:cNvPr>
          <p:cNvSpPr>
            <a:spLocks xmlns:a="http://schemas.openxmlformats.org/drawingml/2006/main" noGrp="1"/>
          </p:cNvSpPr>
          <p:nvPr/>
        </p:nvSpPr>
        <p:spPr>
          <a:xfrm xmlns:a="http://schemas.openxmlformats.org/drawingml/2006/main">
            <a:off x="3547872" y="4120286"/>
            <a:ext cx="2359152" cy="3511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자동 운용에서도 안정형 쏠림 지속</a:t>
            </a:r>
          </a:p>
        </p:txBody>
      </p:sp>
      <p:sp>
        <p:nvSpPr>
          <p:cNvPr id="20" name="Text 18">
            <a:extLst xmlns:a="http://schemas.openxmlformats.org/drawingml/2006/main">
              <a:ext uri="{FF2B5EF4-FFF2-40B4-BE49-F238E27FC236}">
                <a16:creationId xmlns:a16="http://schemas.microsoft.com/office/drawing/2014/main" id="{449E3DCA-FB4A-4D84-83D9-29E75D8F0451}"/>
              </a:ext>
            </a:extLst>
          </p:cNvPr>
          <p:cNvSpPr>
            <a:spLocks xmlns:a="http://schemas.openxmlformats.org/drawingml/2006/main" noGrp="1"/>
          </p:cNvSpPr>
          <p:nvPr/>
        </p:nvSpPr>
        <p:spPr>
          <a:xfrm xmlns:a="http://schemas.openxmlformats.org/drawingml/2006/main">
            <a:off x="6309360" y="146304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상·하위 10% 수익률 격차</a:t>
            </a:r>
          </a:p>
        </p:txBody>
      </p:sp>
      <p:sp>
        <p:nvSpPr>
          <p:cNvPr id="29" name="Shape 27">
            <a:extLst xmlns:a="http://schemas.openxmlformats.org/drawingml/2006/main">
              <a:ext uri="{FF2B5EF4-FFF2-40B4-BE49-F238E27FC236}">
                <a16:creationId xmlns:a16="http://schemas.microsoft.com/office/drawing/2014/main" id="{204A87FA-BE43-4B6B-B0CB-6739C49C06AA}"/>
              </a:ext>
            </a:extLst>
          </p:cNvPr>
          <p:cNvSpPr>
            <a:spLocks xmlns:a="http://schemas.openxmlformats.org/drawingml/2006/main" noGrp="1"/>
          </p:cNvSpPr>
          <p:nvPr/>
        </p:nvSpPr>
        <p:spPr>
          <a:xfrm xmlns:a="http://schemas.openxmlformats.org/drawingml/2006/main">
            <a:off x="6309360" y="3694176"/>
            <a:ext cx="5074920" cy="804672"/>
          </a:xfrm>
          <a:prstGeom xmlns:a="http://schemas.openxmlformats.org/drawingml/2006/main" prst="roundRect">
            <a:avLst>
              <a:gd name="adj" fmla="val 10227"/>
            </a:avLst>
          </a:prstGeom>
          <a:solidFill xmlns:a="http://schemas.openxmlformats.org/drawingml/2006/main">
            <a:srgbClr val="FFFFFF"/>
          </a:solidFill>
          <a:ln xmlns:a="http://schemas.openxmlformats.org/drawingml/2006/main" w="12700">
            <a:solidFill>
              <a:srgbClr val="D9E0EC"/>
            </a:solidFill>
            <a:prstDash val="solid"/>
          </a:ln>
        </p:spPr>
      </p:sp>
      <p:sp>
        <p:nvSpPr>
          <p:cNvPr id="30" name="Text 28">
            <a:extLst xmlns:a="http://schemas.openxmlformats.org/drawingml/2006/main">
              <a:ext uri="{FF2B5EF4-FFF2-40B4-BE49-F238E27FC236}">
                <a16:creationId xmlns:a16="http://schemas.microsoft.com/office/drawing/2014/main" id="{C2522EFD-AE83-4BDE-8FA6-124AAEDFB12E}"/>
              </a:ext>
            </a:extLst>
          </p:cNvPr>
          <p:cNvSpPr>
            <a:spLocks xmlns:a="http://schemas.openxmlformats.org/drawingml/2006/main" noGrp="1"/>
          </p:cNvSpPr>
          <p:nvPr/>
        </p:nvSpPr>
        <p:spPr>
          <a:xfrm xmlns:a="http://schemas.openxmlformats.org/drawingml/2006/main">
            <a:off x="6455664" y="3767328"/>
            <a:ext cx="66675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해석</a:t>
            </a:r>
          </a:p>
        </p:txBody>
      </p:sp>
      <p:sp>
        <p:nvSpPr>
          <p:cNvPr id="31" name="Text 29">
            <a:extLst xmlns:a="http://schemas.openxmlformats.org/drawingml/2006/main">
              <a:ext uri="{FF2B5EF4-FFF2-40B4-BE49-F238E27FC236}">
                <a16:creationId xmlns:a16="http://schemas.microsoft.com/office/drawing/2014/main" id="{3A19B633-D8E4-4440-93B7-C9E8524B41CE}"/>
              </a:ext>
            </a:extLst>
          </p:cNvPr>
          <p:cNvSpPr>
            <a:spLocks xmlns:a="http://schemas.openxmlformats.org/drawingml/2006/main" noGrp="1"/>
          </p:cNvSpPr>
          <p:nvPr/>
        </p:nvSpPr>
        <p:spPr>
          <a:xfrm xmlns:a="http://schemas.openxmlformats.org/drawingml/2006/main">
            <a:off x="7191375" y="3767328"/>
            <a:ext cx="40005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6474"/>
                </a:solidFill>
                <a:latin typeface="Malgun Gothic"/>
                <a:ea typeface="Malgun Gothic"/>
                <a:cs typeface="Malgun Gothic"/>
              </a:rPr>
              <a:t>위험 확대가 아니라, 계좌 규칙·기간·성향을 이해한 선택이 필요합니다.</a:t>
            </a:r>
          </a:p>
        </p:txBody>
      </p:sp>
      <p:sp>
        <p:nvSpPr>
          <p:cNvPr id="33" name="Shape 31">
            <a:extLst xmlns:a="http://schemas.openxmlformats.org/drawingml/2006/main">
              <a:ext uri="{FF2B5EF4-FFF2-40B4-BE49-F238E27FC236}">
                <a16:creationId xmlns:a16="http://schemas.microsoft.com/office/drawing/2014/main" id="{95612276-5711-4F04-AC45-D50F95A5DECC}"/>
              </a:ext>
            </a:extLst>
          </p:cNvPr>
          <p:cNvSpPr>
            <a:spLocks xmlns:a="http://schemas.openxmlformats.org/drawingml/2006/main" noGrp="1"/>
          </p:cNvSpPr>
          <p:nvPr/>
        </p:nvSpPr>
        <p:spPr>
          <a:xfrm xmlns:a="http://schemas.openxmlformats.org/drawingml/2006/main">
            <a:off x="6309360" y="4626864"/>
            <a:ext cx="5074920" cy="804672"/>
          </a:xfrm>
          <a:prstGeom xmlns:a="http://schemas.openxmlformats.org/drawingml/2006/main" prst="roundRect">
            <a:avLst>
              <a:gd name="adj" fmla="val 10227"/>
            </a:avLst>
          </a:prstGeom>
          <a:solidFill xmlns:a="http://schemas.openxmlformats.org/drawingml/2006/main">
            <a:srgbClr val="FFFFFF"/>
          </a:solidFill>
          <a:ln xmlns:a="http://schemas.openxmlformats.org/drawingml/2006/main" w="12700">
            <a:solidFill>
              <a:srgbClr val="D9E0EC"/>
            </a:solidFill>
            <a:prstDash val="solid"/>
          </a:ln>
        </p:spPr>
      </p:sp>
      <p:sp>
        <p:nvSpPr>
          <p:cNvPr id="34" name="Text 32">
            <a:extLst xmlns:a="http://schemas.openxmlformats.org/drawingml/2006/main">
              <a:ext uri="{FF2B5EF4-FFF2-40B4-BE49-F238E27FC236}">
                <a16:creationId xmlns:a16="http://schemas.microsoft.com/office/drawing/2014/main" id="{E55572D0-B1A6-4F27-83EE-D754269E6589}"/>
              </a:ext>
            </a:extLst>
          </p:cNvPr>
          <p:cNvSpPr>
            <a:spLocks xmlns:a="http://schemas.openxmlformats.org/drawingml/2006/main" noGrp="1"/>
          </p:cNvSpPr>
          <p:nvPr/>
        </p:nvSpPr>
        <p:spPr>
          <a:xfrm xmlns:a="http://schemas.openxmlformats.org/drawingml/2006/main">
            <a:off x="6455664" y="4700016"/>
            <a:ext cx="66675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근거</a:t>
            </a:r>
          </a:p>
        </p:txBody>
      </p:sp>
      <p:sp>
        <p:nvSpPr>
          <p:cNvPr id="35" name="Text 33">
            <a:extLst xmlns:a="http://schemas.openxmlformats.org/drawingml/2006/main">
              <a:ext uri="{FF2B5EF4-FFF2-40B4-BE49-F238E27FC236}">
                <a16:creationId xmlns:a16="http://schemas.microsoft.com/office/drawing/2014/main" id="{1157B8C9-FCDB-47C3-8FCC-331B6D14C0F9}"/>
              </a:ext>
            </a:extLst>
          </p:cNvPr>
          <p:cNvSpPr>
            <a:spLocks xmlns:a="http://schemas.openxmlformats.org/drawingml/2006/main" noGrp="1"/>
          </p:cNvSpPr>
          <p:nvPr/>
        </p:nvSpPr>
        <p:spPr>
          <a:xfrm xmlns:a="http://schemas.openxmlformats.org/drawingml/2006/main">
            <a:off x="7191375" y="4700016"/>
            <a:ext cx="40005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6474"/>
                </a:solidFill>
                <a:latin typeface="Malgun Gothic"/>
                <a:ea typeface="Malgun Gothic"/>
                <a:cs typeface="Malgun Gothic"/>
              </a:rPr>
              <a:t>고용노동부·금융감독원, 「2025년 우리나라 퇴직연금 투자 백서」</a:t>
            </a:r>
          </a:p>
        </p:txBody>
      </p:sp>
      <p:sp>
        <p:nvSpPr>
          <p:cNvPr id="37" name="Text 35">
            <a:extLst xmlns:a="http://schemas.openxmlformats.org/drawingml/2006/main">
              <a:ext uri="{FF2B5EF4-FFF2-40B4-BE49-F238E27FC236}">
                <a16:creationId xmlns:a16="http://schemas.microsoft.com/office/drawing/2014/main" id="{AEAA4521-4905-47C3-B7BF-DBF7BB7E8124}"/>
              </a:ext>
            </a:extLst>
          </p:cNvPr>
          <p:cNvSpPr>
            <a:spLocks xmlns:a="http://schemas.openxmlformats.org/drawingml/2006/main" noGrp="1"/>
          </p:cNvSpPr>
          <p:nvPr/>
        </p:nvSpPr>
        <p:spPr>
          <a:xfrm xmlns:a="http://schemas.openxmlformats.org/drawingml/2006/main">
            <a:off x="548640" y="5852160"/>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결론: 시장은 커졌지만 ‘왜 이 선택인가’를 설명하는 의사결정 지원은 여전히 부족합니다.</a:t>
            </a:r>
          </a:p>
        </p:txBody>
      </p:sp>
      <p:sp>
        <p:nvSpPr>
          <p:cNvPr id="38" name="Text 36">
            <a:extLst xmlns:a="http://schemas.openxmlformats.org/drawingml/2006/main">
              <a:ext uri="{FF2B5EF4-FFF2-40B4-BE49-F238E27FC236}">
                <a16:creationId xmlns:a16="http://schemas.microsoft.com/office/drawing/2014/main" id="{62054E68-C05E-4509-BD12-11573973EB53}"/>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출처: 고용노동부·금융감독원, 2025년 우리나라 퇴직연금 투자 백서(2026.5.20)  |  04</a:t>
            </a:r>
          </a:p>
        </p:txBody>
      </p:sp>
      <p:graphicFrame>
        <p:nvGraphicFramePr>
          <p:cNvPr id="67" name="return-gap-chart"/>
          <p:cNvGraphicFramePr/>
          <p:nvPr/>
        </p:nvGraphicFramePr>
        <p:xfrm>
          <a:off xmlns:a="http://schemas.openxmlformats.org/drawingml/2006/main" x="6334125" y="1685925"/>
          <a:ext xmlns:a="http://schemas.openxmlformats.org/drawingml/2006/main" cx="5029200" cy="1952625"/>
        </p:xfrm>
        <a:graphic xmlns:a="http://schemas.openxmlformats.org/drawingml/2006/main">
          <a:graphicData uri="http://schemas.openxmlformats.org/drawingml/2006/chart">
            <c:chart xmlns:r="http://schemas.openxmlformats.org/officeDocument/2006/relationships" xmlns:c="http://schemas.openxmlformats.org/drawingml/2006/chart" r:id="Rc7a450dd346149f2"/>
          </a:graphicData>
        </a:graphic>
      </p:graphicFrame>
    </p:spTree>
    <p:extLst>
      <p:ext uri="{BB962C8B-B14F-4D97-AF65-F5344CB8AC3E}">
        <p14:creationId xmlns:p14="http://schemas.microsoft.com/office/powerpoint/2010/main" val="53373586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939798-B9A5-4459-BCC4-208D41A7D731}"/>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04 · 선택 근거 — WHY PENSION</a:t>
            </a:r>
          </a:p>
        </p:txBody>
      </p:sp>
      <p:sp>
        <p:nvSpPr>
          <p:cNvPr id="3" name="Text 1">
            <a:extLst xmlns:a="http://schemas.openxmlformats.org/drawingml/2006/main">
              <a:ext uri="{FF2B5EF4-FFF2-40B4-BE49-F238E27FC236}">
                <a16:creationId xmlns:a16="http://schemas.microsoft.com/office/drawing/2014/main" id="{0468CE50-3B68-432F-A913-0FF2596007C8}"/>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일반계좌보다 먼저, 규칙·세제·장기 목표가 겹치는 연금계좌를 택했다</a:t>
            </a:r>
          </a:p>
        </p:txBody>
      </p:sp>
      <p:sp>
        <p:nvSpPr>
          <p:cNvPr id="4" name="Shape 2">
            <a:extLst xmlns:a="http://schemas.openxmlformats.org/drawingml/2006/main">
              <a:ext uri="{FF2B5EF4-FFF2-40B4-BE49-F238E27FC236}">
                <a16:creationId xmlns:a16="http://schemas.microsoft.com/office/drawing/2014/main" id="{7368A488-C65D-429B-9583-4F9A99B0F30A}"/>
              </a:ext>
            </a:extLst>
          </p:cNvPr>
          <p:cNvSpPr>
            <a:spLocks xmlns:a="http://schemas.openxmlformats.org/drawingml/2006/main" noGrp="1"/>
          </p:cNvSpPr>
          <p:nvPr/>
        </p:nvSpPr>
        <p:spPr>
          <a:xfrm xmlns:a="http://schemas.openxmlformats.org/drawingml/2006/main">
            <a:off x="548640" y="1508760"/>
            <a:ext cx="5404104" cy="1737360"/>
          </a:xfrm>
          <a:prstGeom xmlns:a="http://schemas.openxmlformats.org/drawingml/2006/main" prst="roundRect">
            <a:avLst>
              <a:gd name="adj" fmla="val 4737"/>
            </a:avLst>
          </a:prstGeom>
          <a:solidFill xmlns:a="http://schemas.openxmlformats.org/drawingml/2006/main">
            <a:srgbClr val="FFFFFF"/>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3F774CDD-66B5-4FBA-9108-78056A1B5B80}"/>
              </a:ext>
            </a:extLst>
          </p:cNvPr>
          <p:cNvSpPr>
            <a:spLocks xmlns:a="http://schemas.openxmlformats.org/drawingml/2006/main" noGrp="1"/>
          </p:cNvSpPr>
          <p:nvPr/>
        </p:nvSpPr>
        <p:spPr>
          <a:xfrm xmlns:a="http://schemas.openxmlformats.org/drawingml/2006/main">
            <a:off x="749808" y="1673352"/>
            <a:ext cx="38496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8202E"/>
                </a:solidFill>
                <a:latin typeface="Malgun Gothic"/>
                <a:ea typeface="Malgun Gothic"/>
                <a:cs typeface="Malgun Gothic"/>
              </a:rPr>
              <a:t>문제가 실증됨</a:t>
            </a:r>
          </a:p>
        </p:txBody>
      </p:sp>
      <p:sp>
        <p:nvSpPr>
          <p:cNvPr id="6" name="Text 4">
            <a:extLst xmlns:a="http://schemas.openxmlformats.org/drawingml/2006/main">
              <a:ext uri="{FF2B5EF4-FFF2-40B4-BE49-F238E27FC236}">
                <a16:creationId xmlns:a16="http://schemas.microsoft.com/office/drawing/2014/main" id="{77952E81-E9DF-4ABD-A067-E6AF4449CA64}"/>
              </a:ext>
            </a:extLst>
          </p:cNvPr>
          <p:cNvSpPr>
            <a:spLocks xmlns:a="http://schemas.openxmlformats.org/drawingml/2006/main" noGrp="1"/>
          </p:cNvSpPr>
          <p:nvPr/>
        </p:nvSpPr>
        <p:spPr>
          <a:xfrm xmlns:a="http://schemas.openxmlformats.org/drawingml/2006/main">
            <a:off x="4654296" y="1691640"/>
            <a:ext cx="1115568" cy="274320"/>
          </a:xfrm>
          <a:prstGeom xmlns:a="http://schemas.openxmlformats.org/drawingml/2006/main" prst="roundRect">
            <a:avLst>
              <a:gd name="adj" fmla="val 46667"/>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57.1% · 86.7%</a:t>
            </a:r>
          </a:p>
        </p:txBody>
      </p:sp>
      <p:sp>
        <p:nvSpPr>
          <p:cNvPr id="7" name="Text 5">
            <a:extLst xmlns:a="http://schemas.openxmlformats.org/drawingml/2006/main">
              <a:ext uri="{FF2B5EF4-FFF2-40B4-BE49-F238E27FC236}">
                <a16:creationId xmlns:a16="http://schemas.microsoft.com/office/drawing/2014/main" id="{0F3F7708-837B-4B83-BEE2-5DBDC7F21343}"/>
              </a:ext>
            </a:extLst>
          </p:cNvPr>
          <p:cNvSpPr>
            <a:spLocks xmlns:a="http://schemas.openxmlformats.org/drawingml/2006/main" noGrp="1"/>
          </p:cNvSpPr>
          <p:nvPr/>
        </p:nvSpPr>
        <p:spPr>
          <a:xfrm xmlns:a="http://schemas.openxmlformats.org/drawingml/2006/main">
            <a:off x="749808" y="2075688"/>
            <a:ext cx="500176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0">
                <a:solidFill>
                  <a:srgbClr val="5A6474"/>
                </a:solidFill>
                <a:latin typeface="Malgun Gothic"/>
                <a:ea typeface="Malgun Gothic"/>
                <a:cs typeface="Malgun Gothic"/>
              </a:rPr>
              <a:t>전국 정보 격차 · 자체 조사 계좌 규칙 이해 부족</a:t>
            </a:r>
          </a:p>
        </p:txBody>
      </p:sp>
      <p:sp>
        <p:nvSpPr>
          <p:cNvPr id="8" name="Shape 6">
            <a:extLst xmlns:a="http://schemas.openxmlformats.org/drawingml/2006/main">
              <a:ext uri="{FF2B5EF4-FFF2-40B4-BE49-F238E27FC236}">
                <a16:creationId xmlns:a16="http://schemas.microsoft.com/office/drawing/2014/main" id="{A24C9782-68ED-4DA1-9B1A-14396B9D1C22}"/>
              </a:ext>
            </a:extLst>
          </p:cNvPr>
          <p:cNvSpPr>
            <a:spLocks xmlns:a="http://schemas.openxmlformats.org/drawingml/2006/main" noGrp="1"/>
          </p:cNvSpPr>
          <p:nvPr/>
        </p:nvSpPr>
        <p:spPr>
          <a:xfrm xmlns:a="http://schemas.openxmlformats.org/drawingml/2006/main">
            <a:off x="6236208" y="1508760"/>
            <a:ext cx="5404104" cy="1737360"/>
          </a:xfrm>
          <a:prstGeom xmlns:a="http://schemas.openxmlformats.org/drawingml/2006/main" prst="roundRect">
            <a:avLst>
              <a:gd name="adj" fmla="val 4737"/>
            </a:avLst>
          </a:prstGeom>
          <a:solidFill xmlns:a="http://schemas.openxmlformats.org/drawingml/2006/main">
            <a:srgbClr val="FFFFFF"/>
          </a:solidFill>
          <a:ln xmlns:a="http://schemas.openxmlformats.org/drawingml/2006/main" w="12700">
            <a:solidFill>
              <a:srgbClr val="D9E0EC"/>
            </a:solidFill>
            <a:prstDash val="solid"/>
          </a:ln>
        </p:spPr>
      </p:sp>
      <p:sp>
        <p:nvSpPr>
          <p:cNvPr id="9" name="Text 7">
            <a:extLst xmlns:a="http://schemas.openxmlformats.org/drawingml/2006/main">
              <a:ext uri="{FF2B5EF4-FFF2-40B4-BE49-F238E27FC236}">
                <a16:creationId xmlns:a16="http://schemas.microsoft.com/office/drawing/2014/main" id="{78886D25-8948-4B57-9EC1-0DE886018C56}"/>
              </a:ext>
            </a:extLst>
          </p:cNvPr>
          <p:cNvSpPr>
            <a:spLocks xmlns:a="http://schemas.openxmlformats.org/drawingml/2006/main" noGrp="1"/>
          </p:cNvSpPr>
          <p:nvPr/>
        </p:nvSpPr>
        <p:spPr>
          <a:xfrm xmlns:a="http://schemas.openxmlformats.org/drawingml/2006/main">
            <a:off x="6437376" y="1673352"/>
            <a:ext cx="38496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8202E"/>
                </a:solidFill>
                <a:latin typeface="Malgun Gothic"/>
                <a:ea typeface="Malgun Gothic"/>
                <a:cs typeface="Malgun Gothic"/>
              </a:rPr>
              <a:t>공식 데이터가 있음</a:t>
            </a:r>
          </a:p>
        </p:txBody>
      </p:sp>
      <p:sp>
        <p:nvSpPr>
          <p:cNvPr id="10" name="Text 8">
            <a:extLst xmlns:a="http://schemas.openxmlformats.org/drawingml/2006/main">
              <a:ext uri="{FF2B5EF4-FFF2-40B4-BE49-F238E27FC236}">
                <a16:creationId xmlns:a16="http://schemas.microsoft.com/office/drawing/2014/main" id="{BBA7ADA7-31A9-4CB9-9615-3BB4A81125DB}"/>
              </a:ext>
            </a:extLst>
          </p:cNvPr>
          <p:cNvSpPr>
            <a:spLocks xmlns:a="http://schemas.openxmlformats.org/drawingml/2006/main" noGrp="1"/>
          </p:cNvSpPr>
          <p:nvPr/>
        </p:nvSpPr>
        <p:spPr>
          <a:xfrm xmlns:a="http://schemas.openxmlformats.org/drawingml/2006/main">
            <a:off x="10341864" y="1691640"/>
            <a:ext cx="1115568" cy="274320"/>
          </a:xfrm>
          <a:prstGeom xmlns:a="http://schemas.openxmlformats.org/drawingml/2006/main" prst="roundRect">
            <a:avLst>
              <a:gd name="adj" fmla="val 46667"/>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8개 출처</a:t>
            </a:r>
          </a:p>
        </p:txBody>
      </p:sp>
      <p:sp>
        <p:nvSpPr>
          <p:cNvPr id="11" name="Text 9">
            <a:extLst xmlns:a="http://schemas.openxmlformats.org/drawingml/2006/main">
              <a:ext uri="{FF2B5EF4-FFF2-40B4-BE49-F238E27FC236}">
                <a16:creationId xmlns:a16="http://schemas.microsoft.com/office/drawing/2014/main" id="{160D32D8-EC97-47A1-9590-3720619165F6}"/>
              </a:ext>
            </a:extLst>
          </p:cNvPr>
          <p:cNvSpPr>
            <a:spLocks xmlns:a="http://schemas.openxmlformats.org/drawingml/2006/main" noGrp="1"/>
          </p:cNvSpPr>
          <p:nvPr/>
        </p:nvSpPr>
        <p:spPr>
          <a:xfrm xmlns:a="http://schemas.openxmlformats.org/drawingml/2006/main">
            <a:off x="6437376" y="2075688"/>
            <a:ext cx="500176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0">
                <a:solidFill>
                  <a:srgbClr val="5A6474"/>
                </a:solidFill>
                <a:latin typeface="Malgun Gothic"/>
                <a:ea typeface="Malgun Gothic"/>
                <a:cs typeface="Malgun Gothic"/>
              </a:rPr>
              <a:t>FSS·KRX·KIS·KIND 등 원문·기준일 보존</a:t>
            </a:r>
          </a:p>
        </p:txBody>
      </p:sp>
      <p:sp>
        <p:nvSpPr>
          <p:cNvPr id="12" name="Shape 10">
            <a:extLst xmlns:a="http://schemas.openxmlformats.org/drawingml/2006/main">
              <a:ext uri="{FF2B5EF4-FFF2-40B4-BE49-F238E27FC236}">
                <a16:creationId xmlns:a16="http://schemas.microsoft.com/office/drawing/2014/main" id="{E9A43445-DF78-45E8-AE60-DFA0AEB922AD}"/>
              </a:ext>
            </a:extLst>
          </p:cNvPr>
          <p:cNvSpPr>
            <a:spLocks xmlns:a="http://schemas.openxmlformats.org/drawingml/2006/main" noGrp="1"/>
          </p:cNvSpPr>
          <p:nvPr/>
        </p:nvSpPr>
        <p:spPr>
          <a:xfrm xmlns:a="http://schemas.openxmlformats.org/drawingml/2006/main">
            <a:off x="548640" y="3429000"/>
            <a:ext cx="5404104" cy="1737360"/>
          </a:xfrm>
          <a:prstGeom xmlns:a="http://schemas.openxmlformats.org/drawingml/2006/main" prst="roundRect">
            <a:avLst>
              <a:gd name="adj" fmla="val 4737"/>
            </a:avLst>
          </a:prstGeom>
          <a:solidFill xmlns:a="http://schemas.openxmlformats.org/drawingml/2006/main">
            <a:srgbClr val="FFFFFF"/>
          </a:solidFill>
          <a:ln xmlns:a="http://schemas.openxmlformats.org/drawingml/2006/main" w="12700">
            <a:solidFill>
              <a:srgbClr val="D9E0EC"/>
            </a:solidFill>
            <a:prstDash val="solid"/>
          </a:ln>
        </p:spPr>
      </p:sp>
      <p:sp>
        <p:nvSpPr>
          <p:cNvPr id="13" name="Text 11">
            <a:extLst xmlns:a="http://schemas.openxmlformats.org/drawingml/2006/main">
              <a:ext uri="{FF2B5EF4-FFF2-40B4-BE49-F238E27FC236}">
                <a16:creationId xmlns:a16="http://schemas.microsoft.com/office/drawing/2014/main" id="{70C1B43C-C8E0-4E32-AB61-2414D6071A34}"/>
              </a:ext>
            </a:extLst>
          </p:cNvPr>
          <p:cNvSpPr>
            <a:spLocks xmlns:a="http://schemas.openxmlformats.org/drawingml/2006/main" noGrp="1"/>
          </p:cNvSpPr>
          <p:nvPr/>
        </p:nvSpPr>
        <p:spPr>
          <a:xfrm xmlns:a="http://schemas.openxmlformats.org/drawingml/2006/main">
            <a:off x="749808" y="3593592"/>
            <a:ext cx="38496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8202E"/>
                </a:solidFill>
                <a:latin typeface="Malgun Gothic"/>
                <a:ea typeface="Malgun Gothic"/>
                <a:cs typeface="Malgun Gothic"/>
              </a:rPr>
              <a:t>규칙으로 검증 가능</a:t>
            </a:r>
          </a:p>
        </p:txBody>
      </p:sp>
      <p:sp>
        <p:nvSpPr>
          <p:cNvPr id="14" name="Text 12">
            <a:extLst xmlns:a="http://schemas.openxmlformats.org/drawingml/2006/main">
              <a:ext uri="{FF2B5EF4-FFF2-40B4-BE49-F238E27FC236}">
                <a16:creationId xmlns:a16="http://schemas.microsoft.com/office/drawing/2014/main" id="{6BB337E8-9F6E-4348-8ABA-268F5B10C92D}"/>
              </a:ext>
            </a:extLst>
          </p:cNvPr>
          <p:cNvSpPr>
            <a:spLocks xmlns:a="http://schemas.openxmlformats.org/drawingml/2006/main" noGrp="1"/>
          </p:cNvSpPr>
          <p:nvPr/>
        </p:nvSpPr>
        <p:spPr>
          <a:xfrm xmlns:a="http://schemas.openxmlformats.org/drawingml/2006/main">
            <a:off x="4654296" y="3611880"/>
            <a:ext cx="1115568" cy="274320"/>
          </a:xfrm>
          <a:prstGeom xmlns:a="http://schemas.openxmlformats.org/drawingml/2006/main" prst="roundRect">
            <a:avLst>
              <a:gd name="adj" fmla="val 46667"/>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연금 선택 이유</a:t>
            </a:r>
          </a:p>
        </p:txBody>
      </p:sp>
      <p:sp>
        <p:nvSpPr>
          <p:cNvPr id="15" name="Text 13">
            <a:extLst xmlns:a="http://schemas.openxmlformats.org/drawingml/2006/main">
              <a:ext uri="{FF2B5EF4-FFF2-40B4-BE49-F238E27FC236}">
                <a16:creationId xmlns:a16="http://schemas.microsoft.com/office/drawing/2014/main" id="{C63E365A-FF32-4CC5-A195-EAF735D7A235}"/>
              </a:ext>
            </a:extLst>
          </p:cNvPr>
          <p:cNvSpPr>
            <a:spLocks xmlns:a="http://schemas.openxmlformats.org/drawingml/2006/main" noGrp="1"/>
          </p:cNvSpPr>
          <p:nvPr/>
        </p:nvSpPr>
        <p:spPr>
          <a:xfrm xmlns:a="http://schemas.openxmlformats.org/drawingml/2006/main">
            <a:off x="749808" y="3995928"/>
            <a:ext cx="500176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0">
                <a:solidFill>
                  <a:srgbClr val="5A6474"/>
                </a:solidFill>
                <a:latin typeface="Malgun Gothic"/>
                <a:ea typeface="Malgun Gothic"/>
                <a:cs typeface="Malgun Gothic"/>
              </a:rPr>
              <a:t>일반계좌의 종목 예측보다, 연금은 한도·세제·적격성처럼 검증 가능한 규칙 문제가 크다</a:t>
            </a:r>
          </a:p>
        </p:txBody>
      </p:sp>
      <p:sp>
        <p:nvSpPr>
          <p:cNvPr id="16" name="Shape 14">
            <a:extLst xmlns:a="http://schemas.openxmlformats.org/drawingml/2006/main">
              <a:ext uri="{FF2B5EF4-FFF2-40B4-BE49-F238E27FC236}">
                <a16:creationId xmlns:a16="http://schemas.microsoft.com/office/drawing/2014/main" id="{83004195-3B43-4E29-94C2-B5E46191B6C0}"/>
              </a:ext>
            </a:extLst>
          </p:cNvPr>
          <p:cNvSpPr>
            <a:spLocks xmlns:a="http://schemas.openxmlformats.org/drawingml/2006/main" noGrp="1"/>
          </p:cNvSpPr>
          <p:nvPr/>
        </p:nvSpPr>
        <p:spPr>
          <a:xfrm xmlns:a="http://schemas.openxmlformats.org/drawingml/2006/main">
            <a:off x="6236208" y="3429000"/>
            <a:ext cx="5404104" cy="1737360"/>
          </a:xfrm>
          <a:prstGeom xmlns:a="http://schemas.openxmlformats.org/drawingml/2006/main" prst="roundRect">
            <a:avLst>
              <a:gd name="adj" fmla="val 4737"/>
            </a:avLst>
          </a:prstGeom>
          <a:solidFill xmlns:a="http://schemas.openxmlformats.org/drawingml/2006/main">
            <a:srgbClr val="FFFFFF"/>
          </a:solidFill>
          <a:ln xmlns:a="http://schemas.openxmlformats.org/drawingml/2006/main" w="12700">
            <a:solidFill>
              <a:srgbClr val="D9E0EC"/>
            </a:solidFill>
            <a:prstDash val="solid"/>
          </a:ln>
        </p:spPr>
      </p:sp>
      <p:sp>
        <p:nvSpPr>
          <p:cNvPr id="17" name="Text 15">
            <a:extLst xmlns:a="http://schemas.openxmlformats.org/drawingml/2006/main">
              <a:ext uri="{FF2B5EF4-FFF2-40B4-BE49-F238E27FC236}">
                <a16:creationId xmlns:a16="http://schemas.microsoft.com/office/drawing/2014/main" id="{51CB5DAA-41B3-4C29-8DD6-D828D0D3410E}"/>
              </a:ext>
            </a:extLst>
          </p:cNvPr>
          <p:cNvSpPr>
            <a:spLocks xmlns:a="http://schemas.openxmlformats.org/drawingml/2006/main" noGrp="1"/>
          </p:cNvSpPr>
          <p:nvPr/>
        </p:nvSpPr>
        <p:spPr>
          <a:xfrm xmlns:a="http://schemas.openxmlformats.org/drawingml/2006/main">
            <a:off x="6437376" y="3593592"/>
            <a:ext cx="38496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8202E"/>
                </a:solidFill>
                <a:latin typeface="Malgun Gothic"/>
                <a:ea typeface="Malgun Gothic"/>
                <a:cs typeface="Malgun Gothic"/>
              </a:rPr>
              <a:t>지금 돈이 움직임</a:t>
            </a:r>
          </a:p>
        </p:txBody>
      </p:sp>
      <p:sp>
        <p:nvSpPr>
          <p:cNvPr id="18" name="Text 16">
            <a:extLst xmlns:a="http://schemas.openxmlformats.org/drawingml/2006/main">
              <a:ext uri="{FF2B5EF4-FFF2-40B4-BE49-F238E27FC236}">
                <a16:creationId xmlns:a16="http://schemas.microsoft.com/office/drawing/2014/main" id="{3C09FAD7-FC57-4D05-918E-6876F2D59FB7}"/>
              </a:ext>
            </a:extLst>
          </p:cNvPr>
          <p:cNvSpPr>
            <a:spLocks xmlns:a="http://schemas.openxmlformats.org/drawingml/2006/main" noGrp="1"/>
          </p:cNvSpPr>
          <p:nvPr/>
        </p:nvSpPr>
        <p:spPr>
          <a:xfrm xmlns:a="http://schemas.openxmlformats.org/drawingml/2006/main">
            <a:off x="10341864" y="3611880"/>
            <a:ext cx="1115568" cy="274320"/>
          </a:xfrm>
          <a:prstGeom xmlns:a="http://schemas.openxmlformats.org/drawingml/2006/main" prst="roundRect">
            <a:avLst>
              <a:gd name="adj" fmla="val 46667"/>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WHY NOW</a:t>
            </a:r>
          </a:p>
        </p:txBody>
      </p:sp>
      <p:sp>
        <p:nvSpPr>
          <p:cNvPr id="19" name="Text 17">
            <a:extLst xmlns:a="http://schemas.openxmlformats.org/drawingml/2006/main">
              <a:ext uri="{FF2B5EF4-FFF2-40B4-BE49-F238E27FC236}">
                <a16:creationId xmlns:a16="http://schemas.microsoft.com/office/drawing/2014/main" id="{496360DB-D14E-45BF-B720-B6940B3DFD3D}"/>
              </a:ext>
            </a:extLst>
          </p:cNvPr>
          <p:cNvSpPr>
            <a:spLocks xmlns:a="http://schemas.openxmlformats.org/drawingml/2006/main" noGrp="1"/>
          </p:cNvSpPr>
          <p:nvPr/>
        </p:nvSpPr>
        <p:spPr>
          <a:xfrm xmlns:a="http://schemas.openxmlformats.org/drawingml/2006/main">
            <a:off x="6437376" y="3995928"/>
            <a:ext cx="500176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0">
                <a:solidFill>
                  <a:srgbClr val="5A6474"/>
                </a:solidFill>
                <a:latin typeface="Malgun Gothic"/>
                <a:ea typeface="Malgun Gothic"/>
                <a:cs typeface="Malgun Gothic"/>
              </a:rPr>
              <a:t>실물이전·키움 출범으로 운용 선택 시점 확대</a:t>
            </a:r>
          </a:p>
        </p:txBody>
      </p:sp>
      <p:sp>
        <p:nvSpPr>
          <p:cNvPr id="20" name="Shape 18">
            <a:extLst xmlns:a="http://schemas.openxmlformats.org/drawingml/2006/main">
              <a:ext uri="{FF2B5EF4-FFF2-40B4-BE49-F238E27FC236}">
                <a16:creationId xmlns:a16="http://schemas.microsoft.com/office/drawing/2014/main" id="{EE8653D7-6665-485E-8303-DD26B0AA78C8}"/>
              </a:ext>
            </a:extLst>
          </p:cNvPr>
          <p:cNvSpPr>
            <a:spLocks xmlns:a="http://schemas.openxmlformats.org/drawingml/2006/main" noGrp="1"/>
          </p:cNvSpPr>
          <p:nvPr/>
        </p:nvSpPr>
        <p:spPr>
          <a:xfrm xmlns:a="http://schemas.openxmlformats.org/drawingml/2006/main">
            <a:off x="548640" y="5486400"/>
            <a:ext cx="11091672" cy="777240"/>
          </a:xfrm>
          <a:prstGeom xmlns:a="http://schemas.openxmlformats.org/drawingml/2006/main" prst="roundRect">
            <a:avLst>
              <a:gd name="adj" fmla="val 10588"/>
            </a:avLst>
          </a:prstGeom>
          <a:solidFill xmlns:a="http://schemas.openxmlformats.org/drawingml/2006/main">
            <a:srgbClr val="EEF3FE"/>
          </a:solidFill>
          <a:ln xmlns:a="http://schemas.openxmlformats.org/drawingml/2006/main" w="12700">
            <a:solidFill>
              <a:srgbClr val="D7E2F8"/>
            </a:solidFill>
            <a:prstDash val="solid"/>
          </a:ln>
        </p:spPr>
      </p:sp>
      <p:sp>
        <p:nvSpPr>
          <p:cNvPr id="21" name="Text 19">
            <a:extLst xmlns:a="http://schemas.openxmlformats.org/drawingml/2006/main">
              <a:ext uri="{FF2B5EF4-FFF2-40B4-BE49-F238E27FC236}">
                <a16:creationId xmlns:a16="http://schemas.microsoft.com/office/drawing/2014/main" id="{97A5FD1A-63DC-4C94-B0B8-14CD0B4F77A7}"/>
              </a:ext>
            </a:extLst>
          </p:cNvPr>
          <p:cNvSpPr>
            <a:spLocks xmlns:a="http://schemas.openxmlformats.org/drawingml/2006/main" noGrp="1"/>
          </p:cNvSpPr>
          <p:nvPr/>
        </p:nvSpPr>
        <p:spPr>
          <a:xfrm xmlns:a="http://schemas.openxmlformats.org/drawingml/2006/main">
            <a:off x="749808" y="5486400"/>
            <a:ext cx="10689336"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선택 원칙 | 모든 투자를 넓게 추천하기보다, 현재 구현된 DC형·IRP·연금저축의 규칙·세액공제·자산 진단을 정확히 연결하는 데 집중했습니다.</a:t>
            </a:r>
          </a:p>
        </p:txBody>
      </p:sp>
      <p:sp>
        <p:nvSpPr>
          <p:cNvPr id="22" name="Text 20">
            <a:extLst xmlns:a="http://schemas.openxmlformats.org/drawingml/2006/main">
              <a:ext uri="{FF2B5EF4-FFF2-40B4-BE49-F238E27FC236}">
                <a16:creationId xmlns:a16="http://schemas.microsoft.com/office/drawing/2014/main" id="{A0A88E88-7223-40A9-8416-2AB9B08BD68F}"/>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근거: 경총 조사 · 팀 자체 수요조사 · 고용부/금감원 · 프로젝트 공식 데이터 계약  |  05</a:t>
            </a:r>
          </a:p>
        </p:txBody>
      </p:sp>
    </p:spTree>
    <p:extLst>
      <p:ext uri="{BB962C8B-B14F-4D97-AF65-F5344CB8AC3E}">
        <p14:creationId xmlns:p14="http://schemas.microsoft.com/office/powerpoint/2010/main" val="74047543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B322F39-ED97-4E07-965F-805772D9B40E}"/>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05 · 사용자 가치 — WHO · WHAT</a:t>
            </a:r>
          </a:p>
        </p:txBody>
      </p:sp>
      <p:sp>
        <p:nvSpPr>
          <p:cNvPr id="3" name="Text 1">
            <a:extLst xmlns:a="http://schemas.openxmlformats.org/drawingml/2006/main">
              <a:ext uri="{FF2B5EF4-FFF2-40B4-BE49-F238E27FC236}">
                <a16:creationId xmlns:a16="http://schemas.microsoft.com/office/drawing/2014/main" id="{567EE6EC-0718-4E62-9EA6-E64DB59F8681}"/>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잘 몰라도 시작할 수 있어야, 연금계좌는 움직인다</a:t>
            </a:r>
          </a:p>
        </p:txBody>
      </p:sp>
      <p:sp>
        <p:nvSpPr>
          <p:cNvPr id="4" name="Shape 2">
            <a:extLst xmlns:a="http://schemas.openxmlformats.org/drawingml/2006/main">
              <a:ext uri="{FF2B5EF4-FFF2-40B4-BE49-F238E27FC236}">
                <a16:creationId xmlns:a16="http://schemas.microsoft.com/office/drawing/2014/main" id="{5FF856B6-BD48-4A48-AA7B-5681BD4BD781}"/>
              </a:ext>
            </a:extLst>
          </p:cNvPr>
          <p:cNvSpPr>
            <a:spLocks xmlns:a="http://schemas.openxmlformats.org/drawingml/2006/main" noGrp="1"/>
          </p:cNvSpPr>
          <p:nvPr/>
        </p:nvSpPr>
        <p:spPr>
          <a:xfrm xmlns:a="http://schemas.openxmlformats.org/drawingml/2006/main">
            <a:off x="548640" y="1417320"/>
            <a:ext cx="4709160" cy="1828800"/>
          </a:xfrm>
          <a:prstGeom xmlns:a="http://schemas.openxmlformats.org/drawingml/2006/main" prst="roundRect">
            <a:avLst>
              <a:gd name="adj" fmla="val 4500"/>
            </a:avLst>
          </a:prstGeom>
          <a:solidFill xmlns:a="http://schemas.openxmlformats.org/drawingml/2006/main">
            <a:srgbClr val="F7F9FE"/>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AB27FD84-D477-4F49-8FF3-E65F1D815B4F}"/>
              </a:ext>
            </a:extLst>
          </p:cNvPr>
          <p:cNvSpPr>
            <a:spLocks xmlns:a="http://schemas.openxmlformats.org/drawingml/2006/main" noGrp="1"/>
          </p:cNvSpPr>
          <p:nvPr/>
        </p:nvSpPr>
        <p:spPr>
          <a:xfrm xmlns:a="http://schemas.openxmlformats.org/drawingml/2006/main">
            <a:off x="731520" y="15544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타깃 페르소나</a:t>
            </a:r>
          </a:p>
        </p:txBody>
      </p:sp>
      <p:sp>
        <p:nvSpPr>
          <p:cNvPr id="6" name="Text 4">
            <a:extLst xmlns:a="http://schemas.openxmlformats.org/drawingml/2006/main">
              <a:ext uri="{FF2B5EF4-FFF2-40B4-BE49-F238E27FC236}">
                <a16:creationId xmlns:a16="http://schemas.microsoft.com/office/drawing/2014/main" id="{B6231BEB-D010-412E-816D-EF53808AF8B7}"/>
              </a:ext>
            </a:extLst>
          </p:cNvPr>
          <p:cNvSpPr>
            <a:spLocks xmlns:a="http://schemas.openxmlformats.org/drawingml/2006/main" noGrp="1"/>
          </p:cNvSpPr>
          <p:nvPr/>
        </p:nvSpPr>
        <p:spPr>
          <a:xfrm xmlns:a="http://schemas.openxmlformats.org/drawingml/2006/main">
            <a:off x="731520" y="1828800"/>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8202E"/>
                </a:solidFill>
                <a:latin typeface="Malgun Gothic"/>
                <a:ea typeface="Malgun Gothic"/>
                <a:cs typeface="Malgun Gothic"/>
              </a:rPr>
              <a:t>연금계좌를 보유했지만 운용·점검을 미루는 직장인</a:t>
            </a:r>
          </a:p>
        </p:txBody>
      </p:sp>
      <p:sp>
        <p:nvSpPr>
          <p:cNvPr id="7" name="Text 5">
            <a:extLst xmlns:a="http://schemas.openxmlformats.org/drawingml/2006/main">
              <a:ext uri="{FF2B5EF4-FFF2-40B4-BE49-F238E27FC236}">
                <a16:creationId xmlns:a16="http://schemas.microsoft.com/office/drawing/2014/main" id="{30E55C4D-123F-474A-A709-BD98F2E7B7A0}"/>
              </a:ext>
            </a:extLst>
          </p:cNvPr>
          <p:cNvSpPr>
            <a:spLocks xmlns:a="http://schemas.openxmlformats.org/drawingml/2006/main" noGrp="1"/>
          </p:cNvSpPr>
          <p:nvPr/>
        </p:nvSpPr>
        <p:spPr>
          <a:xfrm xmlns:a="http://schemas.openxmlformats.org/drawingml/2006/main">
            <a:off x="731520" y="2212848"/>
            <a:ext cx="4343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A6474"/>
                </a:solidFill>
                <a:latin typeface="Malgun Gothic"/>
                <a:ea typeface="Malgun Gothic"/>
                <a:cs typeface="Malgun Gothic"/>
              </a:rPr>
              <a:t>연금계좌는 있지만 무엇을 확인해야 할지 몰라 관리가 멈춘 사용자입니다. 자체 설문에서는 26명이 계좌 규칙을 충분히 알지 못했고, 17명은 최근 6개월간 한 번 이하로 점검했거나 확인 방법을 몰랐습니다.</a:t>
            </a:r>
          </a:p>
        </p:txBody>
      </p:sp>
      <p:sp>
        <p:nvSpPr>
          <p:cNvPr id="8" name="Shape 6">
            <a:extLst xmlns:a="http://schemas.openxmlformats.org/drawingml/2006/main">
              <a:ext uri="{FF2B5EF4-FFF2-40B4-BE49-F238E27FC236}">
                <a16:creationId xmlns:a16="http://schemas.microsoft.com/office/drawing/2014/main" id="{B12718C9-0984-4697-80D0-1D369B9B3571}"/>
              </a:ext>
            </a:extLst>
          </p:cNvPr>
          <p:cNvSpPr>
            <a:spLocks xmlns:a="http://schemas.openxmlformats.org/drawingml/2006/main" noGrp="1"/>
          </p:cNvSpPr>
          <p:nvPr/>
        </p:nvSpPr>
        <p:spPr>
          <a:xfrm xmlns:a="http://schemas.openxmlformats.org/drawingml/2006/main">
            <a:off x="548640" y="3474720"/>
            <a:ext cx="4709160" cy="2148840"/>
          </a:xfrm>
          <a:prstGeom xmlns:a="http://schemas.openxmlformats.org/drawingml/2006/main" prst="roundRect">
            <a:avLst>
              <a:gd name="adj" fmla="val 3830"/>
            </a:avLst>
          </a:prstGeom>
          <a:solidFill xmlns:a="http://schemas.openxmlformats.org/drawingml/2006/main">
            <a:srgbClr val="FFFFFF"/>
          </a:solidFill>
          <a:ln xmlns:a="http://schemas.openxmlformats.org/drawingml/2006/main" w="12700">
            <a:solidFill>
              <a:srgbClr val="D9E0EC"/>
            </a:solidFill>
            <a:prstDash val="solid"/>
          </a:ln>
        </p:spPr>
      </p:sp>
      <p:sp>
        <p:nvSpPr>
          <p:cNvPr id="9" name="Text 7">
            <a:extLst xmlns:a="http://schemas.openxmlformats.org/drawingml/2006/main">
              <a:ext uri="{FF2B5EF4-FFF2-40B4-BE49-F238E27FC236}">
                <a16:creationId xmlns:a16="http://schemas.microsoft.com/office/drawing/2014/main" id="{10CE0F26-CB62-489B-B018-30CEE3A08827}"/>
              </a:ext>
            </a:extLst>
          </p:cNvPr>
          <p:cNvSpPr>
            <a:spLocks xmlns:a="http://schemas.openxmlformats.org/drawingml/2006/main" noGrp="1"/>
          </p:cNvSpPr>
          <p:nvPr/>
        </p:nvSpPr>
        <p:spPr>
          <a:xfrm xmlns:a="http://schemas.openxmlformats.org/drawingml/2006/main">
            <a:off x="731520" y="3611880"/>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시연 페르소나 6인 — 완전 합성 목데이터</a:t>
            </a:r>
          </a:p>
        </p:txBody>
      </p:sp>
      <p:sp>
        <p:nvSpPr>
          <p:cNvPr id="10" name="Text 8">
            <a:extLst xmlns:a="http://schemas.openxmlformats.org/drawingml/2006/main">
              <a:ext uri="{FF2B5EF4-FFF2-40B4-BE49-F238E27FC236}">
                <a16:creationId xmlns:a16="http://schemas.microsoft.com/office/drawing/2014/main" id="{AE19719E-8FB6-403B-B52F-274477E6FB73}"/>
              </a:ext>
            </a:extLst>
          </p:cNvPr>
          <p:cNvSpPr>
            <a:spLocks xmlns:a="http://schemas.openxmlformats.org/drawingml/2006/main" noGrp="1"/>
          </p:cNvSpPr>
          <p:nvPr/>
        </p:nvSpPr>
        <p:spPr>
          <a:xfrm xmlns:a="http://schemas.openxmlformats.org/drawingml/2006/main">
            <a:off x="731520" y="3950208"/>
            <a:ext cx="214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박준호  DC 방치형</a:t>
            </a:r>
          </a:p>
        </p:txBody>
      </p:sp>
      <p:sp>
        <p:nvSpPr>
          <p:cNvPr id="11" name="Text 9">
            <a:extLst xmlns:a="http://schemas.openxmlformats.org/drawingml/2006/main">
              <a:ext uri="{FF2B5EF4-FFF2-40B4-BE49-F238E27FC236}">
                <a16:creationId xmlns:a16="http://schemas.microsoft.com/office/drawing/2014/main" id="{282C8073-97CE-4E9A-B527-8EA332F8E8A4}"/>
              </a:ext>
            </a:extLst>
          </p:cNvPr>
          <p:cNvSpPr>
            <a:spLocks xmlns:a="http://schemas.openxmlformats.org/drawingml/2006/main" noGrp="1"/>
          </p:cNvSpPr>
          <p:nvPr/>
        </p:nvSpPr>
        <p:spPr>
          <a:xfrm xmlns:a="http://schemas.openxmlformats.org/drawingml/2006/main">
            <a:off x="2944368" y="3950208"/>
            <a:ext cx="214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이서연  납입 후 미투자</a:t>
            </a:r>
          </a:p>
        </p:txBody>
      </p:sp>
      <p:sp>
        <p:nvSpPr>
          <p:cNvPr id="12" name="Text 10">
            <a:extLst xmlns:a="http://schemas.openxmlformats.org/drawingml/2006/main">
              <a:ext uri="{FF2B5EF4-FFF2-40B4-BE49-F238E27FC236}">
                <a16:creationId xmlns:a16="http://schemas.microsoft.com/office/drawing/2014/main" id="{5FC56523-6E42-475C-AB27-08A7B483CED4}"/>
              </a:ext>
            </a:extLst>
          </p:cNvPr>
          <p:cNvSpPr>
            <a:spLocks xmlns:a="http://schemas.openxmlformats.org/drawingml/2006/main" noGrp="1"/>
          </p:cNvSpPr>
          <p:nvPr/>
        </p:nvSpPr>
        <p:spPr>
          <a:xfrm xmlns:a="http://schemas.openxmlformats.org/drawingml/2006/main">
            <a:off x="731520" y="4480560"/>
            <a:ext cx="214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정민재  계좌 간 중복 편중</a:t>
            </a:r>
          </a:p>
        </p:txBody>
      </p:sp>
      <p:sp>
        <p:nvSpPr>
          <p:cNvPr id="13" name="Text 11">
            <a:extLst xmlns:a="http://schemas.openxmlformats.org/drawingml/2006/main">
              <a:ext uri="{FF2B5EF4-FFF2-40B4-BE49-F238E27FC236}">
                <a16:creationId xmlns:a16="http://schemas.microsoft.com/office/drawing/2014/main" id="{36BD9641-3D41-4042-B938-54783C51FCBB}"/>
              </a:ext>
            </a:extLst>
          </p:cNvPr>
          <p:cNvSpPr>
            <a:spLocks xmlns:a="http://schemas.openxmlformats.org/drawingml/2006/main" noGrp="1"/>
          </p:cNvSpPr>
          <p:nvPr/>
        </p:nvSpPr>
        <p:spPr>
          <a:xfrm xmlns:a="http://schemas.openxmlformats.org/drawingml/2006/main">
            <a:off x="2944368" y="4480560"/>
            <a:ext cx="214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김하린  은퇴까지 먼 20대</a:t>
            </a:r>
          </a:p>
        </p:txBody>
      </p:sp>
      <p:sp>
        <p:nvSpPr>
          <p:cNvPr id="14" name="Text 12">
            <a:extLst xmlns:a="http://schemas.openxmlformats.org/drawingml/2006/main">
              <a:ext uri="{FF2B5EF4-FFF2-40B4-BE49-F238E27FC236}">
                <a16:creationId xmlns:a16="http://schemas.microsoft.com/office/drawing/2014/main" id="{182E5283-1FB2-4793-B161-9AA46C515BD7}"/>
              </a:ext>
            </a:extLst>
          </p:cNvPr>
          <p:cNvSpPr>
            <a:spLocks xmlns:a="http://schemas.openxmlformats.org/drawingml/2006/main" noGrp="1"/>
          </p:cNvSpPr>
          <p:nvPr/>
        </p:nvSpPr>
        <p:spPr>
          <a:xfrm xmlns:a="http://schemas.openxmlformats.org/drawingml/2006/main">
            <a:off x="731520" y="5010912"/>
            <a:ext cx="214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최지훈  가계 예산 압박</a:t>
            </a:r>
          </a:p>
        </p:txBody>
      </p:sp>
      <p:sp>
        <p:nvSpPr>
          <p:cNvPr id="15" name="Text 13">
            <a:extLst xmlns:a="http://schemas.openxmlformats.org/drawingml/2006/main">
              <a:ext uri="{FF2B5EF4-FFF2-40B4-BE49-F238E27FC236}">
                <a16:creationId xmlns:a16="http://schemas.microsoft.com/office/drawing/2014/main" id="{A82DB367-9EE3-4F5C-9E74-09770D81C24F}"/>
              </a:ext>
            </a:extLst>
          </p:cNvPr>
          <p:cNvSpPr>
            <a:spLocks xmlns:a="http://schemas.openxmlformats.org/drawingml/2006/main" noGrp="1"/>
          </p:cNvSpPr>
          <p:nvPr/>
        </p:nvSpPr>
        <p:spPr>
          <a:xfrm xmlns:a="http://schemas.openxmlformats.org/drawingml/2006/main">
            <a:off x="2944368" y="5010912"/>
            <a:ext cx="214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윤정희  연금 수령 전환기</a:t>
            </a:r>
          </a:p>
        </p:txBody>
      </p:sp>
      <p:sp>
        <p:nvSpPr>
          <p:cNvPr id="16" name="Text 14">
            <a:extLst xmlns:a="http://schemas.openxmlformats.org/drawingml/2006/main">
              <a:ext uri="{FF2B5EF4-FFF2-40B4-BE49-F238E27FC236}">
                <a16:creationId xmlns:a16="http://schemas.microsoft.com/office/drawing/2014/main" id="{CA78EF1E-1F78-41EC-B456-782C71E261ED}"/>
              </a:ext>
            </a:extLst>
          </p:cNvPr>
          <p:cNvSpPr>
            <a:spLocks xmlns:a="http://schemas.openxmlformats.org/drawingml/2006/main" noGrp="1"/>
          </p:cNvSpPr>
          <p:nvPr/>
        </p:nvSpPr>
        <p:spPr>
          <a:xfrm xmlns:a="http://schemas.openxmlformats.org/drawingml/2006/main">
            <a:off x="731520" y="5349240"/>
            <a:ext cx="4389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대표 6명 + 익명 벤치마크용 합성 고객 1만 명</a:t>
            </a:r>
          </a:p>
        </p:txBody>
      </p:sp>
      <p:sp>
        <p:nvSpPr>
          <p:cNvPr id="17" name="Text 15">
            <a:extLst xmlns:a="http://schemas.openxmlformats.org/drawingml/2006/main">
              <a:ext uri="{FF2B5EF4-FFF2-40B4-BE49-F238E27FC236}">
                <a16:creationId xmlns:a16="http://schemas.microsoft.com/office/drawing/2014/main" id="{850D3C5E-071F-4745-84FA-EE83D3544AA0}"/>
              </a:ext>
            </a:extLst>
          </p:cNvPr>
          <p:cNvSpPr>
            <a:spLocks xmlns:a="http://schemas.openxmlformats.org/drawingml/2006/main" noGrp="1"/>
          </p:cNvSpPr>
          <p:nvPr/>
        </p:nvSpPr>
        <p:spPr>
          <a:xfrm xmlns:a="http://schemas.openxmlformats.org/drawingml/2006/main">
            <a:off x="5669280" y="141732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5대 핵심 기능</a:t>
            </a:r>
          </a:p>
        </p:txBody>
      </p:sp>
      <p:sp>
        <p:nvSpPr>
          <p:cNvPr id="18" name="Shape 16">
            <a:extLst xmlns:a="http://schemas.openxmlformats.org/drawingml/2006/main">
              <a:ext uri="{FF2B5EF4-FFF2-40B4-BE49-F238E27FC236}">
                <a16:creationId xmlns:a16="http://schemas.microsoft.com/office/drawing/2014/main" id="{673349FA-D194-4155-9D02-620B2AAD3E60}"/>
              </a:ext>
            </a:extLst>
          </p:cNvPr>
          <p:cNvSpPr>
            <a:spLocks xmlns:a="http://schemas.openxmlformats.org/drawingml/2006/main" noGrp="1"/>
          </p:cNvSpPr>
          <p:nvPr/>
        </p:nvSpPr>
        <p:spPr>
          <a:xfrm xmlns:a="http://schemas.openxmlformats.org/drawingml/2006/main">
            <a:off x="5669280" y="1837944"/>
            <a:ext cx="310896" cy="310896"/>
          </a:xfrm>
          <a:prstGeom xmlns:a="http://schemas.openxmlformats.org/drawingml/2006/main" prst="ellipse">
            <a:avLst/>
          </a:prstGeom>
          <a:solidFill xmlns:a="http://schemas.openxmlformats.org/drawingml/2006/main">
            <a:srgbClr val="1A4FD8"/>
          </a:solidFill>
        </p:spPr>
      </p:sp>
      <p:sp>
        <p:nvSpPr>
          <p:cNvPr id="19" name="Text 17">
            <a:extLst xmlns:a="http://schemas.openxmlformats.org/drawingml/2006/main">
              <a:ext uri="{FF2B5EF4-FFF2-40B4-BE49-F238E27FC236}">
                <a16:creationId xmlns:a16="http://schemas.microsoft.com/office/drawing/2014/main" id="{650A1A22-B69C-40BA-8EAC-E7BCAA8867F2}"/>
              </a:ext>
            </a:extLst>
          </p:cNvPr>
          <p:cNvSpPr>
            <a:spLocks xmlns:a="http://schemas.openxmlformats.org/drawingml/2006/main" noGrp="1"/>
          </p:cNvSpPr>
          <p:nvPr/>
        </p:nvSpPr>
        <p:spPr>
          <a:xfrm xmlns:a="http://schemas.openxmlformats.org/drawingml/2006/main">
            <a:off x="5669280" y="183794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Malgun Gothic"/>
                <a:ea typeface="Malgun Gothic"/>
                <a:cs typeface="Malgun Gothic"/>
              </a:rPr>
              <a:t>1</a:t>
            </a:r>
          </a:p>
        </p:txBody>
      </p:sp>
      <p:sp>
        <p:nvSpPr>
          <p:cNvPr id="20" name="Text 18">
            <a:extLst xmlns:a="http://schemas.openxmlformats.org/drawingml/2006/main">
              <a:ext uri="{FF2B5EF4-FFF2-40B4-BE49-F238E27FC236}">
                <a16:creationId xmlns:a16="http://schemas.microsoft.com/office/drawing/2014/main" id="{8111B6FE-F197-4FC3-A808-52E103EF881B}"/>
              </a:ext>
            </a:extLst>
          </p:cNvPr>
          <p:cNvSpPr>
            <a:spLocks xmlns:a="http://schemas.openxmlformats.org/drawingml/2006/main" noGrp="1"/>
          </p:cNvSpPr>
          <p:nvPr/>
        </p:nvSpPr>
        <p:spPr>
          <a:xfrm xmlns:a="http://schemas.openxmlformats.org/drawingml/2006/main">
            <a:off x="6108192" y="1783080"/>
            <a:ext cx="5212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나의 자산 홈</a:t>
            </a:r>
          </a:p>
        </p:txBody>
      </p:sp>
      <p:sp>
        <p:nvSpPr>
          <p:cNvPr id="21" name="Text 19">
            <a:extLst xmlns:a="http://schemas.openxmlformats.org/drawingml/2006/main">
              <a:ext uri="{FF2B5EF4-FFF2-40B4-BE49-F238E27FC236}">
                <a16:creationId xmlns:a16="http://schemas.microsoft.com/office/drawing/2014/main" id="{76394713-B61C-4ED0-A906-A481A89BEEAF}"/>
              </a:ext>
            </a:extLst>
          </p:cNvPr>
          <p:cNvSpPr>
            <a:spLocks xmlns:a="http://schemas.openxmlformats.org/drawingml/2006/main" noGrp="1"/>
          </p:cNvSpPr>
          <p:nvPr/>
        </p:nvSpPr>
        <p:spPr>
          <a:xfrm xmlns:a="http://schemas.openxmlformats.org/drawingml/2006/main">
            <a:off x="6108192" y="2075688"/>
            <a:ext cx="5257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60">
                <a:solidFill>
                  <a:srgbClr val="5A6474"/>
                </a:solidFill>
                <a:latin typeface="Malgun Gothic"/>
                <a:ea typeface="Malgun Gothic"/>
                <a:cs typeface="Malgun Gothic"/>
              </a:rPr>
              <a:t>총자산·계좌/자산군 비중·포트폴리오 한 줄 진단</a:t>
            </a:r>
          </a:p>
        </p:txBody>
      </p:sp>
      <p:sp>
        <p:nvSpPr>
          <p:cNvPr id="22" name="Shape 20">
            <a:extLst xmlns:a="http://schemas.openxmlformats.org/drawingml/2006/main">
              <a:ext uri="{FF2B5EF4-FFF2-40B4-BE49-F238E27FC236}">
                <a16:creationId xmlns:a16="http://schemas.microsoft.com/office/drawing/2014/main" id="{4451D5C1-95A4-4270-AD48-6A464EA5BE92}"/>
              </a:ext>
            </a:extLst>
          </p:cNvPr>
          <p:cNvSpPr>
            <a:spLocks xmlns:a="http://schemas.openxmlformats.org/drawingml/2006/main" noGrp="1"/>
          </p:cNvSpPr>
          <p:nvPr/>
        </p:nvSpPr>
        <p:spPr>
          <a:xfrm xmlns:a="http://schemas.openxmlformats.org/drawingml/2006/main">
            <a:off x="5669280" y="2615184"/>
            <a:ext cx="310896" cy="310896"/>
          </a:xfrm>
          <a:prstGeom xmlns:a="http://schemas.openxmlformats.org/drawingml/2006/main" prst="ellipse">
            <a:avLst/>
          </a:prstGeom>
          <a:solidFill xmlns:a="http://schemas.openxmlformats.org/drawingml/2006/main">
            <a:srgbClr val="1A4FD8"/>
          </a:solidFill>
        </p:spPr>
      </p:sp>
      <p:sp>
        <p:nvSpPr>
          <p:cNvPr id="23" name="Text 21">
            <a:extLst xmlns:a="http://schemas.openxmlformats.org/drawingml/2006/main">
              <a:ext uri="{FF2B5EF4-FFF2-40B4-BE49-F238E27FC236}">
                <a16:creationId xmlns:a16="http://schemas.microsoft.com/office/drawing/2014/main" id="{C1B7D9C0-37F1-444C-826A-189CBA027917}"/>
              </a:ext>
            </a:extLst>
          </p:cNvPr>
          <p:cNvSpPr>
            <a:spLocks xmlns:a="http://schemas.openxmlformats.org/drawingml/2006/main" noGrp="1"/>
          </p:cNvSpPr>
          <p:nvPr/>
        </p:nvSpPr>
        <p:spPr>
          <a:xfrm xmlns:a="http://schemas.openxmlformats.org/drawingml/2006/main">
            <a:off x="5669280" y="26151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Malgun Gothic"/>
                <a:ea typeface="Malgun Gothic"/>
                <a:cs typeface="Malgun Gothic"/>
              </a:rPr>
              <a:t>2</a:t>
            </a:r>
          </a:p>
        </p:txBody>
      </p:sp>
      <p:sp>
        <p:nvSpPr>
          <p:cNvPr id="24" name="Text 22">
            <a:extLst xmlns:a="http://schemas.openxmlformats.org/drawingml/2006/main">
              <a:ext uri="{FF2B5EF4-FFF2-40B4-BE49-F238E27FC236}">
                <a16:creationId xmlns:a16="http://schemas.microsoft.com/office/drawing/2014/main" id="{4DA43CBE-D782-4AC5-B45F-ACFF60073323}"/>
              </a:ext>
            </a:extLst>
          </p:cNvPr>
          <p:cNvSpPr>
            <a:spLocks xmlns:a="http://schemas.openxmlformats.org/drawingml/2006/main" noGrp="1"/>
          </p:cNvSpPr>
          <p:nvPr/>
        </p:nvSpPr>
        <p:spPr>
          <a:xfrm xmlns:a="http://schemas.openxmlformats.org/drawingml/2006/main">
            <a:off x="6108192" y="2560320"/>
            <a:ext cx="5212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챗봇 (연금가이드)</a:t>
            </a:r>
          </a:p>
        </p:txBody>
      </p:sp>
      <p:sp>
        <p:nvSpPr>
          <p:cNvPr id="25" name="Text 23">
            <a:extLst xmlns:a="http://schemas.openxmlformats.org/drawingml/2006/main">
              <a:ext uri="{FF2B5EF4-FFF2-40B4-BE49-F238E27FC236}">
                <a16:creationId xmlns:a16="http://schemas.microsoft.com/office/drawing/2014/main" id="{A8DC57AC-D6BB-4EBE-809F-8EB8A31709AE}"/>
              </a:ext>
            </a:extLst>
          </p:cNvPr>
          <p:cNvSpPr>
            <a:spLocks xmlns:a="http://schemas.openxmlformats.org/drawingml/2006/main" noGrp="1"/>
          </p:cNvSpPr>
          <p:nvPr/>
        </p:nvSpPr>
        <p:spPr>
          <a:xfrm xmlns:a="http://schemas.openxmlformats.org/drawingml/2006/main">
            <a:off x="6108192" y="2852928"/>
            <a:ext cx="5257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60">
                <a:solidFill>
                  <a:srgbClr val="5A6474"/>
                </a:solidFill>
                <a:latin typeface="Malgun Gothic"/>
                <a:ea typeface="Malgun Gothic"/>
                <a:cs typeface="Malgun Gothic"/>
              </a:rPr>
              <a:t>계좌·세액·뉴스·ETF 테마 — 모든 숫자에 근거</a:t>
            </a:r>
          </a:p>
        </p:txBody>
      </p:sp>
      <p:sp>
        <p:nvSpPr>
          <p:cNvPr id="26" name="Shape 24">
            <a:extLst xmlns:a="http://schemas.openxmlformats.org/drawingml/2006/main">
              <a:ext uri="{FF2B5EF4-FFF2-40B4-BE49-F238E27FC236}">
                <a16:creationId xmlns:a16="http://schemas.microsoft.com/office/drawing/2014/main" id="{306B0795-43E4-4B5B-AA44-E3BA7806A296}"/>
              </a:ext>
            </a:extLst>
          </p:cNvPr>
          <p:cNvSpPr>
            <a:spLocks xmlns:a="http://schemas.openxmlformats.org/drawingml/2006/main" noGrp="1"/>
          </p:cNvSpPr>
          <p:nvPr/>
        </p:nvSpPr>
        <p:spPr>
          <a:xfrm xmlns:a="http://schemas.openxmlformats.org/drawingml/2006/main">
            <a:off x="5669280" y="3392424"/>
            <a:ext cx="310896" cy="310896"/>
          </a:xfrm>
          <a:prstGeom xmlns:a="http://schemas.openxmlformats.org/drawingml/2006/main" prst="ellipse">
            <a:avLst/>
          </a:prstGeom>
          <a:solidFill xmlns:a="http://schemas.openxmlformats.org/drawingml/2006/main">
            <a:srgbClr val="1A4FD8"/>
          </a:solidFill>
        </p:spPr>
      </p:sp>
      <p:sp>
        <p:nvSpPr>
          <p:cNvPr id="27" name="Text 25">
            <a:extLst xmlns:a="http://schemas.openxmlformats.org/drawingml/2006/main">
              <a:ext uri="{FF2B5EF4-FFF2-40B4-BE49-F238E27FC236}">
                <a16:creationId xmlns:a16="http://schemas.microsoft.com/office/drawing/2014/main" id="{78B16F10-C6BD-40DF-AD83-188A1BB20835}"/>
              </a:ext>
            </a:extLst>
          </p:cNvPr>
          <p:cNvSpPr>
            <a:spLocks xmlns:a="http://schemas.openxmlformats.org/drawingml/2006/main" noGrp="1"/>
          </p:cNvSpPr>
          <p:nvPr/>
        </p:nvSpPr>
        <p:spPr>
          <a:xfrm xmlns:a="http://schemas.openxmlformats.org/drawingml/2006/main">
            <a:off x="5669280" y="339242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Malgun Gothic"/>
                <a:ea typeface="Malgun Gothic"/>
                <a:cs typeface="Malgun Gothic"/>
              </a:rPr>
              <a:t>3</a:t>
            </a:r>
          </a:p>
        </p:txBody>
      </p:sp>
      <p:sp>
        <p:nvSpPr>
          <p:cNvPr id="28" name="Text 26">
            <a:extLst xmlns:a="http://schemas.openxmlformats.org/drawingml/2006/main">
              <a:ext uri="{FF2B5EF4-FFF2-40B4-BE49-F238E27FC236}">
                <a16:creationId xmlns:a16="http://schemas.microsoft.com/office/drawing/2014/main" id="{B59FA8EB-A179-476C-B055-B07E7CB3110A}"/>
              </a:ext>
            </a:extLst>
          </p:cNvPr>
          <p:cNvSpPr>
            <a:spLocks xmlns:a="http://schemas.openxmlformats.org/drawingml/2006/main" noGrp="1"/>
          </p:cNvSpPr>
          <p:nvPr/>
        </p:nvSpPr>
        <p:spPr>
          <a:xfrm xmlns:a="http://schemas.openxmlformats.org/drawingml/2006/main">
            <a:off x="6108192" y="3337560"/>
            <a:ext cx="5212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MY투자 · 투자전략</a:t>
            </a:r>
          </a:p>
        </p:txBody>
      </p:sp>
      <p:sp>
        <p:nvSpPr>
          <p:cNvPr id="29" name="Text 27">
            <a:extLst xmlns:a="http://schemas.openxmlformats.org/drawingml/2006/main">
              <a:ext uri="{FF2B5EF4-FFF2-40B4-BE49-F238E27FC236}">
                <a16:creationId xmlns:a16="http://schemas.microsoft.com/office/drawing/2014/main" id="{BAACE4AD-5075-4846-B093-756B8ACB6391}"/>
              </a:ext>
            </a:extLst>
          </p:cNvPr>
          <p:cNvSpPr>
            <a:spLocks xmlns:a="http://schemas.openxmlformats.org/drawingml/2006/main" noGrp="1"/>
          </p:cNvSpPr>
          <p:nvPr/>
        </p:nvSpPr>
        <p:spPr>
          <a:xfrm xmlns:a="http://schemas.openxmlformats.org/drawingml/2006/main">
            <a:off x="6108192" y="3630168"/>
            <a:ext cx="5257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60">
                <a:solidFill>
                  <a:srgbClr val="5A6474"/>
                </a:solidFill>
                <a:latin typeface="Malgun Gothic"/>
                <a:ea typeface="Malgun Gothic"/>
                <a:cs typeface="Malgun Gothic"/>
              </a:rPr>
              <a:t>전략 탐색·위험/스트레스·연금 계산 시뮬레이션</a:t>
            </a:r>
          </a:p>
        </p:txBody>
      </p:sp>
      <p:sp>
        <p:nvSpPr>
          <p:cNvPr id="30" name="Shape 28">
            <a:extLst xmlns:a="http://schemas.openxmlformats.org/drawingml/2006/main">
              <a:ext uri="{FF2B5EF4-FFF2-40B4-BE49-F238E27FC236}">
                <a16:creationId xmlns:a16="http://schemas.microsoft.com/office/drawing/2014/main" id="{AFD70AB6-0321-4F45-BEE3-90F7F488116A}"/>
              </a:ext>
            </a:extLst>
          </p:cNvPr>
          <p:cNvSpPr>
            <a:spLocks xmlns:a="http://schemas.openxmlformats.org/drawingml/2006/main" noGrp="1"/>
          </p:cNvSpPr>
          <p:nvPr/>
        </p:nvSpPr>
        <p:spPr>
          <a:xfrm xmlns:a="http://schemas.openxmlformats.org/drawingml/2006/main">
            <a:off x="5669280" y="4169664"/>
            <a:ext cx="310896" cy="310896"/>
          </a:xfrm>
          <a:prstGeom xmlns:a="http://schemas.openxmlformats.org/drawingml/2006/main" prst="ellipse">
            <a:avLst/>
          </a:prstGeom>
          <a:solidFill xmlns:a="http://schemas.openxmlformats.org/drawingml/2006/main">
            <a:srgbClr val="1A4FD8"/>
          </a:solidFill>
        </p:spPr>
      </p:sp>
      <p:sp>
        <p:nvSpPr>
          <p:cNvPr id="31" name="Text 29">
            <a:extLst xmlns:a="http://schemas.openxmlformats.org/drawingml/2006/main">
              <a:ext uri="{FF2B5EF4-FFF2-40B4-BE49-F238E27FC236}">
                <a16:creationId xmlns:a16="http://schemas.microsoft.com/office/drawing/2014/main" id="{A6C420D0-95BB-4DCB-B4A5-36A6745238D2}"/>
              </a:ext>
            </a:extLst>
          </p:cNvPr>
          <p:cNvSpPr>
            <a:spLocks xmlns:a="http://schemas.openxmlformats.org/drawingml/2006/main" noGrp="1"/>
          </p:cNvSpPr>
          <p:nvPr/>
        </p:nvSpPr>
        <p:spPr>
          <a:xfrm xmlns:a="http://schemas.openxmlformats.org/drawingml/2006/main">
            <a:off x="5669280" y="416966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Malgun Gothic"/>
                <a:ea typeface="Malgun Gothic"/>
                <a:cs typeface="Malgun Gothic"/>
              </a:rPr>
              <a:t>4</a:t>
            </a:r>
          </a:p>
        </p:txBody>
      </p:sp>
      <p:sp>
        <p:nvSpPr>
          <p:cNvPr id="32" name="Text 30">
            <a:extLst xmlns:a="http://schemas.openxmlformats.org/drawingml/2006/main">
              <a:ext uri="{FF2B5EF4-FFF2-40B4-BE49-F238E27FC236}">
                <a16:creationId xmlns:a16="http://schemas.microsoft.com/office/drawing/2014/main" id="{78E5D503-6EA0-411E-B777-3D9120549D6C}"/>
              </a:ext>
            </a:extLst>
          </p:cNvPr>
          <p:cNvSpPr>
            <a:spLocks xmlns:a="http://schemas.openxmlformats.org/drawingml/2006/main" noGrp="1"/>
          </p:cNvSpPr>
          <p:nvPr/>
        </p:nvSpPr>
        <p:spPr>
          <a:xfrm xmlns:a="http://schemas.openxmlformats.org/drawingml/2006/main">
            <a:off x="6108192" y="4114800"/>
            <a:ext cx="5212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이용자 Pick</a:t>
            </a:r>
          </a:p>
        </p:txBody>
      </p:sp>
      <p:sp>
        <p:nvSpPr>
          <p:cNvPr id="33" name="Text 31">
            <a:extLst xmlns:a="http://schemas.openxmlformats.org/drawingml/2006/main">
              <a:ext uri="{FF2B5EF4-FFF2-40B4-BE49-F238E27FC236}">
                <a16:creationId xmlns:a16="http://schemas.microsoft.com/office/drawing/2014/main" id="{06A85998-415A-403E-BC37-F33E590CD99D}"/>
              </a:ext>
            </a:extLst>
          </p:cNvPr>
          <p:cNvSpPr>
            <a:spLocks xmlns:a="http://schemas.openxmlformats.org/drawingml/2006/main" noGrp="1"/>
          </p:cNvSpPr>
          <p:nvPr/>
        </p:nvSpPr>
        <p:spPr>
          <a:xfrm xmlns:a="http://schemas.openxmlformats.org/drawingml/2006/main">
            <a:off x="6108192" y="4407408"/>
            <a:ext cx="5257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60">
                <a:solidFill>
                  <a:srgbClr val="5A6474"/>
                </a:solidFill>
                <a:latin typeface="Malgun Gothic"/>
                <a:ea typeface="Malgun Gothic"/>
                <a:cs typeface="Malgun Gothic"/>
              </a:rPr>
              <a:t>로그인 고객을 제외한 대표 고객 포트폴리오 비교</a:t>
            </a:r>
          </a:p>
        </p:txBody>
      </p:sp>
      <p:sp>
        <p:nvSpPr>
          <p:cNvPr id="34" name="Shape 32">
            <a:extLst xmlns:a="http://schemas.openxmlformats.org/drawingml/2006/main">
              <a:ext uri="{FF2B5EF4-FFF2-40B4-BE49-F238E27FC236}">
                <a16:creationId xmlns:a16="http://schemas.microsoft.com/office/drawing/2014/main" id="{7370CDDC-8513-427A-839C-38BF28064BA8}"/>
              </a:ext>
            </a:extLst>
          </p:cNvPr>
          <p:cNvSpPr>
            <a:spLocks xmlns:a="http://schemas.openxmlformats.org/drawingml/2006/main" noGrp="1"/>
          </p:cNvSpPr>
          <p:nvPr/>
        </p:nvSpPr>
        <p:spPr>
          <a:xfrm xmlns:a="http://schemas.openxmlformats.org/drawingml/2006/main">
            <a:off x="5669280" y="4946904"/>
            <a:ext cx="310896" cy="310896"/>
          </a:xfrm>
          <a:prstGeom xmlns:a="http://schemas.openxmlformats.org/drawingml/2006/main" prst="ellipse">
            <a:avLst/>
          </a:prstGeom>
          <a:solidFill xmlns:a="http://schemas.openxmlformats.org/drawingml/2006/main">
            <a:srgbClr val="1A4FD8"/>
          </a:solidFill>
        </p:spPr>
      </p:sp>
      <p:sp>
        <p:nvSpPr>
          <p:cNvPr id="35" name="Text 33">
            <a:extLst xmlns:a="http://schemas.openxmlformats.org/drawingml/2006/main">
              <a:ext uri="{FF2B5EF4-FFF2-40B4-BE49-F238E27FC236}">
                <a16:creationId xmlns:a16="http://schemas.microsoft.com/office/drawing/2014/main" id="{73317BF3-0D3C-4371-8377-A450A2F2F221}"/>
              </a:ext>
            </a:extLst>
          </p:cNvPr>
          <p:cNvSpPr>
            <a:spLocks xmlns:a="http://schemas.openxmlformats.org/drawingml/2006/main" noGrp="1"/>
          </p:cNvSpPr>
          <p:nvPr/>
        </p:nvSpPr>
        <p:spPr>
          <a:xfrm xmlns:a="http://schemas.openxmlformats.org/drawingml/2006/main">
            <a:off x="5669280" y="494690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Malgun Gothic"/>
                <a:ea typeface="Malgun Gothic"/>
                <a:cs typeface="Malgun Gothic"/>
              </a:rPr>
              <a:t>5</a:t>
            </a:r>
          </a:p>
        </p:txBody>
      </p:sp>
      <p:sp>
        <p:nvSpPr>
          <p:cNvPr id="36" name="Text 34">
            <a:extLst xmlns:a="http://schemas.openxmlformats.org/drawingml/2006/main">
              <a:ext uri="{FF2B5EF4-FFF2-40B4-BE49-F238E27FC236}">
                <a16:creationId xmlns:a16="http://schemas.microsoft.com/office/drawing/2014/main" id="{EAF53954-3AA6-4C62-8C10-4CA7D4575121}"/>
              </a:ext>
            </a:extLst>
          </p:cNvPr>
          <p:cNvSpPr>
            <a:spLocks xmlns:a="http://schemas.openxmlformats.org/drawingml/2006/main" noGrp="1"/>
          </p:cNvSpPr>
          <p:nvPr/>
        </p:nvSpPr>
        <p:spPr>
          <a:xfrm xmlns:a="http://schemas.openxmlformats.org/drawingml/2006/main">
            <a:off x="6108192" y="4892040"/>
            <a:ext cx="5212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세금계산</a:t>
            </a:r>
          </a:p>
        </p:txBody>
      </p:sp>
      <p:sp>
        <p:nvSpPr>
          <p:cNvPr id="37" name="Text 35">
            <a:extLst xmlns:a="http://schemas.openxmlformats.org/drawingml/2006/main">
              <a:ext uri="{FF2B5EF4-FFF2-40B4-BE49-F238E27FC236}">
                <a16:creationId xmlns:a16="http://schemas.microsoft.com/office/drawing/2014/main" id="{4A5A0ECB-2FDB-4A58-9A6E-DACF36035999}"/>
              </a:ext>
            </a:extLst>
          </p:cNvPr>
          <p:cNvSpPr>
            <a:spLocks xmlns:a="http://schemas.openxmlformats.org/drawingml/2006/main" noGrp="1"/>
          </p:cNvSpPr>
          <p:nvPr/>
        </p:nvSpPr>
        <p:spPr>
          <a:xfrm xmlns:a="http://schemas.openxmlformats.org/drawingml/2006/main">
            <a:off x="6108192" y="5184648"/>
            <a:ext cx="5257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60">
                <a:solidFill>
                  <a:srgbClr val="5A6474"/>
                </a:solidFill>
                <a:latin typeface="Malgun Gothic"/>
                <a:ea typeface="Malgun Gothic"/>
                <a:cs typeface="Malgun Gothic"/>
              </a:rPr>
              <a:t>공제율·남은 한도·예상 세액공제액을 엔진으로 계산</a:t>
            </a:r>
          </a:p>
        </p:txBody>
      </p:sp>
      <p:sp>
        <p:nvSpPr>
          <p:cNvPr id="38" name="Shape 36">
            <a:extLst xmlns:a="http://schemas.openxmlformats.org/drawingml/2006/main">
              <a:ext uri="{FF2B5EF4-FFF2-40B4-BE49-F238E27FC236}">
                <a16:creationId xmlns:a16="http://schemas.microsoft.com/office/drawing/2014/main" id="{5EF87F06-820C-4C66-A9F6-4657755837A1}"/>
              </a:ext>
            </a:extLst>
          </p:cNvPr>
          <p:cNvSpPr>
            <a:spLocks xmlns:a="http://schemas.openxmlformats.org/drawingml/2006/main" noGrp="1"/>
          </p:cNvSpPr>
          <p:nvPr/>
        </p:nvSpPr>
        <p:spPr>
          <a:xfrm xmlns:a="http://schemas.openxmlformats.org/drawingml/2006/main">
            <a:off x="5669280" y="5715000"/>
            <a:ext cx="5715000" cy="566928"/>
          </a:xfrm>
          <a:prstGeom xmlns:a="http://schemas.openxmlformats.org/drawingml/2006/main" prst="roundRect">
            <a:avLst>
              <a:gd name="adj" fmla="val 14516"/>
            </a:avLst>
          </a:prstGeom>
          <a:solidFill xmlns:a="http://schemas.openxmlformats.org/drawingml/2006/main">
            <a:srgbClr val="EEF3FE"/>
          </a:solidFill>
          <a:ln xmlns:a="http://schemas.openxmlformats.org/drawingml/2006/main" w="12700">
            <a:solidFill>
              <a:srgbClr val="D7E2F8"/>
            </a:solidFill>
            <a:prstDash val="solid"/>
          </a:ln>
        </p:spPr>
      </p:sp>
      <p:sp>
        <p:nvSpPr>
          <p:cNvPr id="39" name="Text 37">
            <a:extLst xmlns:a="http://schemas.openxmlformats.org/drawingml/2006/main">
              <a:ext uri="{FF2B5EF4-FFF2-40B4-BE49-F238E27FC236}">
                <a16:creationId xmlns:a16="http://schemas.microsoft.com/office/drawing/2014/main" id="{828C113E-4709-4B6D-AAF7-014429A126D2}"/>
              </a:ext>
            </a:extLst>
          </p:cNvPr>
          <p:cNvSpPr>
            <a:spLocks xmlns:a="http://schemas.openxmlformats.org/drawingml/2006/main" noGrp="1"/>
          </p:cNvSpPr>
          <p:nvPr/>
        </p:nvSpPr>
        <p:spPr>
          <a:xfrm xmlns:a="http://schemas.openxmlformats.org/drawingml/2006/main">
            <a:off x="5806440" y="5715000"/>
            <a:ext cx="54864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5A6474"/>
                </a:solidFill>
                <a:latin typeface="Malgun Gothic"/>
                <a:ea typeface="Malgun Gothic"/>
                <a:cs typeface="Malgun Gothic"/>
              </a:rPr>
              <a:t>“무엇을 사야 하나”보다 “내 계좌에서 무엇부터 볼까”에 먼저 답합니다.</a:t>
            </a:r>
          </a:p>
        </p:txBody>
      </p:sp>
      <p:sp>
        <p:nvSpPr>
          <p:cNvPr id="40" name="Text 38">
            <a:extLst xmlns:a="http://schemas.openxmlformats.org/drawingml/2006/main">
              <a:ext uri="{FF2B5EF4-FFF2-40B4-BE49-F238E27FC236}">
                <a16:creationId xmlns:a16="http://schemas.microsoft.com/office/drawing/2014/main" id="{B2FE44FA-EECE-46B1-889D-627E480DBAA4}"/>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06</a:t>
            </a:r>
          </a:p>
        </p:txBody>
      </p:sp>
    </p:spTree>
    <p:extLst>
      <p:ext uri="{BB962C8B-B14F-4D97-AF65-F5344CB8AC3E}">
        <p14:creationId xmlns:p14="http://schemas.microsoft.com/office/powerpoint/2010/main" val="4267309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050284-9A80-43FD-9AE2-FC8407551E68}"/>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06 · 프로젝트 목표 · 설계 원칙</a:t>
            </a:r>
          </a:p>
        </p:txBody>
      </p:sp>
      <p:sp>
        <p:nvSpPr>
          <p:cNvPr id="3" name="Text 1">
            <a:extLst xmlns:a="http://schemas.openxmlformats.org/drawingml/2006/main">
              <a:ext uri="{FF2B5EF4-FFF2-40B4-BE49-F238E27FC236}">
                <a16:creationId xmlns:a16="http://schemas.microsoft.com/office/drawing/2014/main" id="{AF53ECBB-6D39-4A2D-9375-03299C90DBB0}"/>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규제가 요구하기 전에, 구조로 지킨다</a:t>
            </a:r>
          </a:p>
        </p:txBody>
      </p:sp>
      <p:sp>
        <p:nvSpPr>
          <p:cNvPr id="4" name="Shape 2">
            <a:extLst xmlns:a="http://schemas.openxmlformats.org/drawingml/2006/main">
              <a:ext uri="{FF2B5EF4-FFF2-40B4-BE49-F238E27FC236}">
                <a16:creationId xmlns:a16="http://schemas.microsoft.com/office/drawing/2014/main" id="{CDBE8ACB-B0F4-44F6-9363-8ADD5024439E}"/>
              </a:ext>
            </a:extLst>
          </p:cNvPr>
          <p:cNvSpPr>
            <a:spLocks xmlns:a="http://schemas.openxmlformats.org/drawingml/2006/main" noGrp="1"/>
          </p:cNvSpPr>
          <p:nvPr/>
        </p:nvSpPr>
        <p:spPr>
          <a:xfrm xmlns:a="http://schemas.openxmlformats.org/drawingml/2006/main">
            <a:off x="548640" y="1508760"/>
            <a:ext cx="5404104" cy="1783080"/>
          </a:xfrm>
          <a:prstGeom xmlns:a="http://schemas.openxmlformats.org/drawingml/2006/main" prst="roundRect">
            <a:avLst>
              <a:gd name="adj" fmla="val 4615"/>
            </a:avLst>
          </a:prstGeom>
          <a:solidFill xmlns:a="http://schemas.openxmlformats.org/drawingml/2006/main">
            <a:srgbClr val="F7F9FE"/>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D3640925-0932-44FE-BF19-6FC91A422AF8}"/>
              </a:ext>
            </a:extLst>
          </p:cNvPr>
          <p:cNvSpPr>
            <a:spLocks xmlns:a="http://schemas.openxmlformats.org/drawingml/2006/main" noGrp="1"/>
          </p:cNvSpPr>
          <p:nvPr/>
        </p:nvSpPr>
        <p:spPr>
          <a:xfrm xmlns:a="http://schemas.openxmlformats.org/drawingml/2006/main">
            <a:off x="749808" y="1673352"/>
            <a:ext cx="394106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8202E"/>
                </a:solidFill>
                <a:latin typeface="Malgun Gothic"/>
                <a:ea typeface="Malgun Gothic"/>
                <a:cs typeface="Malgun Gothic"/>
              </a:rPr>
              <a:t>자문 · 정보 제공형</a:t>
            </a:r>
          </a:p>
        </p:txBody>
      </p:sp>
      <p:sp>
        <p:nvSpPr>
          <p:cNvPr id="6" name="Text 4">
            <a:extLst xmlns:a="http://schemas.openxmlformats.org/drawingml/2006/main">
              <a:ext uri="{FF2B5EF4-FFF2-40B4-BE49-F238E27FC236}">
                <a16:creationId xmlns:a16="http://schemas.microsoft.com/office/drawing/2014/main" id="{01A12AC7-C498-4EFF-A4D1-73FFD3D22CD6}"/>
              </a:ext>
            </a:extLst>
          </p:cNvPr>
          <p:cNvSpPr>
            <a:spLocks xmlns:a="http://schemas.openxmlformats.org/drawingml/2006/main" noGrp="1"/>
          </p:cNvSpPr>
          <p:nvPr/>
        </p:nvSpPr>
        <p:spPr>
          <a:xfrm xmlns:a="http://schemas.openxmlformats.org/drawingml/2006/main">
            <a:off x="4745736" y="1691640"/>
            <a:ext cx="1024128" cy="274320"/>
          </a:xfrm>
          <a:prstGeom xmlns:a="http://schemas.openxmlformats.org/drawingml/2006/main" prst="roundRect">
            <a:avLst>
              <a:gd name="adj" fmla="val 46667"/>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일임 아님</a:t>
            </a:r>
          </a:p>
        </p:txBody>
      </p:sp>
      <p:sp>
        <p:nvSpPr>
          <p:cNvPr id="7" name="Text 5">
            <a:extLst xmlns:a="http://schemas.openxmlformats.org/drawingml/2006/main">
              <a:ext uri="{FF2B5EF4-FFF2-40B4-BE49-F238E27FC236}">
                <a16:creationId xmlns:a16="http://schemas.microsoft.com/office/drawing/2014/main" id="{E1C39DAC-BB94-47D3-B6B6-EBEE639644EA}"/>
              </a:ext>
            </a:extLst>
          </p:cNvPr>
          <p:cNvSpPr>
            <a:spLocks xmlns:a="http://schemas.openxmlformats.org/drawingml/2006/main" noGrp="1"/>
          </p:cNvSpPr>
          <p:nvPr/>
        </p:nvSpPr>
        <p:spPr>
          <a:xfrm xmlns:a="http://schemas.openxmlformats.org/drawingml/2006/main">
            <a:off x="749808" y="2093976"/>
            <a:ext cx="50017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A6474"/>
                </a:solidFill>
                <a:latin typeface="Malgun Gothic"/>
                <a:ea typeface="Malgun Gothic"/>
                <a:cs typeface="Malgun Gothic"/>
              </a:rPr>
              <a:t>실제 선택·주문은 이용자. 과거 실적만 다루고 미래 수익 예측·확정 표현은 하지 않습니다.</a:t>
            </a:r>
          </a:p>
        </p:txBody>
      </p:sp>
      <p:sp>
        <p:nvSpPr>
          <p:cNvPr id="8" name="Shape 6">
            <a:extLst xmlns:a="http://schemas.openxmlformats.org/drawingml/2006/main">
              <a:ext uri="{FF2B5EF4-FFF2-40B4-BE49-F238E27FC236}">
                <a16:creationId xmlns:a16="http://schemas.microsoft.com/office/drawing/2014/main" id="{C4F9AEB4-97E3-4F5A-95CF-BC2C84FEE6DB}"/>
              </a:ext>
            </a:extLst>
          </p:cNvPr>
          <p:cNvSpPr>
            <a:spLocks xmlns:a="http://schemas.openxmlformats.org/drawingml/2006/main" noGrp="1"/>
          </p:cNvSpPr>
          <p:nvPr/>
        </p:nvSpPr>
        <p:spPr>
          <a:xfrm xmlns:a="http://schemas.openxmlformats.org/drawingml/2006/main">
            <a:off x="6236208" y="1508760"/>
            <a:ext cx="5404104" cy="1783080"/>
          </a:xfrm>
          <a:prstGeom xmlns:a="http://schemas.openxmlformats.org/drawingml/2006/main" prst="roundRect">
            <a:avLst>
              <a:gd name="adj" fmla="val 4615"/>
            </a:avLst>
          </a:prstGeom>
          <a:solidFill xmlns:a="http://schemas.openxmlformats.org/drawingml/2006/main">
            <a:srgbClr val="EEF3FE"/>
          </a:solidFill>
          <a:ln xmlns:a="http://schemas.openxmlformats.org/drawingml/2006/main" w="12700">
            <a:solidFill>
              <a:srgbClr val="D7E2F8"/>
            </a:solidFill>
            <a:prstDash val="solid"/>
          </a:ln>
        </p:spPr>
      </p:sp>
      <p:sp>
        <p:nvSpPr>
          <p:cNvPr id="9" name="Text 7">
            <a:extLst xmlns:a="http://schemas.openxmlformats.org/drawingml/2006/main">
              <a:ext uri="{FF2B5EF4-FFF2-40B4-BE49-F238E27FC236}">
                <a16:creationId xmlns:a16="http://schemas.microsoft.com/office/drawing/2014/main" id="{D6E8F3D9-268E-422E-ACF2-896F03651EE8}"/>
              </a:ext>
            </a:extLst>
          </p:cNvPr>
          <p:cNvSpPr>
            <a:spLocks xmlns:a="http://schemas.openxmlformats.org/drawingml/2006/main" noGrp="1"/>
          </p:cNvSpPr>
          <p:nvPr/>
        </p:nvSpPr>
        <p:spPr>
          <a:xfrm xmlns:a="http://schemas.openxmlformats.org/drawingml/2006/main">
            <a:off x="6437376" y="1673352"/>
            <a:ext cx="394106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8202E"/>
                </a:solidFill>
                <a:latin typeface="Malgun Gothic"/>
                <a:ea typeface="Malgun Gothic"/>
                <a:cs typeface="Malgun Gothic"/>
              </a:rPr>
              <a:t>Explainable by Design</a:t>
            </a:r>
          </a:p>
        </p:txBody>
      </p:sp>
      <p:sp>
        <p:nvSpPr>
          <p:cNvPr id="10" name="Text 8">
            <a:extLst xmlns:a="http://schemas.openxmlformats.org/drawingml/2006/main">
              <a:ext uri="{FF2B5EF4-FFF2-40B4-BE49-F238E27FC236}">
                <a16:creationId xmlns:a16="http://schemas.microsoft.com/office/drawing/2014/main" id="{940C2B0F-F0CD-4A4E-92CF-055392DB547A}"/>
              </a:ext>
            </a:extLst>
          </p:cNvPr>
          <p:cNvSpPr>
            <a:spLocks xmlns:a="http://schemas.openxmlformats.org/drawingml/2006/main" noGrp="1"/>
          </p:cNvSpPr>
          <p:nvPr/>
        </p:nvSpPr>
        <p:spPr>
          <a:xfrm xmlns:a="http://schemas.openxmlformats.org/drawingml/2006/main">
            <a:off x="10433304" y="1691640"/>
            <a:ext cx="1024128" cy="274320"/>
          </a:xfrm>
          <a:prstGeom xmlns:a="http://schemas.openxmlformats.org/drawingml/2006/main" prst="roundRect">
            <a:avLst>
              <a:gd name="adj" fmla="val 46667"/>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환각 차단</a:t>
            </a:r>
          </a:p>
        </p:txBody>
      </p:sp>
      <p:sp>
        <p:nvSpPr>
          <p:cNvPr id="11" name="Text 9">
            <a:extLst xmlns:a="http://schemas.openxmlformats.org/drawingml/2006/main">
              <a:ext uri="{FF2B5EF4-FFF2-40B4-BE49-F238E27FC236}">
                <a16:creationId xmlns:a16="http://schemas.microsoft.com/office/drawing/2014/main" id="{0C5B0B4B-D338-47B9-9B82-C44DAA5D3ACA}"/>
              </a:ext>
            </a:extLst>
          </p:cNvPr>
          <p:cNvSpPr>
            <a:spLocks xmlns:a="http://schemas.openxmlformats.org/drawingml/2006/main" noGrp="1"/>
          </p:cNvSpPr>
          <p:nvPr/>
        </p:nvSpPr>
        <p:spPr>
          <a:xfrm xmlns:a="http://schemas.openxmlformats.org/drawingml/2006/main">
            <a:off x="6437376" y="2093976"/>
            <a:ext cx="50017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A6474"/>
                </a:solidFill>
                <a:latin typeface="Malgun Gothic"/>
                <a:ea typeface="Malgun Gothic"/>
                <a:cs typeface="Malgun Gothic"/>
              </a:rPr>
              <a:t>계산·판단은 규칙 엔진, LLM은 검증된 수치의 자연어 설명만 담당합니다.</a:t>
            </a:r>
          </a:p>
        </p:txBody>
      </p:sp>
      <p:sp>
        <p:nvSpPr>
          <p:cNvPr id="12" name="Shape 10">
            <a:extLst xmlns:a="http://schemas.openxmlformats.org/drawingml/2006/main">
              <a:ext uri="{FF2B5EF4-FFF2-40B4-BE49-F238E27FC236}">
                <a16:creationId xmlns:a16="http://schemas.microsoft.com/office/drawing/2014/main" id="{7E2FEDBE-9E25-45EA-966A-6242EA38E1E4}"/>
              </a:ext>
            </a:extLst>
          </p:cNvPr>
          <p:cNvSpPr>
            <a:spLocks xmlns:a="http://schemas.openxmlformats.org/drawingml/2006/main" noGrp="1"/>
          </p:cNvSpPr>
          <p:nvPr/>
        </p:nvSpPr>
        <p:spPr>
          <a:xfrm xmlns:a="http://schemas.openxmlformats.org/drawingml/2006/main">
            <a:off x="548640" y="3474720"/>
            <a:ext cx="5404104" cy="1783080"/>
          </a:xfrm>
          <a:prstGeom xmlns:a="http://schemas.openxmlformats.org/drawingml/2006/main" prst="roundRect">
            <a:avLst>
              <a:gd name="adj" fmla="val 4615"/>
            </a:avLst>
          </a:prstGeom>
          <a:solidFill xmlns:a="http://schemas.openxmlformats.org/drawingml/2006/main">
            <a:srgbClr val="F7F9FE"/>
          </a:solidFill>
          <a:ln xmlns:a="http://schemas.openxmlformats.org/drawingml/2006/main" w="12700">
            <a:solidFill>
              <a:srgbClr val="D9E0EC"/>
            </a:solidFill>
            <a:prstDash val="solid"/>
          </a:ln>
        </p:spPr>
      </p:sp>
      <p:sp>
        <p:nvSpPr>
          <p:cNvPr id="13" name="Text 11">
            <a:extLst xmlns:a="http://schemas.openxmlformats.org/drawingml/2006/main">
              <a:ext uri="{FF2B5EF4-FFF2-40B4-BE49-F238E27FC236}">
                <a16:creationId xmlns:a16="http://schemas.microsoft.com/office/drawing/2014/main" id="{77FF463B-CC3A-4368-9544-CDDEB63A9F72}"/>
              </a:ext>
            </a:extLst>
          </p:cNvPr>
          <p:cNvSpPr>
            <a:spLocks xmlns:a="http://schemas.openxmlformats.org/drawingml/2006/main" noGrp="1"/>
          </p:cNvSpPr>
          <p:nvPr/>
        </p:nvSpPr>
        <p:spPr>
          <a:xfrm xmlns:a="http://schemas.openxmlformats.org/drawingml/2006/main">
            <a:off x="749808" y="3639312"/>
            <a:ext cx="394106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8202E"/>
                </a:solidFill>
                <a:latin typeface="Malgun Gothic"/>
                <a:ea typeface="Malgun Gothic"/>
                <a:cs typeface="Malgun Gothic"/>
              </a:rPr>
              <a:t>계좌별 규칙 내장</a:t>
            </a:r>
          </a:p>
        </p:txBody>
      </p:sp>
      <p:sp>
        <p:nvSpPr>
          <p:cNvPr id="14" name="Text 12">
            <a:extLst xmlns:a="http://schemas.openxmlformats.org/drawingml/2006/main">
              <a:ext uri="{FF2B5EF4-FFF2-40B4-BE49-F238E27FC236}">
                <a16:creationId xmlns:a16="http://schemas.microsoft.com/office/drawing/2014/main" id="{FF6942F7-BBCA-48CF-898E-31E161C4BE0C}"/>
              </a:ext>
            </a:extLst>
          </p:cNvPr>
          <p:cNvSpPr>
            <a:spLocks xmlns:a="http://schemas.openxmlformats.org/drawingml/2006/main" noGrp="1"/>
          </p:cNvSpPr>
          <p:nvPr/>
        </p:nvSpPr>
        <p:spPr>
          <a:xfrm xmlns:a="http://schemas.openxmlformats.org/drawingml/2006/main">
            <a:off x="4745736" y="3657600"/>
            <a:ext cx="1024128" cy="274320"/>
          </a:xfrm>
          <a:prstGeom xmlns:a="http://schemas.openxmlformats.org/drawingml/2006/main" prst="roundRect">
            <a:avLst>
              <a:gd name="adj" fmla="val 46667"/>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혼합 금지</a:t>
            </a:r>
          </a:p>
        </p:txBody>
      </p:sp>
      <p:sp>
        <p:nvSpPr>
          <p:cNvPr id="15" name="Text 13">
            <a:extLst xmlns:a="http://schemas.openxmlformats.org/drawingml/2006/main">
              <a:ext uri="{FF2B5EF4-FFF2-40B4-BE49-F238E27FC236}">
                <a16:creationId xmlns:a16="http://schemas.microsoft.com/office/drawing/2014/main" id="{5944A10A-A0BA-4017-A428-50FE204ADDAC}"/>
              </a:ext>
            </a:extLst>
          </p:cNvPr>
          <p:cNvSpPr>
            <a:spLocks xmlns:a="http://schemas.openxmlformats.org/drawingml/2006/main" noGrp="1"/>
          </p:cNvSpPr>
          <p:nvPr/>
        </p:nvSpPr>
        <p:spPr>
          <a:xfrm xmlns:a="http://schemas.openxmlformats.org/drawingml/2006/main">
            <a:off x="749808" y="4059936"/>
            <a:ext cx="50017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A6474"/>
                </a:solidFill>
                <a:latin typeface="Malgun Gothic"/>
                <a:ea typeface="Malgun Gothic"/>
                <a:cs typeface="Malgun Gothic"/>
              </a:rPr>
              <a:t>DC·IRP 일반 위험자산 70% 한도와 연금저축의 별도 적격성 규칙을 분리 적용합니다.</a:t>
            </a:r>
          </a:p>
        </p:txBody>
      </p:sp>
      <p:sp>
        <p:nvSpPr>
          <p:cNvPr id="16" name="Shape 14">
            <a:extLst xmlns:a="http://schemas.openxmlformats.org/drawingml/2006/main">
              <a:ext uri="{FF2B5EF4-FFF2-40B4-BE49-F238E27FC236}">
                <a16:creationId xmlns:a16="http://schemas.microsoft.com/office/drawing/2014/main" id="{33F3D42F-8CA2-4A07-974C-88F399451316}"/>
              </a:ext>
            </a:extLst>
          </p:cNvPr>
          <p:cNvSpPr>
            <a:spLocks xmlns:a="http://schemas.openxmlformats.org/drawingml/2006/main" noGrp="1"/>
          </p:cNvSpPr>
          <p:nvPr/>
        </p:nvSpPr>
        <p:spPr>
          <a:xfrm xmlns:a="http://schemas.openxmlformats.org/drawingml/2006/main">
            <a:off x="6236208" y="3474720"/>
            <a:ext cx="5404104" cy="1783080"/>
          </a:xfrm>
          <a:prstGeom xmlns:a="http://schemas.openxmlformats.org/drawingml/2006/main" prst="roundRect">
            <a:avLst>
              <a:gd name="adj" fmla="val 4615"/>
            </a:avLst>
          </a:prstGeom>
          <a:solidFill xmlns:a="http://schemas.openxmlformats.org/drawingml/2006/main">
            <a:srgbClr val="F7F9FE"/>
          </a:solidFill>
          <a:ln xmlns:a="http://schemas.openxmlformats.org/drawingml/2006/main" w="12700">
            <a:solidFill>
              <a:srgbClr val="D9E0EC"/>
            </a:solidFill>
            <a:prstDash val="solid"/>
          </a:ln>
        </p:spPr>
      </p:sp>
      <p:sp>
        <p:nvSpPr>
          <p:cNvPr id="17" name="Text 15">
            <a:extLst xmlns:a="http://schemas.openxmlformats.org/drawingml/2006/main">
              <a:ext uri="{FF2B5EF4-FFF2-40B4-BE49-F238E27FC236}">
                <a16:creationId xmlns:a16="http://schemas.microsoft.com/office/drawing/2014/main" id="{41A553A6-C95E-488D-87A4-BBE8429DF109}"/>
              </a:ext>
            </a:extLst>
          </p:cNvPr>
          <p:cNvSpPr>
            <a:spLocks xmlns:a="http://schemas.openxmlformats.org/drawingml/2006/main" noGrp="1"/>
          </p:cNvSpPr>
          <p:nvPr/>
        </p:nvSpPr>
        <p:spPr>
          <a:xfrm xmlns:a="http://schemas.openxmlformats.org/drawingml/2006/main">
            <a:off x="6437376" y="3639312"/>
            <a:ext cx="394106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8202E"/>
                </a:solidFill>
                <a:latin typeface="Malgun Gothic"/>
                <a:ea typeface="Malgun Gothic"/>
                <a:cs typeface="Malgun Gothic"/>
              </a:rPr>
              <a:t>실 / 목 데이터 경계</a:t>
            </a:r>
          </a:p>
        </p:txBody>
      </p:sp>
      <p:sp>
        <p:nvSpPr>
          <p:cNvPr id="18" name="Text 16">
            <a:extLst xmlns:a="http://schemas.openxmlformats.org/drawingml/2006/main">
              <a:ext uri="{FF2B5EF4-FFF2-40B4-BE49-F238E27FC236}">
                <a16:creationId xmlns:a16="http://schemas.microsoft.com/office/drawing/2014/main" id="{DBEB3022-3660-468F-A92E-35D36573C55D}"/>
              </a:ext>
            </a:extLst>
          </p:cNvPr>
          <p:cNvSpPr>
            <a:spLocks xmlns:a="http://schemas.openxmlformats.org/drawingml/2006/main" noGrp="1"/>
          </p:cNvSpPr>
          <p:nvPr/>
        </p:nvSpPr>
        <p:spPr>
          <a:xfrm xmlns:a="http://schemas.openxmlformats.org/drawingml/2006/main">
            <a:off x="10433304" y="3657600"/>
            <a:ext cx="1024128" cy="274320"/>
          </a:xfrm>
          <a:prstGeom xmlns:a="http://schemas.openxmlformats.org/drawingml/2006/main" prst="roundRect">
            <a:avLst>
              <a:gd name="adj" fmla="val 46667"/>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경계 표기</a:t>
            </a:r>
          </a:p>
        </p:txBody>
      </p:sp>
      <p:sp>
        <p:nvSpPr>
          <p:cNvPr id="19" name="Text 17">
            <a:extLst xmlns:a="http://schemas.openxmlformats.org/drawingml/2006/main">
              <a:ext uri="{FF2B5EF4-FFF2-40B4-BE49-F238E27FC236}">
                <a16:creationId xmlns:a16="http://schemas.microsoft.com/office/drawing/2014/main" id="{97759F7A-D23D-4236-B2B8-029CC82D4692}"/>
              </a:ext>
            </a:extLst>
          </p:cNvPr>
          <p:cNvSpPr>
            <a:spLocks xmlns:a="http://schemas.openxmlformats.org/drawingml/2006/main" noGrp="1"/>
          </p:cNvSpPr>
          <p:nvPr/>
        </p:nvSpPr>
        <p:spPr>
          <a:xfrm xmlns:a="http://schemas.openxmlformats.org/drawingml/2006/main">
            <a:off x="6437376" y="4059936"/>
            <a:ext cx="50017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A6474"/>
                </a:solidFill>
                <a:latin typeface="Malgun Gothic"/>
                <a:ea typeface="Malgun Gothic"/>
                <a:cs typeface="Malgun Gothic"/>
              </a:rPr>
              <a:t>시장·상품은 공식 실데이터, 사용자 계좌는 합성 목데이터. 개인 계좌는 RAG에 넣지 않습니다.</a:t>
            </a:r>
          </a:p>
        </p:txBody>
      </p:sp>
      <p:sp>
        <p:nvSpPr>
          <p:cNvPr id="20" name="Shape 18">
            <a:extLst xmlns:a="http://schemas.openxmlformats.org/drawingml/2006/main">
              <a:ext uri="{FF2B5EF4-FFF2-40B4-BE49-F238E27FC236}">
                <a16:creationId xmlns:a16="http://schemas.microsoft.com/office/drawing/2014/main" id="{8A6156A7-4C79-4C57-AAD3-545CA0A47B25}"/>
              </a:ext>
            </a:extLst>
          </p:cNvPr>
          <p:cNvSpPr>
            <a:spLocks xmlns:a="http://schemas.openxmlformats.org/drawingml/2006/main" noGrp="1"/>
          </p:cNvSpPr>
          <p:nvPr/>
        </p:nvSpPr>
        <p:spPr>
          <a:xfrm xmlns:a="http://schemas.openxmlformats.org/drawingml/2006/main">
            <a:off x="548640" y="5532120"/>
            <a:ext cx="11091672"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21" name="Text 19">
            <a:extLst xmlns:a="http://schemas.openxmlformats.org/drawingml/2006/main">
              <a:ext uri="{FF2B5EF4-FFF2-40B4-BE49-F238E27FC236}">
                <a16:creationId xmlns:a16="http://schemas.microsoft.com/office/drawing/2014/main" id="{3EA424D3-48E8-49F2-A650-450D50EF2DA9}"/>
              </a:ext>
            </a:extLst>
          </p:cNvPr>
          <p:cNvSpPr>
            <a:spLocks xmlns:a="http://schemas.openxmlformats.org/drawingml/2006/main" noGrp="1"/>
          </p:cNvSpPr>
          <p:nvPr/>
        </p:nvSpPr>
        <p:spPr>
          <a:xfrm xmlns:a="http://schemas.openxmlformats.org/drawingml/2006/main">
            <a:off x="749808" y="5532120"/>
            <a:ext cx="10689336"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A4FD8"/>
                </a:solidFill>
                <a:latin typeface="Malgun Gothic"/>
                <a:ea typeface="Malgun Gothic"/>
                <a:cs typeface="Malgun Gothic"/>
              </a:rPr>
              <a:t>+ 두 가지 고정 장치   모든 수치에 출처 칩(출처·기준일)  ·  이용자 성향 밖 상품·전략 제안 금지</a:t>
            </a:r>
          </a:p>
        </p:txBody>
      </p:sp>
      <p:sp>
        <p:nvSpPr>
          <p:cNvPr id="22" name="Text 20">
            <a:extLst xmlns:a="http://schemas.openxmlformats.org/drawingml/2006/main">
              <a:ext uri="{FF2B5EF4-FFF2-40B4-BE49-F238E27FC236}">
                <a16:creationId xmlns:a16="http://schemas.microsoft.com/office/drawing/2014/main" id="{4B3BCAAC-57C7-427B-82DB-AA336659BFF8}"/>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07</a:t>
            </a:r>
          </a:p>
        </p:txBody>
      </p:sp>
    </p:spTree>
    <p:extLst>
      <p:ext uri="{BB962C8B-B14F-4D97-AF65-F5344CB8AC3E}">
        <p14:creationId xmlns:p14="http://schemas.microsoft.com/office/powerpoint/2010/main" val="118114390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E2F2F3-7ADC-4402-AF96-784FB6949A51}"/>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07 · 데이터 수집 · 전처리</a:t>
            </a:r>
          </a:p>
        </p:txBody>
      </p:sp>
      <p:sp>
        <p:nvSpPr>
          <p:cNvPr id="3" name="Text 1">
            <a:extLst xmlns:a="http://schemas.openxmlformats.org/drawingml/2006/main">
              <a:ext uri="{FF2B5EF4-FFF2-40B4-BE49-F238E27FC236}">
                <a16:creationId xmlns:a16="http://schemas.microsoft.com/office/drawing/2014/main" id="{E5C62A69-348C-43CF-965D-BCC42A17C38C}"/>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공식 데이터 8종, 원본부터 결과까지 재현 가능하게</a:t>
            </a:r>
          </a:p>
        </p:txBody>
      </p:sp>
      <p:sp>
        <p:nvSpPr>
          <p:cNvPr id="4" name="Shape 2">
            <a:extLst xmlns:a="http://schemas.openxmlformats.org/drawingml/2006/main">
              <a:ext uri="{FF2B5EF4-FFF2-40B4-BE49-F238E27FC236}">
                <a16:creationId xmlns:a16="http://schemas.microsoft.com/office/drawing/2014/main" id="{507F8BFB-A586-410F-A2DC-03FA3C675A7B}"/>
              </a:ext>
            </a:extLst>
          </p:cNvPr>
          <p:cNvSpPr>
            <a:spLocks xmlns:a="http://schemas.openxmlformats.org/drawingml/2006/main" noGrp="1"/>
          </p:cNvSpPr>
          <p:nvPr/>
        </p:nvSpPr>
        <p:spPr>
          <a:xfrm xmlns:a="http://schemas.openxmlformats.org/drawingml/2006/main">
            <a:off x="548640" y="1463040"/>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AF2323A2-2E8E-40EB-983E-8FC326026346}"/>
              </a:ext>
            </a:extLst>
          </p:cNvPr>
          <p:cNvSpPr>
            <a:spLocks xmlns:a="http://schemas.openxmlformats.org/drawingml/2006/main" noGrp="1"/>
          </p:cNvSpPr>
          <p:nvPr/>
        </p:nvSpPr>
        <p:spPr>
          <a:xfrm xmlns:a="http://schemas.openxmlformats.org/drawingml/2006/main">
            <a:off x="694944" y="1581912"/>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FSS 통합연금포털</a:t>
            </a:r>
          </a:p>
        </p:txBody>
      </p:sp>
      <p:sp>
        <p:nvSpPr>
          <p:cNvPr id="6" name="Text 4">
            <a:extLst xmlns:a="http://schemas.openxmlformats.org/drawingml/2006/main">
              <a:ext uri="{FF2B5EF4-FFF2-40B4-BE49-F238E27FC236}">
                <a16:creationId xmlns:a16="http://schemas.microsoft.com/office/drawing/2014/main" id="{07CC199D-1DDE-4F94-B1BF-CCC1583BDB8A}"/>
              </a:ext>
            </a:extLst>
          </p:cNvPr>
          <p:cNvSpPr>
            <a:spLocks xmlns:a="http://schemas.openxmlformats.org/drawingml/2006/main" noGrp="1"/>
          </p:cNvSpPr>
          <p:nvPr/>
        </p:nvSpPr>
        <p:spPr>
          <a:xfrm xmlns:a="http://schemas.openxmlformats.org/drawingml/2006/main">
            <a:off x="694944" y="1901952"/>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연금저축·퇴직연금 수익률·수수료 공시</a:t>
            </a:r>
          </a:p>
        </p:txBody>
      </p:sp>
      <p:sp>
        <p:nvSpPr>
          <p:cNvPr id="7" name="Shape 5">
            <a:extLst xmlns:a="http://schemas.openxmlformats.org/drawingml/2006/main">
              <a:ext uri="{FF2B5EF4-FFF2-40B4-BE49-F238E27FC236}">
                <a16:creationId xmlns:a16="http://schemas.microsoft.com/office/drawing/2014/main" id="{E85FD767-5B10-4BFB-BAB5-D8FA184D1274}"/>
              </a:ext>
            </a:extLst>
          </p:cNvPr>
          <p:cNvSpPr>
            <a:spLocks xmlns:a="http://schemas.openxmlformats.org/drawingml/2006/main" noGrp="1"/>
          </p:cNvSpPr>
          <p:nvPr/>
        </p:nvSpPr>
        <p:spPr>
          <a:xfrm xmlns:a="http://schemas.openxmlformats.org/drawingml/2006/main">
            <a:off x="3374136" y="1463040"/>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8" name="Text 6">
            <a:extLst xmlns:a="http://schemas.openxmlformats.org/drawingml/2006/main">
              <a:ext uri="{FF2B5EF4-FFF2-40B4-BE49-F238E27FC236}">
                <a16:creationId xmlns:a16="http://schemas.microsoft.com/office/drawing/2014/main" id="{463E2EA7-79F7-4B18-9C27-E75A1CA9FB10}"/>
              </a:ext>
            </a:extLst>
          </p:cNvPr>
          <p:cNvSpPr>
            <a:spLocks xmlns:a="http://schemas.openxmlformats.org/drawingml/2006/main" noGrp="1"/>
          </p:cNvSpPr>
          <p:nvPr/>
        </p:nvSpPr>
        <p:spPr>
          <a:xfrm xmlns:a="http://schemas.openxmlformats.org/drawingml/2006/main">
            <a:off x="3520440" y="1581912"/>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KRX 정보데이터</a:t>
            </a:r>
          </a:p>
        </p:txBody>
      </p:sp>
      <p:sp>
        <p:nvSpPr>
          <p:cNvPr id="9" name="Text 7">
            <a:extLst xmlns:a="http://schemas.openxmlformats.org/drawingml/2006/main">
              <a:ext uri="{FF2B5EF4-FFF2-40B4-BE49-F238E27FC236}">
                <a16:creationId xmlns:a16="http://schemas.microsoft.com/office/drawing/2014/main" id="{7E4DE8DF-7443-4342-8338-3D604AD75086}"/>
              </a:ext>
            </a:extLst>
          </p:cNvPr>
          <p:cNvSpPr>
            <a:spLocks xmlns:a="http://schemas.openxmlformats.org/drawingml/2006/main" noGrp="1"/>
          </p:cNvSpPr>
          <p:nvPr/>
        </p:nvSpPr>
        <p:spPr>
          <a:xfrm xmlns:a="http://schemas.openxmlformats.org/drawingml/2006/main">
            <a:off x="3520440" y="1901952"/>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전 상장 ETF 일별 시장정보 · 대표 지수 8종</a:t>
            </a:r>
          </a:p>
        </p:txBody>
      </p:sp>
      <p:sp>
        <p:nvSpPr>
          <p:cNvPr id="10" name="Shape 8">
            <a:extLst xmlns:a="http://schemas.openxmlformats.org/drawingml/2006/main">
              <a:ext uri="{FF2B5EF4-FFF2-40B4-BE49-F238E27FC236}">
                <a16:creationId xmlns:a16="http://schemas.microsoft.com/office/drawing/2014/main" id="{EBFF55D8-741C-4366-A1DD-85502240B81D}"/>
              </a:ext>
            </a:extLst>
          </p:cNvPr>
          <p:cNvSpPr>
            <a:spLocks xmlns:a="http://schemas.openxmlformats.org/drawingml/2006/main" noGrp="1"/>
          </p:cNvSpPr>
          <p:nvPr/>
        </p:nvSpPr>
        <p:spPr>
          <a:xfrm xmlns:a="http://schemas.openxmlformats.org/drawingml/2006/main">
            <a:off x="6199632" y="1463040"/>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11" name="Text 9">
            <a:extLst xmlns:a="http://schemas.openxmlformats.org/drawingml/2006/main">
              <a:ext uri="{FF2B5EF4-FFF2-40B4-BE49-F238E27FC236}">
                <a16:creationId xmlns:a16="http://schemas.microsoft.com/office/drawing/2014/main" id="{134CFE8D-DF1B-4C3B-B45A-3FA3FF8325BD}"/>
              </a:ext>
            </a:extLst>
          </p:cNvPr>
          <p:cNvSpPr>
            <a:spLocks xmlns:a="http://schemas.openxmlformats.org/drawingml/2006/main" noGrp="1"/>
          </p:cNvSpPr>
          <p:nvPr/>
        </p:nvSpPr>
        <p:spPr>
          <a:xfrm xmlns:a="http://schemas.openxmlformats.org/drawingml/2006/main">
            <a:off x="6345936" y="1581912"/>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한국투자증권 KIS</a:t>
            </a:r>
          </a:p>
        </p:txBody>
      </p:sp>
      <p:sp>
        <p:nvSpPr>
          <p:cNvPr id="12" name="Text 10">
            <a:extLst xmlns:a="http://schemas.openxmlformats.org/drawingml/2006/main">
              <a:ext uri="{FF2B5EF4-FFF2-40B4-BE49-F238E27FC236}">
                <a16:creationId xmlns:a16="http://schemas.microsoft.com/office/drawing/2014/main" id="{240EF56C-86E8-4C6A-8FE3-98303AF1791A}"/>
              </a:ext>
            </a:extLst>
          </p:cNvPr>
          <p:cNvSpPr>
            <a:spLocks xmlns:a="http://schemas.openxmlformats.org/drawingml/2006/main" noGrp="1"/>
          </p:cNvSpPr>
          <p:nvPr/>
        </p:nvSpPr>
        <p:spPr>
          <a:xfrm xmlns:a="http://schemas.openxmlformats.org/drawingml/2006/main">
            <a:off x="6345936" y="1901952"/>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수정주가 897,330관측 · 구성종목 TOP3</a:t>
            </a:r>
          </a:p>
        </p:txBody>
      </p:sp>
      <p:sp>
        <p:nvSpPr>
          <p:cNvPr id="13" name="Shape 11">
            <a:extLst xmlns:a="http://schemas.openxmlformats.org/drawingml/2006/main">
              <a:ext uri="{FF2B5EF4-FFF2-40B4-BE49-F238E27FC236}">
                <a16:creationId xmlns:a16="http://schemas.microsoft.com/office/drawing/2014/main" id="{559983D7-CF7F-4AF7-AF9E-2CFAFBF787CC}"/>
              </a:ext>
            </a:extLst>
          </p:cNvPr>
          <p:cNvSpPr>
            <a:spLocks xmlns:a="http://schemas.openxmlformats.org/drawingml/2006/main" noGrp="1"/>
          </p:cNvSpPr>
          <p:nvPr/>
        </p:nvSpPr>
        <p:spPr>
          <a:xfrm xmlns:a="http://schemas.openxmlformats.org/drawingml/2006/main">
            <a:off x="9025128" y="1463040"/>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14" name="Text 12">
            <a:extLst xmlns:a="http://schemas.openxmlformats.org/drawingml/2006/main">
              <a:ext uri="{FF2B5EF4-FFF2-40B4-BE49-F238E27FC236}">
                <a16:creationId xmlns:a16="http://schemas.microsoft.com/office/drawing/2014/main" id="{4EFAACD2-1874-4B02-B803-4948B2CC395B}"/>
              </a:ext>
            </a:extLst>
          </p:cNvPr>
          <p:cNvSpPr>
            <a:spLocks xmlns:a="http://schemas.openxmlformats.org/drawingml/2006/main" noGrp="1"/>
          </p:cNvSpPr>
          <p:nvPr/>
        </p:nvSpPr>
        <p:spPr>
          <a:xfrm xmlns:a="http://schemas.openxmlformats.org/drawingml/2006/main">
            <a:off x="9171432" y="1581912"/>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KRX KIND 공시</a:t>
            </a:r>
          </a:p>
        </p:txBody>
      </p:sp>
      <p:sp>
        <p:nvSpPr>
          <p:cNvPr id="15" name="Text 13">
            <a:extLst xmlns:a="http://schemas.openxmlformats.org/drawingml/2006/main">
              <a:ext uri="{FF2B5EF4-FFF2-40B4-BE49-F238E27FC236}">
                <a16:creationId xmlns:a16="http://schemas.microsoft.com/office/drawing/2014/main" id="{0C0B3ED4-C340-4EE0-B6E9-9A3E440B3DF1}"/>
              </a:ext>
            </a:extLst>
          </p:cNvPr>
          <p:cNvSpPr>
            <a:spLocks xmlns:a="http://schemas.openxmlformats.org/drawingml/2006/main" noGrp="1"/>
          </p:cNvSpPr>
          <p:nvPr/>
        </p:nvSpPr>
        <p:spPr>
          <a:xfrm xmlns:a="http://schemas.openxmlformats.org/drawingml/2006/main">
            <a:off x="9171432" y="1901952"/>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현금분배 8,048건 · 정확 분배락 8,029건</a:t>
            </a:r>
          </a:p>
        </p:txBody>
      </p:sp>
      <p:sp>
        <p:nvSpPr>
          <p:cNvPr id="16" name="Shape 14">
            <a:extLst xmlns:a="http://schemas.openxmlformats.org/drawingml/2006/main">
              <a:ext uri="{FF2B5EF4-FFF2-40B4-BE49-F238E27FC236}">
                <a16:creationId xmlns:a16="http://schemas.microsoft.com/office/drawing/2014/main" id="{ACB1F710-2AA2-4CF1-829A-2CEB3A553A21}"/>
              </a:ext>
            </a:extLst>
          </p:cNvPr>
          <p:cNvSpPr>
            <a:spLocks xmlns:a="http://schemas.openxmlformats.org/drawingml/2006/main" noGrp="1"/>
          </p:cNvSpPr>
          <p:nvPr/>
        </p:nvSpPr>
        <p:spPr>
          <a:xfrm xmlns:a="http://schemas.openxmlformats.org/drawingml/2006/main">
            <a:off x="548640" y="2944368"/>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17" name="Text 15">
            <a:extLst xmlns:a="http://schemas.openxmlformats.org/drawingml/2006/main">
              <a:ext uri="{FF2B5EF4-FFF2-40B4-BE49-F238E27FC236}">
                <a16:creationId xmlns:a16="http://schemas.microsoft.com/office/drawing/2014/main" id="{ECA9D085-9241-40E8-ABB5-8459092EC719}"/>
              </a:ext>
            </a:extLst>
          </p:cNvPr>
          <p:cNvSpPr>
            <a:spLocks xmlns:a="http://schemas.openxmlformats.org/drawingml/2006/main" noGrp="1"/>
          </p:cNvSpPr>
          <p:nvPr/>
        </p:nvSpPr>
        <p:spPr>
          <a:xfrm xmlns:a="http://schemas.openxmlformats.org/drawingml/2006/main">
            <a:off x="694944" y="3063240"/>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금융위원회</a:t>
            </a:r>
          </a:p>
        </p:txBody>
      </p:sp>
      <p:sp>
        <p:nvSpPr>
          <p:cNvPr id="18" name="Text 16">
            <a:extLst xmlns:a="http://schemas.openxmlformats.org/drawingml/2006/main">
              <a:ext uri="{FF2B5EF4-FFF2-40B4-BE49-F238E27FC236}">
                <a16:creationId xmlns:a16="http://schemas.microsoft.com/office/drawing/2014/main" id="{0C115783-FEF7-4E9A-9EBA-249E07D3A6E8}"/>
              </a:ext>
            </a:extLst>
          </p:cNvPr>
          <p:cNvSpPr>
            <a:spLocks xmlns:a="http://schemas.openxmlformats.org/drawingml/2006/main" noGrp="1"/>
          </p:cNvSpPr>
          <p:nvPr/>
        </p:nvSpPr>
        <p:spPr>
          <a:xfrm xmlns:a="http://schemas.openxmlformats.org/drawingml/2006/main">
            <a:off x="694944" y="3383280"/>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펀드 기본정보 · 배당 교차검증</a:t>
            </a:r>
          </a:p>
        </p:txBody>
      </p:sp>
      <p:sp>
        <p:nvSpPr>
          <p:cNvPr id="19" name="Shape 17">
            <a:extLst xmlns:a="http://schemas.openxmlformats.org/drawingml/2006/main">
              <a:ext uri="{FF2B5EF4-FFF2-40B4-BE49-F238E27FC236}">
                <a16:creationId xmlns:a16="http://schemas.microsoft.com/office/drawing/2014/main" id="{FCA4F253-1B9C-40EA-B43C-6F671EB4F4B7}"/>
              </a:ext>
            </a:extLst>
          </p:cNvPr>
          <p:cNvSpPr>
            <a:spLocks xmlns:a="http://schemas.openxmlformats.org/drawingml/2006/main" noGrp="1"/>
          </p:cNvSpPr>
          <p:nvPr/>
        </p:nvSpPr>
        <p:spPr>
          <a:xfrm xmlns:a="http://schemas.openxmlformats.org/drawingml/2006/main">
            <a:off x="3374136" y="2944368"/>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20" name="Text 18">
            <a:extLst xmlns:a="http://schemas.openxmlformats.org/drawingml/2006/main">
              <a:ext uri="{FF2B5EF4-FFF2-40B4-BE49-F238E27FC236}">
                <a16:creationId xmlns:a16="http://schemas.microsoft.com/office/drawing/2014/main" id="{E73471B1-68DC-424C-ABD3-7674FBCE5D28}"/>
              </a:ext>
            </a:extLst>
          </p:cNvPr>
          <p:cNvSpPr>
            <a:spLocks xmlns:a="http://schemas.openxmlformats.org/drawingml/2006/main" noGrp="1"/>
          </p:cNvSpPr>
          <p:nvPr/>
        </p:nvSpPr>
        <p:spPr>
          <a:xfrm xmlns:a="http://schemas.openxmlformats.org/drawingml/2006/main">
            <a:off x="3520440" y="3063240"/>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OpenDART</a:t>
            </a:r>
          </a:p>
        </p:txBody>
      </p:sp>
      <p:sp>
        <p:nvSpPr>
          <p:cNvPr id="21" name="Text 19">
            <a:extLst xmlns:a="http://schemas.openxmlformats.org/drawingml/2006/main">
              <a:ext uri="{FF2B5EF4-FFF2-40B4-BE49-F238E27FC236}">
                <a16:creationId xmlns:a16="http://schemas.microsoft.com/office/drawing/2014/main" id="{63F03910-72CF-4B0D-B09F-C93D074D8DFC}"/>
              </a:ext>
            </a:extLst>
          </p:cNvPr>
          <p:cNvSpPr>
            <a:spLocks xmlns:a="http://schemas.openxmlformats.org/drawingml/2006/main" noGrp="1"/>
          </p:cNvSpPr>
          <p:nvPr/>
        </p:nvSpPr>
        <p:spPr>
          <a:xfrm xmlns:a="http://schemas.openxmlformats.org/drawingml/2006/main">
            <a:off x="3520440" y="3383280"/>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총보수 누락분을 공시 원문으로 보강</a:t>
            </a:r>
          </a:p>
        </p:txBody>
      </p:sp>
      <p:sp>
        <p:nvSpPr>
          <p:cNvPr id="22" name="Shape 20">
            <a:extLst xmlns:a="http://schemas.openxmlformats.org/drawingml/2006/main">
              <a:ext uri="{FF2B5EF4-FFF2-40B4-BE49-F238E27FC236}">
                <a16:creationId xmlns:a16="http://schemas.microsoft.com/office/drawing/2014/main" id="{18709D40-EAF1-405F-9A7C-5D871FD74523}"/>
              </a:ext>
            </a:extLst>
          </p:cNvPr>
          <p:cNvSpPr>
            <a:spLocks xmlns:a="http://schemas.openxmlformats.org/drawingml/2006/main" noGrp="1"/>
          </p:cNvSpPr>
          <p:nvPr/>
        </p:nvSpPr>
        <p:spPr>
          <a:xfrm xmlns:a="http://schemas.openxmlformats.org/drawingml/2006/main">
            <a:off x="6199632" y="2944368"/>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23" name="Text 21">
            <a:extLst xmlns:a="http://schemas.openxmlformats.org/drawingml/2006/main">
              <a:ext uri="{FF2B5EF4-FFF2-40B4-BE49-F238E27FC236}">
                <a16:creationId xmlns:a16="http://schemas.microsoft.com/office/drawing/2014/main" id="{6FE766C2-BE61-4868-807C-006C16A72499}"/>
              </a:ext>
            </a:extLst>
          </p:cNvPr>
          <p:cNvSpPr>
            <a:spLocks xmlns:a="http://schemas.openxmlformats.org/drawingml/2006/main" noGrp="1"/>
          </p:cNvSpPr>
          <p:nvPr/>
        </p:nvSpPr>
        <p:spPr>
          <a:xfrm xmlns:a="http://schemas.openxmlformats.org/drawingml/2006/main">
            <a:off x="6345936" y="3063240"/>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국가법령정보</a:t>
            </a:r>
          </a:p>
        </p:txBody>
      </p:sp>
      <p:sp>
        <p:nvSpPr>
          <p:cNvPr id="24" name="Text 22">
            <a:extLst xmlns:a="http://schemas.openxmlformats.org/drawingml/2006/main">
              <a:ext uri="{FF2B5EF4-FFF2-40B4-BE49-F238E27FC236}">
                <a16:creationId xmlns:a16="http://schemas.microsoft.com/office/drawing/2014/main" id="{48830DE0-D7C3-4330-96F9-DBCE7507D2F2}"/>
              </a:ext>
            </a:extLst>
          </p:cNvPr>
          <p:cNvSpPr>
            <a:spLocks xmlns:a="http://schemas.openxmlformats.org/drawingml/2006/main" noGrp="1"/>
          </p:cNvSpPr>
          <p:nvPr/>
        </p:nvSpPr>
        <p:spPr>
          <a:xfrm xmlns:a="http://schemas.openxmlformats.org/drawingml/2006/main">
            <a:off x="6345936" y="3383280"/>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DC·IRP 위험자산 70% 근거를 규칙 마스터로</a:t>
            </a:r>
          </a:p>
        </p:txBody>
      </p:sp>
      <p:sp>
        <p:nvSpPr>
          <p:cNvPr id="25" name="Shape 23">
            <a:extLst xmlns:a="http://schemas.openxmlformats.org/drawingml/2006/main">
              <a:ext uri="{FF2B5EF4-FFF2-40B4-BE49-F238E27FC236}">
                <a16:creationId xmlns:a16="http://schemas.microsoft.com/office/drawing/2014/main" id="{B3AB31B3-E1A2-4C4A-B25F-BBFB192D349A}"/>
              </a:ext>
            </a:extLst>
          </p:cNvPr>
          <p:cNvSpPr>
            <a:spLocks xmlns:a="http://schemas.openxmlformats.org/drawingml/2006/main" noGrp="1"/>
          </p:cNvSpPr>
          <p:nvPr/>
        </p:nvSpPr>
        <p:spPr>
          <a:xfrm xmlns:a="http://schemas.openxmlformats.org/drawingml/2006/main">
            <a:off x="9025128" y="2944368"/>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26" name="Text 24">
            <a:extLst xmlns:a="http://schemas.openxmlformats.org/drawingml/2006/main">
              <a:ext uri="{FF2B5EF4-FFF2-40B4-BE49-F238E27FC236}">
                <a16:creationId xmlns:a16="http://schemas.microsoft.com/office/drawing/2014/main" id="{A1C1813B-74BB-406F-B45F-CC6D06112534}"/>
              </a:ext>
            </a:extLst>
          </p:cNvPr>
          <p:cNvSpPr>
            <a:spLocks xmlns:a="http://schemas.openxmlformats.org/drawingml/2006/main" noGrp="1"/>
          </p:cNvSpPr>
          <p:nvPr/>
        </p:nvSpPr>
        <p:spPr>
          <a:xfrm xmlns:a="http://schemas.openxmlformats.org/drawingml/2006/main">
            <a:off x="9171432" y="3063240"/>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NAVER 검색 API</a:t>
            </a:r>
          </a:p>
        </p:txBody>
      </p:sp>
      <p:sp>
        <p:nvSpPr>
          <p:cNvPr id="27" name="Text 25">
            <a:extLst xmlns:a="http://schemas.openxmlformats.org/drawingml/2006/main">
              <a:ext uri="{FF2B5EF4-FFF2-40B4-BE49-F238E27FC236}">
                <a16:creationId xmlns:a16="http://schemas.microsoft.com/office/drawing/2014/main" id="{A99A3598-A043-4DD9-88FD-73697F954EEA}"/>
              </a:ext>
            </a:extLst>
          </p:cNvPr>
          <p:cNvSpPr>
            <a:spLocks xmlns:a="http://schemas.openxmlformats.org/drawingml/2006/main" noGrp="1"/>
          </p:cNvSpPr>
          <p:nvPr/>
        </p:nvSpPr>
        <p:spPr>
          <a:xfrm xmlns:a="http://schemas.openxmlformats.org/drawingml/2006/main">
            <a:off x="9171432" y="3383280"/>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한국·미국 시장 뉴스 메타데이터와 검증된 요약</a:t>
            </a:r>
          </a:p>
        </p:txBody>
      </p:sp>
      <p:sp>
        <p:nvSpPr>
          <p:cNvPr id="28" name="Shape 26">
            <a:extLst xmlns:a="http://schemas.openxmlformats.org/drawingml/2006/main">
              <a:ext uri="{FF2B5EF4-FFF2-40B4-BE49-F238E27FC236}">
                <a16:creationId xmlns:a16="http://schemas.microsoft.com/office/drawing/2014/main" id="{229EE8CB-4D00-4744-B41D-018A73B869DE}"/>
              </a:ext>
            </a:extLst>
          </p:cNvPr>
          <p:cNvSpPr>
            <a:spLocks xmlns:a="http://schemas.openxmlformats.org/drawingml/2006/main" noGrp="1"/>
          </p:cNvSpPr>
          <p:nvPr/>
        </p:nvSpPr>
        <p:spPr>
          <a:xfrm xmlns:a="http://schemas.openxmlformats.org/drawingml/2006/main">
            <a:off x="548640" y="4663440"/>
            <a:ext cx="11091672" cy="914400"/>
          </a:xfrm>
          <a:prstGeom xmlns:a="http://schemas.openxmlformats.org/drawingml/2006/main" prst="roundRect">
            <a:avLst>
              <a:gd name="adj" fmla="val 9000"/>
            </a:avLst>
          </a:prstGeom>
          <a:solidFill xmlns:a="http://schemas.openxmlformats.org/drawingml/2006/main">
            <a:srgbClr val="F7F9FE"/>
          </a:solidFill>
          <a:ln xmlns:a="http://schemas.openxmlformats.org/drawingml/2006/main" w="12700">
            <a:solidFill>
              <a:srgbClr val="D9E0EC"/>
            </a:solidFill>
            <a:prstDash val="solid"/>
          </a:ln>
        </p:spPr>
      </p:sp>
      <p:sp>
        <p:nvSpPr>
          <p:cNvPr id="29" name="Text 27">
            <a:extLst xmlns:a="http://schemas.openxmlformats.org/drawingml/2006/main">
              <a:ext uri="{FF2B5EF4-FFF2-40B4-BE49-F238E27FC236}">
                <a16:creationId xmlns:a16="http://schemas.microsoft.com/office/drawing/2014/main" id="{578E24CD-500B-463C-B310-9553600E870D}"/>
              </a:ext>
            </a:extLst>
          </p:cNvPr>
          <p:cNvSpPr>
            <a:spLocks xmlns:a="http://schemas.openxmlformats.org/drawingml/2006/main" noGrp="1"/>
          </p:cNvSpPr>
          <p:nvPr/>
        </p:nvSpPr>
        <p:spPr>
          <a:xfrm xmlns:a="http://schemas.openxmlformats.org/drawingml/2006/main">
            <a:off x="731520" y="4773168"/>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재현성 원칙 — 모든 소스 공통</a:t>
            </a:r>
          </a:p>
        </p:txBody>
      </p:sp>
      <p:sp>
        <p:nvSpPr>
          <p:cNvPr id="30" name="Text 28">
            <a:extLst xmlns:a="http://schemas.openxmlformats.org/drawingml/2006/main">
              <a:ext uri="{FF2B5EF4-FFF2-40B4-BE49-F238E27FC236}">
                <a16:creationId xmlns:a16="http://schemas.microsoft.com/office/drawing/2014/main" id="{73376E27-C2EF-424A-AD25-FFDCA4B55A9B}"/>
              </a:ext>
            </a:extLst>
          </p:cNvPr>
          <p:cNvSpPr>
            <a:spLocks xmlns:a="http://schemas.openxmlformats.org/drawingml/2006/main" noGrp="1"/>
          </p:cNvSpPr>
          <p:nvPr/>
        </p:nvSpPr>
        <p:spPr>
          <a:xfrm xmlns:a="http://schemas.openxmlformats.org/drawingml/2006/main">
            <a:off x="731520" y="5074920"/>
            <a:ext cx="137160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원본 raw 보존</a:t>
            </a:r>
          </a:p>
        </p:txBody>
      </p:sp>
      <p:sp>
        <p:nvSpPr>
          <p:cNvPr id="31" name="Text 29">
            <a:extLst xmlns:a="http://schemas.openxmlformats.org/drawingml/2006/main">
              <a:ext uri="{FF2B5EF4-FFF2-40B4-BE49-F238E27FC236}">
                <a16:creationId xmlns:a16="http://schemas.microsoft.com/office/drawing/2014/main" id="{404BA281-B241-4B3E-801D-FDA1CCE504C3}"/>
              </a:ext>
            </a:extLst>
          </p:cNvPr>
          <p:cNvSpPr>
            <a:spLocks xmlns:a="http://schemas.openxmlformats.org/drawingml/2006/main" noGrp="1"/>
          </p:cNvSpPr>
          <p:nvPr/>
        </p:nvSpPr>
        <p:spPr>
          <a:xfrm xmlns:a="http://schemas.openxmlformats.org/drawingml/2006/main">
            <a:off x="2267712" y="5074920"/>
            <a:ext cx="169164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SHA-256 매니페스트</a:t>
            </a:r>
          </a:p>
        </p:txBody>
      </p:sp>
      <p:sp>
        <p:nvSpPr>
          <p:cNvPr id="32" name="Text 30">
            <a:extLst xmlns:a="http://schemas.openxmlformats.org/drawingml/2006/main">
              <a:ext uri="{FF2B5EF4-FFF2-40B4-BE49-F238E27FC236}">
                <a16:creationId xmlns:a16="http://schemas.microsoft.com/office/drawing/2014/main" id="{4B2D44B4-C438-41E7-9ED2-ADBE148CE7B9}"/>
              </a:ext>
            </a:extLst>
          </p:cNvPr>
          <p:cNvSpPr>
            <a:spLocks xmlns:a="http://schemas.openxmlformats.org/drawingml/2006/main" noGrp="1"/>
          </p:cNvSpPr>
          <p:nvPr/>
        </p:nvSpPr>
        <p:spPr>
          <a:xfrm xmlns:a="http://schemas.openxmlformats.org/drawingml/2006/main">
            <a:off x="4123944" y="5074920"/>
            <a:ext cx="192024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멱등 수집</a:t>
            </a:r>
          </a:p>
        </p:txBody>
      </p:sp>
      <p:sp>
        <p:nvSpPr>
          <p:cNvPr id="33" name="Text 31">
            <a:extLst xmlns:a="http://schemas.openxmlformats.org/drawingml/2006/main">
              <a:ext uri="{FF2B5EF4-FFF2-40B4-BE49-F238E27FC236}">
                <a16:creationId xmlns:a16="http://schemas.microsoft.com/office/drawing/2014/main" id="{EAB1F1C8-5988-417C-8118-A40D6E33A34F}"/>
              </a:ext>
            </a:extLst>
          </p:cNvPr>
          <p:cNvSpPr>
            <a:spLocks xmlns:a="http://schemas.openxmlformats.org/drawingml/2006/main" noGrp="1"/>
          </p:cNvSpPr>
          <p:nvPr/>
        </p:nvSpPr>
        <p:spPr>
          <a:xfrm xmlns:a="http://schemas.openxmlformats.org/drawingml/2006/main">
            <a:off x="6208776" y="5074920"/>
            <a:ext cx="132588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재시도 백오프</a:t>
            </a:r>
          </a:p>
        </p:txBody>
      </p:sp>
      <p:sp>
        <p:nvSpPr>
          <p:cNvPr id="34" name="Text 32">
            <a:extLst xmlns:a="http://schemas.openxmlformats.org/drawingml/2006/main">
              <a:ext uri="{FF2B5EF4-FFF2-40B4-BE49-F238E27FC236}">
                <a16:creationId xmlns:a16="http://schemas.microsoft.com/office/drawing/2014/main" id="{FDAF3631-DDC6-4D4D-8480-33FF4067FBB4}"/>
              </a:ext>
            </a:extLst>
          </p:cNvPr>
          <p:cNvSpPr>
            <a:spLocks xmlns:a="http://schemas.openxmlformats.org/drawingml/2006/main" noGrp="1"/>
          </p:cNvSpPr>
          <p:nvPr/>
        </p:nvSpPr>
        <p:spPr>
          <a:xfrm xmlns:a="http://schemas.openxmlformats.org/drawingml/2006/main">
            <a:off x="7699248" y="5074920"/>
            <a:ext cx="160020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API 키 로그 금지</a:t>
            </a:r>
          </a:p>
        </p:txBody>
      </p:sp>
      <p:sp>
        <p:nvSpPr>
          <p:cNvPr id="35" name="Text 33">
            <a:extLst xmlns:a="http://schemas.openxmlformats.org/drawingml/2006/main">
              <a:ext uri="{FF2B5EF4-FFF2-40B4-BE49-F238E27FC236}">
                <a16:creationId xmlns:a16="http://schemas.microsoft.com/office/drawing/2014/main" id="{87BC1F6B-6E59-4824-8DA0-41D435191850}"/>
              </a:ext>
            </a:extLst>
          </p:cNvPr>
          <p:cNvSpPr>
            <a:spLocks xmlns:a="http://schemas.openxmlformats.org/drawingml/2006/main" noGrp="1"/>
          </p:cNvSpPr>
          <p:nvPr/>
        </p:nvSpPr>
        <p:spPr>
          <a:xfrm xmlns:a="http://schemas.openxmlformats.org/drawingml/2006/main">
            <a:off x="548640" y="5806440"/>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자동화: 뉴스 수집·요약 매일 12:17 KST | 원본·파라미터·기준일·실행 이력을 함께 보존</a:t>
            </a:r>
          </a:p>
        </p:txBody>
      </p:sp>
      <p:sp>
        <p:nvSpPr>
          <p:cNvPr id="36" name="Text 34">
            <a:extLst xmlns:a="http://schemas.openxmlformats.org/drawingml/2006/main">
              <a:ext uri="{FF2B5EF4-FFF2-40B4-BE49-F238E27FC236}">
                <a16:creationId xmlns:a16="http://schemas.microsoft.com/office/drawing/2014/main" id="{F4D692DD-BDF3-430F-B4AC-3EEA234388AA}"/>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08</a:t>
            </a:r>
          </a:p>
        </p:txBody>
      </p:sp>
    </p:spTree>
    <p:extLst>
      <p:ext uri="{BB962C8B-B14F-4D97-AF65-F5344CB8AC3E}">
        <p14:creationId xmlns:p14="http://schemas.microsoft.com/office/powerpoint/2010/main" val="78072701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61799D-A097-4DFA-BD66-07777065989E}"/>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08 · EDA · FEATURE ENGINEERING</a:t>
            </a:r>
          </a:p>
        </p:txBody>
      </p:sp>
      <p:sp>
        <p:nvSpPr>
          <p:cNvPr id="3" name="Text 1">
            <a:extLst xmlns:a="http://schemas.openxmlformats.org/drawingml/2006/main">
              <a:ext uri="{FF2B5EF4-FFF2-40B4-BE49-F238E27FC236}">
                <a16:creationId xmlns:a16="http://schemas.microsoft.com/office/drawing/2014/main" id="{B3C43967-F0D3-46FB-8BA5-71A5119DA49E}"/>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물량보다 품질 — 관측에서 계좌 규칙과 위험 특성을 만든다</a:t>
            </a:r>
          </a:p>
        </p:txBody>
      </p:sp>
      <p:sp>
        <p:nvSpPr>
          <p:cNvPr id="4" name="Shape 2">
            <a:extLst xmlns:a="http://schemas.openxmlformats.org/drawingml/2006/main">
              <a:ext uri="{FF2B5EF4-FFF2-40B4-BE49-F238E27FC236}">
                <a16:creationId xmlns:a16="http://schemas.microsoft.com/office/drawing/2014/main" id="{79D18A19-939A-4EAB-BC0C-2EE5D4455B9A}"/>
              </a:ext>
            </a:extLst>
          </p:cNvPr>
          <p:cNvSpPr>
            <a:spLocks xmlns:a="http://schemas.openxmlformats.org/drawingml/2006/main" noGrp="1"/>
          </p:cNvSpPr>
          <p:nvPr/>
        </p:nvSpPr>
        <p:spPr>
          <a:xfrm xmlns:a="http://schemas.openxmlformats.org/drawingml/2006/main">
            <a:off x="548640" y="1463040"/>
            <a:ext cx="5394960" cy="932688"/>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2700">
            <a:solidFill>
              <a:srgbClr val="D9E0EC"/>
            </a:solidFill>
            <a:prstDash val="solid"/>
          </a:ln>
        </p:spPr>
      </p:sp>
      <p:sp>
        <p:nvSpPr>
          <p:cNvPr id="5" name="Shape 3">
            <a:extLst xmlns:a="http://schemas.openxmlformats.org/drawingml/2006/main">
              <a:ext uri="{FF2B5EF4-FFF2-40B4-BE49-F238E27FC236}">
                <a16:creationId xmlns:a16="http://schemas.microsoft.com/office/drawing/2014/main" id="{7BBB14EA-80EA-429A-AED6-14682A151FDD}"/>
              </a:ext>
            </a:extLst>
          </p:cNvPr>
          <p:cNvSpPr>
            <a:spLocks xmlns:a="http://schemas.openxmlformats.org/drawingml/2006/main" noGrp="1"/>
          </p:cNvSpPr>
          <p:nvPr/>
        </p:nvSpPr>
        <p:spPr>
          <a:xfrm xmlns:a="http://schemas.openxmlformats.org/drawingml/2006/main">
            <a:off x="676656" y="1591056"/>
            <a:ext cx="274320" cy="274320"/>
          </a:xfrm>
          <a:prstGeom xmlns:a="http://schemas.openxmlformats.org/drawingml/2006/main" prst="ellipse">
            <a:avLst/>
          </a:prstGeom>
          <a:solidFill xmlns:a="http://schemas.openxmlformats.org/drawingml/2006/main">
            <a:srgbClr val="1A4FD8"/>
          </a:solidFill>
        </p:spPr>
      </p:sp>
      <p:sp>
        <p:nvSpPr>
          <p:cNvPr id="6" name="Text 4">
            <a:extLst xmlns:a="http://schemas.openxmlformats.org/drawingml/2006/main">
              <a:ext uri="{FF2B5EF4-FFF2-40B4-BE49-F238E27FC236}">
                <a16:creationId xmlns:a16="http://schemas.microsoft.com/office/drawing/2014/main" id="{37066F4B-50CF-4707-B599-D4D9CCB55FB9}"/>
              </a:ext>
            </a:extLst>
          </p:cNvPr>
          <p:cNvSpPr>
            <a:spLocks xmlns:a="http://schemas.openxmlformats.org/drawingml/2006/main" noGrp="1"/>
          </p:cNvSpPr>
          <p:nvPr/>
        </p:nvSpPr>
        <p:spPr>
          <a:xfrm xmlns:a="http://schemas.openxmlformats.org/drawingml/2006/main">
            <a:off x="676656" y="1591056"/>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1</a:t>
            </a:r>
          </a:p>
        </p:txBody>
      </p:sp>
      <p:sp>
        <p:nvSpPr>
          <p:cNvPr id="7" name="Text 5">
            <a:extLst xmlns:a="http://schemas.openxmlformats.org/drawingml/2006/main">
              <a:ext uri="{FF2B5EF4-FFF2-40B4-BE49-F238E27FC236}">
                <a16:creationId xmlns:a16="http://schemas.microsoft.com/office/drawing/2014/main" id="{7AD38F85-2A9B-4CDF-B1D0-E33656D3F842}"/>
              </a:ext>
            </a:extLst>
          </p:cNvPr>
          <p:cNvSpPr>
            <a:spLocks xmlns:a="http://schemas.openxmlformats.org/drawingml/2006/main" noGrp="1"/>
          </p:cNvSpPr>
          <p:nvPr/>
        </p:nvSpPr>
        <p:spPr>
          <a:xfrm xmlns:a="http://schemas.openxmlformats.org/drawingml/2006/main">
            <a:off x="1024128" y="1572768"/>
            <a:ext cx="48280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ETF 유니버스 분리</a:t>
            </a:r>
          </a:p>
        </p:txBody>
      </p:sp>
      <p:sp>
        <p:nvSpPr>
          <p:cNvPr id="8" name="Text 6">
            <a:extLst xmlns:a="http://schemas.openxmlformats.org/drawingml/2006/main">
              <a:ext uri="{FF2B5EF4-FFF2-40B4-BE49-F238E27FC236}">
                <a16:creationId xmlns:a16="http://schemas.microsoft.com/office/drawing/2014/main" id="{95D71502-C56A-4F2D-A958-3B4BF24C0A7C}"/>
              </a:ext>
            </a:extLst>
          </p:cNvPr>
          <p:cNvSpPr>
            <a:spLocks xmlns:a="http://schemas.openxmlformats.org/drawingml/2006/main" noGrp="1"/>
          </p:cNvSpPr>
          <p:nvPr/>
        </p:nvSpPr>
        <p:spPr>
          <a:xfrm xmlns:a="http://schemas.openxmlformats.org/drawingml/2006/main">
            <a:off x="694944" y="1920240"/>
            <a:ext cx="510235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관측충분 945개 → 적격 861개 | DC·IRP는 각각 823개</a:t>
            </a:r>
          </a:p>
        </p:txBody>
      </p:sp>
      <p:sp>
        <p:nvSpPr>
          <p:cNvPr id="9" name="Shape 7">
            <a:extLst xmlns:a="http://schemas.openxmlformats.org/drawingml/2006/main">
              <a:ext uri="{FF2B5EF4-FFF2-40B4-BE49-F238E27FC236}">
                <a16:creationId xmlns:a16="http://schemas.microsoft.com/office/drawing/2014/main" id="{0DAE0535-C8FF-4703-9896-ADD9C499A6C7}"/>
              </a:ext>
            </a:extLst>
          </p:cNvPr>
          <p:cNvSpPr>
            <a:spLocks xmlns:a="http://schemas.openxmlformats.org/drawingml/2006/main" noGrp="1"/>
          </p:cNvSpPr>
          <p:nvPr/>
        </p:nvSpPr>
        <p:spPr>
          <a:xfrm xmlns:a="http://schemas.openxmlformats.org/drawingml/2006/main">
            <a:off x="548640" y="2542032"/>
            <a:ext cx="5394960" cy="932688"/>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2700">
            <a:solidFill>
              <a:srgbClr val="D9E0EC"/>
            </a:solidFill>
            <a:prstDash val="solid"/>
          </a:ln>
        </p:spPr>
      </p:sp>
      <p:sp>
        <p:nvSpPr>
          <p:cNvPr id="10" name="Shape 8">
            <a:extLst xmlns:a="http://schemas.openxmlformats.org/drawingml/2006/main">
              <a:ext uri="{FF2B5EF4-FFF2-40B4-BE49-F238E27FC236}">
                <a16:creationId xmlns:a16="http://schemas.microsoft.com/office/drawing/2014/main" id="{9B875370-C1ED-4B00-9351-660631F64471}"/>
              </a:ext>
            </a:extLst>
          </p:cNvPr>
          <p:cNvSpPr>
            <a:spLocks xmlns:a="http://schemas.openxmlformats.org/drawingml/2006/main" noGrp="1"/>
          </p:cNvSpPr>
          <p:nvPr/>
        </p:nvSpPr>
        <p:spPr>
          <a:xfrm xmlns:a="http://schemas.openxmlformats.org/drawingml/2006/main">
            <a:off x="676656" y="2670048"/>
            <a:ext cx="274320" cy="274320"/>
          </a:xfrm>
          <a:prstGeom xmlns:a="http://schemas.openxmlformats.org/drawingml/2006/main" prst="ellipse">
            <a:avLst/>
          </a:prstGeom>
          <a:solidFill xmlns:a="http://schemas.openxmlformats.org/drawingml/2006/main">
            <a:srgbClr val="1A4FD8"/>
          </a:solidFill>
        </p:spPr>
      </p:sp>
      <p:sp>
        <p:nvSpPr>
          <p:cNvPr id="11" name="Text 9">
            <a:extLst xmlns:a="http://schemas.openxmlformats.org/drawingml/2006/main">
              <a:ext uri="{FF2B5EF4-FFF2-40B4-BE49-F238E27FC236}">
                <a16:creationId xmlns:a16="http://schemas.microsoft.com/office/drawing/2014/main" id="{BFD6578E-671B-4561-B9A7-637ABBD543C3}"/>
              </a:ext>
            </a:extLst>
          </p:cNvPr>
          <p:cNvSpPr>
            <a:spLocks xmlns:a="http://schemas.openxmlformats.org/drawingml/2006/main" noGrp="1"/>
          </p:cNvSpPr>
          <p:nvPr/>
        </p:nvSpPr>
        <p:spPr>
          <a:xfrm xmlns:a="http://schemas.openxmlformats.org/drawingml/2006/main">
            <a:off x="676656" y="2670048"/>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2</a:t>
            </a:r>
          </a:p>
        </p:txBody>
      </p:sp>
      <p:sp>
        <p:nvSpPr>
          <p:cNvPr id="12" name="Text 10">
            <a:extLst xmlns:a="http://schemas.openxmlformats.org/drawingml/2006/main">
              <a:ext uri="{FF2B5EF4-FFF2-40B4-BE49-F238E27FC236}">
                <a16:creationId xmlns:a16="http://schemas.microsoft.com/office/drawing/2014/main" id="{4797ACDC-4C6C-46AB-8E9F-F058D137CED5}"/>
              </a:ext>
            </a:extLst>
          </p:cNvPr>
          <p:cNvSpPr>
            <a:spLocks xmlns:a="http://schemas.openxmlformats.org/drawingml/2006/main" noGrp="1"/>
          </p:cNvSpPr>
          <p:nvPr/>
        </p:nvSpPr>
        <p:spPr>
          <a:xfrm xmlns:a="http://schemas.openxmlformats.org/drawingml/2006/main">
            <a:off x="1024128" y="2651760"/>
            <a:ext cx="48280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현금분배 정확 연결</a:t>
            </a:r>
          </a:p>
        </p:txBody>
      </p:sp>
      <p:sp>
        <p:nvSpPr>
          <p:cNvPr id="13" name="Text 11">
            <a:extLst xmlns:a="http://schemas.openxmlformats.org/drawingml/2006/main">
              <a:ext uri="{FF2B5EF4-FFF2-40B4-BE49-F238E27FC236}">
                <a16:creationId xmlns:a16="http://schemas.microsoft.com/office/drawing/2014/main" id="{F6E68FD3-94B0-483E-B953-6AAEC13555F1}"/>
              </a:ext>
            </a:extLst>
          </p:cNvPr>
          <p:cNvSpPr>
            <a:spLocks xmlns:a="http://schemas.openxmlformats.org/drawingml/2006/main" noGrp="1"/>
          </p:cNvSpPr>
          <p:nvPr/>
        </p:nvSpPr>
        <p:spPr>
          <a:xfrm xmlns:a="http://schemas.openxmlformats.org/drawingml/2006/main">
            <a:off x="694944" y="2999232"/>
            <a:ext cx="510235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8,048건 중 8,029건 정확 연결 · 대체 19건은 사유 표기</a:t>
            </a:r>
          </a:p>
        </p:txBody>
      </p:sp>
      <p:sp>
        <p:nvSpPr>
          <p:cNvPr id="14" name="Shape 12">
            <a:extLst xmlns:a="http://schemas.openxmlformats.org/drawingml/2006/main">
              <a:ext uri="{FF2B5EF4-FFF2-40B4-BE49-F238E27FC236}">
                <a16:creationId xmlns:a16="http://schemas.microsoft.com/office/drawing/2014/main" id="{1ED53088-B771-4839-A3FC-B53937136DD0}"/>
              </a:ext>
            </a:extLst>
          </p:cNvPr>
          <p:cNvSpPr>
            <a:spLocks xmlns:a="http://schemas.openxmlformats.org/drawingml/2006/main" noGrp="1"/>
          </p:cNvSpPr>
          <p:nvPr/>
        </p:nvSpPr>
        <p:spPr>
          <a:xfrm xmlns:a="http://schemas.openxmlformats.org/drawingml/2006/main">
            <a:off x="548640" y="3621024"/>
            <a:ext cx="5394960" cy="932688"/>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2700">
            <a:solidFill>
              <a:srgbClr val="D9E0EC"/>
            </a:solidFill>
            <a:prstDash val="solid"/>
          </a:ln>
        </p:spPr>
      </p:sp>
      <p:sp>
        <p:nvSpPr>
          <p:cNvPr id="15" name="Shape 13">
            <a:extLst xmlns:a="http://schemas.openxmlformats.org/drawingml/2006/main">
              <a:ext uri="{FF2B5EF4-FFF2-40B4-BE49-F238E27FC236}">
                <a16:creationId xmlns:a16="http://schemas.microsoft.com/office/drawing/2014/main" id="{09F6DA60-26C6-4764-ACDE-330B58416D5D}"/>
              </a:ext>
            </a:extLst>
          </p:cNvPr>
          <p:cNvSpPr>
            <a:spLocks xmlns:a="http://schemas.openxmlformats.org/drawingml/2006/main" noGrp="1"/>
          </p:cNvSpPr>
          <p:nvPr/>
        </p:nvSpPr>
        <p:spPr>
          <a:xfrm xmlns:a="http://schemas.openxmlformats.org/drawingml/2006/main">
            <a:off x="676656" y="3749040"/>
            <a:ext cx="274320" cy="274320"/>
          </a:xfrm>
          <a:prstGeom xmlns:a="http://schemas.openxmlformats.org/drawingml/2006/main" prst="ellipse">
            <a:avLst/>
          </a:prstGeom>
          <a:solidFill xmlns:a="http://schemas.openxmlformats.org/drawingml/2006/main">
            <a:srgbClr val="1A4FD8"/>
          </a:solidFill>
        </p:spPr>
      </p:sp>
      <p:sp>
        <p:nvSpPr>
          <p:cNvPr id="16" name="Text 14">
            <a:extLst xmlns:a="http://schemas.openxmlformats.org/drawingml/2006/main">
              <a:ext uri="{FF2B5EF4-FFF2-40B4-BE49-F238E27FC236}">
                <a16:creationId xmlns:a16="http://schemas.microsoft.com/office/drawing/2014/main" id="{43E2EC8D-7BBB-49CD-B12F-5F6AB7D0E3E0}"/>
              </a:ext>
            </a:extLst>
          </p:cNvPr>
          <p:cNvSpPr>
            <a:spLocks xmlns:a="http://schemas.openxmlformats.org/drawingml/2006/main" noGrp="1"/>
          </p:cNvSpPr>
          <p:nvPr/>
        </p:nvSpPr>
        <p:spPr>
          <a:xfrm xmlns:a="http://schemas.openxmlformats.org/drawingml/2006/main">
            <a:off x="676656" y="37490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3</a:t>
            </a:r>
          </a:p>
        </p:txBody>
      </p:sp>
      <p:sp>
        <p:nvSpPr>
          <p:cNvPr id="17" name="Text 15">
            <a:extLst xmlns:a="http://schemas.openxmlformats.org/drawingml/2006/main">
              <a:ext uri="{FF2B5EF4-FFF2-40B4-BE49-F238E27FC236}">
                <a16:creationId xmlns:a16="http://schemas.microsoft.com/office/drawing/2014/main" id="{53AB667E-593C-4E42-9392-A80C4FD35727}"/>
              </a:ext>
            </a:extLst>
          </p:cNvPr>
          <p:cNvSpPr>
            <a:spLocks xmlns:a="http://schemas.openxmlformats.org/drawingml/2006/main" noGrp="1"/>
          </p:cNvSpPr>
          <p:nvPr/>
        </p:nvSpPr>
        <p:spPr>
          <a:xfrm xmlns:a="http://schemas.openxmlformats.org/drawingml/2006/main">
            <a:off x="1024128" y="3730752"/>
            <a:ext cx="48280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총수익(TR) 재구성</a:t>
            </a:r>
          </a:p>
        </p:txBody>
      </p:sp>
      <p:sp>
        <p:nvSpPr>
          <p:cNvPr id="18" name="Text 16">
            <a:extLst xmlns:a="http://schemas.openxmlformats.org/drawingml/2006/main">
              <a:ext uri="{FF2B5EF4-FFF2-40B4-BE49-F238E27FC236}">
                <a16:creationId xmlns:a16="http://schemas.microsoft.com/office/drawing/2014/main" id="{A0241CB0-F2A6-4C9C-9899-5A0EF25BC492}"/>
              </a:ext>
            </a:extLst>
          </p:cNvPr>
          <p:cNvSpPr>
            <a:spLocks xmlns:a="http://schemas.openxmlformats.org/drawingml/2006/main" noGrp="1"/>
          </p:cNvSpPr>
          <p:nvPr/>
        </p:nvSpPr>
        <p:spPr>
          <a:xfrm xmlns:a="http://schemas.openxmlformats.org/drawingml/2006/main">
            <a:off x="694944" y="4078224"/>
            <a:ext cx="510235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수정주가 + 분배금 재투자로 가격수익률의 왜곡을 줄임</a:t>
            </a:r>
          </a:p>
        </p:txBody>
      </p:sp>
      <p:sp>
        <p:nvSpPr>
          <p:cNvPr id="19" name="Shape 17">
            <a:extLst xmlns:a="http://schemas.openxmlformats.org/drawingml/2006/main">
              <a:ext uri="{FF2B5EF4-FFF2-40B4-BE49-F238E27FC236}">
                <a16:creationId xmlns:a16="http://schemas.microsoft.com/office/drawing/2014/main" id="{D91D3826-5A24-469B-99E0-97810857F55C}"/>
              </a:ext>
            </a:extLst>
          </p:cNvPr>
          <p:cNvSpPr>
            <a:spLocks xmlns:a="http://schemas.openxmlformats.org/drawingml/2006/main" noGrp="1"/>
          </p:cNvSpPr>
          <p:nvPr/>
        </p:nvSpPr>
        <p:spPr>
          <a:xfrm xmlns:a="http://schemas.openxmlformats.org/drawingml/2006/main">
            <a:off x="548640" y="4700016"/>
            <a:ext cx="5394960" cy="932688"/>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2700">
            <a:solidFill>
              <a:srgbClr val="D9E0EC"/>
            </a:solidFill>
            <a:prstDash val="solid"/>
          </a:ln>
        </p:spPr>
      </p:sp>
      <p:sp>
        <p:nvSpPr>
          <p:cNvPr id="20" name="Shape 18">
            <a:extLst xmlns:a="http://schemas.openxmlformats.org/drawingml/2006/main">
              <a:ext uri="{FF2B5EF4-FFF2-40B4-BE49-F238E27FC236}">
                <a16:creationId xmlns:a16="http://schemas.microsoft.com/office/drawing/2014/main" id="{84EA3160-3162-4272-8CC5-2C45ECB6A325}"/>
              </a:ext>
            </a:extLst>
          </p:cNvPr>
          <p:cNvSpPr>
            <a:spLocks xmlns:a="http://schemas.openxmlformats.org/drawingml/2006/main" noGrp="1"/>
          </p:cNvSpPr>
          <p:nvPr/>
        </p:nvSpPr>
        <p:spPr>
          <a:xfrm xmlns:a="http://schemas.openxmlformats.org/drawingml/2006/main">
            <a:off x="676656" y="4828032"/>
            <a:ext cx="274320" cy="274320"/>
          </a:xfrm>
          <a:prstGeom xmlns:a="http://schemas.openxmlformats.org/drawingml/2006/main" prst="ellipse">
            <a:avLst/>
          </a:prstGeom>
          <a:solidFill xmlns:a="http://schemas.openxmlformats.org/drawingml/2006/main">
            <a:srgbClr val="1A4FD8"/>
          </a:solidFill>
        </p:spPr>
      </p:sp>
      <p:sp>
        <p:nvSpPr>
          <p:cNvPr id="21" name="Text 19">
            <a:extLst xmlns:a="http://schemas.openxmlformats.org/drawingml/2006/main">
              <a:ext uri="{FF2B5EF4-FFF2-40B4-BE49-F238E27FC236}">
                <a16:creationId xmlns:a16="http://schemas.microsoft.com/office/drawing/2014/main" id="{BA989455-51CB-41F7-AE23-86CD538ECC3B}"/>
              </a:ext>
            </a:extLst>
          </p:cNvPr>
          <p:cNvSpPr>
            <a:spLocks xmlns:a="http://schemas.openxmlformats.org/drawingml/2006/main" noGrp="1"/>
          </p:cNvSpPr>
          <p:nvPr/>
        </p:nvSpPr>
        <p:spPr>
          <a:xfrm xmlns:a="http://schemas.openxmlformats.org/drawingml/2006/main">
            <a:off x="676656" y="4828032"/>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4</a:t>
            </a:r>
          </a:p>
        </p:txBody>
      </p:sp>
      <p:sp>
        <p:nvSpPr>
          <p:cNvPr id="22" name="Text 20">
            <a:extLst xmlns:a="http://schemas.openxmlformats.org/drawingml/2006/main">
              <a:ext uri="{FF2B5EF4-FFF2-40B4-BE49-F238E27FC236}">
                <a16:creationId xmlns:a16="http://schemas.microsoft.com/office/drawing/2014/main" id="{C447E1DE-1782-4116-8B7F-21DF63A70F16}"/>
              </a:ext>
            </a:extLst>
          </p:cNvPr>
          <p:cNvSpPr>
            <a:spLocks xmlns:a="http://schemas.openxmlformats.org/drawingml/2006/main" noGrp="1"/>
          </p:cNvSpPr>
          <p:nvPr/>
        </p:nvSpPr>
        <p:spPr>
          <a:xfrm xmlns:a="http://schemas.openxmlformats.org/drawingml/2006/main">
            <a:off x="1024128" y="4809744"/>
            <a:ext cx="48280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결측은 추정하지 않음</a:t>
            </a:r>
          </a:p>
        </p:txBody>
      </p:sp>
      <p:sp>
        <p:nvSpPr>
          <p:cNvPr id="23" name="Text 21">
            <a:extLst xmlns:a="http://schemas.openxmlformats.org/drawingml/2006/main">
              <a:ext uri="{FF2B5EF4-FFF2-40B4-BE49-F238E27FC236}">
                <a16:creationId xmlns:a16="http://schemas.microsoft.com/office/drawing/2014/main" id="{EE86A296-9815-4A8D-B369-40D5126DF6E0}"/>
              </a:ext>
            </a:extLst>
          </p:cNvPr>
          <p:cNvSpPr>
            <a:spLocks xmlns:a="http://schemas.openxmlformats.org/drawingml/2006/main" noGrp="1"/>
          </p:cNvSpPr>
          <p:nvPr/>
        </p:nvSpPr>
        <p:spPr>
          <a:xfrm xmlns:a="http://schemas.openxmlformats.org/drawingml/2006/main">
            <a:off x="694944" y="5157216"/>
            <a:ext cx="510235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관측 부족·총보수 누락은 미산출 또는 품질점수 감점</a:t>
            </a:r>
          </a:p>
        </p:txBody>
      </p:sp>
      <p:sp>
        <p:nvSpPr>
          <p:cNvPr id="24" name="Text 22">
            <a:extLst xmlns:a="http://schemas.openxmlformats.org/drawingml/2006/main">
              <a:ext uri="{FF2B5EF4-FFF2-40B4-BE49-F238E27FC236}">
                <a16:creationId xmlns:a16="http://schemas.microsoft.com/office/drawing/2014/main" id="{004B906B-A0B4-43E1-811F-461C687FE213}"/>
              </a:ext>
            </a:extLst>
          </p:cNvPr>
          <p:cNvSpPr>
            <a:spLocks xmlns:a="http://schemas.openxmlformats.org/drawingml/2006/main" noGrp="1"/>
          </p:cNvSpPr>
          <p:nvPr/>
        </p:nvSpPr>
        <p:spPr>
          <a:xfrm xmlns:a="http://schemas.openxmlformats.org/drawingml/2006/main">
            <a:off x="548640" y="5870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A6474"/>
                </a:solidFill>
                <a:latin typeface="Malgun Gothic"/>
                <a:ea typeface="Malgun Gothic"/>
                <a:cs typeface="Malgun Gothic"/>
              </a:rPr>
              <a:t>파생 변수: 계좌 적격성 · 자산/지역 · 유동성 · 비용 · 추적오차 · 변동성 · MDD · VaR95</a:t>
            </a:r>
          </a:p>
        </p:txBody>
      </p:sp>
      <p:sp>
        <p:nvSpPr>
          <p:cNvPr id="25" name="Text 23">
            <a:extLst xmlns:a="http://schemas.openxmlformats.org/drawingml/2006/main">
              <a:ext uri="{FF2B5EF4-FFF2-40B4-BE49-F238E27FC236}">
                <a16:creationId xmlns:a16="http://schemas.microsoft.com/office/drawing/2014/main" id="{404E28BC-76BC-4BA6-AFEA-59807C49F9BB}"/>
              </a:ext>
            </a:extLst>
          </p:cNvPr>
          <p:cNvSpPr>
            <a:spLocks xmlns:a="http://schemas.openxmlformats.org/drawingml/2006/main" noGrp="1"/>
          </p:cNvSpPr>
          <p:nvPr/>
        </p:nvSpPr>
        <p:spPr>
          <a:xfrm xmlns:a="http://schemas.openxmlformats.org/drawingml/2006/main">
            <a:off x="6263640" y="1463040"/>
            <a:ext cx="5120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ETF 품질점수 가중치 (0~100)</a:t>
            </a:r>
          </a:p>
        </p:txBody>
      </p:sp>
      <p:sp>
        <p:nvSpPr>
          <p:cNvPr id="27" name="Shape 24">
            <a:extLst xmlns:a="http://schemas.openxmlformats.org/drawingml/2006/main">
              <a:ext uri="{FF2B5EF4-FFF2-40B4-BE49-F238E27FC236}">
                <a16:creationId xmlns:a16="http://schemas.microsoft.com/office/drawing/2014/main" id="{2F99802A-F7BC-46C3-9D33-3EB6B0DCB675}"/>
              </a:ext>
            </a:extLst>
          </p:cNvPr>
          <p:cNvSpPr>
            <a:spLocks xmlns:a="http://schemas.openxmlformats.org/drawingml/2006/main" noGrp="1"/>
          </p:cNvSpPr>
          <p:nvPr/>
        </p:nvSpPr>
        <p:spPr>
          <a:xfrm xmlns:a="http://schemas.openxmlformats.org/drawingml/2006/main">
            <a:off x="6263640" y="4800600"/>
            <a:ext cx="5120640" cy="914400"/>
          </a:xfrm>
          <a:prstGeom xmlns:a="http://schemas.openxmlformats.org/drawingml/2006/main" prst="roundRect">
            <a:avLst>
              <a:gd name="adj" fmla="val 9000"/>
            </a:avLst>
          </a:prstGeom>
          <a:solidFill xmlns:a="http://schemas.openxmlformats.org/drawingml/2006/main">
            <a:srgbClr val="E6F3EA"/>
          </a:solidFill>
        </p:spPr>
      </p:sp>
      <p:sp>
        <p:nvSpPr>
          <p:cNvPr id="28" name="Text 25">
            <a:extLst xmlns:a="http://schemas.openxmlformats.org/drawingml/2006/main">
              <a:ext uri="{FF2B5EF4-FFF2-40B4-BE49-F238E27FC236}">
                <a16:creationId xmlns:a16="http://schemas.microsoft.com/office/drawing/2014/main" id="{9572AF4C-FDCF-4678-B2F5-E2AFBFC49400}"/>
              </a:ext>
            </a:extLst>
          </p:cNvPr>
          <p:cNvSpPr>
            <a:spLocks xmlns:a="http://schemas.openxmlformats.org/drawingml/2006/main" noGrp="1"/>
          </p:cNvSpPr>
          <p:nvPr/>
        </p:nvSpPr>
        <p:spPr>
          <a:xfrm xmlns:a="http://schemas.openxmlformats.org/drawingml/2006/main">
            <a:off x="6446520" y="4800600"/>
            <a:ext cx="47548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8A4C"/>
                </a:solidFill>
                <a:latin typeface="Malgun Gothic"/>
                <a:ea typeface="Malgun Gothic"/>
                <a:cs typeface="Malgun Gothic"/>
              </a:rPr>
              <a:t>EDA 인사이트 — 계좌 유형이 후보 유니버스의 상한을 결정하므로, 하나의 ETF 목록을 모든 계좌에 공통 적용하면 안 됩니다.</a:t>
            </a:r>
          </a:p>
        </p:txBody>
      </p:sp>
      <p:sp>
        <p:nvSpPr>
          <p:cNvPr id="29" name="Text 26">
            <a:extLst xmlns:a="http://schemas.openxmlformats.org/drawingml/2006/main">
              <a:ext uri="{FF2B5EF4-FFF2-40B4-BE49-F238E27FC236}">
                <a16:creationId xmlns:a16="http://schemas.microsoft.com/office/drawing/2014/main" id="{D2107418-FE6C-42C6-AD5C-8F1D61862643}"/>
              </a:ext>
            </a:extLst>
          </p:cNvPr>
          <p:cNvSpPr>
            <a:spLocks xmlns:a="http://schemas.openxmlformats.org/drawingml/2006/main" noGrp="1"/>
          </p:cNvSpPr>
          <p:nvPr/>
        </p:nvSpPr>
        <p:spPr>
          <a:xfrm xmlns:a="http://schemas.openxmlformats.org/drawingml/2006/main">
            <a:off x="6263640" y="5870448"/>
            <a:ext cx="5120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A6474"/>
                </a:solidFill>
                <a:latin typeface="Malgun Gothic"/>
                <a:ea typeface="Malgun Gothic"/>
                <a:cs typeface="Malgun Gothic"/>
              </a:rPr>
              <a:t>과거수익률은 후보 랭킹에 쓰지 않으며, 후보 간 상관 0.75 초과는 분산효과 저하로 페널티를 적용합니다.</a:t>
            </a:r>
          </a:p>
        </p:txBody>
      </p:sp>
      <p:sp>
        <p:nvSpPr>
          <p:cNvPr id="30" name="Text 27">
            <a:extLst xmlns:a="http://schemas.openxmlformats.org/drawingml/2006/main">
              <a:ext uri="{FF2B5EF4-FFF2-40B4-BE49-F238E27FC236}">
                <a16:creationId xmlns:a16="http://schemas.microsoft.com/office/drawing/2014/main" id="{6E057B3C-FC8A-4275-8376-4B7489AA52DD}"/>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09</a:t>
            </a:r>
          </a:p>
        </p:txBody>
      </p:sp>
      <p:graphicFrame>
        <p:nvGraphicFramePr>
          <p:cNvPr id="62" name="Chart"/>
          <p:cNvGraphicFramePr/>
          <p:nvPr/>
        </p:nvGraphicFramePr>
        <p:xfrm>
          <a:off xmlns:a="http://schemas.openxmlformats.org/drawingml/2006/main" x="6263640" y="1783080"/>
          <a:ext xmlns:a="http://schemas.openxmlformats.org/drawingml/2006/main" cx="5120640" cy="2834640"/>
        </p:xfrm>
        <a:graphic xmlns:a="http://schemas.openxmlformats.org/drawingml/2006/main">
          <a:graphicData uri="http://schemas.openxmlformats.org/drawingml/2006/chart">
            <c:chart xmlns:r="http://schemas.openxmlformats.org/officeDocument/2006/relationships" xmlns:c="http://schemas.openxmlformats.org/drawingml/2006/chart" r:id="R38ccbec84e8c4d18"/>
          </a:graphicData>
        </a:graphic>
      </p:graphicFrame>
      <p:sp>
        <p:nvSpPr>
          <p:cNvPr id="32" name="quality-weight-center">
            <a:extLst xmlns:a="http://schemas.openxmlformats.org/drawingml/2006/main">
              <a:ext uri="{FF2B5EF4-FFF2-40B4-BE49-F238E27FC236}">
                <a16:creationId xmlns:a16="http://schemas.microsoft.com/office/drawing/2014/main" id="{6ED3EC28-00FE-4946-8351-B9AFA37DAA45}"/>
              </a:ext>
            </a:extLst>
          </p:cNvPr>
          <p:cNvSpPr>
            <a:spLocks xmlns:a="http://schemas.openxmlformats.org/drawingml/2006/main" noGrp="1"/>
          </p:cNvSpPr>
          <p:nvPr/>
        </p:nvSpPr>
        <p:spPr>
          <a:xfrm xmlns:a="http://schemas.openxmlformats.org/drawingml/2006/main">
            <a:off x="7000875" y="2686050"/>
            <a:ext cx="119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350" b="1">
                <a:solidFill>
                  <a:srgbClr val="1F2937"/>
                </a:solidFill>
              </a:defRPr>
            </a:pPr>
            <a:r>
              <a:rPr sz="1350" b="1">
                <a:solidFill>
                  <a:srgbClr val="1F2937"/>
                </a:solidFill>
              </a:rPr>
              <a:t>100점</a:t>
            </a:r>
          </a:p>
          <a:p xmlns:a="http://schemas.openxmlformats.org/drawingml/2006/main">
            <a:pPr algn="ctr">
              <a:buNone/>
              <a:defRPr sz="1350" b="1">
                <a:solidFill>
                  <a:srgbClr val="1F2937"/>
                </a:solidFill>
              </a:defRPr>
            </a:pPr>
            <a:r>
              <a:rPr sz="1350" b="1">
                <a:solidFill>
                  <a:srgbClr val="1F2937"/>
                </a:solidFill>
              </a:rPr>
              <a:t>가중치 합계</a:t>
            </a:r>
          </a:p>
        </p:txBody>
      </p:sp>
    </p:spTree>
    <p:extLst>
      <p:ext uri="{BB962C8B-B14F-4D97-AF65-F5344CB8AC3E}">
        <p14:creationId xmlns:p14="http://schemas.microsoft.com/office/powerpoint/2010/main" val="18926838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0ED9A9-737A-40F6-817E-C4658359892C}"/>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09 · AI 모델링 — 파이프라인</a:t>
            </a:r>
          </a:p>
        </p:txBody>
      </p:sp>
      <p:sp>
        <p:nvSpPr>
          <p:cNvPr id="3" name="Text 1">
            <a:extLst xmlns:a="http://schemas.openxmlformats.org/drawingml/2006/main">
              <a:ext uri="{FF2B5EF4-FFF2-40B4-BE49-F238E27FC236}">
                <a16:creationId xmlns:a16="http://schemas.microsoft.com/office/drawing/2014/main" id="{62F633EC-39C2-466F-9378-FB777696DB6F}"/>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룰로 먼저 처리하고, 필요한 순간에만 작은 LLM을 쓴다</a:t>
            </a:r>
          </a:p>
        </p:txBody>
      </p:sp>
      <p:sp>
        <p:nvSpPr>
          <p:cNvPr id="4" name="Shape 2">
            <a:extLst xmlns:a="http://schemas.openxmlformats.org/drawingml/2006/main">
              <a:ext uri="{FF2B5EF4-FFF2-40B4-BE49-F238E27FC236}">
                <a16:creationId xmlns:a16="http://schemas.microsoft.com/office/drawing/2014/main" id="{987AD387-342D-4557-B8CA-6DBA8A1F4DEB}"/>
              </a:ext>
            </a:extLst>
          </p:cNvPr>
          <p:cNvSpPr>
            <a:spLocks xmlns:a="http://schemas.openxmlformats.org/drawingml/2006/main" noGrp="1"/>
          </p:cNvSpPr>
          <p:nvPr/>
        </p:nvSpPr>
        <p:spPr>
          <a:xfrm xmlns:a="http://schemas.openxmlformats.org/drawingml/2006/main">
            <a:off x="548640" y="1600200"/>
            <a:ext cx="1700784" cy="1298448"/>
          </a:xfrm>
          <a:prstGeom xmlns:a="http://schemas.openxmlformats.org/drawingml/2006/main" prst="roundRect">
            <a:avLst>
              <a:gd name="adj" fmla="val 6338"/>
            </a:avLst>
          </a:prstGeom>
          <a:solidFill xmlns:a="http://schemas.openxmlformats.org/drawingml/2006/main">
            <a:srgbClr val="F7F9FE"/>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467E15BB-4DA8-4656-933F-3B3190E632CF}"/>
              </a:ext>
            </a:extLst>
          </p:cNvPr>
          <p:cNvSpPr>
            <a:spLocks xmlns:a="http://schemas.openxmlformats.org/drawingml/2006/main" noGrp="1"/>
          </p:cNvSpPr>
          <p:nvPr/>
        </p:nvSpPr>
        <p:spPr>
          <a:xfrm xmlns:a="http://schemas.openxmlformats.org/drawingml/2006/main">
            <a:off x="640080" y="1719072"/>
            <a:ext cx="151790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질문</a:t>
            </a:r>
          </a:p>
        </p:txBody>
      </p:sp>
      <p:sp>
        <p:nvSpPr>
          <p:cNvPr id="6" name="Text 4">
            <a:extLst xmlns:a="http://schemas.openxmlformats.org/drawingml/2006/main">
              <a:ext uri="{FF2B5EF4-FFF2-40B4-BE49-F238E27FC236}">
                <a16:creationId xmlns:a16="http://schemas.microsoft.com/office/drawing/2014/main" id="{8C3C5F41-6E9E-4E2A-BC41-429CE0BF4563}"/>
              </a:ext>
            </a:extLst>
          </p:cNvPr>
          <p:cNvSpPr>
            <a:spLocks xmlns:a="http://schemas.openxmlformats.org/drawingml/2006/main" noGrp="1"/>
          </p:cNvSpPr>
          <p:nvPr/>
        </p:nvSpPr>
        <p:spPr>
          <a:xfrm xmlns:a="http://schemas.openxmlformats.org/drawingml/2006/main">
            <a:off x="640080" y="2212848"/>
            <a:ext cx="15179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60">
                <a:solidFill>
                  <a:srgbClr val="5A6474"/>
                </a:solidFill>
                <a:latin typeface="Malgun Gothic"/>
                <a:ea typeface="Malgun Gothic"/>
                <a:cs typeface="Malgun Gothic"/>
              </a:rPr>
              <a:t>자연어 입력</a:t>
            </a:r>
          </a:p>
        </p:txBody>
      </p:sp>
      <p:sp>
        <p:nvSpPr>
          <p:cNvPr id="7" name="Text 5">
            <a:extLst xmlns:a="http://schemas.openxmlformats.org/drawingml/2006/main">
              <a:ext uri="{FF2B5EF4-FFF2-40B4-BE49-F238E27FC236}">
                <a16:creationId xmlns:a16="http://schemas.microsoft.com/office/drawing/2014/main" id="{5E0FAC7C-7561-44AC-9737-DC6FD2B5D766}"/>
              </a:ext>
            </a:extLst>
          </p:cNvPr>
          <p:cNvSpPr>
            <a:spLocks xmlns:a="http://schemas.openxmlformats.org/drawingml/2006/main" noGrp="1"/>
          </p:cNvSpPr>
          <p:nvPr/>
        </p:nvSpPr>
        <p:spPr>
          <a:xfrm xmlns:a="http://schemas.openxmlformats.org/drawingml/2006/main">
            <a:off x="2208276" y="2121408"/>
            <a:ext cx="256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9AA3B2"/>
                </a:solidFill>
                <a:latin typeface="Malgun Gothic"/>
                <a:ea typeface="Malgun Gothic"/>
                <a:cs typeface="Malgun Gothic"/>
              </a:rPr>
              <a:t>→</a:t>
            </a:r>
          </a:p>
        </p:txBody>
      </p:sp>
      <p:sp>
        <p:nvSpPr>
          <p:cNvPr id="8" name="Shape 6">
            <a:extLst xmlns:a="http://schemas.openxmlformats.org/drawingml/2006/main">
              <a:ext uri="{FF2B5EF4-FFF2-40B4-BE49-F238E27FC236}">
                <a16:creationId xmlns:a16="http://schemas.microsoft.com/office/drawing/2014/main" id="{1D4B8A97-061F-46BC-8F0D-3BB274DD3747}"/>
              </a:ext>
            </a:extLst>
          </p:cNvPr>
          <p:cNvSpPr>
            <a:spLocks xmlns:a="http://schemas.openxmlformats.org/drawingml/2006/main" noGrp="1"/>
          </p:cNvSpPr>
          <p:nvPr/>
        </p:nvSpPr>
        <p:spPr>
          <a:xfrm xmlns:a="http://schemas.openxmlformats.org/drawingml/2006/main">
            <a:off x="2423160" y="1600200"/>
            <a:ext cx="1700784" cy="1298448"/>
          </a:xfrm>
          <a:prstGeom xmlns:a="http://schemas.openxmlformats.org/drawingml/2006/main" prst="roundRect">
            <a:avLst>
              <a:gd name="adj" fmla="val 6338"/>
            </a:avLst>
          </a:prstGeom>
          <a:solidFill xmlns:a="http://schemas.openxmlformats.org/drawingml/2006/main">
            <a:srgbClr val="F7F9FE"/>
          </a:solidFill>
          <a:ln xmlns:a="http://schemas.openxmlformats.org/drawingml/2006/main" w="12700">
            <a:solidFill>
              <a:srgbClr val="D9E0EC"/>
            </a:solidFill>
            <a:prstDash val="solid"/>
          </a:ln>
        </p:spPr>
      </p:sp>
      <p:sp>
        <p:nvSpPr>
          <p:cNvPr id="9" name="Text 7">
            <a:extLst xmlns:a="http://schemas.openxmlformats.org/drawingml/2006/main">
              <a:ext uri="{FF2B5EF4-FFF2-40B4-BE49-F238E27FC236}">
                <a16:creationId xmlns:a16="http://schemas.microsoft.com/office/drawing/2014/main" id="{509FA9A8-AD36-47D8-AB12-BE3F5AF9D95A}"/>
              </a:ext>
            </a:extLst>
          </p:cNvPr>
          <p:cNvSpPr>
            <a:spLocks xmlns:a="http://schemas.openxmlformats.org/drawingml/2006/main" noGrp="1"/>
          </p:cNvSpPr>
          <p:nvPr/>
        </p:nvSpPr>
        <p:spPr>
          <a:xfrm xmlns:a="http://schemas.openxmlformats.org/drawingml/2006/main">
            <a:off x="2514600" y="1719072"/>
            <a:ext cx="151790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1차 규칙 라우팅</a:t>
            </a:r>
          </a:p>
        </p:txBody>
      </p:sp>
      <p:sp>
        <p:nvSpPr>
          <p:cNvPr id="10" name="Text 8">
            <a:extLst xmlns:a="http://schemas.openxmlformats.org/drawingml/2006/main">
              <a:ext uri="{FF2B5EF4-FFF2-40B4-BE49-F238E27FC236}">
                <a16:creationId xmlns:a16="http://schemas.microsoft.com/office/drawing/2014/main" id="{942B0A85-FECB-427F-972A-C0981C7949AE}"/>
              </a:ext>
            </a:extLst>
          </p:cNvPr>
          <p:cNvSpPr>
            <a:spLocks xmlns:a="http://schemas.openxmlformats.org/drawingml/2006/main" noGrp="1"/>
          </p:cNvSpPr>
          <p:nvPr/>
        </p:nvSpPr>
        <p:spPr>
          <a:xfrm xmlns:a="http://schemas.openxmlformats.org/drawingml/2006/main">
            <a:off x="2514600" y="2212848"/>
            <a:ext cx="15179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60">
                <a:solidFill>
                  <a:srgbClr val="5A6474"/>
                </a:solidFill>
                <a:latin typeface="Malgun Gothic"/>
                <a:ea typeface="Malgun Gothic"/>
                <a:cs typeface="Malgun Gothic"/>
              </a:rPr>
              <a:t>지원 주제·안전 차단·명확한 잡담 판별</a:t>
            </a:r>
          </a:p>
        </p:txBody>
      </p:sp>
      <p:sp>
        <p:nvSpPr>
          <p:cNvPr id="11" name="Text 9">
            <a:extLst xmlns:a="http://schemas.openxmlformats.org/drawingml/2006/main">
              <a:ext uri="{FF2B5EF4-FFF2-40B4-BE49-F238E27FC236}">
                <a16:creationId xmlns:a16="http://schemas.microsoft.com/office/drawing/2014/main" id="{9A9B2158-7369-4834-99FC-A61765BA5B4A}"/>
              </a:ext>
            </a:extLst>
          </p:cNvPr>
          <p:cNvSpPr>
            <a:spLocks xmlns:a="http://schemas.openxmlformats.org/drawingml/2006/main" noGrp="1"/>
          </p:cNvSpPr>
          <p:nvPr/>
        </p:nvSpPr>
        <p:spPr>
          <a:xfrm xmlns:a="http://schemas.openxmlformats.org/drawingml/2006/main">
            <a:off x="4082796" y="2121408"/>
            <a:ext cx="256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9AA3B2"/>
                </a:solidFill>
                <a:latin typeface="Malgun Gothic"/>
                <a:ea typeface="Malgun Gothic"/>
                <a:cs typeface="Malgun Gothic"/>
              </a:rPr>
              <a:t>→</a:t>
            </a:r>
          </a:p>
        </p:txBody>
      </p:sp>
      <p:sp>
        <p:nvSpPr>
          <p:cNvPr id="12" name="Shape 10">
            <a:extLst xmlns:a="http://schemas.openxmlformats.org/drawingml/2006/main">
              <a:ext uri="{FF2B5EF4-FFF2-40B4-BE49-F238E27FC236}">
                <a16:creationId xmlns:a16="http://schemas.microsoft.com/office/drawing/2014/main" id="{863E07FE-06C6-475D-AB2C-60B022BE9D42}"/>
              </a:ext>
            </a:extLst>
          </p:cNvPr>
          <p:cNvSpPr>
            <a:spLocks xmlns:a="http://schemas.openxmlformats.org/drawingml/2006/main" noGrp="1"/>
          </p:cNvSpPr>
          <p:nvPr/>
        </p:nvSpPr>
        <p:spPr>
          <a:xfrm xmlns:a="http://schemas.openxmlformats.org/drawingml/2006/main">
            <a:off x="4297680" y="1600200"/>
            <a:ext cx="1700784" cy="1298448"/>
          </a:xfrm>
          <a:prstGeom xmlns:a="http://schemas.openxmlformats.org/drawingml/2006/main" prst="roundRect">
            <a:avLst>
              <a:gd name="adj" fmla="val 6338"/>
            </a:avLst>
          </a:prstGeom>
          <a:solidFill xmlns:a="http://schemas.openxmlformats.org/drawingml/2006/main">
            <a:srgbClr val="F7F9FE"/>
          </a:solidFill>
          <a:ln xmlns:a="http://schemas.openxmlformats.org/drawingml/2006/main" w="12700">
            <a:solidFill>
              <a:srgbClr val="D9E0EC"/>
            </a:solidFill>
            <a:prstDash val="solid"/>
          </a:ln>
        </p:spPr>
      </p:sp>
      <p:sp>
        <p:nvSpPr>
          <p:cNvPr id="13" name="Text 11">
            <a:extLst xmlns:a="http://schemas.openxmlformats.org/drawingml/2006/main">
              <a:ext uri="{FF2B5EF4-FFF2-40B4-BE49-F238E27FC236}">
                <a16:creationId xmlns:a16="http://schemas.microsoft.com/office/drawing/2014/main" id="{06CD8122-9E62-467F-A3C1-AB8B82AAAF69}"/>
              </a:ext>
            </a:extLst>
          </p:cNvPr>
          <p:cNvSpPr>
            <a:spLocks xmlns:a="http://schemas.openxmlformats.org/drawingml/2006/main" noGrp="1"/>
          </p:cNvSpPr>
          <p:nvPr/>
        </p:nvSpPr>
        <p:spPr>
          <a:xfrm xmlns:a="http://schemas.openxmlformats.org/drawingml/2006/main">
            <a:off x="4389120" y="1719072"/>
            <a:ext cx="151790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선택적 Haiku 가드</a:t>
            </a:r>
          </a:p>
        </p:txBody>
      </p:sp>
      <p:sp>
        <p:nvSpPr>
          <p:cNvPr id="14" name="Text 12">
            <a:extLst xmlns:a="http://schemas.openxmlformats.org/drawingml/2006/main">
              <a:ext uri="{FF2B5EF4-FFF2-40B4-BE49-F238E27FC236}">
                <a16:creationId xmlns:a16="http://schemas.microsoft.com/office/drawing/2014/main" id="{C7DB32B2-D625-478F-98D6-5A506A677146}"/>
              </a:ext>
            </a:extLst>
          </p:cNvPr>
          <p:cNvSpPr>
            <a:spLocks xmlns:a="http://schemas.openxmlformats.org/drawingml/2006/main" noGrp="1"/>
          </p:cNvSpPr>
          <p:nvPr/>
        </p:nvSpPr>
        <p:spPr>
          <a:xfrm xmlns:a="http://schemas.openxmlformats.org/drawingml/2006/main">
            <a:off x="4389120" y="2212848"/>
            <a:ext cx="15179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60">
                <a:solidFill>
                  <a:srgbClr val="5A6474"/>
                </a:solidFill>
                <a:latin typeface="Malgun Gothic"/>
                <a:ea typeface="Malgun Gothic"/>
                <a:cs typeface="Malgun Gothic"/>
              </a:rPr>
              <a:t>애매한 UNSUPPORTED만 구조화 재분류</a:t>
            </a:r>
          </a:p>
        </p:txBody>
      </p:sp>
      <p:sp>
        <p:nvSpPr>
          <p:cNvPr id="15" name="Text 13">
            <a:extLst xmlns:a="http://schemas.openxmlformats.org/drawingml/2006/main">
              <a:ext uri="{FF2B5EF4-FFF2-40B4-BE49-F238E27FC236}">
                <a16:creationId xmlns:a16="http://schemas.microsoft.com/office/drawing/2014/main" id="{1840FC57-B5E9-4360-BA8C-98EB51D51576}"/>
              </a:ext>
            </a:extLst>
          </p:cNvPr>
          <p:cNvSpPr>
            <a:spLocks xmlns:a="http://schemas.openxmlformats.org/drawingml/2006/main" noGrp="1"/>
          </p:cNvSpPr>
          <p:nvPr/>
        </p:nvSpPr>
        <p:spPr>
          <a:xfrm xmlns:a="http://schemas.openxmlformats.org/drawingml/2006/main">
            <a:off x="5957316" y="2121408"/>
            <a:ext cx="256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9AA3B2"/>
                </a:solidFill>
                <a:latin typeface="Malgun Gothic"/>
                <a:ea typeface="Malgun Gothic"/>
                <a:cs typeface="Malgun Gothic"/>
              </a:rPr>
              <a:t>→</a:t>
            </a:r>
          </a:p>
        </p:txBody>
      </p:sp>
      <p:sp>
        <p:nvSpPr>
          <p:cNvPr id="16" name="Shape 14">
            <a:extLst xmlns:a="http://schemas.openxmlformats.org/drawingml/2006/main">
              <a:ext uri="{FF2B5EF4-FFF2-40B4-BE49-F238E27FC236}">
                <a16:creationId xmlns:a16="http://schemas.microsoft.com/office/drawing/2014/main" id="{D6C2D400-00B7-4EC3-B852-6487E39FBF88}"/>
              </a:ext>
            </a:extLst>
          </p:cNvPr>
          <p:cNvSpPr>
            <a:spLocks xmlns:a="http://schemas.openxmlformats.org/drawingml/2006/main" noGrp="1"/>
          </p:cNvSpPr>
          <p:nvPr/>
        </p:nvSpPr>
        <p:spPr>
          <a:xfrm xmlns:a="http://schemas.openxmlformats.org/drawingml/2006/main">
            <a:off x="6172200" y="1600200"/>
            <a:ext cx="1700784" cy="1298448"/>
          </a:xfrm>
          <a:prstGeom xmlns:a="http://schemas.openxmlformats.org/drawingml/2006/main" prst="roundRect">
            <a:avLst>
              <a:gd name="adj" fmla="val 6338"/>
            </a:avLst>
          </a:prstGeom>
          <a:solidFill xmlns:a="http://schemas.openxmlformats.org/drawingml/2006/main">
            <a:srgbClr val="EEF3FE"/>
          </a:solidFill>
          <a:ln xmlns:a="http://schemas.openxmlformats.org/drawingml/2006/main" w="12700">
            <a:solidFill>
              <a:srgbClr val="D7E2F8"/>
            </a:solidFill>
            <a:prstDash val="solid"/>
          </a:ln>
        </p:spPr>
      </p:sp>
      <p:sp>
        <p:nvSpPr>
          <p:cNvPr id="17" name="Text 15">
            <a:extLst xmlns:a="http://schemas.openxmlformats.org/drawingml/2006/main">
              <a:ext uri="{FF2B5EF4-FFF2-40B4-BE49-F238E27FC236}">
                <a16:creationId xmlns:a16="http://schemas.microsoft.com/office/drawing/2014/main" id="{A34D3684-F005-4A4A-A78C-CBE187EA7883}"/>
              </a:ext>
            </a:extLst>
          </p:cNvPr>
          <p:cNvSpPr>
            <a:spLocks xmlns:a="http://schemas.openxmlformats.org/drawingml/2006/main" noGrp="1"/>
          </p:cNvSpPr>
          <p:nvPr/>
        </p:nvSpPr>
        <p:spPr>
          <a:xfrm xmlns:a="http://schemas.openxmlformats.org/drawingml/2006/main">
            <a:off x="6263640" y="1719072"/>
            <a:ext cx="151790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규칙 엔진 · RAG</a:t>
            </a:r>
          </a:p>
        </p:txBody>
      </p:sp>
      <p:sp>
        <p:nvSpPr>
          <p:cNvPr id="18" name="Text 16">
            <a:extLst xmlns:a="http://schemas.openxmlformats.org/drawingml/2006/main">
              <a:ext uri="{FF2B5EF4-FFF2-40B4-BE49-F238E27FC236}">
                <a16:creationId xmlns:a16="http://schemas.microsoft.com/office/drawing/2014/main" id="{2DB0264C-F0E3-4409-8D47-E199EFBCBD63}"/>
              </a:ext>
            </a:extLst>
          </p:cNvPr>
          <p:cNvSpPr>
            <a:spLocks xmlns:a="http://schemas.openxmlformats.org/drawingml/2006/main" noGrp="1"/>
          </p:cNvSpPr>
          <p:nvPr/>
        </p:nvSpPr>
        <p:spPr>
          <a:xfrm xmlns:a="http://schemas.openxmlformats.org/drawingml/2006/main">
            <a:off x="6263640" y="2212848"/>
            <a:ext cx="15179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60">
                <a:solidFill>
                  <a:srgbClr val="5A6474"/>
                </a:solidFill>
                <a:latin typeface="Malgun Gothic"/>
                <a:ea typeface="Malgun Gothic"/>
                <a:cs typeface="Malgun Gothic"/>
              </a:rPr>
              <a:t>Decimal 계산 + 승인 문서 검색</a:t>
            </a:r>
          </a:p>
        </p:txBody>
      </p:sp>
      <p:sp>
        <p:nvSpPr>
          <p:cNvPr id="19" name="Text 17">
            <a:extLst xmlns:a="http://schemas.openxmlformats.org/drawingml/2006/main">
              <a:ext uri="{FF2B5EF4-FFF2-40B4-BE49-F238E27FC236}">
                <a16:creationId xmlns:a16="http://schemas.microsoft.com/office/drawing/2014/main" id="{4AEF134F-FF36-4CC8-8CDE-F8D788AA9AC0}"/>
              </a:ext>
            </a:extLst>
          </p:cNvPr>
          <p:cNvSpPr>
            <a:spLocks xmlns:a="http://schemas.openxmlformats.org/drawingml/2006/main" noGrp="1"/>
          </p:cNvSpPr>
          <p:nvPr/>
        </p:nvSpPr>
        <p:spPr>
          <a:xfrm xmlns:a="http://schemas.openxmlformats.org/drawingml/2006/main">
            <a:off x="7831836" y="2121408"/>
            <a:ext cx="256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9AA3B2"/>
                </a:solidFill>
                <a:latin typeface="Malgun Gothic"/>
                <a:ea typeface="Malgun Gothic"/>
                <a:cs typeface="Malgun Gothic"/>
              </a:rPr>
              <a:t>→</a:t>
            </a:r>
          </a:p>
        </p:txBody>
      </p:sp>
      <p:sp>
        <p:nvSpPr>
          <p:cNvPr id="20" name="Shape 18">
            <a:extLst xmlns:a="http://schemas.openxmlformats.org/drawingml/2006/main">
              <a:ext uri="{FF2B5EF4-FFF2-40B4-BE49-F238E27FC236}">
                <a16:creationId xmlns:a16="http://schemas.microsoft.com/office/drawing/2014/main" id="{CD8CD402-F692-48FE-AB09-2D7BBA26C54B}"/>
              </a:ext>
            </a:extLst>
          </p:cNvPr>
          <p:cNvSpPr>
            <a:spLocks xmlns:a="http://schemas.openxmlformats.org/drawingml/2006/main" noGrp="1"/>
          </p:cNvSpPr>
          <p:nvPr/>
        </p:nvSpPr>
        <p:spPr>
          <a:xfrm xmlns:a="http://schemas.openxmlformats.org/drawingml/2006/main">
            <a:off x="8046720" y="1600200"/>
            <a:ext cx="1700784" cy="1298448"/>
          </a:xfrm>
          <a:prstGeom xmlns:a="http://schemas.openxmlformats.org/drawingml/2006/main" prst="roundRect">
            <a:avLst>
              <a:gd name="adj" fmla="val 6338"/>
            </a:avLst>
          </a:prstGeom>
          <a:solidFill xmlns:a="http://schemas.openxmlformats.org/drawingml/2006/main">
            <a:srgbClr val="EEF3FE"/>
          </a:solidFill>
          <a:ln xmlns:a="http://schemas.openxmlformats.org/drawingml/2006/main" w="12700">
            <a:solidFill>
              <a:srgbClr val="D7E2F8"/>
            </a:solidFill>
            <a:prstDash val="solid"/>
          </a:ln>
        </p:spPr>
      </p:sp>
      <p:sp>
        <p:nvSpPr>
          <p:cNvPr id="21" name="Text 19">
            <a:extLst xmlns:a="http://schemas.openxmlformats.org/drawingml/2006/main">
              <a:ext uri="{FF2B5EF4-FFF2-40B4-BE49-F238E27FC236}">
                <a16:creationId xmlns:a16="http://schemas.microsoft.com/office/drawing/2014/main" id="{1865D8B1-29B3-4E38-B646-5A7BBB263FAF}"/>
              </a:ext>
            </a:extLst>
          </p:cNvPr>
          <p:cNvSpPr>
            <a:spLocks xmlns:a="http://schemas.openxmlformats.org/drawingml/2006/main" noGrp="1"/>
          </p:cNvSpPr>
          <p:nvPr/>
        </p:nvSpPr>
        <p:spPr>
          <a:xfrm xmlns:a="http://schemas.openxmlformats.org/drawingml/2006/main">
            <a:off x="8138160" y="1719072"/>
            <a:ext cx="151790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검증 · 저장</a:t>
            </a:r>
          </a:p>
        </p:txBody>
      </p:sp>
      <p:sp>
        <p:nvSpPr>
          <p:cNvPr id="22" name="Text 20">
            <a:extLst xmlns:a="http://schemas.openxmlformats.org/drawingml/2006/main">
              <a:ext uri="{FF2B5EF4-FFF2-40B4-BE49-F238E27FC236}">
                <a16:creationId xmlns:a16="http://schemas.microsoft.com/office/drawing/2014/main" id="{48D0A75E-B4E3-415E-AA07-F28FDC4011E0}"/>
              </a:ext>
            </a:extLst>
          </p:cNvPr>
          <p:cNvSpPr>
            <a:spLocks xmlns:a="http://schemas.openxmlformats.org/drawingml/2006/main" noGrp="1"/>
          </p:cNvSpPr>
          <p:nvPr/>
        </p:nvSpPr>
        <p:spPr>
          <a:xfrm xmlns:a="http://schemas.openxmlformats.org/drawingml/2006/main">
            <a:off x="8138160" y="2212848"/>
            <a:ext cx="15179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60">
                <a:solidFill>
                  <a:srgbClr val="5A6474"/>
                </a:solidFill>
                <a:latin typeface="Malgun Gothic"/>
                <a:ea typeface="Malgun Gothic"/>
                <a:cs typeface="Malgun Gothic"/>
              </a:rPr>
              <a:t>근거·숫자 대조 + 대화 저장</a:t>
            </a:r>
          </a:p>
        </p:txBody>
      </p:sp>
      <p:sp>
        <p:nvSpPr>
          <p:cNvPr id="23" name="Text 21">
            <a:extLst xmlns:a="http://schemas.openxmlformats.org/drawingml/2006/main">
              <a:ext uri="{FF2B5EF4-FFF2-40B4-BE49-F238E27FC236}">
                <a16:creationId xmlns:a16="http://schemas.microsoft.com/office/drawing/2014/main" id="{48B5ED61-22C2-41B2-8981-7B68FF145900}"/>
              </a:ext>
            </a:extLst>
          </p:cNvPr>
          <p:cNvSpPr>
            <a:spLocks xmlns:a="http://schemas.openxmlformats.org/drawingml/2006/main" noGrp="1"/>
          </p:cNvSpPr>
          <p:nvPr/>
        </p:nvSpPr>
        <p:spPr>
          <a:xfrm xmlns:a="http://schemas.openxmlformats.org/drawingml/2006/main">
            <a:off x="9706356" y="2121408"/>
            <a:ext cx="256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9AA3B2"/>
                </a:solidFill>
                <a:latin typeface="Malgun Gothic"/>
                <a:ea typeface="Malgun Gothic"/>
                <a:cs typeface="Malgun Gothic"/>
              </a:rPr>
              <a:t>→</a:t>
            </a:r>
          </a:p>
        </p:txBody>
      </p:sp>
      <p:sp>
        <p:nvSpPr>
          <p:cNvPr id="24" name="Shape 22">
            <a:extLst xmlns:a="http://schemas.openxmlformats.org/drawingml/2006/main">
              <a:ext uri="{FF2B5EF4-FFF2-40B4-BE49-F238E27FC236}">
                <a16:creationId xmlns:a16="http://schemas.microsoft.com/office/drawing/2014/main" id="{8B5CEF8C-8B70-44B0-823A-956DAC5448B9}"/>
              </a:ext>
            </a:extLst>
          </p:cNvPr>
          <p:cNvSpPr>
            <a:spLocks xmlns:a="http://schemas.openxmlformats.org/drawingml/2006/main" noGrp="1"/>
          </p:cNvSpPr>
          <p:nvPr/>
        </p:nvSpPr>
        <p:spPr>
          <a:xfrm xmlns:a="http://schemas.openxmlformats.org/drawingml/2006/main">
            <a:off x="9921240" y="1600200"/>
            <a:ext cx="1700784" cy="1298448"/>
          </a:xfrm>
          <a:prstGeom xmlns:a="http://schemas.openxmlformats.org/drawingml/2006/main" prst="roundRect">
            <a:avLst>
              <a:gd name="adj" fmla="val 6338"/>
            </a:avLst>
          </a:prstGeom>
          <a:solidFill xmlns:a="http://schemas.openxmlformats.org/drawingml/2006/main">
            <a:srgbClr val="F7F9FE"/>
          </a:solidFill>
          <a:ln xmlns:a="http://schemas.openxmlformats.org/drawingml/2006/main" w="12700">
            <a:solidFill>
              <a:srgbClr val="D9E0EC"/>
            </a:solidFill>
            <a:prstDash val="solid"/>
          </a:ln>
        </p:spPr>
      </p:sp>
      <p:sp>
        <p:nvSpPr>
          <p:cNvPr id="25" name="Text 23">
            <a:extLst xmlns:a="http://schemas.openxmlformats.org/drawingml/2006/main">
              <a:ext uri="{FF2B5EF4-FFF2-40B4-BE49-F238E27FC236}">
                <a16:creationId xmlns:a16="http://schemas.microsoft.com/office/drawing/2014/main" id="{1CD6B76E-6D3C-406F-95DD-9D48412DF295}"/>
              </a:ext>
            </a:extLst>
          </p:cNvPr>
          <p:cNvSpPr>
            <a:spLocks xmlns:a="http://schemas.openxmlformats.org/drawingml/2006/main" noGrp="1"/>
          </p:cNvSpPr>
          <p:nvPr/>
        </p:nvSpPr>
        <p:spPr>
          <a:xfrm xmlns:a="http://schemas.openxmlformats.org/drawingml/2006/main">
            <a:off x="10012680" y="1719072"/>
            <a:ext cx="151790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SSE 스트리밍</a:t>
            </a:r>
          </a:p>
        </p:txBody>
      </p:sp>
      <p:sp>
        <p:nvSpPr>
          <p:cNvPr id="26" name="Text 24">
            <a:extLst xmlns:a="http://schemas.openxmlformats.org/drawingml/2006/main">
              <a:ext uri="{FF2B5EF4-FFF2-40B4-BE49-F238E27FC236}">
                <a16:creationId xmlns:a16="http://schemas.microsoft.com/office/drawing/2014/main" id="{76CF00C3-263A-407C-B00B-55A1557EAD05}"/>
              </a:ext>
            </a:extLst>
          </p:cNvPr>
          <p:cNvSpPr>
            <a:spLocks xmlns:a="http://schemas.openxmlformats.org/drawingml/2006/main" noGrp="1"/>
          </p:cNvSpPr>
          <p:nvPr/>
        </p:nvSpPr>
        <p:spPr>
          <a:xfrm xmlns:a="http://schemas.openxmlformats.org/drawingml/2006/main">
            <a:off x="10012680" y="2212848"/>
            <a:ext cx="15179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60">
                <a:solidFill>
                  <a:srgbClr val="5A6474"/>
                </a:solidFill>
                <a:latin typeface="Malgun Gothic"/>
                <a:ea typeface="Malgun Gothic"/>
                <a:cs typeface="Malgun Gothic"/>
              </a:rPr>
              <a:t>검증 답변 선전송 → AI 재서술 교체</a:t>
            </a:r>
          </a:p>
        </p:txBody>
      </p:sp>
      <p:sp>
        <p:nvSpPr>
          <p:cNvPr id="27" name="Shape 25">
            <a:extLst xmlns:a="http://schemas.openxmlformats.org/drawingml/2006/main">
              <a:ext uri="{FF2B5EF4-FFF2-40B4-BE49-F238E27FC236}">
                <a16:creationId xmlns:a16="http://schemas.microsoft.com/office/drawing/2014/main" id="{FA58D2E9-66D5-42B3-B6AA-14E178DF2E81}"/>
              </a:ext>
            </a:extLst>
          </p:cNvPr>
          <p:cNvSpPr>
            <a:spLocks xmlns:a="http://schemas.openxmlformats.org/drawingml/2006/main" noGrp="1"/>
          </p:cNvSpPr>
          <p:nvPr/>
        </p:nvSpPr>
        <p:spPr>
          <a:xfrm xmlns:a="http://schemas.openxmlformats.org/drawingml/2006/main">
            <a:off x="548640" y="3246120"/>
            <a:ext cx="7040880" cy="1554480"/>
          </a:xfrm>
          <a:prstGeom xmlns:a="http://schemas.openxmlformats.org/drawingml/2006/main" prst="roundRect">
            <a:avLst>
              <a:gd name="adj" fmla="val 7059"/>
            </a:avLst>
          </a:prstGeom>
          <a:solidFill xmlns:a="http://schemas.openxmlformats.org/drawingml/2006/main">
            <a:srgbClr val="0F1E45"/>
          </a:solidFill>
        </p:spPr>
      </p:sp>
      <p:sp>
        <p:nvSpPr>
          <p:cNvPr id="28" name="Text 26">
            <a:extLst xmlns:a="http://schemas.openxmlformats.org/drawingml/2006/main">
              <a:ext uri="{FF2B5EF4-FFF2-40B4-BE49-F238E27FC236}">
                <a16:creationId xmlns:a16="http://schemas.microsoft.com/office/drawing/2014/main" id="{3F1CF3B1-0336-4D74-BDA5-286C952FA0F7}"/>
              </a:ext>
            </a:extLst>
          </p:cNvPr>
          <p:cNvSpPr>
            <a:spLocks xmlns:a="http://schemas.openxmlformats.org/drawingml/2006/main" noGrp="1"/>
          </p:cNvSpPr>
          <p:nvPr/>
        </p:nvSpPr>
        <p:spPr>
          <a:xfrm xmlns:a="http://schemas.openxmlformats.org/drawingml/2006/main">
            <a:off x="822960" y="3474720"/>
            <a:ext cx="6492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FFFFFF"/>
                </a:solidFill>
                <a:latin typeface="Malgun Gothic"/>
                <a:ea typeface="Malgun Gothic"/>
                <a:cs typeface="Malgun Gothic"/>
              </a:rPr>
              <a:t>검증 실패 시 → 결정론 원문 폴백 또는 응답 생성 실패</a:t>
            </a:r>
          </a:p>
        </p:txBody>
      </p:sp>
      <p:sp>
        <p:nvSpPr>
          <p:cNvPr id="29" name="Text 27">
            <a:extLst xmlns:a="http://schemas.openxmlformats.org/drawingml/2006/main">
              <a:ext uri="{FF2B5EF4-FFF2-40B4-BE49-F238E27FC236}">
                <a16:creationId xmlns:a16="http://schemas.microsoft.com/office/drawing/2014/main" id="{6E5395AC-C5F4-4F2D-BCE0-57D0D113DAF8}"/>
              </a:ext>
            </a:extLst>
          </p:cNvPr>
          <p:cNvSpPr>
            <a:spLocks xmlns:a="http://schemas.openxmlformats.org/drawingml/2006/main" noGrp="1"/>
          </p:cNvSpPr>
          <p:nvPr/>
        </p:nvSpPr>
        <p:spPr>
          <a:xfrm xmlns:a="http://schemas.openxmlformats.org/drawingml/2006/main">
            <a:off x="822960" y="3977640"/>
            <a:ext cx="6492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C9D6F5"/>
                </a:solidFill>
                <a:latin typeface="Malgun Gothic"/>
                <a:ea typeface="Malgun Gothic"/>
                <a:cs typeface="Malgun Gothic"/>
              </a:rPr>
              <a:t>답변 속 숫자는 NumericEvidence와 대조합니다. 값·단위·부호가 맞지 않으면 화면에 반영하지 않습니다.</a:t>
            </a:r>
          </a:p>
        </p:txBody>
      </p:sp>
      <p:sp>
        <p:nvSpPr>
          <p:cNvPr id="30" name="Shape 28">
            <a:extLst xmlns:a="http://schemas.openxmlformats.org/drawingml/2006/main">
              <a:ext uri="{FF2B5EF4-FFF2-40B4-BE49-F238E27FC236}">
                <a16:creationId xmlns:a16="http://schemas.microsoft.com/office/drawing/2014/main" id="{4158D0D9-B4AC-4996-A887-893AA4D06562}"/>
              </a:ext>
            </a:extLst>
          </p:cNvPr>
          <p:cNvSpPr>
            <a:spLocks xmlns:a="http://schemas.openxmlformats.org/drawingml/2006/main" noGrp="1"/>
          </p:cNvSpPr>
          <p:nvPr/>
        </p:nvSpPr>
        <p:spPr>
          <a:xfrm xmlns:a="http://schemas.openxmlformats.org/drawingml/2006/main">
            <a:off x="7818120" y="3246120"/>
            <a:ext cx="3566160" cy="1554480"/>
          </a:xfrm>
          <a:prstGeom xmlns:a="http://schemas.openxmlformats.org/drawingml/2006/main" prst="roundRect">
            <a:avLst>
              <a:gd name="adj" fmla="val 5294"/>
            </a:avLst>
          </a:prstGeom>
          <a:solidFill xmlns:a="http://schemas.openxmlformats.org/drawingml/2006/main">
            <a:srgbClr val="FFFFFF"/>
          </a:solidFill>
          <a:ln xmlns:a="http://schemas.openxmlformats.org/drawingml/2006/main" w="12700">
            <a:solidFill>
              <a:srgbClr val="D9E0EC"/>
            </a:solidFill>
            <a:prstDash val="solid"/>
          </a:ln>
        </p:spPr>
      </p:sp>
      <p:sp>
        <p:nvSpPr>
          <p:cNvPr id="31" name="Text 29">
            <a:extLst xmlns:a="http://schemas.openxmlformats.org/drawingml/2006/main">
              <a:ext uri="{FF2B5EF4-FFF2-40B4-BE49-F238E27FC236}">
                <a16:creationId xmlns:a16="http://schemas.microsoft.com/office/drawing/2014/main" id="{123841D1-2AA6-4247-A0BA-636F89006EE3}"/>
              </a:ext>
            </a:extLst>
          </p:cNvPr>
          <p:cNvSpPr>
            <a:spLocks xmlns:a="http://schemas.openxmlformats.org/drawingml/2006/main" noGrp="1"/>
          </p:cNvSpPr>
          <p:nvPr/>
        </p:nvSpPr>
        <p:spPr>
          <a:xfrm xmlns:a="http://schemas.openxmlformats.org/drawingml/2006/main">
            <a:off x="8001000" y="3401568"/>
            <a:ext cx="3200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8202E"/>
                </a:solidFill>
                <a:latin typeface="Malgun Gothic"/>
                <a:ea typeface="Malgun Gothic"/>
                <a:cs typeface="Malgun Gothic"/>
              </a:rPr>
              <a:t>LLM은 선택 부품</a:t>
            </a:r>
          </a:p>
        </p:txBody>
      </p:sp>
      <p:sp>
        <p:nvSpPr>
          <p:cNvPr id="32" name="Text 30">
            <a:extLst xmlns:a="http://schemas.openxmlformats.org/drawingml/2006/main">
              <a:ext uri="{FF2B5EF4-FFF2-40B4-BE49-F238E27FC236}">
                <a16:creationId xmlns:a16="http://schemas.microsoft.com/office/drawing/2014/main" id="{E7825333-B91C-4FF3-9FD5-98EAC49EF89F}"/>
              </a:ext>
            </a:extLst>
          </p:cNvPr>
          <p:cNvSpPr>
            <a:spLocks xmlns:a="http://schemas.openxmlformats.org/drawingml/2006/main" noGrp="1"/>
          </p:cNvSpPr>
          <p:nvPr/>
        </p:nvSpPr>
        <p:spPr>
          <a:xfrm xmlns:a="http://schemas.openxmlformats.org/drawingml/2006/main">
            <a:off x="8001000" y="3703320"/>
            <a:ext cx="32461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A6474"/>
                </a:solidFill>
                <a:latin typeface="Malgun Gothic"/>
                <a:ea typeface="Malgun Gothic"/>
                <a:cs typeface="Malgun Gothic"/>
              </a:rPr>
              <a:t>명확한 잡담·범위 밖 금융·코딩/요리는 룰 기반으로 즉시 응답. 애매한 질문만 Haiku가 allowed·route 구조로 분류합니다.</a:t>
            </a:r>
          </a:p>
        </p:txBody>
      </p:sp>
      <p:sp>
        <p:nvSpPr>
          <p:cNvPr id="33" name="Text 31">
            <a:extLst xmlns:a="http://schemas.openxmlformats.org/drawingml/2006/main">
              <a:ext uri="{FF2B5EF4-FFF2-40B4-BE49-F238E27FC236}">
                <a16:creationId xmlns:a16="http://schemas.microsoft.com/office/drawing/2014/main" id="{E4981DE3-550F-4589-B768-F2AB8AB5E838}"/>
              </a:ext>
            </a:extLst>
          </p:cNvPr>
          <p:cNvSpPr>
            <a:spLocks xmlns:a="http://schemas.openxmlformats.org/drawingml/2006/main" noGrp="1"/>
          </p:cNvSpPr>
          <p:nvPr/>
        </p:nvSpPr>
        <p:spPr>
          <a:xfrm xmlns:a="http://schemas.openxmlformats.org/drawingml/2006/main">
            <a:off x="548640" y="5166360"/>
            <a:ext cx="118872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1차 룰 기반</a:t>
            </a:r>
          </a:p>
        </p:txBody>
      </p:sp>
      <p:sp>
        <p:nvSpPr>
          <p:cNvPr id="34" name="Text 32">
            <a:extLst xmlns:a="http://schemas.openxmlformats.org/drawingml/2006/main">
              <a:ext uri="{FF2B5EF4-FFF2-40B4-BE49-F238E27FC236}">
                <a16:creationId xmlns:a16="http://schemas.microsoft.com/office/drawing/2014/main" id="{2240C9A4-489A-447E-BA12-37FB8C29D5E7}"/>
              </a:ext>
            </a:extLst>
          </p:cNvPr>
          <p:cNvSpPr>
            <a:spLocks xmlns:a="http://schemas.openxmlformats.org/drawingml/2006/main" noGrp="1"/>
          </p:cNvSpPr>
          <p:nvPr/>
        </p:nvSpPr>
        <p:spPr>
          <a:xfrm xmlns:a="http://schemas.openxmlformats.org/drawingml/2006/main">
            <a:off x="1901952" y="5166360"/>
            <a:ext cx="137160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애매한 경우만 Haiku</a:t>
            </a:r>
          </a:p>
        </p:txBody>
      </p:sp>
      <p:sp>
        <p:nvSpPr>
          <p:cNvPr id="35" name="Text 33">
            <a:extLst xmlns:a="http://schemas.openxmlformats.org/drawingml/2006/main">
              <a:ext uri="{FF2B5EF4-FFF2-40B4-BE49-F238E27FC236}">
                <a16:creationId xmlns:a16="http://schemas.microsoft.com/office/drawing/2014/main" id="{5071B7F3-49FC-4677-8EFC-BAE1D4B2A954}"/>
              </a:ext>
            </a:extLst>
          </p:cNvPr>
          <p:cNvSpPr>
            <a:spLocks xmlns:a="http://schemas.openxmlformats.org/drawingml/2006/main" noGrp="1"/>
          </p:cNvSpPr>
          <p:nvPr/>
        </p:nvSpPr>
        <p:spPr>
          <a:xfrm xmlns:a="http://schemas.openxmlformats.org/drawingml/2006/main">
            <a:off x="3438144" y="5166360"/>
            <a:ext cx="150876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가드 최대 64토큰</a:t>
            </a:r>
          </a:p>
        </p:txBody>
      </p:sp>
      <p:sp>
        <p:nvSpPr>
          <p:cNvPr id="36" name="Text 34">
            <a:extLst xmlns:a="http://schemas.openxmlformats.org/drawingml/2006/main">
              <a:ext uri="{FF2B5EF4-FFF2-40B4-BE49-F238E27FC236}">
                <a16:creationId xmlns:a16="http://schemas.microsoft.com/office/drawing/2014/main" id="{52673E83-CB67-44B9-8317-6F6C4D0641F8}"/>
              </a:ext>
            </a:extLst>
          </p:cNvPr>
          <p:cNvSpPr>
            <a:spLocks xmlns:a="http://schemas.openxmlformats.org/drawingml/2006/main" noGrp="1"/>
          </p:cNvSpPr>
          <p:nvPr/>
        </p:nvSpPr>
        <p:spPr>
          <a:xfrm xmlns:a="http://schemas.openxmlformats.org/drawingml/2006/main">
            <a:off x="5111496" y="5166360"/>
            <a:ext cx="123444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일상잡담 0 LLM</a:t>
            </a:r>
          </a:p>
        </p:txBody>
      </p:sp>
      <p:sp>
        <p:nvSpPr>
          <p:cNvPr id="37" name="Text 35">
            <a:extLst xmlns:a="http://schemas.openxmlformats.org/drawingml/2006/main">
              <a:ext uri="{FF2B5EF4-FFF2-40B4-BE49-F238E27FC236}">
                <a16:creationId xmlns:a16="http://schemas.microsoft.com/office/drawing/2014/main" id="{A5EF46EC-8683-41F2-B6DB-55F3EF66116E}"/>
              </a:ext>
            </a:extLst>
          </p:cNvPr>
          <p:cNvSpPr>
            <a:spLocks xmlns:a="http://schemas.openxmlformats.org/drawingml/2006/main" noGrp="1"/>
          </p:cNvSpPr>
          <p:nvPr/>
        </p:nvSpPr>
        <p:spPr>
          <a:xfrm xmlns:a="http://schemas.openxmlformats.org/drawingml/2006/main">
            <a:off x="6510528" y="5166360"/>
            <a:ext cx="1783080" cy="329184"/>
          </a:xfrm>
          <a:prstGeom xmlns:a="http://schemas.openxmlformats.org/drawingml/2006/main" prst="roundRect">
            <a:avLst>
              <a:gd name="adj" fmla="val 38889"/>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4FD8"/>
                </a:solidFill>
                <a:latin typeface="Malgun Gothic"/>
                <a:ea typeface="Malgun Gothic"/>
                <a:cs typeface="Malgun Gothic"/>
              </a:rPr>
              <a:t>출처 칩 상시</a:t>
            </a:r>
          </a:p>
        </p:txBody>
      </p:sp>
      <p:sp>
        <p:nvSpPr>
          <p:cNvPr id="38" name="Text 36">
            <a:extLst xmlns:a="http://schemas.openxmlformats.org/drawingml/2006/main">
              <a:ext uri="{FF2B5EF4-FFF2-40B4-BE49-F238E27FC236}">
                <a16:creationId xmlns:a16="http://schemas.microsoft.com/office/drawing/2014/main" id="{1C1F85CA-BBD4-4C9C-B579-0C145D86ACFB}"/>
              </a:ext>
            </a:extLst>
          </p:cNvPr>
          <p:cNvSpPr>
            <a:spLocks xmlns:a="http://schemas.openxmlformats.org/drawingml/2006/main" noGrp="1"/>
          </p:cNvSpPr>
          <p:nvPr/>
        </p:nvSpPr>
        <p:spPr>
          <a:xfrm xmlns:a="http://schemas.openxmlformats.org/drawingml/2006/main">
            <a:off x="548640" y="5806440"/>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비용·속도 최적화: 512개 LRU + 프롬프트 캐시 + 실패 시 기존 계획 유지 — 안전 차단은 LLM이 덮어쓰지 못합니다.</a:t>
            </a:r>
          </a:p>
        </p:txBody>
      </p:sp>
      <p:sp>
        <p:nvSpPr>
          <p:cNvPr id="39" name="Text 37">
            <a:extLst xmlns:a="http://schemas.openxmlformats.org/drawingml/2006/main">
              <a:ext uri="{FF2B5EF4-FFF2-40B4-BE49-F238E27FC236}">
                <a16:creationId xmlns:a16="http://schemas.microsoft.com/office/drawing/2014/main" id="{5C60D22D-DE51-4DA7-847F-851B22C6DC65}"/>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10</a:t>
            </a:r>
          </a:p>
        </p:txBody>
      </p:sp>
    </p:spTree>
    <p:extLst>
      <p:ext uri="{BB962C8B-B14F-4D97-AF65-F5344CB8AC3E}">
        <p14:creationId xmlns:p14="http://schemas.microsoft.com/office/powerpoint/2010/main" val="138360245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18FC2F-032A-4B01-82F3-DF239FF195E5}"/>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10 · AI 모델링 — 규칙 엔진</a:t>
            </a:r>
          </a:p>
        </p:txBody>
      </p:sp>
      <p:sp>
        <p:nvSpPr>
          <p:cNvPr id="3" name="Text 1">
            <a:extLst xmlns:a="http://schemas.openxmlformats.org/drawingml/2006/main">
              <a:ext uri="{FF2B5EF4-FFF2-40B4-BE49-F238E27FC236}">
                <a16:creationId xmlns:a16="http://schemas.microsoft.com/office/drawing/2014/main" id="{3302EE52-B34D-4B06-9264-99237AD9E6F9}"/>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AI를 믿는 게 아니라, 법·세제 규칙으로 고정한 계산 구조를 믿는다</a:t>
            </a:r>
          </a:p>
        </p:txBody>
      </p:sp>
      <p:sp>
        <p:nvSpPr>
          <p:cNvPr id="4" name="Text 2">
            <a:extLst xmlns:a="http://schemas.openxmlformats.org/drawingml/2006/main">
              <a:ext uri="{FF2B5EF4-FFF2-40B4-BE49-F238E27FC236}">
                <a16:creationId xmlns:a16="http://schemas.microsoft.com/office/drawing/2014/main" id="{93D3D219-E935-4BFC-8E0C-528EA8A3C1F2}"/>
              </a:ext>
            </a:extLst>
          </p:cNvPr>
          <p:cNvSpPr>
            <a:spLocks xmlns:a="http://schemas.openxmlformats.org/drawingml/2006/main" noGrp="1"/>
          </p:cNvSpPr>
          <p:nvPr/>
        </p:nvSpPr>
        <p:spPr>
          <a:xfrm xmlns:a="http://schemas.openxmlformats.org/drawingml/2006/main">
            <a:off x="548640" y="1417320"/>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핵심 규칙 (법령 · 세법 원문 근거)</a:t>
            </a:r>
          </a:p>
        </p:txBody>
      </p:sp>
      <p:sp>
        <p:nvSpPr>
          <p:cNvPr id="5" name="Shape 3">
            <a:extLst xmlns:a="http://schemas.openxmlformats.org/drawingml/2006/main">
              <a:ext uri="{FF2B5EF4-FFF2-40B4-BE49-F238E27FC236}">
                <a16:creationId xmlns:a16="http://schemas.microsoft.com/office/drawing/2014/main" id="{118FFEF9-A9F1-4224-8394-94C907EA766B}"/>
              </a:ext>
            </a:extLst>
          </p:cNvPr>
          <p:cNvSpPr>
            <a:spLocks xmlns:a="http://schemas.openxmlformats.org/drawingml/2006/main" noGrp="1"/>
          </p:cNvSpPr>
          <p:nvPr/>
        </p:nvSpPr>
        <p:spPr>
          <a:xfrm xmlns:a="http://schemas.openxmlformats.org/drawingml/2006/main">
            <a:off x="548640" y="1783080"/>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6" name="Text 4">
            <a:extLst xmlns:a="http://schemas.openxmlformats.org/drawingml/2006/main">
              <a:ext uri="{FF2B5EF4-FFF2-40B4-BE49-F238E27FC236}">
                <a16:creationId xmlns:a16="http://schemas.microsoft.com/office/drawing/2014/main" id="{5F12976C-A0E6-4539-9617-3150FEFE0715}"/>
              </a:ext>
            </a:extLst>
          </p:cNvPr>
          <p:cNvSpPr>
            <a:spLocks xmlns:a="http://schemas.openxmlformats.org/drawingml/2006/main" noGrp="1"/>
          </p:cNvSpPr>
          <p:nvPr/>
        </p:nvSpPr>
        <p:spPr>
          <a:xfrm xmlns:a="http://schemas.openxmlformats.org/drawingml/2006/main">
            <a:off x="713232" y="1856232"/>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위험자산 70% 한도</a:t>
            </a:r>
          </a:p>
        </p:txBody>
      </p:sp>
      <p:sp>
        <p:nvSpPr>
          <p:cNvPr id="7" name="Text 5">
            <a:extLst xmlns:a="http://schemas.openxmlformats.org/drawingml/2006/main">
              <a:ext uri="{FF2B5EF4-FFF2-40B4-BE49-F238E27FC236}">
                <a16:creationId xmlns:a16="http://schemas.microsoft.com/office/drawing/2014/main" id="{BCD653A9-0F0E-421B-98EC-ACF0D1017B1B}"/>
              </a:ext>
            </a:extLst>
          </p:cNvPr>
          <p:cNvSpPr>
            <a:spLocks xmlns:a="http://schemas.openxmlformats.org/drawingml/2006/main" noGrp="1"/>
          </p:cNvSpPr>
          <p:nvPr/>
        </p:nvSpPr>
        <p:spPr>
          <a:xfrm xmlns:a="http://schemas.openxmlformats.org/drawingml/2006/main">
            <a:off x="2606040" y="1856232"/>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DC·IRP 일반 위험자산 상한 — 적격 TDF·디폴트옵션 예외는 별도 처리</a:t>
            </a:r>
          </a:p>
        </p:txBody>
      </p:sp>
      <p:sp>
        <p:nvSpPr>
          <p:cNvPr id="8" name="Shape 6">
            <a:extLst xmlns:a="http://schemas.openxmlformats.org/drawingml/2006/main">
              <a:ext uri="{FF2B5EF4-FFF2-40B4-BE49-F238E27FC236}">
                <a16:creationId xmlns:a16="http://schemas.microsoft.com/office/drawing/2014/main" id="{061E6820-BFD4-404D-9261-7A51556B400E}"/>
              </a:ext>
            </a:extLst>
          </p:cNvPr>
          <p:cNvSpPr>
            <a:spLocks xmlns:a="http://schemas.openxmlformats.org/drawingml/2006/main" noGrp="1"/>
          </p:cNvSpPr>
          <p:nvPr/>
        </p:nvSpPr>
        <p:spPr>
          <a:xfrm xmlns:a="http://schemas.openxmlformats.org/drawingml/2006/main">
            <a:off x="548640" y="2624328"/>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9" name="Text 7">
            <a:extLst xmlns:a="http://schemas.openxmlformats.org/drawingml/2006/main">
              <a:ext uri="{FF2B5EF4-FFF2-40B4-BE49-F238E27FC236}">
                <a16:creationId xmlns:a16="http://schemas.microsoft.com/office/drawing/2014/main" id="{A8D046E3-3A7F-4091-A93A-7C591ACBA95C}"/>
              </a:ext>
            </a:extLst>
          </p:cNvPr>
          <p:cNvSpPr>
            <a:spLocks xmlns:a="http://schemas.openxmlformats.org/drawingml/2006/main" noGrp="1"/>
          </p:cNvSpPr>
          <p:nvPr/>
        </p:nvSpPr>
        <p:spPr>
          <a:xfrm xmlns:a="http://schemas.openxmlformats.org/drawingml/2006/main">
            <a:off x="713232" y="2697480"/>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세액공제</a:t>
            </a:r>
          </a:p>
        </p:txBody>
      </p:sp>
      <p:sp>
        <p:nvSpPr>
          <p:cNvPr id="10" name="Text 8">
            <a:extLst xmlns:a="http://schemas.openxmlformats.org/drawingml/2006/main">
              <a:ext uri="{FF2B5EF4-FFF2-40B4-BE49-F238E27FC236}">
                <a16:creationId xmlns:a16="http://schemas.microsoft.com/office/drawing/2014/main" id="{529434D1-7D67-48A3-89C9-B1F198B6042C}"/>
              </a:ext>
            </a:extLst>
          </p:cNvPr>
          <p:cNvSpPr>
            <a:spLocks xmlns:a="http://schemas.openxmlformats.org/drawingml/2006/main" noGrp="1"/>
          </p:cNvSpPr>
          <p:nvPr/>
        </p:nvSpPr>
        <p:spPr>
          <a:xfrm xmlns:a="http://schemas.openxmlformats.org/drawingml/2006/main">
            <a:off x="2606040" y="2697480"/>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연금저축 600만 · 합산 900만 원 — 소득구간별 공제율 적용</a:t>
            </a:r>
          </a:p>
        </p:txBody>
      </p:sp>
      <p:sp>
        <p:nvSpPr>
          <p:cNvPr id="11" name="Shape 9">
            <a:extLst xmlns:a="http://schemas.openxmlformats.org/drawingml/2006/main">
              <a:ext uri="{FF2B5EF4-FFF2-40B4-BE49-F238E27FC236}">
                <a16:creationId xmlns:a16="http://schemas.microsoft.com/office/drawing/2014/main" id="{4E0CF7A3-8E22-4F9C-A497-7107D03571EF}"/>
              </a:ext>
            </a:extLst>
          </p:cNvPr>
          <p:cNvSpPr>
            <a:spLocks xmlns:a="http://schemas.openxmlformats.org/drawingml/2006/main" noGrp="1"/>
          </p:cNvSpPr>
          <p:nvPr/>
        </p:nvSpPr>
        <p:spPr>
          <a:xfrm xmlns:a="http://schemas.openxmlformats.org/drawingml/2006/main">
            <a:off x="548640" y="3465576"/>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12" name="Text 10">
            <a:extLst xmlns:a="http://schemas.openxmlformats.org/drawingml/2006/main">
              <a:ext uri="{FF2B5EF4-FFF2-40B4-BE49-F238E27FC236}">
                <a16:creationId xmlns:a16="http://schemas.microsoft.com/office/drawing/2014/main" id="{DFDE376E-D0B5-4B9D-8EDF-0470374F686D}"/>
              </a:ext>
            </a:extLst>
          </p:cNvPr>
          <p:cNvSpPr>
            <a:spLocks xmlns:a="http://schemas.openxmlformats.org/drawingml/2006/main" noGrp="1"/>
          </p:cNvSpPr>
          <p:nvPr/>
        </p:nvSpPr>
        <p:spPr>
          <a:xfrm xmlns:a="http://schemas.openxmlformats.org/drawingml/2006/main">
            <a:off x="713232" y="3538728"/>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연금소득세</a:t>
            </a:r>
          </a:p>
        </p:txBody>
      </p:sp>
      <p:sp>
        <p:nvSpPr>
          <p:cNvPr id="13" name="Text 11">
            <a:extLst xmlns:a="http://schemas.openxmlformats.org/drawingml/2006/main">
              <a:ext uri="{FF2B5EF4-FFF2-40B4-BE49-F238E27FC236}">
                <a16:creationId xmlns:a16="http://schemas.microsoft.com/office/drawing/2014/main" id="{F197DF8F-DA99-4C6C-8285-98FCE153EC7D}"/>
              </a:ext>
            </a:extLst>
          </p:cNvPr>
          <p:cNvSpPr>
            <a:spLocks xmlns:a="http://schemas.openxmlformats.org/drawingml/2006/main" noGrp="1"/>
          </p:cNvSpPr>
          <p:nvPr/>
        </p:nvSpPr>
        <p:spPr>
          <a:xfrm xmlns:a="http://schemas.openxmlformats.org/drawingml/2006/main">
            <a:off x="2606040" y="3538728"/>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연령별 세율과 수령연차를 규칙 엔진이 매년 다시 계산</a:t>
            </a:r>
          </a:p>
        </p:txBody>
      </p:sp>
      <p:sp>
        <p:nvSpPr>
          <p:cNvPr id="14" name="Shape 12">
            <a:extLst xmlns:a="http://schemas.openxmlformats.org/drawingml/2006/main">
              <a:ext uri="{FF2B5EF4-FFF2-40B4-BE49-F238E27FC236}">
                <a16:creationId xmlns:a16="http://schemas.microsoft.com/office/drawing/2014/main" id="{34FDCC19-BDDF-482A-89CB-87C49E987209}"/>
              </a:ext>
            </a:extLst>
          </p:cNvPr>
          <p:cNvSpPr>
            <a:spLocks xmlns:a="http://schemas.openxmlformats.org/drawingml/2006/main" noGrp="1"/>
          </p:cNvSpPr>
          <p:nvPr/>
        </p:nvSpPr>
        <p:spPr>
          <a:xfrm xmlns:a="http://schemas.openxmlformats.org/drawingml/2006/main">
            <a:off x="548640" y="4306824"/>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15" name="Text 13">
            <a:extLst xmlns:a="http://schemas.openxmlformats.org/drawingml/2006/main">
              <a:ext uri="{FF2B5EF4-FFF2-40B4-BE49-F238E27FC236}">
                <a16:creationId xmlns:a16="http://schemas.microsoft.com/office/drawing/2014/main" id="{9147AE78-C60D-461D-AA32-C29D765C6587}"/>
              </a:ext>
            </a:extLst>
          </p:cNvPr>
          <p:cNvSpPr>
            <a:spLocks xmlns:a="http://schemas.openxmlformats.org/drawingml/2006/main" noGrp="1"/>
          </p:cNvSpPr>
          <p:nvPr/>
        </p:nvSpPr>
        <p:spPr>
          <a:xfrm xmlns:a="http://schemas.openxmlformats.org/drawingml/2006/main">
            <a:off x="713232" y="4379976"/>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1,500만 원 룰</a:t>
            </a:r>
          </a:p>
        </p:txBody>
      </p:sp>
      <p:sp>
        <p:nvSpPr>
          <p:cNvPr id="16" name="Text 14">
            <a:extLst xmlns:a="http://schemas.openxmlformats.org/drawingml/2006/main">
              <a:ext uri="{FF2B5EF4-FFF2-40B4-BE49-F238E27FC236}">
                <a16:creationId xmlns:a16="http://schemas.microsoft.com/office/drawing/2014/main" id="{8E5C9A17-EF2A-42DF-9726-3F3B1FF87AEF}"/>
              </a:ext>
            </a:extLst>
          </p:cNvPr>
          <p:cNvSpPr>
            <a:spLocks xmlns:a="http://schemas.openxmlformats.org/drawingml/2006/main" noGrp="1"/>
          </p:cNvSpPr>
          <p:nvPr/>
        </p:nvSpPr>
        <p:spPr>
          <a:xfrm xmlns:a="http://schemas.openxmlformats.org/drawingml/2006/main">
            <a:off x="2606040" y="4379976"/>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연 수령액 기준 초과 가능성을 경고하고 선택 가능한 과세 가정을 구분</a:t>
            </a:r>
          </a:p>
        </p:txBody>
      </p:sp>
      <p:sp>
        <p:nvSpPr>
          <p:cNvPr id="17" name="Shape 15">
            <a:extLst xmlns:a="http://schemas.openxmlformats.org/drawingml/2006/main">
              <a:ext uri="{FF2B5EF4-FFF2-40B4-BE49-F238E27FC236}">
                <a16:creationId xmlns:a16="http://schemas.microsoft.com/office/drawing/2014/main" id="{B001D5DD-3D04-464A-B45B-8DA6CC6A383C}"/>
              </a:ext>
            </a:extLst>
          </p:cNvPr>
          <p:cNvSpPr>
            <a:spLocks xmlns:a="http://schemas.openxmlformats.org/drawingml/2006/main" noGrp="1"/>
          </p:cNvSpPr>
          <p:nvPr/>
        </p:nvSpPr>
        <p:spPr>
          <a:xfrm xmlns:a="http://schemas.openxmlformats.org/drawingml/2006/main">
            <a:off x="548640" y="5148072"/>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18" name="Text 16">
            <a:extLst xmlns:a="http://schemas.openxmlformats.org/drawingml/2006/main">
              <a:ext uri="{FF2B5EF4-FFF2-40B4-BE49-F238E27FC236}">
                <a16:creationId xmlns:a16="http://schemas.microsoft.com/office/drawing/2014/main" id="{E6997409-0C13-4073-BA30-A08D9E74AA36}"/>
              </a:ext>
            </a:extLst>
          </p:cNvPr>
          <p:cNvSpPr>
            <a:spLocks xmlns:a="http://schemas.openxmlformats.org/drawingml/2006/main" noGrp="1"/>
          </p:cNvSpPr>
          <p:nvPr/>
        </p:nvSpPr>
        <p:spPr>
          <a:xfrm xmlns:a="http://schemas.openxmlformats.org/drawingml/2006/main">
            <a:off x="713232" y="5221224"/>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연금수령한도</a:t>
            </a:r>
          </a:p>
        </p:txBody>
      </p:sp>
      <p:sp>
        <p:nvSpPr>
          <p:cNvPr id="19" name="Text 17">
            <a:extLst xmlns:a="http://schemas.openxmlformats.org/drawingml/2006/main">
              <a:ext uri="{FF2B5EF4-FFF2-40B4-BE49-F238E27FC236}">
                <a16:creationId xmlns:a16="http://schemas.microsoft.com/office/drawing/2014/main" id="{99CA749D-B8BE-428A-B0E3-605FF94E04EE}"/>
              </a:ext>
            </a:extLst>
          </p:cNvPr>
          <p:cNvSpPr>
            <a:spLocks xmlns:a="http://schemas.openxmlformats.org/drawingml/2006/main" noGrp="1"/>
          </p:cNvSpPr>
          <p:nvPr/>
        </p:nvSpPr>
        <p:spPr>
          <a:xfrm xmlns:a="http://schemas.openxmlformats.org/drawingml/2006/main">
            <a:off x="2606040" y="5221224"/>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평가액·수령연차 기반 한도를 계산하고 초과 여부를 분리 표시</a:t>
            </a:r>
          </a:p>
        </p:txBody>
      </p:sp>
      <p:sp>
        <p:nvSpPr>
          <p:cNvPr id="20" name="Text 18">
            <a:extLst xmlns:a="http://schemas.openxmlformats.org/drawingml/2006/main">
              <a:ext uri="{FF2B5EF4-FFF2-40B4-BE49-F238E27FC236}">
                <a16:creationId xmlns:a16="http://schemas.microsoft.com/office/drawing/2014/main" id="{B1C449CC-A9F8-4282-B7C9-CF1BCA5B41C7}"/>
              </a:ext>
            </a:extLst>
          </p:cNvPr>
          <p:cNvSpPr>
            <a:spLocks xmlns:a="http://schemas.openxmlformats.org/drawingml/2006/main" noGrp="1"/>
          </p:cNvSpPr>
          <p:nvPr/>
        </p:nvSpPr>
        <p:spPr>
          <a:xfrm xmlns:a="http://schemas.openxmlformats.org/drawingml/2006/main">
            <a:off x="6263640" y="1417320"/>
            <a:ext cx="5120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교육용 포트폴리오 파이프라인</a:t>
            </a:r>
          </a:p>
        </p:txBody>
      </p:sp>
      <p:sp>
        <p:nvSpPr>
          <p:cNvPr id="21" name="Shape 19">
            <a:extLst xmlns:a="http://schemas.openxmlformats.org/drawingml/2006/main">
              <a:ext uri="{FF2B5EF4-FFF2-40B4-BE49-F238E27FC236}">
                <a16:creationId xmlns:a16="http://schemas.microsoft.com/office/drawing/2014/main" id="{BF42CB23-6053-4187-B420-44FC94D0FF47}"/>
              </a:ext>
            </a:extLst>
          </p:cNvPr>
          <p:cNvSpPr>
            <a:spLocks xmlns:a="http://schemas.openxmlformats.org/drawingml/2006/main" noGrp="1"/>
          </p:cNvSpPr>
          <p:nvPr/>
        </p:nvSpPr>
        <p:spPr>
          <a:xfrm xmlns:a="http://schemas.openxmlformats.org/drawingml/2006/main">
            <a:off x="6263640" y="1783080"/>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22" name="Shape 20">
            <a:extLst xmlns:a="http://schemas.openxmlformats.org/drawingml/2006/main">
              <a:ext uri="{FF2B5EF4-FFF2-40B4-BE49-F238E27FC236}">
                <a16:creationId xmlns:a16="http://schemas.microsoft.com/office/drawing/2014/main" id="{B31FCB9E-4D1C-4BE2-A8DC-52D588BCFB9C}"/>
              </a:ext>
            </a:extLst>
          </p:cNvPr>
          <p:cNvSpPr>
            <a:spLocks xmlns:a="http://schemas.openxmlformats.org/drawingml/2006/main" noGrp="1"/>
          </p:cNvSpPr>
          <p:nvPr/>
        </p:nvSpPr>
        <p:spPr>
          <a:xfrm xmlns:a="http://schemas.openxmlformats.org/drawingml/2006/main">
            <a:off x="6391656" y="1911096"/>
            <a:ext cx="274320" cy="274320"/>
          </a:xfrm>
          <a:prstGeom xmlns:a="http://schemas.openxmlformats.org/drawingml/2006/main" prst="ellipse">
            <a:avLst/>
          </a:prstGeom>
          <a:solidFill xmlns:a="http://schemas.openxmlformats.org/drawingml/2006/main">
            <a:srgbClr val="1A4FD8"/>
          </a:solidFill>
        </p:spPr>
      </p:sp>
      <p:sp>
        <p:nvSpPr>
          <p:cNvPr id="23" name="Text 21">
            <a:extLst xmlns:a="http://schemas.openxmlformats.org/drawingml/2006/main">
              <a:ext uri="{FF2B5EF4-FFF2-40B4-BE49-F238E27FC236}">
                <a16:creationId xmlns:a16="http://schemas.microsoft.com/office/drawing/2014/main" id="{EA9321AC-8D8B-459B-8921-624F729005B8}"/>
              </a:ext>
            </a:extLst>
          </p:cNvPr>
          <p:cNvSpPr>
            <a:spLocks xmlns:a="http://schemas.openxmlformats.org/drawingml/2006/main" noGrp="1"/>
          </p:cNvSpPr>
          <p:nvPr/>
        </p:nvSpPr>
        <p:spPr>
          <a:xfrm xmlns:a="http://schemas.openxmlformats.org/drawingml/2006/main">
            <a:off x="6391656" y="1911096"/>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1</a:t>
            </a:r>
          </a:p>
        </p:txBody>
      </p:sp>
      <p:sp>
        <p:nvSpPr>
          <p:cNvPr id="24" name="Text 22">
            <a:extLst xmlns:a="http://schemas.openxmlformats.org/drawingml/2006/main">
              <a:ext uri="{FF2B5EF4-FFF2-40B4-BE49-F238E27FC236}">
                <a16:creationId xmlns:a16="http://schemas.microsoft.com/office/drawing/2014/main" id="{41EF50F4-A774-4941-AE89-7D167FE291D8}"/>
              </a:ext>
            </a:extLst>
          </p:cNvPr>
          <p:cNvSpPr>
            <a:spLocks xmlns:a="http://schemas.openxmlformats.org/drawingml/2006/main" noGrp="1"/>
          </p:cNvSpPr>
          <p:nvPr/>
        </p:nvSpPr>
        <p:spPr>
          <a:xfrm xmlns:a="http://schemas.openxmlformats.org/drawingml/2006/main">
            <a:off x="6739128" y="1892808"/>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목표 배분</a:t>
            </a:r>
          </a:p>
        </p:txBody>
      </p:sp>
      <p:sp>
        <p:nvSpPr>
          <p:cNvPr id="25" name="Text 23">
            <a:extLst xmlns:a="http://schemas.openxmlformats.org/drawingml/2006/main">
              <a:ext uri="{FF2B5EF4-FFF2-40B4-BE49-F238E27FC236}">
                <a16:creationId xmlns:a16="http://schemas.microsoft.com/office/drawing/2014/main" id="{6BB0BA20-A42A-45C5-A6DA-C41551DBAA62}"/>
              </a:ext>
            </a:extLst>
          </p:cNvPr>
          <p:cNvSpPr>
            <a:spLocks xmlns:a="http://schemas.openxmlformats.org/drawingml/2006/main" noGrp="1"/>
          </p:cNvSpPr>
          <p:nvPr/>
        </p:nvSpPr>
        <p:spPr>
          <a:xfrm xmlns:a="http://schemas.openxmlformats.org/drawingml/2006/main">
            <a:off x="8641080" y="1856232"/>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성향 5단계 × 나이·은퇴 시점 × 계좌별 위험 한도</a:t>
            </a:r>
          </a:p>
        </p:txBody>
      </p:sp>
      <p:sp>
        <p:nvSpPr>
          <p:cNvPr id="26" name="Shape 24">
            <a:extLst xmlns:a="http://schemas.openxmlformats.org/drawingml/2006/main">
              <a:ext uri="{FF2B5EF4-FFF2-40B4-BE49-F238E27FC236}">
                <a16:creationId xmlns:a16="http://schemas.microsoft.com/office/drawing/2014/main" id="{5E51CF46-F803-4D8A-96A2-653A1FD8D34B}"/>
              </a:ext>
            </a:extLst>
          </p:cNvPr>
          <p:cNvSpPr>
            <a:spLocks xmlns:a="http://schemas.openxmlformats.org/drawingml/2006/main" noGrp="1"/>
          </p:cNvSpPr>
          <p:nvPr/>
        </p:nvSpPr>
        <p:spPr>
          <a:xfrm xmlns:a="http://schemas.openxmlformats.org/drawingml/2006/main">
            <a:off x="6263640" y="2624328"/>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27" name="Shape 25">
            <a:extLst xmlns:a="http://schemas.openxmlformats.org/drawingml/2006/main">
              <a:ext uri="{FF2B5EF4-FFF2-40B4-BE49-F238E27FC236}">
                <a16:creationId xmlns:a16="http://schemas.microsoft.com/office/drawing/2014/main" id="{7FCB0C4C-1474-4D37-8CCA-F3675CA75DBE}"/>
              </a:ext>
            </a:extLst>
          </p:cNvPr>
          <p:cNvSpPr>
            <a:spLocks xmlns:a="http://schemas.openxmlformats.org/drawingml/2006/main" noGrp="1"/>
          </p:cNvSpPr>
          <p:nvPr/>
        </p:nvSpPr>
        <p:spPr>
          <a:xfrm xmlns:a="http://schemas.openxmlformats.org/drawingml/2006/main">
            <a:off x="6391656" y="2752344"/>
            <a:ext cx="274320" cy="274320"/>
          </a:xfrm>
          <a:prstGeom xmlns:a="http://schemas.openxmlformats.org/drawingml/2006/main" prst="ellipse">
            <a:avLst/>
          </a:prstGeom>
          <a:solidFill xmlns:a="http://schemas.openxmlformats.org/drawingml/2006/main">
            <a:srgbClr val="1A4FD8"/>
          </a:solidFill>
        </p:spPr>
      </p:sp>
      <p:sp>
        <p:nvSpPr>
          <p:cNvPr id="28" name="Text 26">
            <a:extLst xmlns:a="http://schemas.openxmlformats.org/drawingml/2006/main">
              <a:ext uri="{FF2B5EF4-FFF2-40B4-BE49-F238E27FC236}">
                <a16:creationId xmlns:a16="http://schemas.microsoft.com/office/drawing/2014/main" id="{65942034-CF18-40A6-B065-BB27B0C7A25C}"/>
              </a:ext>
            </a:extLst>
          </p:cNvPr>
          <p:cNvSpPr>
            <a:spLocks xmlns:a="http://schemas.openxmlformats.org/drawingml/2006/main" noGrp="1"/>
          </p:cNvSpPr>
          <p:nvPr/>
        </p:nvSpPr>
        <p:spPr>
          <a:xfrm xmlns:a="http://schemas.openxmlformats.org/drawingml/2006/main">
            <a:off x="6391656" y="275234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2</a:t>
            </a:r>
          </a:p>
        </p:txBody>
      </p:sp>
      <p:sp>
        <p:nvSpPr>
          <p:cNvPr id="29" name="Text 27">
            <a:extLst xmlns:a="http://schemas.openxmlformats.org/drawingml/2006/main">
              <a:ext uri="{FF2B5EF4-FFF2-40B4-BE49-F238E27FC236}">
                <a16:creationId xmlns:a16="http://schemas.microsoft.com/office/drawing/2014/main" id="{864314C9-58EC-4112-A44C-DD44B60818C1}"/>
              </a:ext>
            </a:extLst>
          </p:cNvPr>
          <p:cNvSpPr>
            <a:spLocks xmlns:a="http://schemas.openxmlformats.org/drawingml/2006/main" noGrp="1"/>
          </p:cNvSpPr>
          <p:nvPr/>
        </p:nvSpPr>
        <p:spPr>
          <a:xfrm xmlns:a="http://schemas.openxmlformats.org/drawingml/2006/main">
            <a:off x="6739128" y="2734056"/>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후보 선정</a:t>
            </a:r>
          </a:p>
        </p:txBody>
      </p:sp>
      <p:sp>
        <p:nvSpPr>
          <p:cNvPr id="30" name="Text 28">
            <a:extLst xmlns:a="http://schemas.openxmlformats.org/drawingml/2006/main">
              <a:ext uri="{FF2B5EF4-FFF2-40B4-BE49-F238E27FC236}">
                <a16:creationId xmlns:a16="http://schemas.microsoft.com/office/drawing/2014/main" id="{355CE65D-D609-4637-98A2-71C81A60D842}"/>
              </a:ext>
            </a:extLst>
          </p:cNvPr>
          <p:cNvSpPr>
            <a:spLocks xmlns:a="http://schemas.openxmlformats.org/drawingml/2006/main" noGrp="1"/>
          </p:cNvSpPr>
          <p:nvPr/>
        </p:nvSpPr>
        <p:spPr>
          <a:xfrm xmlns:a="http://schemas.openxmlformats.org/drawingml/2006/main">
            <a:off x="8641080" y="2697480"/>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비용·유동성·규모·NAV·추적오차·이력 품질로 스코어링</a:t>
            </a:r>
          </a:p>
        </p:txBody>
      </p:sp>
      <p:sp>
        <p:nvSpPr>
          <p:cNvPr id="31" name="Shape 29">
            <a:extLst xmlns:a="http://schemas.openxmlformats.org/drawingml/2006/main">
              <a:ext uri="{FF2B5EF4-FFF2-40B4-BE49-F238E27FC236}">
                <a16:creationId xmlns:a16="http://schemas.microsoft.com/office/drawing/2014/main" id="{53092368-0771-4965-B214-A0006E3AA74A}"/>
              </a:ext>
            </a:extLst>
          </p:cNvPr>
          <p:cNvSpPr>
            <a:spLocks xmlns:a="http://schemas.openxmlformats.org/drawingml/2006/main" noGrp="1"/>
          </p:cNvSpPr>
          <p:nvPr/>
        </p:nvSpPr>
        <p:spPr>
          <a:xfrm xmlns:a="http://schemas.openxmlformats.org/drawingml/2006/main">
            <a:off x="6263640" y="3465576"/>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32" name="Shape 30">
            <a:extLst xmlns:a="http://schemas.openxmlformats.org/drawingml/2006/main">
              <a:ext uri="{FF2B5EF4-FFF2-40B4-BE49-F238E27FC236}">
                <a16:creationId xmlns:a16="http://schemas.microsoft.com/office/drawing/2014/main" id="{F47862BA-389A-4CA0-944F-2567CACA34F7}"/>
              </a:ext>
            </a:extLst>
          </p:cNvPr>
          <p:cNvSpPr>
            <a:spLocks xmlns:a="http://schemas.openxmlformats.org/drawingml/2006/main" noGrp="1"/>
          </p:cNvSpPr>
          <p:nvPr/>
        </p:nvSpPr>
        <p:spPr>
          <a:xfrm xmlns:a="http://schemas.openxmlformats.org/drawingml/2006/main">
            <a:off x="6391656" y="3593592"/>
            <a:ext cx="274320" cy="274320"/>
          </a:xfrm>
          <a:prstGeom xmlns:a="http://schemas.openxmlformats.org/drawingml/2006/main" prst="ellipse">
            <a:avLst/>
          </a:prstGeom>
          <a:solidFill xmlns:a="http://schemas.openxmlformats.org/drawingml/2006/main">
            <a:srgbClr val="1A4FD8"/>
          </a:solidFill>
        </p:spPr>
      </p:sp>
      <p:sp>
        <p:nvSpPr>
          <p:cNvPr id="33" name="Text 31">
            <a:extLst xmlns:a="http://schemas.openxmlformats.org/drawingml/2006/main">
              <a:ext uri="{FF2B5EF4-FFF2-40B4-BE49-F238E27FC236}">
                <a16:creationId xmlns:a16="http://schemas.microsoft.com/office/drawing/2014/main" id="{2A5DF236-DD85-42D1-B04D-9F48DE513ACC}"/>
              </a:ext>
            </a:extLst>
          </p:cNvPr>
          <p:cNvSpPr>
            <a:spLocks xmlns:a="http://schemas.openxmlformats.org/drawingml/2006/main" noGrp="1"/>
          </p:cNvSpPr>
          <p:nvPr/>
        </p:nvSpPr>
        <p:spPr>
          <a:xfrm xmlns:a="http://schemas.openxmlformats.org/drawingml/2006/main">
            <a:off x="6391656" y="3593592"/>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3</a:t>
            </a:r>
          </a:p>
        </p:txBody>
      </p:sp>
      <p:sp>
        <p:nvSpPr>
          <p:cNvPr id="34" name="Text 32">
            <a:extLst xmlns:a="http://schemas.openxmlformats.org/drawingml/2006/main">
              <a:ext uri="{FF2B5EF4-FFF2-40B4-BE49-F238E27FC236}">
                <a16:creationId xmlns:a16="http://schemas.microsoft.com/office/drawing/2014/main" id="{273E9974-AADE-482A-8130-AFBD85C592B5}"/>
              </a:ext>
            </a:extLst>
          </p:cNvPr>
          <p:cNvSpPr>
            <a:spLocks xmlns:a="http://schemas.openxmlformats.org/drawingml/2006/main" noGrp="1"/>
          </p:cNvSpPr>
          <p:nvPr/>
        </p:nvSpPr>
        <p:spPr>
          <a:xfrm xmlns:a="http://schemas.openxmlformats.org/drawingml/2006/main">
            <a:off x="6739128" y="3575304"/>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과거 위험 통계</a:t>
            </a:r>
          </a:p>
        </p:txBody>
      </p:sp>
      <p:sp>
        <p:nvSpPr>
          <p:cNvPr id="35" name="Text 33">
            <a:extLst xmlns:a="http://schemas.openxmlformats.org/drawingml/2006/main">
              <a:ext uri="{FF2B5EF4-FFF2-40B4-BE49-F238E27FC236}">
                <a16:creationId xmlns:a16="http://schemas.microsoft.com/office/drawing/2014/main" id="{A1CC0361-ACE8-4B34-9AD3-0E6BF52ED69B}"/>
              </a:ext>
            </a:extLst>
          </p:cNvPr>
          <p:cNvSpPr>
            <a:spLocks xmlns:a="http://schemas.openxmlformats.org/drawingml/2006/main" noGrp="1"/>
          </p:cNvSpPr>
          <p:nvPr/>
        </p:nvSpPr>
        <p:spPr>
          <a:xfrm xmlns:a="http://schemas.openxmlformats.org/drawingml/2006/main">
            <a:off x="8641080" y="3538728"/>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변동성 · MDD · VaR95 · 다운사이드 위험</a:t>
            </a:r>
          </a:p>
        </p:txBody>
      </p:sp>
      <p:sp>
        <p:nvSpPr>
          <p:cNvPr id="36" name="Shape 34">
            <a:extLst xmlns:a="http://schemas.openxmlformats.org/drawingml/2006/main">
              <a:ext uri="{FF2B5EF4-FFF2-40B4-BE49-F238E27FC236}">
                <a16:creationId xmlns:a16="http://schemas.microsoft.com/office/drawing/2014/main" id="{EB101A0B-7E13-4D1B-8B50-17410EC6E686}"/>
              </a:ext>
            </a:extLst>
          </p:cNvPr>
          <p:cNvSpPr>
            <a:spLocks xmlns:a="http://schemas.openxmlformats.org/drawingml/2006/main" noGrp="1"/>
          </p:cNvSpPr>
          <p:nvPr/>
        </p:nvSpPr>
        <p:spPr>
          <a:xfrm xmlns:a="http://schemas.openxmlformats.org/drawingml/2006/main">
            <a:off x="6263640" y="4306824"/>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37" name="Shape 35">
            <a:extLst xmlns:a="http://schemas.openxmlformats.org/drawingml/2006/main">
              <a:ext uri="{FF2B5EF4-FFF2-40B4-BE49-F238E27FC236}">
                <a16:creationId xmlns:a16="http://schemas.microsoft.com/office/drawing/2014/main" id="{5CC8AE73-561B-4A66-A137-C76DD09D621D}"/>
              </a:ext>
            </a:extLst>
          </p:cNvPr>
          <p:cNvSpPr>
            <a:spLocks xmlns:a="http://schemas.openxmlformats.org/drawingml/2006/main" noGrp="1"/>
          </p:cNvSpPr>
          <p:nvPr/>
        </p:nvSpPr>
        <p:spPr>
          <a:xfrm xmlns:a="http://schemas.openxmlformats.org/drawingml/2006/main">
            <a:off x="6391656" y="4434840"/>
            <a:ext cx="274320" cy="274320"/>
          </a:xfrm>
          <a:prstGeom xmlns:a="http://schemas.openxmlformats.org/drawingml/2006/main" prst="ellipse">
            <a:avLst/>
          </a:prstGeom>
          <a:solidFill xmlns:a="http://schemas.openxmlformats.org/drawingml/2006/main">
            <a:srgbClr val="1A4FD8"/>
          </a:solidFill>
        </p:spPr>
      </p:sp>
      <p:sp>
        <p:nvSpPr>
          <p:cNvPr id="38" name="Text 36">
            <a:extLst xmlns:a="http://schemas.openxmlformats.org/drawingml/2006/main">
              <a:ext uri="{FF2B5EF4-FFF2-40B4-BE49-F238E27FC236}">
                <a16:creationId xmlns:a16="http://schemas.microsoft.com/office/drawing/2014/main" id="{BA025109-40B8-4600-AB05-4413F31B88FD}"/>
              </a:ext>
            </a:extLst>
          </p:cNvPr>
          <p:cNvSpPr>
            <a:spLocks xmlns:a="http://schemas.openxmlformats.org/drawingml/2006/main" noGrp="1"/>
          </p:cNvSpPr>
          <p:nvPr/>
        </p:nvSpPr>
        <p:spPr>
          <a:xfrm xmlns:a="http://schemas.openxmlformats.org/drawingml/2006/main">
            <a:off x="6391656" y="44348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4</a:t>
            </a:r>
          </a:p>
        </p:txBody>
      </p:sp>
      <p:sp>
        <p:nvSpPr>
          <p:cNvPr id="39" name="Text 37">
            <a:extLst xmlns:a="http://schemas.openxmlformats.org/drawingml/2006/main">
              <a:ext uri="{FF2B5EF4-FFF2-40B4-BE49-F238E27FC236}">
                <a16:creationId xmlns:a16="http://schemas.microsoft.com/office/drawing/2014/main" id="{9D088360-2521-4FD0-B329-F51E3376CD19}"/>
              </a:ext>
            </a:extLst>
          </p:cNvPr>
          <p:cNvSpPr>
            <a:spLocks xmlns:a="http://schemas.openxmlformats.org/drawingml/2006/main" noGrp="1"/>
          </p:cNvSpPr>
          <p:nvPr/>
        </p:nvSpPr>
        <p:spPr>
          <a:xfrm xmlns:a="http://schemas.openxmlformats.org/drawingml/2006/main">
            <a:off x="6739128" y="4416552"/>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스트레스 3종</a:t>
            </a:r>
          </a:p>
        </p:txBody>
      </p:sp>
      <p:sp>
        <p:nvSpPr>
          <p:cNvPr id="40" name="Text 38">
            <a:extLst xmlns:a="http://schemas.openxmlformats.org/drawingml/2006/main">
              <a:ext uri="{FF2B5EF4-FFF2-40B4-BE49-F238E27FC236}">
                <a16:creationId xmlns:a16="http://schemas.microsoft.com/office/drawing/2014/main" id="{1E52C06D-D14D-4D3E-A832-5727305EB593}"/>
              </a:ext>
            </a:extLst>
          </p:cNvPr>
          <p:cNvSpPr>
            <a:spLocks xmlns:a="http://schemas.openxmlformats.org/drawingml/2006/main" noGrp="1"/>
          </p:cNvSpPr>
          <p:nvPr/>
        </p:nvSpPr>
        <p:spPr>
          <a:xfrm xmlns:a="http://schemas.openxmlformats.org/drawingml/2006/main">
            <a:off x="8641080" y="4379976"/>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주식 급락 · 금리/물가 충격 · 스태그플레이션</a:t>
            </a:r>
          </a:p>
        </p:txBody>
      </p:sp>
      <p:sp>
        <p:nvSpPr>
          <p:cNvPr id="41" name="Shape 39">
            <a:extLst xmlns:a="http://schemas.openxmlformats.org/drawingml/2006/main">
              <a:ext uri="{FF2B5EF4-FFF2-40B4-BE49-F238E27FC236}">
                <a16:creationId xmlns:a16="http://schemas.microsoft.com/office/drawing/2014/main" id="{4BE7996C-4A03-4F6C-9543-9A574D966251}"/>
              </a:ext>
            </a:extLst>
          </p:cNvPr>
          <p:cNvSpPr>
            <a:spLocks xmlns:a="http://schemas.openxmlformats.org/drawingml/2006/main" noGrp="1"/>
          </p:cNvSpPr>
          <p:nvPr/>
        </p:nvSpPr>
        <p:spPr>
          <a:xfrm xmlns:a="http://schemas.openxmlformats.org/drawingml/2006/main">
            <a:off x="6263640" y="5148072"/>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42" name="Shape 40">
            <a:extLst xmlns:a="http://schemas.openxmlformats.org/drawingml/2006/main">
              <a:ext uri="{FF2B5EF4-FFF2-40B4-BE49-F238E27FC236}">
                <a16:creationId xmlns:a16="http://schemas.microsoft.com/office/drawing/2014/main" id="{1D360315-4A37-482D-8FFB-A4A9B64C34CF}"/>
              </a:ext>
            </a:extLst>
          </p:cNvPr>
          <p:cNvSpPr>
            <a:spLocks xmlns:a="http://schemas.openxmlformats.org/drawingml/2006/main" noGrp="1"/>
          </p:cNvSpPr>
          <p:nvPr/>
        </p:nvSpPr>
        <p:spPr>
          <a:xfrm xmlns:a="http://schemas.openxmlformats.org/drawingml/2006/main">
            <a:off x="6391656" y="5276088"/>
            <a:ext cx="274320" cy="274320"/>
          </a:xfrm>
          <a:prstGeom xmlns:a="http://schemas.openxmlformats.org/drawingml/2006/main" prst="ellipse">
            <a:avLst/>
          </a:prstGeom>
          <a:solidFill xmlns:a="http://schemas.openxmlformats.org/drawingml/2006/main">
            <a:srgbClr val="1A4FD8"/>
          </a:solidFill>
        </p:spPr>
      </p:sp>
      <p:sp>
        <p:nvSpPr>
          <p:cNvPr id="43" name="Text 41">
            <a:extLst xmlns:a="http://schemas.openxmlformats.org/drawingml/2006/main">
              <a:ext uri="{FF2B5EF4-FFF2-40B4-BE49-F238E27FC236}">
                <a16:creationId xmlns:a16="http://schemas.microsoft.com/office/drawing/2014/main" id="{7043ADAB-1597-438E-919C-1E5F24EA18CB}"/>
              </a:ext>
            </a:extLst>
          </p:cNvPr>
          <p:cNvSpPr>
            <a:spLocks xmlns:a="http://schemas.openxmlformats.org/drawingml/2006/main" noGrp="1"/>
          </p:cNvSpPr>
          <p:nvPr/>
        </p:nvSpPr>
        <p:spPr>
          <a:xfrm xmlns:a="http://schemas.openxmlformats.org/drawingml/2006/main">
            <a:off x="6391656" y="5276088"/>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5</a:t>
            </a:r>
          </a:p>
        </p:txBody>
      </p:sp>
      <p:sp>
        <p:nvSpPr>
          <p:cNvPr id="44" name="Text 42">
            <a:extLst xmlns:a="http://schemas.openxmlformats.org/drawingml/2006/main">
              <a:ext uri="{FF2B5EF4-FFF2-40B4-BE49-F238E27FC236}">
                <a16:creationId xmlns:a16="http://schemas.microsoft.com/office/drawing/2014/main" id="{B022469D-CCBB-40F5-B36D-D176B924CCDD}"/>
              </a:ext>
            </a:extLst>
          </p:cNvPr>
          <p:cNvSpPr>
            <a:spLocks xmlns:a="http://schemas.openxmlformats.org/drawingml/2006/main" noGrp="1"/>
          </p:cNvSpPr>
          <p:nvPr/>
        </p:nvSpPr>
        <p:spPr>
          <a:xfrm xmlns:a="http://schemas.openxmlformats.org/drawingml/2006/main">
            <a:off x="6739128" y="5257800"/>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계획가정 · 리밸런싱</a:t>
            </a:r>
          </a:p>
        </p:txBody>
      </p:sp>
      <p:sp>
        <p:nvSpPr>
          <p:cNvPr id="45" name="Text 43">
            <a:extLst xmlns:a="http://schemas.openxmlformats.org/drawingml/2006/main">
              <a:ext uri="{FF2B5EF4-FFF2-40B4-BE49-F238E27FC236}">
                <a16:creationId xmlns:a16="http://schemas.microsoft.com/office/drawing/2014/main" id="{A0083728-2DC4-4E98-9C65-989918CABFB8}"/>
              </a:ext>
            </a:extLst>
          </p:cNvPr>
          <p:cNvSpPr>
            <a:spLocks xmlns:a="http://schemas.openxmlformats.org/drawingml/2006/main" noGrp="1"/>
          </p:cNvSpPr>
          <p:nvPr/>
        </p:nvSpPr>
        <p:spPr>
          <a:xfrm xmlns:a="http://schemas.openxmlformats.org/drawingml/2006/main">
            <a:off x="8641080" y="5221224"/>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승인 CMA − 비용 − 불확실성 할인 · 이탈 기준 안내</a:t>
            </a:r>
          </a:p>
        </p:txBody>
      </p:sp>
      <p:sp>
        <p:nvSpPr>
          <p:cNvPr id="46" name="Shape 44">
            <a:extLst xmlns:a="http://schemas.openxmlformats.org/drawingml/2006/main">
              <a:ext uri="{FF2B5EF4-FFF2-40B4-BE49-F238E27FC236}">
                <a16:creationId xmlns:a16="http://schemas.microsoft.com/office/drawing/2014/main" id="{6C710C87-F98C-4277-A300-04AC22F42387}"/>
              </a:ext>
            </a:extLst>
          </p:cNvPr>
          <p:cNvSpPr>
            <a:spLocks xmlns:a="http://schemas.openxmlformats.org/drawingml/2006/main" noGrp="1"/>
          </p:cNvSpPr>
          <p:nvPr/>
        </p:nvSpPr>
        <p:spPr>
          <a:xfrm xmlns:a="http://schemas.openxmlformats.org/drawingml/2006/main">
            <a:off x="548640" y="5989320"/>
            <a:ext cx="11091672" cy="502920"/>
          </a:xfrm>
          <a:prstGeom xmlns:a="http://schemas.openxmlformats.org/drawingml/2006/main" prst="roundRect">
            <a:avLst>
              <a:gd name="adj" fmla="val 16364"/>
            </a:avLst>
          </a:prstGeom>
          <a:solidFill xmlns:a="http://schemas.openxmlformats.org/drawingml/2006/main">
            <a:srgbClr val="E6F3EA"/>
          </a:solidFill>
        </p:spPr>
      </p:sp>
      <p:sp>
        <p:nvSpPr>
          <p:cNvPr id="47" name="Text 45">
            <a:extLst xmlns:a="http://schemas.openxmlformats.org/drawingml/2006/main">
              <a:ext uri="{FF2B5EF4-FFF2-40B4-BE49-F238E27FC236}">
                <a16:creationId xmlns:a16="http://schemas.microsoft.com/office/drawing/2014/main" id="{C62FD019-03DC-4F8B-9E7C-20A98223BB2C}"/>
              </a:ext>
            </a:extLst>
          </p:cNvPr>
          <p:cNvSpPr>
            <a:spLocks xmlns:a="http://schemas.openxmlformats.org/drawingml/2006/main" noGrp="1"/>
          </p:cNvSpPr>
          <p:nvPr/>
        </p:nvSpPr>
        <p:spPr>
          <a:xfrm xmlns:a="http://schemas.openxmlformats.org/drawingml/2006/main">
            <a:off x="731520" y="5989320"/>
            <a:ext cx="10725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8A4C"/>
                </a:solidFill>
                <a:latin typeface="Malgun Gothic"/>
                <a:ea typeface="Malgun Gothic"/>
                <a:cs typeface="Malgun Gothic"/>
              </a:rPr>
              <a:t>검증: 나이 4 × 은퇴 2 × 성향 5 × 계좌 3 = 120개 전수 생성 — 70% 위반 0 · 후보 슬리브 누락 0 · DB/로컬 결과 일치</a:t>
            </a:r>
          </a:p>
        </p:txBody>
      </p:sp>
      <p:sp>
        <p:nvSpPr>
          <p:cNvPr id="48" name="Text 46">
            <a:extLst xmlns:a="http://schemas.openxmlformats.org/drawingml/2006/main">
              <a:ext uri="{FF2B5EF4-FFF2-40B4-BE49-F238E27FC236}">
                <a16:creationId xmlns:a16="http://schemas.microsoft.com/office/drawing/2014/main" id="{21EDB8DF-A287-4514-9E1A-5C3C5CE71F04}"/>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11</a:t>
            </a:r>
          </a:p>
        </p:txBody>
      </p:sp>
    </p:spTree>
    <p:extLst>
      <p:ext uri="{BB962C8B-B14F-4D97-AF65-F5344CB8AC3E}">
        <p14:creationId xmlns:p14="http://schemas.microsoft.com/office/powerpoint/2010/main" val="17167572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18FC2F-032A-4B01-82F3-DF239FF195E5}"/>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11 · AI 모델링 — 장기 계획가정</a:t>
            </a:r>
          </a:p>
        </p:txBody>
      </p:sp>
      <p:sp>
        <p:nvSpPr>
          <p:cNvPr id="3" name="Text 1">
            <a:extLst xmlns:a="http://schemas.openxmlformats.org/drawingml/2006/main">
              <a:ext uri="{FF2B5EF4-FFF2-40B4-BE49-F238E27FC236}">
                <a16:creationId xmlns:a16="http://schemas.microsoft.com/office/drawing/2014/main" id="{3302EE52-B34D-4B06-9264-99237AD9E6F9}"/>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전략별 수익률은 예측값이 아니다 — 동일 가정으로 비교한다</a:t>
            </a:r>
          </a:p>
        </p:txBody>
      </p:sp>
      <p:sp>
        <p:nvSpPr>
          <p:cNvPr id="4" name="Text 2">
            <a:extLst xmlns:a="http://schemas.openxmlformats.org/drawingml/2006/main">
              <a:ext uri="{FF2B5EF4-FFF2-40B4-BE49-F238E27FC236}">
                <a16:creationId xmlns:a16="http://schemas.microsoft.com/office/drawing/2014/main" id="{93D3D219-E935-4BFC-8E0C-528EA8A3C1F2}"/>
              </a:ext>
            </a:extLst>
          </p:cNvPr>
          <p:cNvSpPr>
            <a:spLocks xmlns:a="http://schemas.openxmlformats.org/drawingml/2006/main" noGrp="1"/>
          </p:cNvSpPr>
          <p:nvPr/>
        </p:nvSpPr>
        <p:spPr>
          <a:xfrm xmlns:a="http://schemas.openxmlformats.org/drawingml/2006/main">
            <a:off x="548640" y="1417320"/>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핵심 규칙 (법령 · 세법 원문 근거)</a:t>
            </a:r>
          </a:p>
        </p:txBody>
      </p:sp>
      <p:sp>
        <p:nvSpPr>
          <p:cNvPr id="5" name="Shape 3">
            <a:extLst xmlns:a="http://schemas.openxmlformats.org/drawingml/2006/main">
              <a:ext uri="{FF2B5EF4-FFF2-40B4-BE49-F238E27FC236}">
                <a16:creationId xmlns:a16="http://schemas.microsoft.com/office/drawing/2014/main" id="{118FFEF9-A9F1-4224-8394-94C907EA766B}"/>
              </a:ext>
            </a:extLst>
          </p:cNvPr>
          <p:cNvSpPr>
            <a:spLocks xmlns:a="http://schemas.openxmlformats.org/drawingml/2006/main" noGrp="1"/>
          </p:cNvSpPr>
          <p:nvPr/>
        </p:nvSpPr>
        <p:spPr>
          <a:xfrm xmlns:a="http://schemas.openxmlformats.org/drawingml/2006/main">
            <a:off x="548640" y="1783080"/>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6" name="Text 4">
            <a:extLst xmlns:a="http://schemas.openxmlformats.org/drawingml/2006/main">
              <a:ext uri="{FF2B5EF4-FFF2-40B4-BE49-F238E27FC236}">
                <a16:creationId xmlns:a16="http://schemas.microsoft.com/office/drawing/2014/main" id="{5F12976C-A0E6-4539-9617-3150FEFE0715}"/>
              </a:ext>
            </a:extLst>
          </p:cNvPr>
          <p:cNvSpPr>
            <a:spLocks xmlns:a="http://schemas.openxmlformats.org/drawingml/2006/main" noGrp="1"/>
          </p:cNvSpPr>
          <p:nvPr/>
        </p:nvSpPr>
        <p:spPr>
          <a:xfrm xmlns:a="http://schemas.openxmlformats.org/drawingml/2006/main">
            <a:off x="713232" y="1856232"/>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① 장기 자산군 가정 (CMA)</a:t>
            </a:r>
          </a:p>
        </p:txBody>
      </p:sp>
      <p:sp>
        <p:nvSpPr>
          <p:cNvPr id="7" name="Text 5">
            <a:extLst xmlns:a="http://schemas.openxmlformats.org/drawingml/2006/main">
              <a:ext uri="{FF2B5EF4-FFF2-40B4-BE49-F238E27FC236}">
                <a16:creationId xmlns:a16="http://schemas.microsoft.com/office/drawing/2014/main" id="{BCD653A9-0F0E-421B-98EC-ACF0D1017B1B}"/>
              </a:ext>
            </a:extLst>
          </p:cNvPr>
          <p:cNvSpPr>
            <a:spLocks xmlns:a="http://schemas.openxmlformats.org/drawingml/2006/main" noGrp="1"/>
          </p:cNvSpPr>
          <p:nvPr/>
        </p:nvSpPr>
        <p:spPr>
          <a:xfrm xmlns:a="http://schemas.openxmlformats.org/drawingml/2006/main">
            <a:off x="2606040" y="1856232"/>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승인된 자산군·지역별 10~15년 기준</a:t>
            </a:r>
          </a:p>
        </p:txBody>
      </p:sp>
      <p:sp>
        <p:nvSpPr>
          <p:cNvPr id="8" name="Shape 6">
            <a:extLst xmlns:a="http://schemas.openxmlformats.org/drawingml/2006/main">
              <a:ext uri="{FF2B5EF4-FFF2-40B4-BE49-F238E27FC236}">
                <a16:creationId xmlns:a16="http://schemas.microsoft.com/office/drawing/2014/main" id="{061E6820-BFD4-404D-9261-7A51556B400E}"/>
              </a:ext>
            </a:extLst>
          </p:cNvPr>
          <p:cNvSpPr>
            <a:spLocks xmlns:a="http://schemas.openxmlformats.org/drawingml/2006/main" noGrp="1"/>
          </p:cNvSpPr>
          <p:nvPr/>
        </p:nvSpPr>
        <p:spPr>
          <a:xfrm xmlns:a="http://schemas.openxmlformats.org/drawingml/2006/main">
            <a:off x="548640" y="2624328"/>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9" name="Text 7">
            <a:extLst xmlns:a="http://schemas.openxmlformats.org/drawingml/2006/main">
              <a:ext uri="{FF2B5EF4-FFF2-40B4-BE49-F238E27FC236}">
                <a16:creationId xmlns:a16="http://schemas.microsoft.com/office/drawing/2014/main" id="{A8D046E3-3A7F-4091-A93A-7C591ACBA95C}"/>
              </a:ext>
            </a:extLst>
          </p:cNvPr>
          <p:cNvSpPr>
            <a:spLocks xmlns:a="http://schemas.openxmlformats.org/drawingml/2006/main" noGrp="1"/>
          </p:cNvSpPr>
          <p:nvPr/>
        </p:nvSpPr>
        <p:spPr>
          <a:xfrm xmlns:a="http://schemas.openxmlformats.org/drawingml/2006/main">
            <a:off x="713232" y="2697480"/>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② 비용 차감</a:t>
            </a:r>
          </a:p>
        </p:txBody>
      </p:sp>
      <p:sp>
        <p:nvSpPr>
          <p:cNvPr id="10" name="Text 8">
            <a:extLst xmlns:a="http://schemas.openxmlformats.org/drawingml/2006/main">
              <a:ext uri="{FF2B5EF4-FFF2-40B4-BE49-F238E27FC236}">
                <a16:creationId xmlns:a16="http://schemas.microsoft.com/office/drawing/2014/main" id="{529434D1-7D67-48A3-89C9-B1F198B6042C}"/>
              </a:ext>
            </a:extLst>
          </p:cNvPr>
          <p:cNvSpPr>
            <a:spLocks xmlns:a="http://schemas.openxmlformats.org/drawingml/2006/main" noGrp="1"/>
          </p:cNvSpPr>
          <p:nvPr/>
        </p:nvSpPr>
        <p:spPr>
          <a:xfrm xmlns:a="http://schemas.openxmlformats.org/drawingml/2006/main">
            <a:off x="2606040" y="2697480"/>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검증된 연간 TER — KOFIA 우선 · 없으면 KIS</a:t>
            </a:r>
          </a:p>
        </p:txBody>
      </p:sp>
      <p:sp>
        <p:nvSpPr>
          <p:cNvPr id="11" name="Shape 9">
            <a:extLst xmlns:a="http://schemas.openxmlformats.org/drawingml/2006/main">
              <a:ext uri="{FF2B5EF4-FFF2-40B4-BE49-F238E27FC236}">
                <a16:creationId xmlns:a16="http://schemas.microsoft.com/office/drawing/2014/main" id="{4E0CF7A3-8E22-4F9C-A497-7107D03571EF}"/>
              </a:ext>
            </a:extLst>
          </p:cNvPr>
          <p:cNvSpPr>
            <a:spLocks xmlns:a="http://schemas.openxmlformats.org/drawingml/2006/main" noGrp="1"/>
          </p:cNvSpPr>
          <p:nvPr/>
        </p:nvSpPr>
        <p:spPr>
          <a:xfrm xmlns:a="http://schemas.openxmlformats.org/drawingml/2006/main">
            <a:off x="548640" y="3465576"/>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12" name="Text 10">
            <a:extLst xmlns:a="http://schemas.openxmlformats.org/drawingml/2006/main">
              <a:ext uri="{FF2B5EF4-FFF2-40B4-BE49-F238E27FC236}">
                <a16:creationId xmlns:a16="http://schemas.microsoft.com/office/drawing/2014/main" id="{DFDE376E-D0B5-4B9D-8EDF-0470374F686D}"/>
              </a:ext>
            </a:extLst>
          </p:cNvPr>
          <p:cNvSpPr>
            <a:spLocks xmlns:a="http://schemas.openxmlformats.org/drawingml/2006/main" noGrp="1"/>
          </p:cNvSpPr>
          <p:nvPr/>
        </p:nvSpPr>
        <p:spPr>
          <a:xfrm xmlns:a="http://schemas.openxmlformats.org/drawingml/2006/main">
            <a:off x="713232" y="3538728"/>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③ 전체 평가액 기준</a:t>
            </a:r>
          </a:p>
        </p:txBody>
      </p:sp>
      <p:sp>
        <p:nvSpPr>
          <p:cNvPr id="13" name="Text 11">
            <a:extLst xmlns:a="http://schemas.openxmlformats.org/drawingml/2006/main">
              <a:ext uri="{FF2B5EF4-FFF2-40B4-BE49-F238E27FC236}">
                <a16:creationId xmlns:a16="http://schemas.microsoft.com/office/drawing/2014/main" id="{F197DF8F-DA99-4C6C-8285-98FCE153EC7D}"/>
              </a:ext>
            </a:extLst>
          </p:cNvPr>
          <p:cNvSpPr>
            <a:spLocks xmlns:a="http://schemas.openxmlformats.org/drawingml/2006/main" noGrp="1"/>
          </p:cNvSpPr>
          <p:nvPr/>
        </p:nvSpPr>
        <p:spPr>
          <a:xfrm xmlns:a="http://schemas.openxmlformats.org/drawingml/2006/main">
            <a:off x="2606040" y="3538728"/>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현금성 포함 전체 평가액을 분모로 ETF 비중 계산</a:t>
            </a:r>
          </a:p>
        </p:txBody>
      </p:sp>
      <p:sp>
        <p:nvSpPr>
          <p:cNvPr id="14" name="Shape 12">
            <a:extLst xmlns:a="http://schemas.openxmlformats.org/drawingml/2006/main">
              <a:ext uri="{FF2B5EF4-FFF2-40B4-BE49-F238E27FC236}">
                <a16:creationId xmlns:a16="http://schemas.microsoft.com/office/drawing/2014/main" id="{34FDCC19-BDDF-482A-89CB-87C49E987209}"/>
              </a:ext>
            </a:extLst>
          </p:cNvPr>
          <p:cNvSpPr>
            <a:spLocks xmlns:a="http://schemas.openxmlformats.org/drawingml/2006/main" noGrp="1"/>
          </p:cNvSpPr>
          <p:nvPr/>
        </p:nvSpPr>
        <p:spPr>
          <a:xfrm xmlns:a="http://schemas.openxmlformats.org/drawingml/2006/main">
            <a:off x="548640" y="4306824"/>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15" name="Text 13">
            <a:extLst xmlns:a="http://schemas.openxmlformats.org/drawingml/2006/main">
              <a:ext uri="{FF2B5EF4-FFF2-40B4-BE49-F238E27FC236}">
                <a16:creationId xmlns:a16="http://schemas.microsoft.com/office/drawing/2014/main" id="{9147AE78-C60D-461D-AA32-C29D765C6587}"/>
              </a:ext>
            </a:extLst>
          </p:cNvPr>
          <p:cNvSpPr>
            <a:spLocks xmlns:a="http://schemas.openxmlformats.org/drawingml/2006/main" noGrp="1"/>
          </p:cNvSpPr>
          <p:nvPr/>
        </p:nvSpPr>
        <p:spPr>
          <a:xfrm xmlns:a="http://schemas.openxmlformats.org/drawingml/2006/main">
            <a:off x="713232" y="4379976"/>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④ 계획가정 산출</a:t>
            </a:r>
          </a:p>
        </p:txBody>
      </p:sp>
      <p:sp>
        <p:nvSpPr>
          <p:cNvPr id="16" name="Text 14">
            <a:extLst xmlns:a="http://schemas.openxmlformats.org/drawingml/2006/main">
              <a:ext uri="{FF2B5EF4-FFF2-40B4-BE49-F238E27FC236}">
                <a16:creationId xmlns:a16="http://schemas.microsoft.com/office/drawing/2014/main" id="{8E5C9A17-EF2A-42DF-9726-3F3B1FF87AEF}"/>
              </a:ext>
            </a:extLst>
          </p:cNvPr>
          <p:cNvSpPr>
            <a:spLocks xmlns:a="http://schemas.openxmlformats.org/drawingml/2006/main" noGrp="1"/>
          </p:cNvSpPr>
          <p:nvPr/>
        </p:nvSpPr>
        <p:spPr>
          <a:xfrm xmlns:a="http://schemas.openxmlformats.org/drawingml/2006/main">
            <a:off x="2606040" y="4379976"/>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Σ[ETF 비중 × (CMA − 비용)]</a:t>
            </a:r>
          </a:p>
        </p:txBody>
      </p:sp>
      <p:sp>
        <p:nvSpPr>
          <p:cNvPr id="17" name="Shape 15">
            <a:extLst xmlns:a="http://schemas.openxmlformats.org/drawingml/2006/main">
              <a:ext uri="{FF2B5EF4-FFF2-40B4-BE49-F238E27FC236}">
                <a16:creationId xmlns:a16="http://schemas.microsoft.com/office/drawing/2014/main" id="{B001D5DD-3D04-464A-B45B-8DA6CC6A383C}"/>
              </a:ext>
            </a:extLst>
          </p:cNvPr>
          <p:cNvSpPr>
            <a:spLocks xmlns:a="http://schemas.openxmlformats.org/drawingml/2006/main" noGrp="1"/>
          </p:cNvSpPr>
          <p:nvPr/>
        </p:nvSpPr>
        <p:spPr>
          <a:xfrm xmlns:a="http://schemas.openxmlformats.org/drawingml/2006/main">
            <a:off x="548640" y="5148072"/>
            <a:ext cx="530352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18" name="Text 16">
            <a:extLst xmlns:a="http://schemas.openxmlformats.org/drawingml/2006/main">
              <a:ext uri="{FF2B5EF4-FFF2-40B4-BE49-F238E27FC236}">
                <a16:creationId xmlns:a16="http://schemas.microsoft.com/office/drawing/2014/main" id="{E6997409-0C13-4073-BA30-A08D9E74AA36}"/>
              </a:ext>
            </a:extLst>
          </p:cNvPr>
          <p:cNvSpPr>
            <a:spLocks xmlns:a="http://schemas.openxmlformats.org/drawingml/2006/main" noGrp="1"/>
          </p:cNvSpPr>
          <p:nvPr/>
        </p:nvSpPr>
        <p:spPr>
          <a:xfrm xmlns:a="http://schemas.openxmlformats.org/drawingml/2006/main">
            <a:off x="713232" y="5221224"/>
            <a:ext cx="18288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4FD8"/>
                </a:solidFill>
                <a:latin typeface="Malgun Gothic"/>
                <a:ea typeface="Malgun Gothic"/>
                <a:cs typeface="Malgun Gothic"/>
              </a:rPr>
              <a:t>⑤ 세금·위험은 분리</a:t>
            </a:r>
          </a:p>
        </p:txBody>
      </p:sp>
      <p:sp>
        <p:nvSpPr>
          <p:cNvPr id="19" name="Text 17">
            <a:extLst xmlns:a="http://schemas.openxmlformats.org/drawingml/2006/main">
              <a:ext uri="{FF2B5EF4-FFF2-40B4-BE49-F238E27FC236}">
                <a16:creationId xmlns:a16="http://schemas.microsoft.com/office/drawing/2014/main" id="{99CA749D-B8BE-428A-B0E3-605FF94E04EE}"/>
              </a:ext>
            </a:extLst>
          </p:cNvPr>
          <p:cNvSpPr>
            <a:spLocks xmlns:a="http://schemas.openxmlformats.org/drawingml/2006/main" noGrp="1"/>
          </p:cNvSpPr>
          <p:nvPr/>
        </p:nvSpPr>
        <p:spPr>
          <a:xfrm xmlns:a="http://schemas.openxmlformats.org/drawingml/2006/main">
            <a:off x="2606040" y="5221224"/>
            <a:ext cx="310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연금소득세와 변동성·MDD·VaR·스트레스는 별도 표시</a:t>
            </a:r>
          </a:p>
        </p:txBody>
      </p:sp>
      <p:sp>
        <p:nvSpPr>
          <p:cNvPr id="20" name="Text 18">
            <a:extLst xmlns:a="http://schemas.openxmlformats.org/drawingml/2006/main">
              <a:ext uri="{FF2B5EF4-FFF2-40B4-BE49-F238E27FC236}">
                <a16:creationId xmlns:a16="http://schemas.microsoft.com/office/drawing/2014/main" id="{B1C449CC-A9F8-4282-B7C9-CF1BCA5B41C7}"/>
              </a:ext>
            </a:extLst>
          </p:cNvPr>
          <p:cNvSpPr>
            <a:spLocks xmlns:a="http://schemas.openxmlformats.org/drawingml/2006/main" noGrp="1"/>
          </p:cNvSpPr>
          <p:nvPr/>
        </p:nvSpPr>
        <p:spPr>
          <a:xfrm xmlns:a="http://schemas.openxmlformats.org/drawingml/2006/main">
            <a:off x="6263640" y="1417320"/>
            <a:ext cx="5120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신뢰를 만드는 다섯 가지 경계</a:t>
            </a:r>
          </a:p>
        </p:txBody>
      </p:sp>
      <p:sp>
        <p:nvSpPr>
          <p:cNvPr id="21" name="Shape 19">
            <a:extLst xmlns:a="http://schemas.openxmlformats.org/drawingml/2006/main">
              <a:ext uri="{FF2B5EF4-FFF2-40B4-BE49-F238E27FC236}">
                <a16:creationId xmlns:a16="http://schemas.microsoft.com/office/drawing/2014/main" id="{BF42CB23-6053-4187-B420-44FC94D0FF47}"/>
              </a:ext>
            </a:extLst>
          </p:cNvPr>
          <p:cNvSpPr>
            <a:spLocks xmlns:a="http://schemas.openxmlformats.org/drawingml/2006/main" noGrp="1"/>
          </p:cNvSpPr>
          <p:nvPr/>
        </p:nvSpPr>
        <p:spPr>
          <a:xfrm xmlns:a="http://schemas.openxmlformats.org/drawingml/2006/main">
            <a:off x="6263640" y="1783080"/>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22" name="Shape 20">
            <a:extLst xmlns:a="http://schemas.openxmlformats.org/drawingml/2006/main">
              <a:ext uri="{FF2B5EF4-FFF2-40B4-BE49-F238E27FC236}">
                <a16:creationId xmlns:a16="http://schemas.microsoft.com/office/drawing/2014/main" id="{B31FCB9E-4D1C-4BE2-A8DC-52D588BCFB9C}"/>
              </a:ext>
            </a:extLst>
          </p:cNvPr>
          <p:cNvSpPr>
            <a:spLocks xmlns:a="http://schemas.openxmlformats.org/drawingml/2006/main" noGrp="1"/>
          </p:cNvSpPr>
          <p:nvPr/>
        </p:nvSpPr>
        <p:spPr>
          <a:xfrm xmlns:a="http://schemas.openxmlformats.org/drawingml/2006/main">
            <a:off x="6391656" y="1911096"/>
            <a:ext cx="274320" cy="274320"/>
          </a:xfrm>
          <a:prstGeom xmlns:a="http://schemas.openxmlformats.org/drawingml/2006/main" prst="ellipse">
            <a:avLst/>
          </a:prstGeom>
          <a:solidFill xmlns:a="http://schemas.openxmlformats.org/drawingml/2006/main">
            <a:srgbClr val="1A4FD8"/>
          </a:solidFill>
        </p:spPr>
      </p:sp>
      <p:sp>
        <p:nvSpPr>
          <p:cNvPr id="23" name="Text 21">
            <a:extLst xmlns:a="http://schemas.openxmlformats.org/drawingml/2006/main">
              <a:ext uri="{FF2B5EF4-FFF2-40B4-BE49-F238E27FC236}">
                <a16:creationId xmlns:a16="http://schemas.microsoft.com/office/drawing/2014/main" id="{EA9321AC-8D8B-459B-8921-624F729005B8}"/>
              </a:ext>
            </a:extLst>
          </p:cNvPr>
          <p:cNvSpPr>
            <a:spLocks xmlns:a="http://schemas.openxmlformats.org/drawingml/2006/main" noGrp="1"/>
          </p:cNvSpPr>
          <p:nvPr/>
        </p:nvSpPr>
        <p:spPr>
          <a:xfrm xmlns:a="http://schemas.openxmlformats.org/drawingml/2006/main">
            <a:off x="6391656" y="1911096"/>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1</a:t>
            </a:r>
          </a:p>
        </p:txBody>
      </p:sp>
      <p:sp>
        <p:nvSpPr>
          <p:cNvPr id="24" name="Text 22">
            <a:extLst xmlns:a="http://schemas.openxmlformats.org/drawingml/2006/main">
              <a:ext uri="{FF2B5EF4-FFF2-40B4-BE49-F238E27FC236}">
                <a16:creationId xmlns:a16="http://schemas.microsoft.com/office/drawing/2014/main" id="{41EF50F4-A774-4941-AE89-7D167FE291D8}"/>
              </a:ext>
            </a:extLst>
          </p:cNvPr>
          <p:cNvSpPr>
            <a:spLocks xmlns:a="http://schemas.openxmlformats.org/drawingml/2006/main" noGrp="1"/>
          </p:cNvSpPr>
          <p:nvPr/>
        </p:nvSpPr>
        <p:spPr>
          <a:xfrm xmlns:a="http://schemas.openxmlformats.org/drawingml/2006/main">
            <a:off x="6739128" y="1892808"/>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과거수익률</a:t>
            </a:r>
          </a:p>
        </p:txBody>
      </p:sp>
      <p:sp>
        <p:nvSpPr>
          <p:cNvPr id="25" name="Text 23">
            <a:extLst xmlns:a="http://schemas.openxmlformats.org/drawingml/2006/main">
              <a:ext uri="{FF2B5EF4-FFF2-40B4-BE49-F238E27FC236}">
                <a16:creationId xmlns:a16="http://schemas.microsoft.com/office/drawing/2014/main" id="{6BB0BA20-A42A-45C5-A6DA-C41551DBAA62}"/>
              </a:ext>
            </a:extLst>
          </p:cNvPr>
          <p:cNvSpPr>
            <a:spLocks xmlns:a="http://schemas.openxmlformats.org/drawingml/2006/main" noGrp="1"/>
          </p:cNvSpPr>
          <p:nvPr/>
        </p:nvSpPr>
        <p:spPr>
          <a:xfrm xmlns:a="http://schemas.openxmlformats.org/drawingml/2006/main">
            <a:off x="8641080" y="1856232"/>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순위·예측에 미사용 — 최근 성과를 미래로 외삽하지 않음</a:t>
            </a:r>
          </a:p>
        </p:txBody>
      </p:sp>
      <p:sp>
        <p:nvSpPr>
          <p:cNvPr id="26" name="Shape 24">
            <a:extLst xmlns:a="http://schemas.openxmlformats.org/drawingml/2006/main">
              <a:ext uri="{FF2B5EF4-FFF2-40B4-BE49-F238E27FC236}">
                <a16:creationId xmlns:a16="http://schemas.microsoft.com/office/drawing/2014/main" id="{5E51CF46-F803-4D8A-96A2-653A1FD8D34B}"/>
              </a:ext>
            </a:extLst>
          </p:cNvPr>
          <p:cNvSpPr>
            <a:spLocks xmlns:a="http://schemas.openxmlformats.org/drawingml/2006/main" noGrp="1"/>
          </p:cNvSpPr>
          <p:nvPr/>
        </p:nvSpPr>
        <p:spPr>
          <a:xfrm xmlns:a="http://schemas.openxmlformats.org/drawingml/2006/main">
            <a:off x="6263640" y="2624328"/>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27" name="Shape 25">
            <a:extLst xmlns:a="http://schemas.openxmlformats.org/drawingml/2006/main">
              <a:ext uri="{FF2B5EF4-FFF2-40B4-BE49-F238E27FC236}">
                <a16:creationId xmlns:a16="http://schemas.microsoft.com/office/drawing/2014/main" id="{7FCB0C4C-1474-4D37-8CCA-F3675CA75DBE}"/>
              </a:ext>
            </a:extLst>
          </p:cNvPr>
          <p:cNvSpPr>
            <a:spLocks xmlns:a="http://schemas.openxmlformats.org/drawingml/2006/main" noGrp="1"/>
          </p:cNvSpPr>
          <p:nvPr/>
        </p:nvSpPr>
        <p:spPr>
          <a:xfrm xmlns:a="http://schemas.openxmlformats.org/drawingml/2006/main">
            <a:off x="6391656" y="2752344"/>
            <a:ext cx="274320" cy="274320"/>
          </a:xfrm>
          <a:prstGeom xmlns:a="http://schemas.openxmlformats.org/drawingml/2006/main" prst="ellipse">
            <a:avLst/>
          </a:prstGeom>
          <a:solidFill xmlns:a="http://schemas.openxmlformats.org/drawingml/2006/main">
            <a:srgbClr val="1A4FD8"/>
          </a:solidFill>
        </p:spPr>
      </p:sp>
      <p:sp>
        <p:nvSpPr>
          <p:cNvPr id="28" name="Text 26">
            <a:extLst xmlns:a="http://schemas.openxmlformats.org/drawingml/2006/main">
              <a:ext uri="{FF2B5EF4-FFF2-40B4-BE49-F238E27FC236}">
                <a16:creationId xmlns:a16="http://schemas.microsoft.com/office/drawing/2014/main" id="{65942034-CF18-40A6-B065-BB27B0C7A25C}"/>
              </a:ext>
            </a:extLst>
          </p:cNvPr>
          <p:cNvSpPr>
            <a:spLocks xmlns:a="http://schemas.openxmlformats.org/drawingml/2006/main" noGrp="1"/>
          </p:cNvSpPr>
          <p:nvPr/>
        </p:nvSpPr>
        <p:spPr>
          <a:xfrm xmlns:a="http://schemas.openxmlformats.org/drawingml/2006/main">
            <a:off x="6391656" y="275234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2</a:t>
            </a:r>
          </a:p>
        </p:txBody>
      </p:sp>
      <p:sp>
        <p:nvSpPr>
          <p:cNvPr id="29" name="Text 27">
            <a:extLst xmlns:a="http://schemas.openxmlformats.org/drawingml/2006/main">
              <a:ext uri="{FF2B5EF4-FFF2-40B4-BE49-F238E27FC236}">
                <a16:creationId xmlns:a16="http://schemas.microsoft.com/office/drawing/2014/main" id="{864314C9-58EC-4112-A44C-DD44B60818C1}"/>
              </a:ext>
            </a:extLst>
          </p:cNvPr>
          <p:cNvSpPr>
            <a:spLocks xmlns:a="http://schemas.openxmlformats.org/drawingml/2006/main" noGrp="1"/>
          </p:cNvSpPr>
          <p:nvPr/>
        </p:nvSpPr>
        <p:spPr>
          <a:xfrm xmlns:a="http://schemas.openxmlformats.org/drawingml/2006/main">
            <a:off x="6739128" y="2734056"/>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연령·성향</a:t>
            </a:r>
          </a:p>
        </p:txBody>
      </p:sp>
      <p:sp>
        <p:nvSpPr>
          <p:cNvPr id="30" name="Text 28">
            <a:extLst xmlns:a="http://schemas.openxmlformats.org/drawingml/2006/main">
              <a:ext uri="{FF2B5EF4-FFF2-40B4-BE49-F238E27FC236}">
                <a16:creationId xmlns:a16="http://schemas.microsoft.com/office/drawing/2014/main" id="{355CE65D-D609-4637-98A2-71C81A60D842}"/>
              </a:ext>
            </a:extLst>
          </p:cNvPr>
          <p:cNvSpPr>
            <a:spLocks xmlns:a="http://schemas.openxmlformats.org/drawingml/2006/main" noGrp="1"/>
          </p:cNvSpPr>
          <p:nvPr/>
        </p:nvSpPr>
        <p:spPr>
          <a:xfrm xmlns:a="http://schemas.openxmlformats.org/drawingml/2006/main">
            <a:off x="8641080" y="2697480"/>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수익률이 아니라 목표 자산배분 비중만 변경</a:t>
            </a:r>
          </a:p>
        </p:txBody>
      </p:sp>
      <p:sp>
        <p:nvSpPr>
          <p:cNvPr id="31" name="Shape 29">
            <a:extLst xmlns:a="http://schemas.openxmlformats.org/drawingml/2006/main">
              <a:ext uri="{FF2B5EF4-FFF2-40B4-BE49-F238E27FC236}">
                <a16:creationId xmlns:a16="http://schemas.microsoft.com/office/drawing/2014/main" id="{53092368-0771-4965-B214-A0006E3AA74A}"/>
              </a:ext>
            </a:extLst>
          </p:cNvPr>
          <p:cNvSpPr>
            <a:spLocks xmlns:a="http://schemas.openxmlformats.org/drawingml/2006/main" noGrp="1"/>
          </p:cNvSpPr>
          <p:nvPr/>
        </p:nvSpPr>
        <p:spPr>
          <a:xfrm xmlns:a="http://schemas.openxmlformats.org/drawingml/2006/main">
            <a:off x="6263640" y="3465576"/>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32" name="Shape 30">
            <a:extLst xmlns:a="http://schemas.openxmlformats.org/drawingml/2006/main">
              <a:ext uri="{FF2B5EF4-FFF2-40B4-BE49-F238E27FC236}">
                <a16:creationId xmlns:a16="http://schemas.microsoft.com/office/drawing/2014/main" id="{F47862BA-389A-4CA0-944F-2567CACA34F7}"/>
              </a:ext>
            </a:extLst>
          </p:cNvPr>
          <p:cNvSpPr>
            <a:spLocks xmlns:a="http://schemas.openxmlformats.org/drawingml/2006/main" noGrp="1"/>
          </p:cNvSpPr>
          <p:nvPr/>
        </p:nvSpPr>
        <p:spPr>
          <a:xfrm xmlns:a="http://schemas.openxmlformats.org/drawingml/2006/main">
            <a:off x="6391656" y="3593592"/>
            <a:ext cx="274320" cy="274320"/>
          </a:xfrm>
          <a:prstGeom xmlns:a="http://schemas.openxmlformats.org/drawingml/2006/main" prst="ellipse">
            <a:avLst/>
          </a:prstGeom>
          <a:solidFill xmlns:a="http://schemas.openxmlformats.org/drawingml/2006/main">
            <a:srgbClr val="1A4FD8"/>
          </a:solidFill>
        </p:spPr>
      </p:sp>
      <p:sp>
        <p:nvSpPr>
          <p:cNvPr id="33" name="Text 31">
            <a:extLst xmlns:a="http://schemas.openxmlformats.org/drawingml/2006/main">
              <a:ext uri="{FF2B5EF4-FFF2-40B4-BE49-F238E27FC236}">
                <a16:creationId xmlns:a16="http://schemas.microsoft.com/office/drawing/2014/main" id="{2A5DF236-DD85-42D1-B04D-9F48DE513ACC}"/>
              </a:ext>
            </a:extLst>
          </p:cNvPr>
          <p:cNvSpPr>
            <a:spLocks xmlns:a="http://schemas.openxmlformats.org/drawingml/2006/main" noGrp="1"/>
          </p:cNvSpPr>
          <p:nvPr/>
        </p:nvSpPr>
        <p:spPr>
          <a:xfrm xmlns:a="http://schemas.openxmlformats.org/drawingml/2006/main">
            <a:off x="6391656" y="3593592"/>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3</a:t>
            </a:r>
          </a:p>
        </p:txBody>
      </p:sp>
      <p:sp>
        <p:nvSpPr>
          <p:cNvPr id="34" name="Text 32">
            <a:extLst xmlns:a="http://schemas.openxmlformats.org/drawingml/2006/main">
              <a:ext uri="{FF2B5EF4-FFF2-40B4-BE49-F238E27FC236}">
                <a16:creationId xmlns:a16="http://schemas.microsoft.com/office/drawing/2014/main" id="{273E9974-AADE-482A-8130-AFBD85C592B5}"/>
              </a:ext>
            </a:extLst>
          </p:cNvPr>
          <p:cNvSpPr>
            <a:spLocks xmlns:a="http://schemas.openxmlformats.org/drawingml/2006/main" noGrp="1"/>
          </p:cNvSpPr>
          <p:nvPr/>
        </p:nvSpPr>
        <p:spPr>
          <a:xfrm xmlns:a="http://schemas.openxmlformats.org/drawingml/2006/main">
            <a:off x="6739128" y="3575304"/>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위험은 별도</a:t>
            </a:r>
          </a:p>
        </p:txBody>
      </p:sp>
      <p:sp>
        <p:nvSpPr>
          <p:cNvPr id="35" name="Text 33">
            <a:extLst xmlns:a="http://schemas.openxmlformats.org/drawingml/2006/main">
              <a:ext uri="{FF2B5EF4-FFF2-40B4-BE49-F238E27FC236}">
                <a16:creationId xmlns:a16="http://schemas.microsoft.com/office/drawing/2014/main" id="{A1CC0361-ACE8-4B34-9AD3-0E6BF52ED69B}"/>
              </a:ext>
            </a:extLst>
          </p:cNvPr>
          <p:cNvSpPr>
            <a:spLocks xmlns:a="http://schemas.openxmlformats.org/drawingml/2006/main" noGrp="1"/>
          </p:cNvSpPr>
          <p:nvPr/>
        </p:nvSpPr>
        <p:spPr>
          <a:xfrm xmlns:a="http://schemas.openxmlformats.org/drawingml/2006/main">
            <a:off x="8641080" y="3538728"/>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수익 가정과 변동성·MDD·VaR·스트레스 분리</a:t>
            </a:r>
          </a:p>
        </p:txBody>
      </p:sp>
      <p:sp>
        <p:nvSpPr>
          <p:cNvPr id="36" name="Shape 34">
            <a:extLst xmlns:a="http://schemas.openxmlformats.org/drawingml/2006/main">
              <a:ext uri="{FF2B5EF4-FFF2-40B4-BE49-F238E27FC236}">
                <a16:creationId xmlns:a16="http://schemas.microsoft.com/office/drawing/2014/main" id="{EB101A0B-7E13-4D1B-8B50-17410EC6E686}"/>
              </a:ext>
            </a:extLst>
          </p:cNvPr>
          <p:cNvSpPr>
            <a:spLocks xmlns:a="http://schemas.openxmlformats.org/drawingml/2006/main" noGrp="1"/>
          </p:cNvSpPr>
          <p:nvPr/>
        </p:nvSpPr>
        <p:spPr>
          <a:xfrm xmlns:a="http://schemas.openxmlformats.org/drawingml/2006/main">
            <a:off x="6263640" y="4306824"/>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37" name="Shape 35">
            <a:extLst xmlns:a="http://schemas.openxmlformats.org/drawingml/2006/main">
              <a:ext uri="{FF2B5EF4-FFF2-40B4-BE49-F238E27FC236}">
                <a16:creationId xmlns:a16="http://schemas.microsoft.com/office/drawing/2014/main" id="{5CC8AE73-561B-4A66-A137-C76DD09D621D}"/>
              </a:ext>
            </a:extLst>
          </p:cNvPr>
          <p:cNvSpPr>
            <a:spLocks xmlns:a="http://schemas.openxmlformats.org/drawingml/2006/main" noGrp="1"/>
          </p:cNvSpPr>
          <p:nvPr/>
        </p:nvSpPr>
        <p:spPr>
          <a:xfrm xmlns:a="http://schemas.openxmlformats.org/drawingml/2006/main">
            <a:off x="6391656" y="4434840"/>
            <a:ext cx="274320" cy="274320"/>
          </a:xfrm>
          <a:prstGeom xmlns:a="http://schemas.openxmlformats.org/drawingml/2006/main" prst="ellipse">
            <a:avLst/>
          </a:prstGeom>
          <a:solidFill xmlns:a="http://schemas.openxmlformats.org/drawingml/2006/main">
            <a:srgbClr val="1A4FD8"/>
          </a:solidFill>
        </p:spPr>
      </p:sp>
      <p:sp>
        <p:nvSpPr>
          <p:cNvPr id="38" name="Text 36">
            <a:extLst xmlns:a="http://schemas.openxmlformats.org/drawingml/2006/main">
              <a:ext uri="{FF2B5EF4-FFF2-40B4-BE49-F238E27FC236}">
                <a16:creationId xmlns:a16="http://schemas.microsoft.com/office/drawing/2014/main" id="{BA025109-40B8-4600-AB05-4413F31B88FD}"/>
              </a:ext>
            </a:extLst>
          </p:cNvPr>
          <p:cNvSpPr>
            <a:spLocks xmlns:a="http://schemas.openxmlformats.org/drawingml/2006/main" noGrp="1"/>
          </p:cNvSpPr>
          <p:nvPr/>
        </p:nvSpPr>
        <p:spPr>
          <a:xfrm xmlns:a="http://schemas.openxmlformats.org/drawingml/2006/main">
            <a:off x="6391656" y="44348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4</a:t>
            </a:r>
          </a:p>
        </p:txBody>
      </p:sp>
      <p:sp>
        <p:nvSpPr>
          <p:cNvPr id="39" name="Text 37">
            <a:extLst xmlns:a="http://schemas.openxmlformats.org/drawingml/2006/main">
              <a:ext uri="{FF2B5EF4-FFF2-40B4-BE49-F238E27FC236}">
                <a16:creationId xmlns:a16="http://schemas.microsoft.com/office/drawing/2014/main" id="{9D088360-2521-4FD0-B329-F51E3376CD19}"/>
              </a:ext>
            </a:extLst>
          </p:cNvPr>
          <p:cNvSpPr>
            <a:spLocks xmlns:a="http://schemas.openxmlformats.org/drawingml/2006/main" noGrp="1"/>
          </p:cNvSpPr>
          <p:nvPr/>
        </p:nvSpPr>
        <p:spPr>
          <a:xfrm xmlns:a="http://schemas.openxmlformats.org/drawingml/2006/main">
            <a:off x="6739128" y="4416552"/>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AI 역할</a:t>
            </a:r>
          </a:p>
        </p:txBody>
      </p:sp>
      <p:sp>
        <p:nvSpPr>
          <p:cNvPr id="40" name="Text 38">
            <a:extLst xmlns:a="http://schemas.openxmlformats.org/drawingml/2006/main">
              <a:ext uri="{FF2B5EF4-FFF2-40B4-BE49-F238E27FC236}">
                <a16:creationId xmlns:a16="http://schemas.microsoft.com/office/drawing/2014/main" id="{1E52C06D-D14D-4D3E-A832-5727305EB593}"/>
              </a:ext>
            </a:extLst>
          </p:cNvPr>
          <p:cNvSpPr>
            <a:spLocks xmlns:a="http://schemas.openxmlformats.org/drawingml/2006/main" noGrp="1"/>
          </p:cNvSpPr>
          <p:nvPr/>
        </p:nvSpPr>
        <p:spPr>
          <a:xfrm xmlns:a="http://schemas.openxmlformats.org/drawingml/2006/main">
            <a:off x="8641080" y="4379976"/>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재계산·새 숫자 생성 금지 — 엔진 결과만 설명</a:t>
            </a:r>
          </a:p>
        </p:txBody>
      </p:sp>
      <p:sp>
        <p:nvSpPr>
          <p:cNvPr id="41" name="Shape 39">
            <a:extLst xmlns:a="http://schemas.openxmlformats.org/drawingml/2006/main">
              <a:ext uri="{FF2B5EF4-FFF2-40B4-BE49-F238E27FC236}">
                <a16:creationId xmlns:a16="http://schemas.microsoft.com/office/drawing/2014/main" id="{4BE7996C-4A03-4F6C-9543-9A574D966251}"/>
              </a:ext>
            </a:extLst>
          </p:cNvPr>
          <p:cNvSpPr>
            <a:spLocks xmlns:a="http://schemas.openxmlformats.org/drawingml/2006/main" noGrp="1"/>
          </p:cNvSpPr>
          <p:nvPr/>
        </p:nvSpPr>
        <p:spPr>
          <a:xfrm xmlns:a="http://schemas.openxmlformats.org/drawingml/2006/main">
            <a:off x="6263640" y="5148072"/>
            <a:ext cx="5120640" cy="73152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2700">
            <a:solidFill>
              <a:srgbClr val="D9E0EC"/>
            </a:solidFill>
            <a:prstDash val="solid"/>
          </a:ln>
        </p:spPr>
      </p:sp>
      <p:sp>
        <p:nvSpPr>
          <p:cNvPr id="42" name="Shape 40">
            <a:extLst xmlns:a="http://schemas.openxmlformats.org/drawingml/2006/main">
              <a:ext uri="{FF2B5EF4-FFF2-40B4-BE49-F238E27FC236}">
                <a16:creationId xmlns:a16="http://schemas.microsoft.com/office/drawing/2014/main" id="{1D360315-4A37-482D-8FFB-A4A9B64C34CF}"/>
              </a:ext>
            </a:extLst>
          </p:cNvPr>
          <p:cNvSpPr>
            <a:spLocks xmlns:a="http://schemas.openxmlformats.org/drawingml/2006/main" noGrp="1"/>
          </p:cNvSpPr>
          <p:nvPr/>
        </p:nvSpPr>
        <p:spPr>
          <a:xfrm xmlns:a="http://schemas.openxmlformats.org/drawingml/2006/main">
            <a:off x="6391656" y="5276088"/>
            <a:ext cx="274320" cy="274320"/>
          </a:xfrm>
          <a:prstGeom xmlns:a="http://schemas.openxmlformats.org/drawingml/2006/main" prst="ellipse">
            <a:avLst/>
          </a:prstGeom>
          <a:solidFill xmlns:a="http://schemas.openxmlformats.org/drawingml/2006/main">
            <a:srgbClr val="1A4FD8"/>
          </a:solidFill>
        </p:spPr>
      </p:sp>
      <p:sp>
        <p:nvSpPr>
          <p:cNvPr id="43" name="Text 41">
            <a:extLst xmlns:a="http://schemas.openxmlformats.org/drawingml/2006/main">
              <a:ext uri="{FF2B5EF4-FFF2-40B4-BE49-F238E27FC236}">
                <a16:creationId xmlns:a16="http://schemas.microsoft.com/office/drawing/2014/main" id="{7043ADAB-1597-438E-919C-1E5F24EA18CB}"/>
              </a:ext>
            </a:extLst>
          </p:cNvPr>
          <p:cNvSpPr>
            <a:spLocks xmlns:a="http://schemas.openxmlformats.org/drawingml/2006/main" noGrp="1"/>
          </p:cNvSpPr>
          <p:nvPr/>
        </p:nvSpPr>
        <p:spPr>
          <a:xfrm xmlns:a="http://schemas.openxmlformats.org/drawingml/2006/main">
            <a:off x="6391656" y="5276088"/>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5</a:t>
            </a:r>
          </a:p>
        </p:txBody>
      </p:sp>
      <p:sp>
        <p:nvSpPr>
          <p:cNvPr id="44" name="Text 42">
            <a:extLst xmlns:a="http://schemas.openxmlformats.org/drawingml/2006/main">
              <a:ext uri="{FF2B5EF4-FFF2-40B4-BE49-F238E27FC236}">
                <a16:creationId xmlns:a16="http://schemas.microsoft.com/office/drawing/2014/main" id="{B022469D-CCBB-40F5-B36D-D176B924CCDD}"/>
              </a:ext>
            </a:extLst>
          </p:cNvPr>
          <p:cNvSpPr>
            <a:spLocks xmlns:a="http://schemas.openxmlformats.org/drawingml/2006/main" noGrp="1"/>
          </p:cNvSpPr>
          <p:nvPr/>
        </p:nvSpPr>
        <p:spPr>
          <a:xfrm xmlns:a="http://schemas.openxmlformats.org/drawingml/2006/main">
            <a:off x="6739128" y="5257800"/>
            <a:ext cx="1828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표시 원칙</a:t>
            </a:r>
          </a:p>
        </p:txBody>
      </p:sp>
      <p:sp>
        <p:nvSpPr>
          <p:cNvPr id="45" name="Text 43">
            <a:extLst xmlns:a="http://schemas.openxmlformats.org/drawingml/2006/main">
              <a:ext uri="{FF2B5EF4-FFF2-40B4-BE49-F238E27FC236}">
                <a16:creationId xmlns:a16="http://schemas.microsoft.com/office/drawing/2014/main" id="{A0083728-2DC4-4E98-9C65-989918CABFB8}"/>
              </a:ext>
            </a:extLst>
          </p:cNvPr>
          <p:cNvSpPr>
            <a:spLocks xmlns:a="http://schemas.openxmlformats.org/drawingml/2006/main" noGrp="1"/>
          </p:cNvSpPr>
          <p:nvPr/>
        </p:nvSpPr>
        <p:spPr>
          <a:xfrm xmlns:a="http://schemas.openxmlformats.org/drawingml/2006/main">
            <a:off x="8641080" y="5221224"/>
            <a:ext cx="26517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is_forecast=false · 출처·기준일·정책 버전 명시</a:t>
            </a:r>
          </a:p>
        </p:txBody>
      </p:sp>
      <p:sp>
        <p:nvSpPr>
          <p:cNvPr id="46" name="Shape 44">
            <a:extLst xmlns:a="http://schemas.openxmlformats.org/drawingml/2006/main">
              <a:ext uri="{FF2B5EF4-FFF2-40B4-BE49-F238E27FC236}">
                <a16:creationId xmlns:a16="http://schemas.microsoft.com/office/drawing/2014/main" id="{6C710C87-F98C-4277-A300-04AC22F42387}"/>
              </a:ext>
            </a:extLst>
          </p:cNvPr>
          <p:cNvSpPr>
            <a:spLocks xmlns:a="http://schemas.openxmlformats.org/drawingml/2006/main" noGrp="1"/>
          </p:cNvSpPr>
          <p:nvPr/>
        </p:nvSpPr>
        <p:spPr>
          <a:xfrm xmlns:a="http://schemas.openxmlformats.org/drawingml/2006/main">
            <a:off x="548640" y="5989320"/>
            <a:ext cx="11091672" cy="502920"/>
          </a:xfrm>
          <a:prstGeom xmlns:a="http://schemas.openxmlformats.org/drawingml/2006/main" prst="roundRect">
            <a:avLst>
              <a:gd name="adj" fmla="val 16364"/>
            </a:avLst>
          </a:prstGeom>
          <a:solidFill xmlns:a="http://schemas.openxmlformats.org/drawingml/2006/main">
            <a:srgbClr val="E6F3EA"/>
          </a:solidFill>
        </p:spPr>
      </p:sp>
      <p:sp>
        <p:nvSpPr>
          <p:cNvPr id="47" name="Text 45">
            <a:extLst xmlns:a="http://schemas.openxmlformats.org/drawingml/2006/main">
              <a:ext uri="{FF2B5EF4-FFF2-40B4-BE49-F238E27FC236}">
                <a16:creationId xmlns:a16="http://schemas.microsoft.com/office/drawing/2014/main" id="{C62FD019-03DC-4F8B-9E7C-20A98223BB2C}"/>
              </a:ext>
            </a:extLst>
          </p:cNvPr>
          <p:cNvSpPr>
            <a:spLocks xmlns:a="http://schemas.openxmlformats.org/drawingml/2006/main" noGrp="1"/>
          </p:cNvSpPr>
          <p:nvPr/>
        </p:nvSpPr>
        <p:spPr>
          <a:xfrm xmlns:a="http://schemas.openxmlformats.org/drawingml/2006/main">
            <a:off x="731520" y="5989320"/>
            <a:ext cx="10725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8A4C"/>
                </a:solidFill>
                <a:latin typeface="Malgun Gothic"/>
                <a:ea typeface="Malgun Gothic"/>
                <a:cs typeface="Malgun Gothic"/>
              </a:rPr>
              <a:t>결론: 계획가정은 비교 기준일 뿐 미래 성과 예측이 아닙니다. 숫자는 규칙 엔진이 계산하고, AI는 근거·한계만 설명합니다.</a:t>
            </a:r>
          </a:p>
        </p:txBody>
      </p:sp>
      <p:sp>
        <p:nvSpPr>
          <p:cNvPr id="48" name="Text 46">
            <a:extLst xmlns:a="http://schemas.openxmlformats.org/drawingml/2006/main">
              <a:ext uri="{FF2B5EF4-FFF2-40B4-BE49-F238E27FC236}">
                <a16:creationId xmlns:a16="http://schemas.microsoft.com/office/drawing/2014/main" id="{21EDB8DF-A287-4514-9E1A-5C3C5CE71F04}"/>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a:t>
            </a:r>
            <a:r>
              <a:rPr sz="850">
                <a:solidFill>
                  <a:srgbClr val="9AA3B2"/>
                </a:solidFill>
                <a:latin typeface="Malgun Gothic"/>
                <a:ea typeface="Malgun Gothic"/>
                <a:cs typeface="Malgun Gothic"/>
              </a:rPr>
              <a:t>12</a:t>
            </a:r>
          </a:p>
        </p:txBody>
      </p:sp>
    </p:spTree>
    <p:extLst>
      <p:ext uri="{BB962C8B-B14F-4D97-AF65-F5344CB8AC3E}">
        <p14:creationId xmlns:p14="http://schemas.microsoft.com/office/powerpoint/2010/main" val="17167572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1BD15A6-950F-4179-B695-16754AF629CE}"/>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 12 · AI 모델링 — 실험 · RAG</a:t>
            </a:r>
          </a:p>
        </p:txBody>
      </p:sp>
      <p:sp>
        <p:nvSpPr>
          <p:cNvPr id="3" name="Text 1">
            <a:extLst xmlns:a="http://schemas.openxmlformats.org/drawingml/2006/main">
              <a:ext uri="{FF2B5EF4-FFF2-40B4-BE49-F238E27FC236}">
                <a16:creationId xmlns:a16="http://schemas.microsoft.com/office/drawing/2014/main" id="{BED12B5F-C4A5-42D2-916F-30878C4CEE02}"/>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작은 모델을 선택하고, 품질은 가드로 강제한다</a:t>
            </a:r>
          </a:p>
        </p:txBody>
      </p:sp>
      <p:sp>
        <p:nvSpPr>
          <p:cNvPr id="4" name="Text 2">
            <a:extLst xmlns:a="http://schemas.openxmlformats.org/drawingml/2006/main">
              <a:ext uri="{FF2B5EF4-FFF2-40B4-BE49-F238E27FC236}">
                <a16:creationId xmlns:a16="http://schemas.microsoft.com/office/drawing/2014/main" id="{F30F24B7-25EC-41D5-A232-40D3D513FA4B}"/>
              </a:ext>
            </a:extLst>
          </p:cNvPr>
          <p:cNvSpPr>
            <a:spLocks xmlns:a="http://schemas.openxmlformats.org/drawingml/2006/main" noGrp="1"/>
          </p:cNvSpPr>
          <p:nvPr/>
        </p:nvSpPr>
        <p:spPr>
          <a:xfrm xmlns:a="http://schemas.openxmlformats.org/drawingml/2006/main">
            <a:off x="548640" y="1417320"/>
            <a:ext cx="5212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내레이터 A/B — 가드 검증 통과율</a:t>
            </a:r>
          </a:p>
        </p:txBody>
      </p:sp>
      <p:sp>
        <p:nvSpPr>
          <p:cNvPr id="6" name="Text 3">
            <a:extLst xmlns:a="http://schemas.openxmlformats.org/drawingml/2006/main">
              <a:ext uri="{FF2B5EF4-FFF2-40B4-BE49-F238E27FC236}">
                <a16:creationId xmlns:a16="http://schemas.microsoft.com/office/drawing/2014/main" id="{560F64ED-9C53-4280-A612-168801A3D215}"/>
              </a:ext>
            </a:extLst>
          </p:cNvPr>
          <p:cNvSpPr>
            <a:spLocks xmlns:a="http://schemas.openxmlformats.org/drawingml/2006/main" noGrp="1"/>
          </p:cNvSpPr>
          <p:nvPr/>
        </p:nvSpPr>
        <p:spPr>
          <a:xfrm xmlns:a="http://schemas.openxmlformats.org/drawingml/2006/main">
            <a:off x="548640" y="4114800"/>
            <a:ext cx="5212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10문항 × 20회 반복 — 빠르고 검증 통과율이 높은 Haiku를 기본 내레이터로 채택</a:t>
            </a:r>
          </a:p>
        </p:txBody>
      </p:sp>
      <p:sp>
        <p:nvSpPr>
          <p:cNvPr id="7" name="Shape 4">
            <a:extLst xmlns:a="http://schemas.openxmlformats.org/drawingml/2006/main">
              <a:ext uri="{FF2B5EF4-FFF2-40B4-BE49-F238E27FC236}">
                <a16:creationId xmlns:a16="http://schemas.microsoft.com/office/drawing/2014/main" id="{5988E57F-E597-41BA-80B5-7678FB306245}"/>
              </a:ext>
            </a:extLst>
          </p:cNvPr>
          <p:cNvSpPr>
            <a:spLocks xmlns:a="http://schemas.openxmlformats.org/drawingml/2006/main" noGrp="1"/>
          </p:cNvSpPr>
          <p:nvPr/>
        </p:nvSpPr>
        <p:spPr>
          <a:xfrm xmlns:a="http://schemas.openxmlformats.org/drawingml/2006/main">
            <a:off x="548640" y="4526280"/>
            <a:ext cx="5212080" cy="603504"/>
          </a:xfrm>
          <a:prstGeom xmlns:a="http://schemas.openxmlformats.org/drawingml/2006/main" prst="roundRect">
            <a:avLst>
              <a:gd name="adj" fmla="val 13636"/>
            </a:avLst>
          </a:prstGeom>
          <a:solidFill xmlns:a="http://schemas.openxmlformats.org/drawingml/2006/main">
            <a:srgbClr val="F7F9FE"/>
          </a:solidFill>
          <a:ln xmlns:a="http://schemas.openxmlformats.org/drawingml/2006/main" w="12700">
            <a:solidFill>
              <a:srgbClr val="D9E0EC"/>
            </a:solidFill>
            <a:prstDash val="solid"/>
          </a:ln>
        </p:spPr>
      </p:sp>
      <p:sp>
        <p:nvSpPr>
          <p:cNvPr id="8" name="Text 5">
            <a:extLst xmlns:a="http://schemas.openxmlformats.org/drawingml/2006/main">
              <a:ext uri="{FF2B5EF4-FFF2-40B4-BE49-F238E27FC236}">
                <a16:creationId xmlns:a16="http://schemas.microsoft.com/office/drawing/2014/main" id="{F6A63BC9-2FBD-4A80-BA6D-8A012773A968}"/>
              </a:ext>
            </a:extLst>
          </p:cNvPr>
          <p:cNvSpPr>
            <a:spLocks xmlns:a="http://schemas.openxmlformats.org/drawingml/2006/main" noGrp="1"/>
          </p:cNvSpPr>
          <p:nvPr/>
        </p:nvSpPr>
        <p:spPr>
          <a:xfrm xmlns:a="http://schemas.openxmlformats.org/drawingml/2006/main">
            <a:off x="694944" y="4581144"/>
            <a:ext cx="17830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claude-haiku-4-5</a:t>
            </a:r>
          </a:p>
        </p:txBody>
      </p:sp>
      <p:sp>
        <p:nvSpPr>
          <p:cNvPr id="9" name="Text 6">
            <a:extLst xmlns:a="http://schemas.openxmlformats.org/drawingml/2006/main">
              <a:ext uri="{FF2B5EF4-FFF2-40B4-BE49-F238E27FC236}">
                <a16:creationId xmlns:a16="http://schemas.microsoft.com/office/drawing/2014/main" id="{B6B49449-9673-4CFB-8DB3-FDD3933DF187}"/>
              </a:ext>
            </a:extLst>
          </p:cNvPr>
          <p:cNvSpPr>
            <a:spLocks xmlns:a="http://schemas.openxmlformats.org/drawingml/2006/main" noGrp="1"/>
          </p:cNvSpPr>
          <p:nvPr/>
        </p:nvSpPr>
        <p:spPr>
          <a:xfrm xmlns:a="http://schemas.openxmlformats.org/drawingml/2006/main">
            <a:off x="2514600" y="4581144"/>
            <a:ext cx="31546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18202E"/>
                </a:solidFill>
                <a:latin typeface="Malgun Gothic"/>
                <a:ea typeface="Malgun Gothic"/>
                <a:cs typeface="Malgun Gothic"/>
              </a:rPr>
              <a:t>검증된 엔진 수치를 해요체 2~3문장으로 재서술 · 새 숫자 금지</a:t>
            </a:r>
          </a:p>
        </p:txBody>
      </p:sp>
      <p:sp>
        <p:nvSpPr>
          <p:cNvPr id="10" name="Shape 7">
            <a:extLst xmlns:a="http://schemas.openxmlformats.org/drawingml/2006/main">
              <a:ext uri="{FF2B5EF4-FFF2-40B4-BE49-F238E27FC236}">
                <a16:creationId xmlns:a16="http://schemas.microsoft.com/office/drawing/2014/main" id="{A51993E4-9145-4E81-9699-23A339254ABE}"/>
              </a:ext>
            </a:extLst>
          </p:cNvPr>
          <p:cNvSpPr>
            <a:spLocks xmlns:a="http://schemas.openxmlformats.org/drawingml/2006/main" noGrp="1"/>
          </p:cNvSpPr>
          <p:nvPr/>
        </p:nvSpPr>
        <p:spPr>
          <a:xfrm xmlns:a="http://schemas.openxmlformats.org/drawingml/2006/main">
            <a:off x="548640" y="5239512"/>
            <a:ext cx="5212080" cy="603504"/>
          </a:xfrm>
          <a:prstGeom xmlns:a="http://schemas.openxmlformats.org/drawingml/2006/main" prst="roundRect">
            <a:avLst>
              <a:gd name="adj" fmla="val 13636"/>
            </a:avLst>
          </a:prstGeom>
          <a:solidFill xmlns:a="http://schemas.openxmlformats.org/drawingml/2006/main">
            <a:srgbClr val="F7F9FE"/>
          </a:solidFill>
          <a:ln xmlns:a="http://schemas.openxmlformats.org/drawingml/2006/main" w="12700">
            <a:solidFill>
              <a:srgbClr val="D9E0EC"/>
            </a:solidFill>
            <a:prstDash val="solid"/>
          </a:ln>
        </p:spPr>
      </p:sp>
      <p:sp>
        <p:nvSpPr>
          <p:cNvPr id="11" name="Text 8">
            <a:extLst xmlns:a="http://schemas.openxmlformats.org/drawingml/2006/main">
              <a:ext uri="{FF2B5EF4-FFF2-40B4-BE49-F238E27FC236}">
                <a16:creationId xmlns:a16="http://schemas.microsoft.com/office/drawing/2014/main" id="{C9D0BFED-2B43-4F23-9FD4-439BBBA0DD74}"/>
              </a:ext>
            </a:extLst>
          </p:cNvPr>
          <p:cNvSpPr>
            <a:spLocks xmlns:a="http://schemas.openxmlformats.org/drawingml/2006/main" noGrp="1"/>
          </p:cNvSpPr>
          <p:nvPr/>
        </p:nvSpPr>
        <p:spPr>
          <a:xfrm xmlns:a="http://schemas.openxmlformats.org/drawingml/2006/main">
            <a:off x="694944" y="5294376"/>
            <a:ext cx="17830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claude-sonnet 비교군</a:t>
            </a:r>
          </a:p>
        </p:txBody>
      </p:sp>
      <p:sp>
        <p:nvSpPr>
          <p:cNvPr id="12" name="Text 9">
            <a:extLst xmlns:a="http://schemas.openxmlformats.org/drawingml/2006/main">
              <a:ext uri="{FF2B5EF4-FFF2-40B4-BE49-F238E27FC236}">
                <a16:creationId xmlns:a16="http://schemas.microsoft.com/office/drawing/2014/main" id="{E7C14C61-AB90-4D41-AA1A-CE7EE118E555}"/>
              </a:ext>
            </a:extLst>
          </p:cNvPr>
          <p:cNvSpPr>
            <a:spLocks xmlns:a="http://schemas.openxmlformats.org/drawingml/2006/main" noGrp="1"/>
          </p:cNvSpPr>
          <p:nvPr/>
        </p:nvSpPr>
        <p:spPr>
          <a:xfrm xmlns:a="http://schemas.openxmlformats.org/drawingml/2006/main">
            <a:off x="2514600" y="5294376"/>
            <a:ext cx="31546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18202E"/>
                </a:solidFill>
                <a:latin typeface="Malgun Gothic"/>
                <a:ea typeface="Malgun Gothic"/>
                <a:cs typeface="Malgun Gothic"/>
              </a:rPr>
              <a:t>adaptive thinking 비교 · 가드 통과율과 지연을 기준으로 기본 모델 미채택</a:t>
            </a:r>
          </a:p>
        </p:txBody>
      </p:sp>
      <p:sp>
        <p:nvSpPr>
          <p:cNvPr id="13" name="Text 10">
            <a:extLst xmlns:a="http://schemas.openxmlformats.org/drawingml/2006/main">
              <a:ext uri="{FF2B5EF4-FFF2-40B4-BE49-F238E27FC236}">
                <a16:creationId xmlns:a16="http://schemas.microsoft.com/office/drawing/2014/main" id="{8FC62343-0C06-416A-931E-049AA47B889C}"/>
              </a:ext>
            </a:extLst>
          </p:cNvPr>
          <p:cNvSpPr>
            <a:spLocks xmlns:a="http://schemas.openxmlformats.org/drawingml/2006/main" noGrp="1"/>
          </p:cNvSpPr>
          <p:nvPr/>
        </p:nvSpPr>
        <p:spPr>
          <a:xfrm xmlns:a="http://schemas.openxmlformats.org/drawingml/2006/main">
            <a:off x="6217920" y="1417320"/>
            <a:ext cx="5166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RAG — 승인 문서만, 하이브리드 검색</a:t>
            </a:r>
          </a:p>
        </p:txBody>
      </p:sp>
      <p:sp>
        <p:nvSpPr>
          <p:cNvPr id="14" name="Shape 11">
            <a:extLst xmlns:a="http://schemas.openxmlformats.org/drawingml/2006/main">
              <a:ext uri="{FF2B5EF4-FFF2-40B4-BE49-F238E27FC236}">
                <a16:creationId xmlns:a16="http://schemas.microsoft.com/office/drawing/2014/main" id="{E8CA125E-86DF-4E08-AA4A-691B19BC25D2}"/>
              </a:ext>
            </a:extLst>
          </p:cNvPr>
          <p:cNvSpPr>
            <a:spLocks xmlns:a="http://schemas.openxmlformats.org/drawingml/2006/main" noGrp="1"/>
          </p:cNvSpPr>
          <p:nvPr/>
        </p:nvSpPr>
        <p:spPr>
          <a:xfrm xmlns:a="http://schemas.openxmlformats.org/drawingml/2006/main">
            <a:off x="6217920" y="1783080"/>
            <a:ext cx="5166360" cy="603504"/>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2700">
            <a:solidFill>
              <a:srgbClr val="D9E0EC"/>
            </a:solidFill>
            <a:prstDash val="solid"/>
          </a:ln>
        </p:spPr>
      </p:sp>
      <p:sp>
        <p:nvSpPr>
          <p:cNvPr id="15" name="Text 12">
            <a:extLst xmlns:a="http://schemas.openxmlformats.org/drawingml/2006/main">
              <a:ext uri="{FF2B5EF4-FFF2-40B4-BE49-F238E27FC236}">
                <a16:creationId xmlns:a16="http://schemas.microsoft.com/office/drawing/2014/main" id="{04C1C03F-AF3A-4EFA-B304-099F4EC2335D}"/>
              </a:ext>
            </a:extLst>
          </p:cNvPr>
          <p:cNvSpPr>
            <a:spLocks xmlns:a="http://schemas.openxmlformats.org/drawingml/2006/main" noGrp="1"/>
          </p:cNvSpPr>
          <p:nvPr/>
        </p:nvSpPr>
        <p:spPr>
          <a:xfrm xmlns:a="http://schemas.openxmlformats.org/drawingml/2006/main">
            <a:off x="6364224" y="1837944"/>
            <a:ext cx="169164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임베딩</a:t>
            </a:r>
          </a:p>
        </p:txBody>
      </p:sp>
      <p:sp>
        <p:nvSpPr>
          <p:cNvPr id="16" name="Text 13">
            <a:extLst xmlns:a="http://schemas.openxmlformats.org/drawingml/2006/main">
              <a:ext uri="{FF2B5EF4-FFF2-40B4-BE49-F238E27FC236}">
                <a16:creationId xmlns:a16="http://schemas.microsoft.com/office/drawing/2014/main" id="{00B78355-D5F2-4147-83F5-E4C7579A9464}"/>
              </a:ext>
            </a:extLst>
          </p:cNvPr>
          <p:cNvSpPr>
            <a:spLocks xmlns:a="http://schemas.openxmlformats.org/drawingml/2006/main" noGrp="1"/>
          </p:cNvSpPr>
          <p:nvPr/>
        </p:nvSpPr>
        <p:spPr>
          <a:xfrm xmlns:a="http://schemas.openxmlformats.org/drawingml/2006/main">
            <a:off x="8092440" y="1837944"/>
            <a:ext cx="32004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BGE-M3 1024차원 · HNSW 코사인 인덱스</a:t>
            </a:r>
          </a:p>
        </p:txBody>
      </p:sp>
      <p:sp>
        <p:nvSpPr>
          <p:cNvPr id="17" name="Shape 14">
            <a:extLst xmlns:a="http://schemas.openxmlformats.org/drawingml/2006/main">
              <a:ext uri="{FF2B5EF4-FFF2-40B4-BE49-F238E27FC236}">
                <a16:creationId xmlns:a16="http://schemas.microsoft.com/office/drawing/2014/main" id="{0B6D587B-26E9-482D-98F6-E43AA55F0542}"/>
              </a:ext>
            </a:extLst>
          </p:cNvPr>
          <p:cNvSpPr>
            <a:spLocks xmlns:a="http://schemas.openxmlformats.org/drawingml/2006/main" noGrp="1"/>
          </p:cNvSpPr>
          <p:nvPr/>
        </p:nvSpPr>
        <p:spPr>
          <a:xfrm xmlns:a="http://schemas.openxmlformats.org/drawingml/2006/main">
            <a:off x="6217920" y="2496312"/>
            <a:ext cx="5166360" cy="603504"/>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2700">
            <a:solidFill>
              <a:srgbClr val="D9E0EC"/>
            </a:solidFill>
            <a:prstDash val="solid"/>
          </a:ln>
        </p:spPr>
      </p:sp>
      <p:sp>
        <p:nvSpPr>
          <p:cNvPr id="18" name="Text 15">
            <a:extLst xmlns:a="http://schemas.openxmlformats.org/drawingml/2006/main">
              <a:ext uri="{FF2B5EF4-FFF2-40B4-BE49-F238E27FC236}">
                <a16:creationId xmlns:a16="http://schemas.microsoft.com/office/drawing/2014/main" id="{5E9CE574-AD48-4F10-98C5-778C7CEF05F4}"/>
              </a:ext>
            </a:extLst>
          </p:cNvPr>
          <p:cNvSpPr>
            <a:spLocks xmlns:a="http://schemas.openxmlformats.org/drawingml/2006/main" noGrp="1"/>
          </p:cNvSpPr>
          <p:nvPr/>
        </p:nvSpPr>
        <p:spPr>
          <a:xfrm xmlns:a="http://schemas.openxmlformats.org/drawingml/2006/main">
            <a:off x="6364224" y="2551176"/>
            <a:ext cx="169164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하이브리드 검색</a:t>
            </a:r>
          </a:p>
        </p:txBody>
      </p:sp>
      <p:sp>
        <p:nvSpPr>
          <p:cNvPr id="19" name="Text 16">
            <a:extLst xmlns:a="http://schemas.openxmlformats.org/drawingml/2006/main">
              <a:ext uri="{FF2B5EF4-FFF2-40B4-BE49-F238E27FC236}">
                <a16:creationId xmlns:a16="http://schemas.microsoft.com/office/drawing/2014/main" id="{D5F950E1-3B8C-4DD4-8225-BBBC416790F1}"/>
              </a:ext>
            </a:extLst>
          </p:cNvPr>
          <p:cNvSpPr>
            <a:spLocks xmlns:a="http://schemas.openxmlformats.org/drawingml/2006/main" noGrp="1"/>
          </p:cNvSpPr>
          <p:nvPr/>
        </p:nvSpPr>
        <p:spPr>
          <a:xfrm xmlns:a="http://schemas.openxmlformats.org/drawingml/2006/main">
            <a:off x="8092440" y="2551176"/>
            <a:ext cx="32004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전문검색 + 벡터 후보를 RRF(k=60)로 융합</a:t>
            </a:r>
          </a:p>
        </p:txBody>
      </p:sp>
      <p:sp>
        <p:nvSpPr>
          <p:cNvPr id="20" name="Shape 17">
            <a:extLst xmlns:a="http://schemas.openxmlformats.org/drawingml/2006/main">
              <a:ext uri="{FF2B5EF4-FFF2-40B4-BE49-F238E27FC236}">
                <a16:creationId xmlns:a16="http://schemas.microsoft.com/office/drawing/2014/main" id="{FF66613E-6DF1-40C0-BF34-4D04BB4547FA}"/>
              </a:ext>
            </a:extLst>
          </p:cNvPr>
          <p:cNvSpPr>
            <a:spLocks xmlns:a="http://schemas.openxmlformats.org/drawingml/2006/main" noGrp="1"/>
          </p:cNvSpPr>
          <p:nvPr/>
        </p:nvSpPr>
        <p:spPr>
          <a:xfrm xmlns:a="http://schemas.openxmlformats.org/drawingml/2006/main">
            <a:off x="6217920" y="3209544"/>
            <a:ext cx="5166360" cy="603504"/>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2700">
            <a:solidFill>
              <a:srgbClr val="D9E0EC"/>
            </a:solidFill>
            <a:prstDash val="solid"/>
          </a:ln>
        </p:spPr>
      </p:sp>
      <p:sp>
        <p:nvSpPr>
          <p:cNvPr id="21" name="Text 18">
            <a:extLst xmlns:a="http://schemas.openxmlformats.org/drawingml/2006/main">
              <a:ext uri="{FF2B5EF4-FFF2-40B4-BE49-F238E27FC236}">
                <a16:creationId xmlns:a16="http://schemas.microsoft.com/office/drawing/2014/main" id="{B184502A-6C05-4A5E-9EEA-83C1D6A05EE6}"/>
              </a:ext>
            </a:extLst>
          </p:cNvPr>
          <p:cNvSpPr>
            <a:spLocks xmlns:a="http://schemas.openxmlformats.org/drawingml/2006/main" noGrp="1"/>
          </p:cNvSpPr>
          <p:nvPr/>
        </p:nvSpPr>
        <p:spPr>
          <a:xfrm xmlns:a="http://schemas.openxmlformats.org/drawingml/2006/main">
            <a:off x="6364224" y="3264408"/>
            <a:ext cx="169164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결정론 재랭킹</a:t>
            </a:r>
          </a:p>
        </p:txBody>
      </p:sp>
      <p:sp>
        <p:nvSpPr>
          <p:cNvPr id="22" name="Text 19">
            <a:extLst xmlns:a="http://schemas.openxmlformats.org/drawingml/2006/main">
              <a:ext uri="{FF2B5EF4-FFF2-40B4-BE49-F238E27FC236}">
                <a16:creationId xmlns:a16="http://schemas.microsoft.com/office/drawing/2014/main" id="{F4F47E7F-70F4-4CAA-8DEB-F24F0C3464BD}"/>
              </a:ext>
            </a:extLst>
          </p:cNvPr>
          <p:cNvSpPr>
            <a:spLocks xmlns:a="http://schemas.openxmlformats.org/drawingml/2006/main" noGrp="1"/>
          </p:cNvSpPr>
          <p:nvPr/>
        </p:nvSpPr>
        <p:spPr>
          <a:xfrm xmlns:a="http://schemas.openxmlformats.org/drawingml/2006/main">
            <a:off x="8092440" y="3264408"/>
            <a:ext cx="32004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제목·발행처·문서타입 가중 · 동점 안정 정렬</a:t>
            </a:r>
          </a:p>
        </p:txBody>
      </p:sp>
      <p:sp>
        <p:nvSpPr>
          <p:cNvPr id="23" name="Shape 20">
            <a:extLst xmlns:a="http://schemas.openxmlformats.org/drawingml/2006/main">
              <a:ext uri="{FF2B5EF4-FFF2-40B4-BE49-F238E27FC236}">
                <a16:creationId xmlns:a16="http://schemas.microsoft.com/office/drawing/2014/main" id="{5FF50B41-2F57-4029-9E8C-F614B20A59DC}"/>
              </a:ext>
            </a:extLst>
          </p:cNvPr>
          <p:cNvSpPr>
            <a:spLocks xmlns:a="http://schemas.openxmlformats.org/drawingml/2006/main" noGrp="1"/>
          </p:cNvSpPr>
          <p:nvPr/>
        </p:nvSpPr>
        <p:spPr>
          <a:xfrm xmlns:a="http://schemas.openxmlformats.org/drawingml/2006/main">
            <a:off x="6217920" y="3922776"/>
            <a:ext cx="5166360" cy="603504"/>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2700">
            <a:solidFill>
              <a:srgbClr val="D9E0EC"/>
            </a:solidFill>
            <a:prstDash val="solid"/>
          </a:ln>
        </p:spPr>
      </p:sp>
      <p:sp>
        <p:nvSpPr>
          <p:cNvPr id="24" name="Text 21">
            <a:extLst xmlns:a="http://schemas.openxmlformats.org/drawingml/2006/main">
              <a:ext uri="{FF2B5EF4-FFF2-40B4-BE49-F238E27FC236}">
                <a16:creationId xmlns:a16="http://schemas.microsoft.com/office/drawing/2014/main" id="{46F4F5B7-89BC-4153-B2ED-5CA9B9CB6D57}"/>
              </a:ext>
            </a:extLst>
          </p:cNvPr>
          <p:cNvSpPr>
            <a:spLocks xmlns:a="http://schemas.openxmlformats.org/drawingml/2006/main" noGrp="1"/>
          </p:cNvSpPr>
          <p:nvPr/>
        </p:nvSpPr>
        <p:spPr>
          <a:xfrm xmlns:a="http://schemas.openxmlformats.org/drawingml/2006/main">
            <a:off x="6364224" y="3977640"/>
            <a:ext cx="169164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승인 문서 10개</a:t>
            </a:r>
          </a:p>
        </p:txBody>
      </p:sp>
      <p:sp>
        <p:nvSpPr>
          <p:cNvPr id="25" name="Text 22">
            <a:extLst xmlns:a="http://schemas.openxmlformats.org/drawingml/2006/main">
              <a:ext uri="{FF2B5EF4-FFF2-40B4-BE49-F238E27FC236}">
                <a16:creationId xmlns:a16="http://schemas.microsoft.com/office/drawing/2014/main" id="{56F71839-88D5-4BE6-ACEC-D86B3F6118B8}"/>
              </a:ext>
            </a:extLst>
          </p:cNvPr>
          <p:cNvSpPr>
            <a:spLocks xmlns:a="http://schemas.openxmlformats.org/drawingml/2006/main" noGrp="1"/>
          </p:cNvSpPr>
          <p:nvPr/>
        </p:nvSpPr>
        <p:spPr>
          <a:xfrm xmlns:a="http://schemas.openxmlformats.org/drawingml/2006/main">
            <a:off x="8092440" y="3977640"/>
            <a:ext cx="32004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활성 청크 41개 · 검토기한 만료 문서는 자동 제외</a:t>
            </a:r>
          </a:p>
        </p:txBody>
      </p:sp>
      <p:sp>
        <p:nvSpPr>
          <p:cNvPr id="26" name="Shape 23">
            <a:extLst xmlns:a="http://schemas.openxmlformats.org/drawingml/2006/main">
              <a:ext uri="{FF2B5EF4-FFF2-40B4-BE49-F238E27FC236}">
                <a16:creationId xmlns:a16="http://schemas.microsoft.com/office/drawing/2014/main" id="{D1432606-0A45-4D53-A2B1-D7291841950A}"/>
              </a:ext>
            </a:extLst>
          </p:cNvPr>
          <p:cNvSpPr>
            <a:spLocks xmlns:a="http://schemas.openxmlformats.org/drawingml/2006/main" noGrp="1"/>
          </p:cNvSpPr>
          <p:nvPr/>
        </p:nvSpPr>
        <p:spPr>
          <a:xfrm xmlns:a="http://schemas.openxmlformats.org/drawingml/2006/main">
            <a:off x="6217920" y="4636008"/>
            <a:ext cx="5166360" cy="603504"/>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2700">
            <a:solidFill>
              <a:srgbClr val="D9E0EC"/>
            </a:solidFill>
            <a:prstDash val="solid"/>
          </a:ln>
        </p:spPr>
      </p:sp>
      <p:sp>
        <p:nvSpPr>
          <p:cNvPr id="27" name="Text 24">
            <a:extLst xmlns:a="http://schemas.openxmlformats.org/drawingml/2006/main">
              <a:ext uri="{FF2B5EF4-FFF2-40B4-BE49-F238E27FC236}">
                <a16:creationId xmlns:a16="http://schemas.microsoft.com/office/drawing/2014/main" id="{43FB2B89-807E-4BB4-B976-DC5ED5582CEE}"/>
              </a:ext>
            </a:extLst>
          </p:cNvPr>
          <p:cNvSpPr>
            <a:spLocks xmlns:a="http://schemas.openxmlformats.org/drawingml/2006/main" noGrp="1"/>
          </p:cNvSpPr>
          <p:nvPr/>
        </p:nvSpPr>
        <p:spPr>
          <a:xfrm xmlns:a="http://schemas.openxmlformats.org/drawingml/2006/main">
            <a:off x="6364224" y="4690872"/>
            <a:ext cx="169164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안전 정책</a:t>
            </a:r>
          </a:p>
        </p:txBody>
      </p:sp>
      <p:sp>
        <p:nvSpPr>
          <p:cNvPr id="28" name="Text 25">
            <a:extLst xmlns:a="http://schemas.openxmlformats.org/drawingml/2006/main">
              <a:ext uri="{FF2B5EF4-FFF2-40B4-BE49-F238E27FC236}">
                <a16:creationId xmlns:a16="http://schemas.microsoft.com/office/drawing/2014/main" id="{65CC4E8C-97BC-4D4A-AE84-AD9722227E6F}"/>
              </a:ext>
            </a:extLst>
          </p:cNvPr>
          <p:cNvSpPr>
            <a:spLocks xmlns:a="http://schemas.openxmlformats.org/drawingml/2006/main" noGrp="1"/>
          </p:cNvSpPr>
          <p:nvPr/>
        </p:nvSpPr>
        <p:spPr>
          <a:xfrm xmlns:a="http://schemas.openxmlformats.org/drawingml/2006/main">
            <a:off x="8092440" y="4690872"/>
            <a:ext cx="32004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20">
                <a:solidFill>
                  <a:srgbClr val="5A6474"/>
                </a:solidFill>
                <a:latin typeface="Malgun Gothic"/>
                <a:ea typeface="Malgun Gothic"/>
                <a:cs typeface="Malgun Gothic"/>
              </a:rPr>
              <a:t>개인정보·프롬프트 인젝션 차단 · 공식 도메인 화이트리스트</a:t>
            </a:r>
          </a:p>
        </p:txBody>
      </p:sp>
      <p:sp>
        <p:nvSpPr>
          <p:cNvPr id="29" name="Shape 26">
            <a:extLst xmlns:a="http://schemas.openxmlformats.org/drawingml/2006/main">
              <a:ext uri="{FF2B5EF4-FFF2-40B4-BE49-F238E27FC236}">
                <a16:creationId xmlns:a16="http://schemas.microsoft.com/office/drawing/2014/main" id="{D345F37A-E7D4-4128-8BC2-F076146CCFA2}"/>
              </a:ext>
            </a:extLst>
          </p:cNvPr>
          <p:cNvSpPr>
            <a:spLocks xmlns:a="http://schemas.openxmlformats.org/drawingml/2006/main" noGrp="1"/>
          </p:cNvSpPr>
          <p:nvPr/>
        </p:nvSpPr>
        <p:spPr>
          <a:xfrm xmlns:a="http://schemas.openxmlformats.org/drawingml/2006/main">
            <a:off x="6217920" y="5440680"/>
            <a:ext cx="5166360" cy="713232"/>
          </a:xfrm>
          <a:prstGeom xmlns:a="http://schemas.openxmlformats.org/drawingml/2006/main" prst="roundRect">
            <a:avLst>
              <a:gd name="adj" fmla="val 11538"/>
            </a:avLst>
          </a:prstGeom>
          <a:solidFill xmlns:a="http://schemas.openxmlformats.org/drawingml/2006/main">
            <a:srgbClr val="EEF3FE"/>
          </a:solidFill>
          <a:ln xmlns:a="http://schemas.openxmlformats.org/drawingml/2006/main" w="12700">
            <a:solidFill>
              <a:srgbClr val="D7E2F8"/>
            </a:solidFill>
            <a:prstDash val="solid"/>
          </a:ln>
        </p:spPr>
      </p:sp>
      <p:sp>
        <p:nvSpPr>
          <p:cNvPr id="30" name="Text 27">
            <a:extLst xmlns:a="http://schemas.openxmlformats.org/drawingml/2006/main">
              <a:ext uri="{FF2B5EF4-FFF2-40B4-BE49-F238E27FC236}">
                <a16:creationId xmlns:a16="http://schemas.microsoft.com/office/drawing/2014/main" id="{09F1EEAB-4B7C-41C9-BB23-A55F74ECC8ED}"/>
              </a:ext>
            </a:extLst>
          </p:cNvPr>
          <p:cNvSpPr>
            <a:spLocks xmlns:a="http://schemas.openxmlformats.org/drawingml/2006/main" noGrp="1"/>
          </p:cNvSpPr>
          <p:nvPr/>
        </p:nvSpPr>
        <p:spPr>
          <a:xfrm xmlns:a="http://schemas.openxmlformats.org/drawingml/2006/main">
            <a:off x="6400800" y="5440680"/>
            <a:ext cx="48463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검색 품질 18케이스   Hit@1 = 1.0 · Hit@5 = 1.0 · MRR@5 = 1.0</a:t>
            </a:r>
          </a:p>
        </p:txBody>
      </p:sp>
      <p:sp>
        <p:nvSpPr>
          <p:cNvPr id="31" name="Text 28">
            <a:extLst xmlns:a="http://schemas.openxmlformats.org/drawingml/2006/main">
              <a:ext uri="{FF2B5EF4-FFF2-40B4-BE49-F238E27FC236}">
                <a16:creationId xmlns:a16="http://schemas.microsoft.com/office/drawing/2014/main" id="{0479831F-F2B3-4C69-8814-02696AFC829E}"/>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13</a:t>
            </a:r>
          </a:p>
        </p:txBody>
      </p:sp>
      <p:graphicFrame>
        <p:nvGraphicFramePr>
          <p:cNvPr id="62" name="Chart"/>
          <p:cNvGraphicFramePr/>
          <p:nvPr/>
        </p:nvGraphicFramePr>
        <p:xfrm>
          <a:off xmlns:a="http://schemas.openxmlformats.org/drawingml/2006/main" x="548640" y="1783080"/>
          <a:ext xmlns:a="http://schemas.openxmlformats.org/drawingml/2006/main" cx="5212080" cy="2286000"/>
        </p:xfrm>
        <a:graphic xmlns:a="http://schemas.openxmlformats.org/drawingml/2006/main">
          <a:graphicData uri="http://schemas.openxmlformats.org/drawingml/2006/chart">
            <c:chart xmlns:r="http://schemas.openxmlformats.org/officeDocument/2006/relationships" xmlns:c="http://schemas.openxmlformats.org/drawingml/2006/chart" r:id="Ree314ecc1cfe4688"/>
          </a:graphicData>
        </a:graphic>
      </p:graphicFrame>
    </p:spTree>
    <p:extLst>
      <p:ext uri="{BB962C8B-B14F-4D97-AF65-F5344CB8AC3E}">
        <p14:creationId xmlns:p14="http://schemas.microsoft.com/office/powerpoint/2010/main" val="131512349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83FF94-0A8B-41C9-9795-FA99C0550178}"/>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13 · 검증 · PERFORMANCE</a:t>
            </a:r>
          </a:p>
        </p:txBody>
      </p:sp>
      <p:sp>
        <p:nvSpPr>
          <p:cNvPr id="3" name="Text 1">
            <a:extLst xmlns:a="http://schemas.openxmlformats.org/drawingml/2006/main">
              <a:ext uri="{FF2B5EF4-FFF2-40B4-BE49-F238E27FC236}">
                <a16:creationId xmlns:a16="http://schemas.microsoft.com/office/drawing/2014/main" id="{5F5B9265-C2FD-41CC-BBAF-4F7F31357A78}"/>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예측 정확도 대신, 금융 규칙의 불변성을 검증한다</a:t>
            </a:r>
          </a:p>
        </p:txBody>
      </p:sp>
      <p:sp>
        <p:nvSpPr>
          <p:cNvPr id="4" name="Shape 2">
            <a:extLst xmlns:a="http://schemas.openxmlformats.org/drawingml/2006/main">
              <a:ext uri="{FF2B5EF4-FFF2-40B4-BE49-F238E27FC236}">
                <a16:creationId xmlns:a16="http://schemas.microsoft.com/office/drawing/2014/main" id="{B6E37F83-DAA2-4BD0-8C3D-6F051860B56A}"/>
              </a:ext>
            </a:extLst>
          </p:cNvPr>
          <p:cNvSpPr>
            <a:spLocks xmlns:a="http://schemas.openxmlformats.org/drawingml/2006/main" noGrp="1"/>
          </p:cNvSpPr>
          <p:nvPr/>
        </p:nvSpPr>
        <p:spPr>
          <a:xfrm xmlns:a="http://schemas.openxmlformats.org/drawingml/2006/main">
            <a:off x="548640" y="1463040"/>
            <a:ext cx="265176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BCBE2250-8820-44BF-90A6-84173CB72753}"/>
              </a:ext>
            </a:extLst>
          </p:cNvPr>
          <p:cNvSpPr>
            <a:spLocks xmlns:a="http://schemas.openxmlformats.org/drawingml/2006/main" noGrp="1"/>
          </p:cNvSpPr>
          <p:nvPr/>
        </p:nvSpPr>
        <p:spPr>
          <a:xfrm xmlns:a="http://schemas.openxmlformats.org/drawingml/2006/main">
            <a:off x="694944" y="1554480"/>
            <a:ext cx="2359152" cy="680314"/>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000" b="1">
                <a:solidFill>
                  <a:srgbClr val="1E8A4C"/>
                </a:solidFill>
                <a:latin typeface="Malgun Gothic"/>
                <a:ea typeface="Malgun Gothic"/>
                <a:cs typeface="Malgun Gothic"/>
              </a:rPr>
              <a:t>120개 · 0건</a:t>
            </a:r>
          </a:p>
        </p:txBody>
      </p:sp>
      <p:sp>
        <p:nvSpPr>
          <p:cNvPr id="6" name="Text 4">
            <a:extLst xmlns:a="http://schemas.openxmlformats.org/drawingml/2006/main">
              <a:ext uri="{FF2B5EF4-FFF2-40B4-BE49-F238E27FC236}">
                <a16:creationId xmlns:a16="http://schemas.microsoft.com/office/drawing/2014/main" id="{4A8B4929-D7A8-49F3-9604-10797056F8B1}"/>
              </a:ext>
            </a:extLst>
          </p:cNvPr>
          <p:cNvSpPr>
            <a:spLocks xmlns:a="http://schemas.openxmlformats.org/drawingml/2006/main" noGrp="1"/>
          </p:cNvSpPr>
          <p:nvPr/>
        </p:nvSpPr>
        <p:spPr>
          <a:xfrm xmlns:a="http://schemas.openxmlformats.org/drawingml/2006/main">
            <a:off x="694944" y="2254910"/>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포트폴리오 전수 검증</a:t>
            </a:r>
          </a:p>
        </p:txBody>
      </p:sp>
      <p:sp>
        <p:nvSpPr>
          <p:cNvPr id="7" name="Text 5">
            <a:extLst xmlns:a="http://schemas.openxmlformats.org/drawingml/2006/main">
              <a:ext uri="{FF2B5EF4-FFF2-40B4-BE49-F238E27FC236}">
                <a16:creationId xmlns:a16="http://schemas.microsoft.com/office/drawing/2014/main" id="{E5DDEEC6-FF6B-4F64-A6E6-8D9EA8B536AF}"/>
              </a:ext>
            </a:extLst>
          </p:cNvPr>
          <p:cNvSpPr>
            <a:spLocks xmlns:a="http://schemas.openxmlformats.org/drawingml/2006/main" noGrp="1"/>
          </p:cNvSpPr>
          <p:nvPr/>
        </p:nvSpPr>
        <p:spPr>
          <a:xfrm xmlns:a="http://schemas.openxmlformats.org/drawingml/2006/main">
            <a:off x="694944" y="2501798"/>
            <a:ext cx="2359152" cy="3511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70% 한도 위반 0 · 후보 슬리브 누락 0</a:t>
            </a:r>
          </a:p>
        </p:txBody>
      </p:sp>
      <p:sp>
        <p:nvSpPr>
          <p:cNvPr id="8" name="Shape 6">
            <a:extLst xmlns:a="http://schemas.openxmlformats.org/drawingml/2006/main">
              <a:ext uri="{FF2B5EF4-FFF2-40B4-BE49-F238E27FC236}">
                <a16:creationId xmlns:a16="http://schemas.microsoft.com/office/drawing/2014/main" id="{4F56F937-A83A-4DC0-A128-9177FF9884DB}"/>
              </a:ext>
            </a:extLst>
          </p:cNvPr>
          <p:cNvSpPr>
            <a:spLocks xmlns:a="http://schemas.openxmlformats.org/drawingml/2006/main" noGrp="1"/>
          </p:cNvSpPr>
          <p:nvPr/>
        </p:nvSpPr>
        <p:spPr>
          <a:xfrm xmlns:a="http://schemas.openxmlformats.org/drawingml/2006/main">
            <a:off x="3401568" y="1463040"/>
            <a:ext cx="265176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D9E0EC"/>
            </a:solidFill>
            <a:prstDash val="solid"/>
          </a:ln>
        </p:spPr>
      </p:sp>
      <p:sp>
        <p:nvSpPr>
          <p:cNvPr id="9" name="Text 7">
            <a:extLst xmlns:a="http://schemas.openxmlformats.org/drawingml/2006/main">
              <a:ext uri="{FF2B5EF4-FFF2-40B4-BE49-F238E27FC236}">
                <a16:creationId xmlns:a16="http://schemas.microsoft.com/office/drawing/2014/main" id="{5DD62123-A366-4ADB-9187-CEBF6596887D}"/>
              </a:ext>
            </a:extLst>
          </p:cNvPr>
          <p:cNvSpPr>
            <a:spLocks xmlns:a="http://schemas.openxmlformats.org/drawingml/2006/main" noGrp="1"/>
          </p:cNvSpPr>
          <p:nvPr/>
        </p:nvSpPr>
        <p:spPr>
          <a:xfrm xmlns:a="http://schemas.openxmlformats.org/drawingml/2006/main">
            <a:off x="3547872" y="1554480"/>
            <a:ext cx="2359152" cy="680314"/>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000" b="1">
                <a:solidFill>
                  <a:srgbClr val="1A4FD8"/>
                </a:solidFill>
                <a:latin typeface="Malgun Gothic"/>
                <a:ea typeface="Malgun Gothic"/>
                <a:cs typeface="Malgun Gothic"/>
              </a:rPr>
              <a:t>1,151 + 104</a:t>
            </a:r>
          </a:p>
        </p:txBody>
      </p:sp>
      <p:sp>
        <p:nvSpPr>
          <p:cNvPr id="10" name="Text 8">
            <a:extLst xmlns:a="http://schemas.openxmlformats.org/drawingml/2006/main">
              <a:ext uri="{FF2B5EF4-FFF2-40B4-BE49-F238E27FC236}">
                <a16:creationId xmlns:a16="http://schemas.microsoft.com/office/drawing/2014/main" id="{17069032-C908-4D56-8C9B-368012A5C45C}"/>
              </a:ext>
            </a:extLst>
          </p:cNvPr>
          <p:cNvSpPr>
            <a:spLocks xmlns:a="http://schemas.openxmlformats.org/drawingml/2006/main" noGrp="1"/>
          </p:cNvSpPr>
          <p:nvPr/>
        </p:nvSpPr>
        <p:spPr>
          <a:xfrm xmlns:a="http://schemas.openxmlformats.org/drawingml/2006/main">
            <a:off x="3547872" y="2254910"/>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백엔드·프론트 테스트</a:t>
            </a:r>
          </a:p>
        </p:txBody>
      </p:sp>
      <p:sp>
        <p:nvSpPr>
          <p:cNvPr id="11" name="Text 9">
            <a:extLst xmlns:a="http://schemas.openxmlformats.org/drawingml/2006/main">
              <a:ext uri="{FF2B5EF4-FFF2-40B4-BE49-F238E27FC236}">
                <a16:creationId xmlns:a16="http://schemas.microsoft.com/office/drawing/2014/main" id="{DD2C6096-FAAA-4709-AA84-65698E47FF83}"/>
              </a:ext>
            </a:extLst>
          </p:cNvPr>
          <p:cNvSpPr>
            <a:spLocks xmlns:a="http://schemas.openxmlformats.org/drawingml/2006/main" noGrp="1"/>
          </p:cNvSpPr>
          <p:nvPr/>
        </p:nvSpPr>
        <p:spPr>
          <a:xfrm xmlns:a="http://schemas.openxmlformats.org/drawingml/2006/main">
            <a:off x="3547872" y="2501798"/>
            <a:ext cx="2359152" cy="3511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백엔드 1 skipped · TS·Vite build · 2026-07-24</a:t>
            </a:r>
          </a:p>
        </p:txBody>
      </p:sp>
      <p:sp>
        <p:nvSpPr>
          <p:cNvPr id="12" name="Shape 10">
            <a:extLst xmlns:a="http://schemas.openxmlformats.org/drawingml/2006/main">
              <a:ext uri="{FF2B5EF4-FFF2-40B4-BE49-F238E27FC236}">
                <a16:creationId xmlns:a16="http://schemas.microsoft.com/office/drawing/2014/main" id="{7BF916A9-BE2C-4084-9DBE-DB1924205452}"/>
              </a:ext>
            </a:extLst>
          </p:cNvPr>
          <p:cNvSpPr>
            <a:spLocks xmlns:a="http://schemas.openxmlformats.org/drawingml/2006/main" noGrp="1"/>
          </p:cNvSpPr>
          <p:nvPr/>
        </p:nvSpPr>
        <p:spPr>
          <a:xfrm xmlns:a="http://schemas.openxmlformats.org/drawingml/2006/main">
            <a:off x="548640" y="3081528"/>
            <a:ext cx="265176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D9E0EC"/>
            </a:solidFill>
            <a:prstDash val="solid"/>
          </a:ln>
        </p:spPr>
      </p:sp>
      <p:sp>
        <p:nvSpPr>
          <p:cNvPr id="13" name="Text 11">
            <a:extLst xmlns:a="http://schemas.openxmlformats.org/drawingml/2006/main">
              <a:ext uri="{FF2B5EF4-FFF2-40B4-BE49-F238E27FC236}">
                <a16:creationId xmlns:a16="http://schemas.microsoft.com/office/drawing/2014/main" id="{66C6FB5A-25D8-4000-9439-E89DCEEDDE3E}"/>
              </a:ext>
            </a:extLst>
          </p:cNvPr>
          <p:cNvSpPr>
            <a:spLocks xmlns:a="http://schemas.openxmlformats.org/drawingml/2006/main" noGrp="1"/>
          </p:cNvSpPr>
          <p:nvPr/>
        </p:nvSpPr>
        <p:spPr>
          <a:xfrm xmlns:a="http://schemas.openxmlformats.org/drawingml/2006/main">
            <a:off x="694944" y="3172968"/>
            <a:ext cx="2359152" cy="680314"/>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000" b="1">
                <a:solidFill>
                  <a:srgbClr val="1A4FD8"/>
                </a:solidFill>
                <a:latin typeface="Malgun Gothic"/>
                <a:ea typeface="Malgun Gothic"/>
                <a:cs typeface="Malgun Gothic"/>
              </a:rPr>
              <a:t>원격 E2E</a:t>
            </a:r>
          </a:p>
        </p:txBody>
      </p:sp>
      <p:sp>
        <p:nvSpPr>
          <p:cNvPr id="14" name="Text 12">
            <a:extLst xmlns:a="http://schemas.openxmlformats.org/drawingml/2006/main">
              <a:ext uri="{FF2B5EF4-FFF2-40B4-BE49-F238E27FC236}">
                <a16:creationId xmlns:a16="http://schemas.microsoft.com/office/drawing/2014/main" id="{F489E82C-8F79-408B-97E5-A29AB198B753}"/>
              </a:ext>
            </a:extLst>
          </p:cNvPr>
          <p:cNvSpPr>
            <a:spLocks xmlns:a="http://schemas.openxmlformats.org/drawingml/2006/main" noGrp="1"/>
          </p:cNvSpPr>
          <p:nvPr/>
        </p:nvSpPr>
        <p:spPr>
          <a:xfrm xmlns:a="http://schemas.openxmlformats.org/drawingml/2006/main">
            <a:off x="694944" y="3873398"/>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Supabase 종단 검증</a:t>
            </a:r>
          </a:p>
        </p:txBody>
      </p:sp>
      <p:sp>
        <p:nvSpPr>
          <p:cNvPr id="15" name="Text 13">
            <a:extLst xmlns:a="http://schemas.openxmlformats.org/drawingml/2006/main">
              <a:ext uri="{FF2B5EF4-FFF2-40B4-BE49-F238E27FC236}">
                <a16:creationId xmlns:a16="http://schemas.microsoft.com/office/drawing/2014/main" id="{FEDCF5CF-D55E-4F62-933C-1BC24624D98B}"/>
              </a:ext>
            </a:extLst>
          </p:cNvPr>
          <p:cNvSpPr>
            <a:spLocks xmlns:a="http://schemas.openxmlformats.org/drawingml/2006/main" noGrp="1"/>
          </p:cNvSpPr>
          <p:nvPr/>
        </p:nvSpPr>
        <p:spPr>
          <a:xfrm xmlns:a="http://schemas.openxmlformats.org/drawingml/2006/main">
            <a:off x="694944" y="4120286"/>
            <a:ext cx="2359152" cy="3511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Auth·RLS 2인 격리 · 인증 챗 · FSS 실적재 · ETF DB 동등성</a:t>
            </a:r>
          </a:p>
        </p:txBody>
      </p:sp>
      <p:sp>
        <p:nvSpPr>
          <p:cNvPr id="16" name="Shape 14">
            <a:extLst xmlns:a="http://schemas.openxmlformats.org/drawingml/2006/main">
              <a:ext uri="{FF2B5EF4-FFF2-40B4-BE49-F238E27FC236}">
                <a16:creationId xmlns:a16="http://schemas.microsoft.com/office/drawing/2014/main" id="{8EDDBE0E-B93B-48C0-8F0E-B97E2B4FE42F}"/>
              </a:ext>
            </a:extLst>
          </p:cNvPr>
          <p:cNvSpPr>
            <a:spLocks xmlns:a="http://schemas.openxmlformats.org/drawingml/2006/main" noGrp="1"/>
          </p:cNvSpPr>
          <p:nvPr/>
        </p:nvSpPr>
        <p:spPr>
          <a:xfrm xmlns:a="http://schemas.openxmlformats.org/drawingml/2006/main">
            <a:off x="3401568" y="3081528"/>
            <a:ext cx="2651760"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D9E0EC"/>
            </a:solidFill>
            <a:prstDash val="solid"/>
          </a:ln>
        </p:spPr>
      </p:sp>
      <p:sp>
        <p:nvSpPr>
          <p:cNvPr id="17" name="Text 15">
            <a:extLst xmlns:a="http://schemas.openxmlformats.org/drawingml/2006/main">
              <a:ext uri="{FF2B5EF4-FFF2-40B4-BE49-F238E27FC236}">
                <a16:creationId xmlns:a16="http://schemas.microsoft.com/office/drawing/2014/main" id="{4740E27B-4063-469B-8BE6-07BBA979B364}"/>
              </a:ext>
            </a:extLst>
          </p:cNvPr>
          <p:cNvSpPr>
            <a:spLocks xmlns:a="http://schemas.openxmlformats.org/drawingml/2006/main" noGrp="1"/>
          </p:cNvSpPr>
          <p:nvPr/>
        </p:nvSpPr>
        <p:spPr>
          <a:xfrm xmlns:a="http://schemas.openxmlformats.org/drawingml/2006/main">
            <a:off x="3547872" y="3172968"/>
            <a:ext cx="2359152" cy="680314"/>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2000" b="1">
                <a:solidFill>
                  <a:srgbClr val="1A4FD8"/>
                </a:solidFill>
                <a:latin typeface="Malgun Gothic"/>
                <a:ea typeface="Malgun Gothic"/>
                <a:cs typeface="Malgun Gothic"/>
              </a:rPr>
              <a:t>검증 게이트</a:t>
            </a:r>
          </a:p>
        </p:txBody>
      </p:sp>
      <p:sp>
        <p:nvSpPr>
          <p:cNvPr id="18" name="Text 16">
            <a:extLst xmlns:a="http://schemas.openxmlformats.org/drawingml/2006/main">
              <a:ext uri="{FF2B5EF4-FFF2-40B4-BE49-F238E27FC236}">
                <a16:creationId xmlns:a16="http://schemas.microsoft.com/office/drawing/2014/main" id="{984CB7D8-DC39-4BA1-AD38-D9231C75920B}"/>
              </a:ext>
            </a:extLst>
          </p:cNvPr>
          <p:cNvSpPr>
            <a:spLocks xmlns:a="http://schemas.openxmlformats.org/drawingml/2006/main" noGrp="1"/>
          </p:cNvSpPr>
          <p:nvPr/>
        </p:nvSpPr>
        <p:spPr>
          <a:xfrm xmlns:a="http://schemas.openxmlformats.org/drawingml/2006/main">
            <a:off x="3547872" y="3873398"/>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데이터·응답 품질</a:t>
            </a:r>
          </a:p>
        </p:txBody>
      </p:sp>
      <p:sp>
        <p:nvSpPr>
          <p:cNvPr id="19" name="Text 17">
            <a:extLst xmlns:a="http://schemas.openxmlformats.org/drawingml/2006/main">
              <a:ext uri="{FF2B5EF4-FFF2-40B4-BE49-F238E27FC236}">
                <a16:creationId xmlns:a16="http://schemas.microsoft.com/office/drawing/2014/main" id="{0EE094D5-4281-48CF-BE96-E41E523A8A8F}"/>
              </a:ext>
            </a:extLst>
          </p:cNvPr>
          <p:cNvSpPr>
            <a:spLocks xmlns:a="http://schemas.openxmlformats.org/drawingml/2006/main" noGrp="1"/>
          </p:cNvSpPr>
          <p:nvPr/>
        </p:nvSpPr>
        <p:spPr>
          <a:xfrm xmlns:a="http://schemas.openxmlformats.org/drawingml/2006/main">
            <a:off x="3547872" y="4120286"/>
            <a:ext cx="2359152" cy="3511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80">
                <a:solidFill>
                  <a:srgbClr val="5A6474"/>
                </a:solidFill>
                <a:latin typeface="Malgun Gothic"/>
                <a:ea typeface="Malgun Gothic"/>
                <a:cs typeface="Malgun Gothic"/>
              </a:rPr>
              <a:t>스키마 · 의미 · 인과 · 불변식 · 재현성 · 수치 근거 대조</a:t>
            </a:r>
          </a:p>
        </p:txBody>
      </p:sp>
      <p:sp>
        <p:nvSpPr>
          <p:cNvPr id="20" name="Text 18">
            <a:extLst xmlns:a="http://schemas.openxmlformats.org/drawingml/2006/main">
              <a:ext uri="{FF2B5EF4-FFF2-40B4-BE49-F238E27FC236}">
                <a16:creationId xmlns:a16="http://schemas.microsoft.com/office/drawing/2014/main" id="{449E3DCA-FB4A-4D84-83D9-29E75D8F0451}"/>
              </a:ext>
            </a:extLst>
          </p:cNvPr>
          <p:cNvSpPr>
            <a:spLocks xmlns:a="http://schemas.openxmlformats.org/drawingml/2006/main" noGrp="1"/>
          </p:cNvSpPr>
          <p:nvPr/>
        </p:nvSpPr>
        <p:spPr>
          <a:xfrm xmlns:a="http://schemas.openxmlformats.org/drawingml/2006/main">
            <a:off x="6309360" y="146304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성능 개선 — 실측</a:t>
            </a:r>
          </a:p>
        </p:txBody>
      </p:sp>
      <p:sp>
        <p:nvSpPr>
          <p:cNvPr id="21" name="Shape 19">
            <a:extLst xmlns:a="http://schemas.openxmlformats.org/drawingml/2006/main">
              <a:ext uri="{FF2B5EF4-FFF2-40B4-BE49-F238E27FC236}">
                <a16:creationId xmlns:a16="http://schemas.microsoft.com/office/drawing/2014/main" id="{28D0DE33-3456-44C7-9478-41800EBDE9DD}"/>
              </a:ext>
            </a:extLst>
          </p:cNvPr>
          <p:cNvSpPr>
            <a:spLocks xmlns:a="http://schemas.openxmlformats.org/drawingml/2006/main" noGrp="1"/>
          </p:cNvSpPr>
          <p:nvPr/>
        </p:nvSpPr>
        <p:spPr>
          <a:xfrm xmlns:a="http://schemas.openxmlformats.org/drawingml/2006/main">
            <a:off x="6309360" y="1828800"/>
            <a:ext cx="5074920" cy="804672"/>
          </a:xfrm>
          <a:prstGeom xmlns:a="http://schemas.openxmlformats.org/drawingml/2006/main" prst="roundRect">
            <a:avLst>
              <a:gd name="adj" fmla="val 10227"/>
            </a:avLst>
          </a:prstGeom>
          <a:solidFill xmlns:a="http://schemas.openxmlformats.org/drawingml/2006/main">
            <a:srgbClr val="FFFFFF"/>
          </a:solidFill>
          <a:ln xmlns:a="http://schemas.openxmlformats.org/drawingml/2006/main" w="12700">
            <a:solidFill>
              <a:srgbClr val="D9E0EC"/>
            </a:solidFill>
            <a:prstDash val="solid"/>
          </a:ln>
        </p:spPr>
      </p:sp>
      <p:sp>
        <p:nvSpPr>
          <p:cNvPr id="22" name="Text 20">
            <a:extLst xmlns:a="http://schemas.openxmlformats.org/drawingml/2006/main">
              <a:ext uri="{FF2B5EF4-FFF2-40B4-BE49-F238E27FC236}">
                <a16:creationId xmlns:a16="http://schemas.microsoft.com/office/drawing/2014/main" id="{7626639B-759F-40B4-8AD0-41A91E34290A}"/>
              </a:ext>
            </a:extLst>
          </p:cNvPr>
          <p:cNvSpPr>
            <a:spLocks xmlns:a="http://schemas.openxmlformats.org/drawingml/2006/main" noGrp="1"/>
          </p:cNvSpPr>
          <p:nvPr/>
        </p:nvSpPr>
        <p:spPr>
          <a:xfrm xmlns:a="http://schemas.openxmlformats.org/drawingml/2006/main">
            <a:off x="6455664" y="1901952"/>
            <a:ext cx="1600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공시 질문 응답</a:t>
            </a:r>
          </a:p>
        </p:txBody>
      </p:sp>
      <p:sp>
        <p:nvSpPr>
          <p:cNvPr id="23" name="Text 21">
            <a:extLst xmlns:a="http://schemas.openxmlformats.org/drawingml/2006/main">
              <a:ext uri="{FF2B5EF4-FFF2-40B4-BE49-F238E27FC236}">
                <a16:creationId xmlns:a16="http://schemas.microsoft.com/office/drawing/2014/main" id="{CCAA9FF8-FA83-4686-AAA1-2B2E8F83840D}"/>
              </a:ext>
            </a:extLst>
          </p:cNvPr>
          <p:cNvSpPr>
            <a:spLocks xmlns:a="http://schemas.openxmlformats.org/drawingml/2006/main" noGrp="1"/>
          </p:cNvSpPr>
          <p:nvPr/>
        </p:nvSpPr>
        <p:spPr>
          <a:xfrm xmlns:a="http://schemas.openxmlformats.org/drawingml/2006/main">
            <a:off x="8092440" y="1901952"/>
            <a:ext cx="21945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6474"/>
                </a:solidFill>
                <a:latin typeface="Malgun Gothic"/>
                <a:ea typeface="Malgun Gothic"/>
                <a:cs typeface="Malgun Gothic"/>
              </a:rPr>
              <a:t>1,200ms  →  396ms</a:t>
            </a:r>
          </a:p>
        </p:txBody>
      </p:sp>
      <p:sp>
        <p:nvSpPr>
          <p:cNvPr id="24" name="Text 22">
            <a:extLst xmlns:a="http://schemas.openxmlformats.org/drawingml/2006/main">
              <a:ext uri="{FF2B5EF4-FFF2-40B4-BE49-F238E27FC236}">
                <a16:creationId xmlns:a16="http://schemas.microsoft.com/office/drawing/2014/main" id="{21B94998-0756-41D0-9A04-7A915DC548ED}"/>
              </a:ext>
            </a:extLst>
          </p:cNvPr>
          <p:cNvSpPr>
            <a:spLocks xmlns:a="http://schemas.openxmlformats.org/drawingml/2006/main" noGrp="1"/>
          </p:cNvSpPr>
          <p:nvPr/>
        </p:nvSpPr>
        <p:spPr>
          <a:xfrm xmlns:a="http://schemas.openxmlformats.org/drawingml/2006/main">
            <a:off x="10332720" y="1901952"/>
            <a:ext cx="1005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5A6474"/>
                </a:solidFill>
                <a:latin typeface="Malgun Gothic"/>
                <a:ea typeface="Malgun Gothic"/>
                <a:cs typeface="Malgun Gothic"/>
              </a:rPr>
              <a:t>지연오픈 4-커넥션 풀</a:t>
            </a:r>
          </a:p>
        </p:txBody>
      </p:sp>
      <p:sp>
        <p:nvSpPr>
          <p:cNvPr id="25" name="Shape 23">
            <a:extLst xmlns:a="http://schemas.openxmlformats.org/drawingml/2006/main">
              <a:ext uri="{FF2B5EF4-FFF2-40B4-BE49-F238E27FC236}">
                <a16:creationId xmlns:a16="http://schemas.microsoft.com/office/drawing/2014/main" id="{533BED15-08B9-47E3-9A66-CBD217924582}"/>
              </a:ext>
            </a:extLst>
          </p:cNvPr>
          <p:cNvSpPr>
            <a:spLocks xmlns:a="http://schemas.openxmlformats.org/drawingml/2006/main" noGrp="1"/>
          </p:cNvSpPr>
          <p:nvPr/>
        </p:nvSpPr>
        <p:spPr>
          <a:xfrm xmlns:a="http://schemas.openxmlformats.org/drawingml/2006/main">
            <a:off x="6309360" y="2761488"/>
            <a:ext cx="5074920" cy="804672"/>
          </a:xfrm>
          <a:prstGeom xmlns:a="http://schemas.openxmlformats.org/drawingml/2006/main" prst="roundRect">
            <a:avLst>
              <a:gd name="adj" fmla="val 10227"/>
            </a:avLst>
          </a:prstGeom>
          <a:solidFill xmlns:a="http://schemas.openxmlformats.org/drawingml/2006/main">
            <a:srgbClr val="FFFFFF"/>
          </a:solidFill>
          <a:ln xmlns:a="http://schemas.openxmlformats.org/drawingml/2006/main" w="12700">
            <a:solidFill>
              <a:srgbClr val="D9E0EC"/>
            </a:solidFill>
            <a:prstDash val="solid"/>
          </a:ln>
        </p:spPr>
      </p:sp>
      <p:sp>
        <p:nvSpPr>
          <p:cNvPr id="26" name="Text 24">
            <a:extLst xmlns:a="http://schemas.openxmlformats.org/drawingml/2006/main">
              <a:ext uri="{FF2B5EF4-FFF2-40B4-BE49-F238E27FC236}">
                <a16:creationId xmlns:a16="http://schemas.microsoft.com/office/drawing/2014/main" id="{BCF1CD22-5241-42DC-BDCF-824BF9290573}"/>
              </a:ext>
            </a:extLst>
          </p:cNvPr>
          <p:cNvSpPr>
            <a:spLocks xmlns:a="http://schemas.openxmlformats.org/drawingml/2006/main" noGrp="1"/>
          </p:cNvSpPr>
          <p:nvPr/>
        </p:nvSpPr>
        <p:spPr>
          <a:xfrm xmlns:a="http://schemas.openxmlformats.org/drawingml/2006/main">
            <a:off x="6455664" y="2834640"/>
            <a:ext cx="1600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부팅 후 첫 응답</a:t>
            </a:r>
          </a:p>
        </p:txBody>
      </p:sp>
      <p:sp>
        <p:nvSpPr>
          <p:cNvPr id="27" name="Text 25">
            <a:extLst xmlns:a="http://schemas.openxmlformats.org/drawingml/2006/main">
              <a:ext uri="{FF2B5EF4-FFF2-40B4-BE49-F238E27FC236}">
                <a16:creationId xmlns:a16="http://schemas.microsoft.com/office/drawing/2014/main" id="{DC02D3D2-1996-49C4-B1E9-038962D82B26}"/>
              </a:ext>
            </a:extLst>
          </p:cNvPr>
          <p:cNvSpPr>
            <a:spLocks xmlns:a="http://schemas.openxmlformats.org/drawingml/2006/main" noGrp="1"/>
          </p:cNvSpPr>
          <p:nvPr/>
        </p:nvSpPr>
        <p:spPr>
          <a:xfrm xmlns:a="http://schemas.openxmlformats.org/drawingml/2006/main">
            <a:off x="8092440" y="2834640"/>
            <a:ext cx="21945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6474"/>
                </a:solidFill>
                <a:latin typeface="Malgun Gothic"/>
                <a:ea typeface="Malgun Gothic"/>
                <a:cs typeface="Malgun Gothic"/>
              </a:rPr>
              <a:t>14초  →  4초</a:t>
            </a:r>
          </a:p>
        </p:txBody>
      </p:sp>
      <p:sp>
        <p:nvSpPr>
          <p:cNvPr id="28" name="Text 26">
            <a:extLst xmlns:a="http://schemas.openxmlformats.org/drawingml/2006/main">
              <a:ext uri="{FF2B5EF4-FFF2-40B4-BE49-F238E27FC236}">
                <a16:creationId xmlns:a16="http://schemas.microsoft.com/office/drawing/2014/main" id="{3F212FF7-3AC5-477C-9CD7-017387D9BBE2}"/>
              </a:ext>
            </a:extLst>
          </p:cNvPr>
          <p:cNvSpPr>
            <a:spLocks xmlns:a="http://schemas.openxmlformats.org/drawingml/2006/main" noGrp="1"/>
          </p:cNvSpPr>
          <p:nvPr/>
        </p:nvSpPr>
        <p:spPr>
          <a:xfrm xmlns:a="http://schemas.openxmlformats.org/drawingml/2006/main">
            <a:off x="10332720" y="2834640"/>
            <a:ext cx="1005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5A6474"/>
                </a:solidFill>
                <a:latin typeface="Malgun Gothic"/>
                <a:ea typeface="Malgun Gothic"/>
                <a:cs typeface="Malgun Gothic"/>
              </a:rPr>
              <a:t>프리워밍 + 프리컴퓨트</a:t>
            </a:r>
          </a:p>
        </p:txBody>
      </p:sp>
      <p:sp>
        <p:nvSpPr>
          <p:cNvPr id="29" name="Shape 27">
            <a:extLst xmlns:a="http://schemas.openxmlformats.org/drawingml/2006/main">
              <a:ext uri="{FF2B5EF4-FFF2-40B4-BE49-F238E27FC236}">
                <a16:creationId xmlns:a16="http://schemas.microsoft.com/office/drawing/2014/main" id="{204A87FA-BE43-4B6B-B0CB-6739C49C06AA}"/>
              </a:ext>
            </a:extLst>
          </p:cNvPr>
          <p:cNvSpPr>
            <a:spLocks xmlns:a="http://schemas.openxmlformats.org/drawingml/2006/main" noGrp="1"/>
          </p:cNvSpPr>
          <p:nvPr/>
        </p:nvSpPr>
        <p:spPr>
          <a:xfrm xmlns:a="http://schemas.openxmlformats.org/drawingml/2006/main">
            <a:off x="6309360" y="3694176"/>
            <a:ext cx="5074920" cy="804672"/>
          </a:xfrm>
          <a:prstGeom xmlns:a="http://schemas.openxmlformats.org/drawingml/2006/main" prst="roundRect">
            <a:avLst>
              <a:gd name="adj" fmla="val 10227"/>
            </a:avLst>
          </a:prstGeom>
          <a:solidFill xmlns:a="http://schemas.openxmlformats.org/drawingml/2006/main">
            <a:srgbClr val="FFFFFF"/>
          </a:solidFill>
          <a:ln xmlns:a="http://schemas.openxmlformats.org/drawingml/2006/main" w="12700">
            <a:solidFill>
              <a:srgbClr val="D9E0EC"/>
            </a:solidFill>
            <a:prstDash val="solid"/>
          </a:ln>
        </p:spPr>
      </p:sp>
      <p:sp>
        <p:nvSpPr>
          <p:cNvPr id="30" name="Text 28">
            <a:extLst xmlns:a="http://schemas.openxmlformats.org/drawingml/2006/main">
              <a:ext uri="{FF2B5EF4-FFF2-40B4-BE49-F238E27FC236}">
                <a16:creationId xmlns:a16="http://schemas.microsoft.com/office/drawing/2014/main" id="{C2522EFD-AE83-4BDE-8FA6-124AAEDFB12E}"/>
              </a:ext>
            </a:extLst>
          </p:cNvPr>
          <p:cNvSpPr>
            <a:spLocks xmlns:a="http://schemas.openxmlformats.org/drawingml/2006/main" noGrp="1"/>
          </p:cNvSpPr>
          <p:nvPr/>
        </p:nvSpPr>
        <p:spPr>
          <a:xfrm xmlns:a="http://schemas.openxmlformats.org/drawingml/2006/main">
            <a:off x="6455664" y="3767328"/>
            <a:ext cx="1600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내레이터 호출</a:t>
            </a:r>
          </a:p>
        </p:txBody>
      </p:sp>
      <p:sp>
        <p:nvSpPr>
          <p:cNvPr id="31" name="Text 29">
            <a:extLst xmlns:a="http://schemas.openxmlformats.org/drawingml/2006/main">
              <a:ext uri="{FF2B5EF4-FFF2-40B4-BE49-F238E27FC236}">
                <a16:creationId xmlns:a16="http://schemas.microsoft.com/office/drawing/2014/main" id="{3A19B633-D8E4-4440-93B7-C9E8524B41CE}"/>
              </a:ext>
            </a:extLst>
          </p:cNvPr>
          <p:cNvSpPr>
            <a:spLocks xmlns:a="http://schemas.openxmlformats.org/drawingml/2006/main" noGrp="1"/>
          </p:cNvSpPr>
          <p:nvPr/>
        </p:nvSpPr>
        <p:spPr>
          <a:xfrm xmlns:a="http://schemas.openxmlformats.org/drawingml/2006/main">
            <a:off x="8092440" y="3767328"/>
            <a:ext cx="21945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6474"/>
                </a:solidFill>
                <a:latin typeface="Malgun Gothic"/>
                <a:ea typeface="Malgun Gothic"/>
                <a:cs typeface="Malgun Gothic"/>
              </a:rPr>
              <a:t>7.2초  →  3.6초</a:t>
            </a:r>
          </a:p>
        </p:txBody>
      </p:sp>
      <p:sp>
        <p:nvSpPr>
          <p:cNvPr id="32" name="Text 30">
            <a:extLst xmlns:a="http://schemas.openxmlformats.org/drawingml/2006/main">
              <a:ext uri="{FF2B5EF4-FFF2-40B4-BE49-F238E27FC236}">
                <a16:creationId xmlns:a16="http://schemas.microsoft.com/office/drawing/2014/main" id="{13124658-6BBE-445F-907B-37FE89B5515E}"/>
              </a:ext>
            </a:extLst>
          </p:cNvPr>
          <p:cNvSpPr>
            <a:spLocks xmlns:a="http://schemas.openxmlformats.org/drawingml/2006/main" noGrp="1"/>
          </p:cNvSpPr>
          <p:nvPr/>
        </p:nvSpPr>
        <p:spPr>
          <a:xfrm xmlns:a="http://schemas.openxmlformats.org/drawingml/2006/main">
            <a:off x="10332720" y="3767328"/>
            <a:ext cx="1005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5A6474"/>
                </a:solidFill>
                <a:latin typeface="Malgun Gothic"/>
                <a:ea typeface="Malgun Gothic"/>
                <a:cs typeface="Malgun Gothic"/>
              </a:rPr>
              <a:t>Haiku thinking OFF</a:t>
            </a:r>
          </a:p>
        </p:txBody>
      </p:sp>
      <p:sp>
        <p:nvSpPr>
          <p:cNvPr id="33" name="Shape 31">
            <a:extLst xmlns:a="http://schemas.openxmlformats.org/drawingml/2006/main">
              <a:ext uri="{FF2B5EF4-FFF2-40B4-BE49-F238E27FC236}">
                <a16:creationId xmlns:a16="http://schemas.microsoft.com/office/drawing/2014/main" id="{95612276-5711-4F04-AC45-D50F95A5DECC}"/>
              </a:ext>
            </a:extLst>
          </p:cNvPr>
          <p:cNvSpPr>
            <a:spLocks xmlns:a="http://schemas.openxmlformats.org/drawingml/2006/main" noGrp="1"/>
          </p:cNvSpPr>
          <p:nvPr/>
        </p:nvSpPr>
        <p:spPr>
          <a:xfrm xmlns:a="http://schemas.openxmlformats.org/drawingml/2006/main">
            <a:off x="6309360" y="4626864"/>
            <a:ext cx="5074920" cy="804672"/>
          </a:xfrm>
          <a:prstGeom xmlns:a="http://schemas.openxmlformats.org/drawingml/2006/main" prst="roundRect">
            <a:avLst>
              <a:gd name="adj" fmla="val 10227"/>
            </a:avLst>
          </a:prstGeom>
          <a:solidFill xmlns:a="http://schemas.openxmlformats.org/drawingml/2006/main">
            <a:srgbClr val="FFFFFF"/>
          </a:solidFill>
          <a:ln xmlns:a="http://schemas.openxmlformats.org/drawingml/2006/main" w="12700">
            <a:solidFill>
              <a:srgbClr val="D9E0EC"/>
            </a:solidFill>
            <a:prstDash val="solid"/>
          </a:ln>
        </p:spPr>
      </p:sp>
      <p:sp>
        <p:nvSpPr>
          <p:cNvPr id="34" name="Text 32">
            <a:extLst xmlns:a="http://schemas.openxmlformats.org/drawingml/2006/main">
              <a:ext uri="{FF2B5EF4-FFF2-40B4-BE49-F238E27FC236}">
                <a16:creationId xmlns:a16="http://schemas.microsoft.com/office/drawing/2014/main" id="{E55572D0-B1A6-4F27-83EE-D754269E6589}"/>
              </a:ext>
            </a:extLst>
          </p:cNvPr>
          <p:cNvSpPr>
            <a:spLocks xmlns:a="http://schemas.openxmlformats.org/drawingml/2006/main" noGrp="1"/>
          </p:cNvSpPr>
          <p:nvPr/>
        </p:nvSpPr>
        <p:spPr>
          <a:xfrm xmlns:a="http://schemas.openxmlformats.org/drawingml/2006/main">
            <a:off x="6455664" y="4700016"/>
            <a:ext cx="1600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체감 대기(TTFA)</a:t>
            </a:r>
          </a:p>
        </p:txBody>
      </p:sp>
      <p:sp>
        <p:nvSpPr>
          <p:cNvPr id="35" name="Text 33">
            <a:extLst xmlns:a="http://schemas.openxmlformats.org/drawingml/2006/main">
              <a:ext uri="{FF2B5EF4-FFF2-40B4-BE49-F238E27FC236}">
                <a16:creationId xmlns:a16="http://schemas.microsoft.com/office/drawing/2014/main" id="{1157B8C9-FCDB-47C3-8FCC-331B6D14C0F9}"/>
              </a:ext>
            </a:extLst>
          </p:cNvPr>
          <p:cNvSpPr>
            <a:spLocks xmlns:a="http://schemas.openxmlformats.org/drawingml/2006/main" noGrp="1"/>
          </p:cNvSpPr>
          <p:nvPr/>
        </p:nvSpPr>
        <p:spPr>
          <a:xfrm xmlns:a="http://schemas.openxmlformats.org/drawingml/2006/main">
            <a:off x="8092440" y="4700016"/>
            <a:ext cx="21945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6474"/>
                </a:solidFill>
                <a:latin typeface="Malgun Gothic"/>
                <a:ea typeface="Malgun Gothic"/>
                <a:cs typeface="Malgun Gothic"/>
              </a:rPr>
              <a:t>완성 대기  →  즉시 타이핑</a:t>
            </a:r>
          </a:p>
        </p:txBody>
      </p:sp>
      <p:sp>
        <p:nvSpPr>
          <p:cNvPr id="36" name="Text 34">
            <a:extLst xmlns:a="http://schemas.openxmlformats.org/drawingml/2006/main">
              <a:ext uri="{FF2B5EF4-FFF2-40B4-BE49-F238E27FC236}">
                <a16:creationId xmlns:a16="http://schemas.microsoft.com/office/drawing/2014/main" id="{327688B9-4861-4987-AA4C-65D7D18A1767}"/>
              </a:ext>
            </a:extLst>
          </p:cNvPr>
          <p:cNvSpPr>
            <a:spLocks xmlns:a="http://schemas.openxmlformats.org/drawingml/2006/main" noGrp="1"/>
          </p:cNvSpPr>
          <p:nvPr/>
        </p:nvSpPr>
        <p:spPr>
          <a:xfrm xmlns:a="http://schemas.openxmlformats.org/drawingml/2006/main">
            <a:off x="10332720" y="4700016"/>
            <a:ext cx="1005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5A6474"/>
                </a:solidFill>
                <a:latin typeface="Malgun Gothic"/>
                <a:ea typeface="Malgun Gothic"/>
                <a:cs typeface="Malgun Gothic"/>
              </a:rPr>
              <a:t>검증 답변 선전송</a:t>
            </a:r>
          </a:p>
        </p:txBody>
      </p:sp>
      <p:sp>
        <p:nvSpPr>
          <p:cNvPr id="37" name="Text 35">
            <a:extLst xmlns:a="http://schemas.openxmlformats.org/drawingml/2006/main">
              <a:ext uri="{FF2B5EF4-FFF2-40B4-BE49-F238E27FC236}">
                <a16:creationId xmlns:a16="http://schemas.microsoft.com/office/drawing/2014/main" id="{AEAA4521-4905-47C3-B7BF-DBF7BB7E8124}"/>
              </a:ext>
            </a:extLst>
          </p:cNvPr>
          <p:cNvSpPr>
            <a:spLocks xmlns:a="http://schemas.openxmlformats.org/drawingml/2006/main" noGrp="1"/>
          </p:cNvSpPr>
          <p:nvPr/>
        </p:nvSpPr>
        <p:spPr>
          <a:xfrm xmlns:a="http://schemas.openxmlformats.org/drawingml/2006/main">
            <a:off x="548640" y="5852160"/>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캐시: 내레이션 LRU 256 · 디스크 영속화 · 서버 프롬프트 캐싱 · 추천 질문 프리컴퓨트</a:t>
            </a:r>
          </a:p>
        </p:txBody>
      </p:sp>
      <p:sp>
        <p:nvSpPr>
          <p:cNvPr id="38" name="Text 36">
            <a:extLst xmlns:a="http://schemas.openxmlformats.org/drawingml/2006/main">
              <a:ext uri="{FF2B5EF4-FFF2-40B4-BE49-F238E27FC236}">
                <a16:creationId xmlns:a16="http://schemas.microsoft.com/office/drawing/2014/main" id="{62054E68-C05E-4509-BD12-11573973EB53}"/>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 연금:KDA · KDA 증권  |  14</a:t>
            </a:r>
          </a:p>
        </p:txBody>
      </p:sp>
    </p:spTree>
    <p:extLst>
      <p:ext uri="{BB962C8B-B14F-4D97-AF65-F5344CB8AC3E}">
        <p14:creationId xmlns:p14="http://schemas.microsoft.com/office/powerpoint/2010/main" val="53373586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07D8F4-2063-4E09-A3DD-43F220E142D9}"/>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 14 · 서비스 구현 — 시스템 아키텍처</a:t>
            </a:r>
          </a:p>
        </p:txBody>
      </p:sp>
      <p:sp>
        <p:nvSpPr>
          <p:cNvPr id="3" name="Text 1">
            <a:extLst xmlns:a="http://schemas.openxmlformats.org/drawingml/2006/main">
              <a:ext uri="{FF2B5EF4-FFF2-40B4-BE49-F238E27FC236}">
                <a16:creationId xmlns:a16="http://schemas.microsoft.com/office/drawing/2014/main" id="{C010DACD-AC17-4F39-ADA9-F6F7D4B0074D}"/>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단방향 4계층 — LLM 없이도 핵심 기능이 돈다</a:t>
            </a:r>
          </a:p>
        </p:txBody>
      </p:sp>
      <p:sp>
        <p:nvSpPr>
          <p:cNvPr id="4" name="Shape 2">
            <a:extLst xmlns:a="http://schemas.openxmlformats.org/drawingml/2006/main">
              <a:ext uri="{FF2B5EF4-FFF2-40B4-BE49-F238E27FC236}">
                <a16:creationId xmlns:a16="http://schemas.microsoft.com/office/drawing/2014/main" id="{8CBE8780-0409-4F76-9AEB-2A3BDABF967E}"/>
              </a:ext>
            </a:extLst>
          </p:cNvPr>
          <p:cNvSpPr>
            <a:spLocks xmlns:a="http://schemas.openxmlformats.org/drawingml/2006/main" noGrp="1"/>
          </p:cNvSpPr>
          <p:nvPr/>
        </p:nvSpPr>
        <p:spPr>
          <a:xfrm xmlns:a="http://schemas.openxmlformats.org/drawingml/2006/main">
            <a:off x="548640" y="1463040"/>
            <a:ext cx="7315200" cy="969264"/>
          </a:xfrm>
          <a:prstGeom xmlns:a="http://schemas.openxmlformats.org/drawingml/2006/main" prst="roundRect">
            <a:avLst>
              <a:gd name="adj" fmla="val 8491"/>
            </a:avLst>
          </a:prstGeom>
          <a:solidFill xmlns:a="http://schemas.openxmlformats.org/drawingml/2006/main">
            <a:srgbClr val="FFFFFF"/>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36724D30-14AA-4F77-9732-42FBF215416D}"/>
              </a:ext>
            </a:extLst>
          </p:cNvPr>
          <p:cNvSpPr>
            <a:spLocks xmlns:a="http://schemas.openxmlformats.org/drawingml/2006/main" noGrp="1"/>
          </p:cNvSpPr>
          <p:nvPr/>
        </p:nvSpPr>
        <p:spPr>
          <a:xfrm xmlns:a="http://schemas.openxmlformats.org/drawingml/2006/main">
            <a:off x="713232" y="1545336"/>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① 프레젠테이션</a:t>
            </a:r>
          </a:p>
        </p:txBody>
      </p:sp>
      <p:sp>
        <p:nvSpPr>
          <p:cNvPr id="6" name="Text 4">
            <a:extLst xmlns:a="http://schemas.openxmlformats.org/drawingml/2006/main">
              <a:ext uri="{FF2B5EF4-FFF2-40B4-BE49-F238E27FC236}">
                <a16:creationId xmlns:a16="http://schemas.microsoft.com/office/drawing/2014/main" id="{B5DB2101-AB1D-45CD-ACDB-B16D797D3DC5}"/>
              </a:ext>
            </a:extLst>
          </p:cNvPr>
          <p:cNvSpPr>
            <a:spLocks xmlns:a="http://schemas.openxmlformats.org/drawingml/2006/main" noGrp="1"/>
          </p:cNvSpPr>
          <p:nvPr/>
        </p:nvSpPr>
        <p:spPr>
          <a:xfrm xmlns:a="http://schemas.openxmlformats.org/drawingml/2006/main">
            <a:off x="713232" y="1920240"/>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30" b="1">
                <a:solidFill>
                  <a:srgbClr val="18202E"/>
                </a:solidFill>
                <a:latin typeface="Malgun Gothic"/>
                <a:ea typeface="Malgun Gothic"/>
                <a:cs typeface="Malgun Gothic"/>
              </a:rPr>
              <a:t>React + TypeScript + Vite 모바일 PWA</a:t>
            </a:r>
          </a:p>
        </p:txBody>
      </p:sp>
      <p:sp>
        <p:nvSpPr>
          <p:cNvPr id="7" name="Text 5">
            <a:extLst xmlns:a="http://schemas.openxmlformats.org/drawingml/2006/main">
              <a:ext uri="{FF2B5EF4-FFF2-40B4-BE49-F238E27FC236}">
                <a16:creationId xmlns:a16="http://schemas.microsoft.com/office/drawing/2014/main" id="{D26BF024-2D3C-4850-8A08-9C7D976CAECA}"/>
              </a:ext>
            </a:extLst>
          </p:cNvPr>
          <p:cNvSpPr>
            <a:spLocks xmlns:a="http://schemas.openxmlformats.org/drawingml/2006/main" noGrp="1"/>
          </p:cNvSpPr>
          <p:nvPr/>
        </p:nvSpPr>
        <p:spPr>
          <a:xfrm xmlns:a="http://schemas.openxmlformats.org/drawingml/2006/main">
            <a:off x="3246120" y="1545336"/>
            <a:ext cx="44805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30">
                <a:solidFill>
                  <a:srgbClr val="5A6474"/>
                </a:solidFill>
                <a:latin typeface="Malgun Gothic"/>
                <a:ea typeface="Malgun Gothic"/>
                <a:cs typeface="Malgun Gothic"/>
              </a:rPr>
              <a:t>홈·챗봇·내 정보·전략 탐색·연금계산기·이용자 Pick</a:t>
            </a:r>
          </a:p>
        </p:txBody>
      </p:sp>
      <p:sp>
        <p:nvSpPr>
          <p:cNvPr id="8" name="Text 6">
            <a:extLst xmlns:a="http://schemas.openxmlformats.org/drawingml/2006/main">
              <a:ext uri="{FF2B5EF4-FFF2-40B4-BE49-F238E27FC236}">
                <a16:creationId xmlns:a16="http://schemas.microsoft.com/office/drawing/2014/main" id="{1384CC6A-8ACB-425E-8B48-65CD9E2B70B7}"/>
              </a:ext>
            </a:extLst>
          </p:cNvPr>
          <p:cNvSpPr>
            <a:spLocks xmlns:a="http://schemas.openxmlformats.org/drawingml/2006/main" noGrp="1"/>
          </p:cNvSpPr>
          <p:nvPr/>
        </p:nvSpPr>
        <p:spPr>
          <a:xfrm xmlns:a="http://schemas.openxmlformats.org/drawingml/2006/main">
            <a:off x="4069080" y="2395728"/>
            <a:ext cx="2743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9AA3B2"/>
                </a:solidFill>
                <a:latin typeface="Malgun Gothic"/>
                <a:ea typeface="Malgun Gothic"/>
                <a:cs typeface="Malgun Gothic"/>
              </a:rPr>
              <a:t>↓</a:t>
            </a:r>
          </a:p>
        </p:txBody>
      </p:sp>
      <p:sp>
        <p:nvSpPr>
          <p:cNvPr id="9" name="Shape 7">
            <a:extLst xmlns:a="http://schemas.openxmlformats.org/drawingml/2006/main">
              <a:ext uri="{FF2B5EF4-FFF2-40B4-BE49-F238E27FC236}">
                <a16:creationId xmlns:a16="http://schemas.microsoft.com/office/drawing/2014/main" id="{0C21DF86-DBDA-43B6-B98E-D24D9C9AB62B}"/>
              </a:ext>
            </a:extLst>
          </p:cNvPr>
          <p:cNvSpPr>
            <a:spLocks xmlns:a="http://schemas.openxmlformats.org/drawingml/2006/main" noGrp="1"/>
          </p:cNvSpPr>
          <p:nvPr/>
        </p:nvSpPr>
        <p:spPr>
          <a:xfrm xmlns:a="http://schemas.openxmlformats.org/drawingml/2006/main">
            <a:off x="548640" y="2578608"/>
            <a:ext cx="7315200" cy="969264"/>
          </a:xfrm>
          <a:prstGeom xmlns:a="http://schemas.openxmlformats.org/drawingml/2006/main" prst="roundRect">
            <a:avLst>
              <a:gd name="adj" fmla="val 8491"/>
            </a:avLst>
          </a:prstGeom>
          <a:solidFill xmlns:a="http://schemas.openxmlformats.org/drawingml/2006/main">
            <a:srgbClr val="FFFFFF"/>
          </a:solidFill>
          <a:ln xmlns:a="http://schemas.openxmlformats.org/drawingml/2006/main" w="12700">
            <a:solidFill>
              <a:srgbClr val="D9E0EC"/>
            </a:solidFill>
            <a:prstDash val="solid"/>
          </a:ln>
        </p:spPr>
      </p:sp>
      <p:sp>
        <p:nvSpPr>
          <p:cNvPr id="10" name="Text 8">
            <a:extLst xmlns:a="http://schemas.openxmlformats.org/drawingml/2006/main">
              <a:ext uri="{FF2B5EF4-FFF2-40B4-BE49-F238E27FC236}">
                <a16:creationId xmlns:a16="http://schemas.microsoft.com/office/drawing/2014/main" id="{7624E23B-86CA-43B3-A6F4-5C0C471A5E46}"/>
              </a:ext>
            </a:extLst>
          </p:cNvPr>
          <p:cNvSpPr>
            <a:spLocks xmlns:a="http://schemas.openxmlformats.org/drawingml/2006/main" noGrp="1"/>
          </p:cNvSpPr>
          <p:nvPr/>
        </p:nvSpPr>
        <p:spPr>
          <a:xfrm xmlns:a="http://schemas.openxmlformats.org/drawingml/2006/main">
            <a:off x="713232" y="2660904"/>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② API · 오케스트레이션</a:t>
            </a:r>
          </a:p>
        </p:txBody>
      </p:sp>
      <p:sp>
        <p:nvSpPr>
          <p:cNvPr id="11" name="Text 9">
            <a:extLst xmlns:a="http://schemas.openxmlformats.org/drawingml/2006/main">
              <a:ext uri="{FF2B5EF4-FFF2-40B4-BE49-F238E27FC236}">
                <a16:creationId xmlns:a16="http://schemas.microsoft.com/office/drawing/2014/main" id="{149BB390-5015-447D-932B-87E37DCB35C8}"/>
              </a:ext>
            </a:extLst>
          </p:cNvPr>
          <p:cNvSpPr>
            <a:spLocks xmlns:a="http://schemas.openxmlformats.org/drawingml/2006/main" noGrp="1"/>
          </p:cNvSpPr>
          <p:nvPr/>
        </p:nvSpPr>
        <p:spPr>
          <a:xfrm xmlns:a="http://schemas.openxmlformats.org/drawingml/2006/main">
            <a:off x="713232" y="3035808"/>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30" b="1">
                <a:solidFill>
                  <a:srgbClr val="18202E"/>
                </a:solidFill>
                <a:latin typeface="Malgun Gothic"/>
                <a:ea typeface="Malgun Gothic"/>
                <a:cs typeface="Malgun Gothic"/>
              </a:rPr>
              <a:t>FastAPI — REST + SSE + Supabase Auth</a:t>
            </a:r>
          </a:p>
        </p:txBody>
      </p:sp>
      <p:sp>
        <p:nvSpPr>
          <p:cNvPr id="12" name="Text 10">
            <a:extLst xmlns:a="http://schemas.openxmlformats.org/drawingml/2006/main">
              <a:ext uri="{FF2B5EF4-FFF2-40B4-BE49-F238E27FC236}">
                <a16:creationId xmlns:a16="http://schemas.microsoft.com/office/drawing/2014/main" id="{1C82C484-7E01-45E5-86F2-489BBE886583}"/>
              </a:ext>
            </a:extLst>
          </p:cNvPr>
          <p:cNvSpPr>
            <a:spLocks xmlns:a="http://schemas.openxmlformats.org/drawingml/2006/main" noGrp="1"/>
          </p:cNvSpPr>
          <p:nvPr/>
        </p:nvSpPr>
        <p:spPr>
          <a:xfrm xmlns:a="http://schemas.openxmlformats.org/drawingml/2006/main">
            <a:off x="3246120" y="2660904"/>
            <a:ext cx="44805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30">
                <a:solidFill>
                  <a:srgbClr val="5A6474"/>
                </a:solidFill>
                <a:latin typeface="Malgun Gothic"/>
                <a:ea typeface="Malgun Gothic"/>
                <a:cs typeface="Malgun Gothic"/>
              </a:rPr>
              <a:t>질문 라우팅 → 핸들러 → 근거 검증 → 선택적 AI 재서술</a:t>
            </a:r>
          </a:p>
        </p:txBody>
      </p:sp>
      <p:sp>
        <p:nvSpPr>
          <p:cNvPr id="13" name="Text 11">
            <a:extLst xmlns:a="http://schemas.openxmlformats.org/drawingml/2006/main">
              <a:ext uri="{FF2B5EF4-FFF2-40B4-BE49-F238E27FC236}">
                <a16:creationId xmlns:a16="http://schemas.microsoft.com/office/drawing/2014/main" id="{05D53276-6B7A-4319-8401-C4F774692B7C}"/>
              </a:ext>
            </a:extLst>
          </p:cNvPr>
          <p:cNvSpPr>
            <a:spLocks xmlns:a="http://schemas.openxmlformats.org/drawingml/2006/main" noGrp="1"/>
          </p:cNvSpPr>
          <p:nvPr/>
        </p:nvSpPr>
        <p:spPr>
          <a:xfrm xmlns:a="http://schemas.openxmlformats.org/drawingml/2006/main">
            <a:off x="4069080" y="3511296"/>
            <a:ext cx="2743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9AA3B2"/>
                </a:solidFill>
                <a:latin typeface="Malgun Gothic"/>
                <a:ea typeface="Malgun Gothic"/>
                <a:cs typeface="Malgun Gothic"/>
              </a:rPr>
              <a:t>↓</a:t>
            </a:r>
          </a:p>
        </p:txBody>
      </p:sp>
      <p:sp>
        <p:nvSpPr>
          <p:cNvPr id="14" name="Shape 12">
            <a:extLst xmlns:a="http://schemas.openxmlformats.org/drawingml/2006/main">
              <a:ext uri="{FF2B5EF4-FFF2-40B4-BE49-F238E27FC236}">
                <a16:creationId xmlns:a16="http://schemas.microsoft.com/office/drawing/2014/main" id="{830F1D76-97BC-4602-AB52-CF0AD970CCFA}"/>
              </a:ext>
            </a:extLst>
          </p:cNvPr>
          <p:cNvSpPr>
            <a:spLocks xmlns:a="http://schemas.openxmlformats.org/drawingml/2006/main" noGrp="1"/>
          </p:cNvSpPr>
          <p:nvPr/>
        </p:nvSpPr>
        <p:spPr>
          <a:xfrm xmlns:a="http://schemas.openxmlformats.org/drawingml/2006/main">
            <a:off x="548640" y="3694176"/>
            <a:ext cx="7315200" cy="969264"/>
          </a:xfrm>
          <a:prstGeom xmlns:a="http://schemas.openxmlformats.org/drawingml/2006/main" prst="roundRect">
            <a:avLst>
              <a:gd name="adj" fmla="val 8491"/>
            </a:avLst>
          </a:prstGeom>
          <a:solidFill xmlns:a="http://schemas.openxmlformats.org/drawingml/2006/main">
            <a:srgbClr val="EEF3FE"/>
          </a:solidFill>
          <a:ln xmlns:a="http://schemas.openxmlformats.org/drawingml/2006/main" w="12700">
            <a:solidFill>
              <a:srgbClr val="D7E2F8"/>
            </a:solidFill>
            <a:prstDash val="solid"/>
          </a:ln>
        </p:spPr>
      </p:sp>
      <p:sp>
        <p:nvSpPr>
          <p:cNvPr id="15" name="Text 13">
            <a:extLst xmlns:a="http://schemas.openxmlformats.org/drawingml/2006/main">
              <a:ext uri="{FF2B5EF4-FFF2-40B4-BE49-F238E27FC236}">
                <a16:creationId xmlns:a16="http://schemas.microsoft.com/office/drawing/2014/main" id="{DD27F26E-4EA9-43DA-8AE9-AE72FEEB6654}"/>
              </a:ext>
            </a:extLst>
          </p:cNvPr>
          <p:cNvSpPr>
            <a:spLocks xmlns:a="http://schemas.openxmlformats.org/drawingml/2006/main" noGrp="1"/>
          </p:cNvSpPr>
          <p:nvPr/>
        </p:nvSpPr>
        <p:spPr>
          <a:xfrm xmlns:a="http://schemas.openxmlformats.org/drawingml/2006/main">
            <a:off x="713232" y="377647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③ 비즈니스 로직</a:t>
            </a:r>
          </a:p>
        </p:txBody>
      </p:sp>
      <p:sp>
        <p:nvSpPr>
          <p:cNvPr id="16" name="Text 14">
            <a:extLst xmlns:a="http://schemas.openxmlformats.org/drawingml/2006/main">
              <a:ext uri="{FF2B5EF4-FFF2-40B4-BE49-F238E27FC236}">
                <a16:creationId xmlns:a16="http://schemas.microsoft.com/office/drawing/2014/main" id="{B8D8B32E-356A-4A73-8572-F2F99C401714}"/>
              </a:ext>
            </a:extLst>
          </p:cNvPr>
          <p:cNvSpPr>
            <a:spLocks xmlns:a="http://schemas.openxmlformats.org/drawingml/2006/main" noGrp="1"/>
          </p:cNvSpPr>
          <p:nvPr/>
        </p:nvSpPr>
        <p:spPr>
          <a:xfrm xmlns:a="http://schemas.openxmlformats.org/drawingml/2006/main">
            <a:off x="713232" y="4151376"/>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30" b="1">
                <a:solidFill>
                  <a:srgbClr val="18202E"/>
                </a:solidFill>
                <a:latin typeface="Malgun Gothic"/>
                <a:ea typeface="Malgun Gothic"/>
                <a:cs typeface="Malgun Gothic"/>
              </a:rPr>
              <a:t>순수 Python 규칙 엔진</a:t>
            </a:r>
          </a:p>
        </p:txBody>
      </p:sp>
      <p:sp>
        <p:nvSpPr>
          <p:cNvPr id="17" name="Text 15">
            <a:extLst xmlns:a="http://schemas.openxmlformats.org/drawingml/2006/main">
              <a:ext uri="{FF2B5EF4-FFF2-40B4-BE49-F238E27FC236}">
                <a16:creationId xmlns:a16="http://schemas.microsoft.com/office/drawing/2014/main" id="{DC4DFCD0-22EC-4F51-93F9-F53D48B9F095}"/>
              </a:ext>
            </a:extLst>
          </p:cNvPr>
          <p:cNvSpPr>
            <a:spLocks xmlns:a="http://schemas.openxmlformats.org/drawingml/2006/main" noGrp="1"/>
          </p:cNvSpPr>
          <p:nvPr/>
        </p:nvSpPr>
        <p:spPr>
          <a:xfrm xmlns:a="http://schemas.openxmlformats.org/drawingml/2006/main">
            <a:off x="3246120" y="3776472"/>
            <a:ext cx="44805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30">
                <a:solidFill>
                  <a:srgbClr val="5A6474"/>
                </a:solidFill>
                <a:latin typeface="Malgun Gothic"/>
                <a:ea typeface="Malgun Gothic"/>
                <a:cs typeface="Malgun Gothic"/>
              </a:rPr>
              <a:t>계좌 규칙·진단·세액·계산기·교육용 포트폴리오 — Decimal 결정론</a:t>
            </a:r>
          </a:p>
        </p:txBody>
      </p:sp>
      <p:sp>
        <p:nvSpPr>
          <p:cNvPr id="18" name="Text 16">
            <a:extLst xmlns:a="http://schemas.openxmlformats.org/drawingml/2006/main">
              <a:ext uri="{FF2B5EF4-FFF2-40B4-BE49-F238E27FC236}">
                <a16:creationId xmlns:a16="http://schemas.microsoft.com/office/drawing/2014/main" id="{45ABF767-DA9E-43A3-9E79-595B7F042DE3}"/>
              </a:ext>
            </a:extLst>
          </p:cNvPr>
          <p:cNvSpPr>
            <a:spLocks xmlns:a="http://schemas.openxmlformats.org/drawingml/2006/main" noGrp="1"/>
          </p:cNvSpPr>
          <p:nvPr/>
        </p:nvSpPr>
        <p:spPr>
          <a:xfrm xmlns:a="http://schemas.openxmlformats.org/drawingml/2006/main">
            <a:off x="4069080" y="4626864"/>
            <a:ext cx="2743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9AA3B2"/>
                </a:solidFill>
                <a:latin typeface="Malgun Gothic"/>
                <a:ea typeface="Malgun Gothic"/>
                <a:cs typeface="Malgun Gothic"/>
              </a:rPr>
              <a:t>↓</a:t>
            </a:r>
          </a:p>
        </p:txBody>
      </p:sp>
      <p:sp>
        <p:nvSpPr>
          <p:cNvPr id="19" name="Shape 17">
            <a:extLst xmlns:a="http://schemas.openxmlformats.org/drawingml/2006/main">
              <a:ext uri="{FF2B5EF4-FFF2-40B4-BE49-F238E27FC236}">
                <a16:creationId xmlns:a16="http://schemas.microsoft.com/office/drawing/2014/main" id="{1355927F-A4E7-4B9E-851E-A6DD34C6BB8D}"/>
              </a:ext>
            </a:extLst>
          </p:cNvPr>
          <p:cNvSpPr>
            <a:spLocks xmlns:a="http://schemas.openxmlformats.org/drawingml/2006/main" noGrp="1"/>
          </p:cNvSpPr>
          <p:nvPr/>
        </p:nvSpPr>
        <p:spPr>
          <a:xfrm xmlns:a="http://schemas.openxmlformats.org/drawingml/2006/main">
            <a:off x="548640" y="4809744"/>
            <a:ext cx="7315200" cy="969264"/>
          </a:xfrm>
          <a:prstGeom xmlns:a="http://schemas.openxmlformats.org/drawingml/2006/main" prst="roundRect">
            <a:avLst>
              <a:gd name="adj" fmla="val 8491"/>
            </a:avLst>
          </a:prstGeom>
          <a:solidFill xmlns:a="http://schemas.openxmlformats.org/drawingml/2006/main">
            <a:srgbClr val="FFFFFF"/>
          </a:solidFill>
          <a:ln xmlns:a="http://schemas.openxmlformats.org/drawingml/2006/main" w="12700">
            <a:solidFill>
              <a:srgbClr val="D9E0EC"/>
            </a:solidFill>
            <a:prstDash val="solid"/>
          </a:ln>
        </p:spPr>
      </p:sp>
      <p:sp>
        <p:nvSpPr>
          <p:cNvPr id="20" name="Text 18">
            <a:extLst xmlns:a="http://schemas.openxmlformats.org/drawingml/2006/main">
              <a:ext uri="{FF2B5EF4-FFF2-40B4-BE49-F238E27FC236}">
                <a16:creationId xmlns:a16="http://schemas.microsoft.com/office/drawing/2014/main" id="{9ADB664A-3654-46FD-B765-188353B8A4D3}"/>
              </a:ext>
            </a:extLst>
          </p:cNvPr>
          <p:cNvSpPr>
            <a:spLocks xmlns:a="http://schemas.openxmlformats.org/drawingml/2006/main" noGrp="1"/>
          </p:cNvSpPr>
          <p:nvPr/>
        </p:nvSpPr>
        <p:spPr>
          <a:xfrm xmlns:a="http://schemas.openxmlformats.org/drawingml/2006/main">
            <a:off x="713232" y="4892040"/>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④ 데이터</a:t>
            </a:r>
          </a:p>
        </p:txBody>
      </p:sp>
      <p:sp>
        <p:nvSpPr>
          <p:cNvPr id="21" name="Text 19">
            <a:extLst xmlns:a="http://schemas.openxmlformats.org/drawingml/2006/main">
              <a:ext uri="{FF2B5EF4-FFF2-40B4-BE49-F238E27FC236}">
                <a16:creationId xmlns:a16="http://schemas.microsoft.com/office/drawing/2014/main" id="{B8928B1C-5AE2-47F7-8039-76C6EF71E2C8}"/>
              </a:ext>
            </a:extLst>
          </p:cNvPr>
          <p:cNvSpPr>
            <a:spLocks xmlns:a="http://schemas.openxmlformats.org/drawingml/2006/main" noGrp="1"/>
          </p:cNvSpPr>
          <p:nvPr/>
        </p:nvSpPr>
        <p:spPr>
          <a:xfrm xmlns:a="http://schemas.openxmlformats.org/drawingml/2006/main">
            <a:off x="713232" y="5266944"/>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30" b="1">
                <a:solidFill>
                  <a:srgbClr val="18202E"/>
                </a:solidFill>
                <a:latin typeface="Malgun Gothic"/>
                <a:ea typeface="Malgun Gothic"/>
                <a:cs typeface="Malgun Gothic"/>
              </a:rPr>
              <a:t>Supabase PostgreSQL + pgvector</a:t>
            </a:r>
          </a:p>
        </p:txBody>
      </p:sp>
      <p:sp>
        <p:nvSpPr>
          <p:cNvPr id="22" name="Text 20">
            <a:extLst xmlns:a="http://schemas.openxmlformats.org/drawingml/2006/main">
              <a:ext uri="{FF2B5EF4-FFF2-40B4-BE49-F238E27FC236}">
                <a16:creationId xmlns:a16="http://schemas.microsoft.com/office/drawing/2014/main" id="{4AFE0305-EE80-4046-B4BC-B14CB04F3337}"/>
              </a:ext>
            </a:extLst>
          </p:cNvPr>
          <p:cNvSpPr>
            <a:spLocks xmlns:a="http://schemas.openxmlformats.org/drawingml/2006/main" noGrp="1"/>
          </p:cNvSpPr>
          <p:nvPr/>
        </p:nvSpPr>
        <p:spPr>
          <a:xfrm xmlns:a="http://schemas.openxmlformats.org/drawingml/2006/main">
            <a:off x="3246120" y="4892040"/>
            <a:ext cx="44805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30">
                <a:solidFill>
                  <a:srgbClr val="5A6474"/>
                </a:solidFill>
                <a:latin typeface="Malgun Gothic"/>
                <a:ea typeface="Malgun Gothic"/>
                <a:cs typeface="Malgun Gothic"/>
              </a:rPr>
              <a:t>RLS 소유자 경계 · 서버 전용 테이블 · BGE-M3 1024차원 HNSW</a:t>
            </a:r>
          </a:p>
        </p:txBody>
      </p:sp>
      <p:sp>
        <p:nvSpPr>
          <p:cNvPr id="23" name="Shape 21">
            <a:extLst xmlns:a="http://schemas.openxmlformats.org/drawingml/2006/main">
              <a:ext uri="{FF2B5EF4-FFF2-40B4-BE49-F238E27FC236}">
                <a16:creationId xmlns:a16="http://schemas.microsoft.com/office/drawing/2014/main" id="{53769284-1E73-4545-A65E-55D3977FB4E3}"/>
              </a:ext>
            </a:extLst>
          </p:cNvPr>
          <p:cNvSpPr>
            <a:spLocks xmlns:a="http://schemas.openxmlformats.org/drawingml/2006/main" noGrp="1"/>
          </p:cNvSpPr>
          <p:nvPr/>
        </p:nvSpPr>
        <p:spPr>
          <a:xfrm xmlns:a="http://schemas.openxmlformats.org/drawingml/2006/main">
            <a:off x="8183880" y="1463040"/>
            <a:ext cx="3200400" cy="2084832"/>
          </a:xfrm>
          <a:prstGeom xmlns:a="http://schemas.openxmlformats.org/drawingml/2006/main" prst="roundRect">
            <a:avLst>
              <a:gd name="adj" fmla="val 3947"/>
            </a:avLst>
          </a:prstGeom>
          <a:solidFill xmlns:a="http://schemas.openxmlformats.org/drawingml/2006/main">
            <a:srgbClr val="F7F9FE"/>
          </a:solidFill>
          <a:ln xmlns:a="http://schemas.openxmlformats.org/drawingml/2006/main" w="12700">
            <a:solidFill>
              <a:srgbClr val="D9E0EC"/>
            </a:solidFill>
            <a:prstDash val="solid"/>
          </a:ln>
        </p:spPr>
      </p:sp>
      <p:sp>
        <p:nvSpPr>
          <p:cNvPr id="24" name="Text 22">
            <a:extLst xmlns:a="http://schemas.openxmlformats.org/drawingml/2006/main">
              <a:ext uri="{FF2B5EF4-FFF2-40B4-BE49-F238E27FC236}">
                <a16:creationId xmlns:a16="http://schemas.microsoft.com/office/drawing/2014/main" id="{3966FEC3-610D-4ECA-8352-EA6F4FCFC086}"/>
              </a:ext>
            </a:extLst>
          </p:cNvPr>
          <p:cNvSpPr>
            <a:spLocks xmlns:a="http://schemas.openxmlformats.org/drawingml/2006/main" noGrp="1"/>
          </p:cNvSpPr>
          <p:nvPr/>
        </p:nvSpPr>
        <p:spPr>
          <a:xfrm xmlns:a="http://schemas.openxmlformats.org/drawingml/2006/main">
            <a:off x="8339328" y="1591056"/>
            <a:ext cx="2834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외부 — 공식 데이터</a:t>
            </a:r>
          </a:p>
        </p:txBody>
      </p:sp>
      <p:sp>
        <p:nvSpPr>
          <p:cNvPr id="25" name="Text 23">
            <a:extLst xmlns:a="http://schemas.openxmlformats.org/drawingml/2006/main">
              <a:ext uri="{FF2B5EF4-FFF2-40B4-BE49-F238E27FC236}">
                <a16:creationId xmlns:a16="http://schemas.microsoft.com/office/drawing/2014/main" id="{38739629-5218-4053-A242-4E7F01AA9BB5}"/>
              </a:ext>
            </a:extLst>
          </p:cNvPr>
          <p:cNvSpPr>
            <a:spLocks xmlns:a="http://schemas.openxmlformats.org/drawingml/2006/main" noGrp="1"/>
          </p:cNvSpPr>
          <p:nvPr/>
        </p:nvSpPr>
        <p:spPr>
          <a:xfrm xmlns:a="http://schemas.openxmlformats.org/drawingml/2006/main">
            <a:off x="8339328" y="1883664"/>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30">
                <a:solidFill>
                  <a:srgbClr val="5A6474"/>
                </a:solidFill>
                <a:latin typeface="Malgun Gothic"/>
                <a:ea typeface="Malgun Gothic"/>
                <a:cs typeface="Malgun Gothic"/>
              </a:rPr>
              <a:t>FSS · KRX · KIS · 금융위 · KIND · DART · 법령 · NAVER</a:t>
            </a:r>
          </a:p>
          <a:p xmlns:a="http://schemas.openxmlformats.org/drawingml/2006/main">
            <a:pPr marL="0" indent="0">
              <a:buNone/>
            </a:pPr>
            <a:r>
              <a:rPr sz="930">
                <a:solidFill>
                  <a:srgbClr val="5A6474"/>
                </a:solidFill>
                <a:latin typeface="Malgun Gothic"/>
                <a:ea typeface="Malgun Gothic"/>
                <a:cs typeface="Malgun Gothic"/>
              </a:rPr>
              <a:t>수집기 10종 + cron 2종이 원본 보존·검증 후 적재</a:t>
            </a:r>
          </a:p>
        </p:txBody>
      </p:sp>
      <p:sp>
        <p:nvSpPr>
          <p:cNvPr id="26" name="Text 24">
            <a:extLst xmlns:a="http://schemas.openxmlformats.org/drawingml/2006/main">
              <a:ext uri="{FF2B5EF4-FFF2-40B4-BE49-F238E27FC236}">
                <a16:creationId xmlns:a16="http://schemas.microsoft.com/office/drawing/2014/main" id="{386F7B0E-5B9B-430B-98B5-BC2092B35F6B}"/>
              </a:ext>
            </a:extLst>
          </p:cNvPr>
          <p:cNvSpPr>
            <a:spLocks xmlns:a="http://schemas.openxmlformats.org/drawingml/2006/main" noGrp="1"/>
          </p:cNvSpPr>
          <p:nvPr/>
        </p:nvSpPr>
        <p:spPr>
          <a:xfrm xmlns:a="http://schemas.openxmlformats.org/drawingml/2006/main">
            <a:off x="8339328" y="2798064"/>
            <a:ext cx="2834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Claude API</a:t>
            </a:r>
          </a:p>
        </p:txBody>
      </p:sp>
      <p:sp>
        <p:nvSpPr>
          <p:cNvPr id="27" name="Text 25">
            <a:extLst xmlns:a="http://schemas.openxmlformats.org/drawingml/2006/main">
              <a:ext uri="{FF2B5EF4-FFF2-40B4-BE49-F238E27FC236}">
                <a16:creationId xmlns:a16="http://schemas.microsoft.com/office/drawing/2014/main" id="{4BA7203A-2C82-4236-B3D7-569694051ABC}"/>
              </a:ext>
            </a:extLst>
          </p:cNvPr>
          <p:cNvSpPr>
            <a:spLocks xmlns:a="http://schemas.openxmlformats.org/drawingml/2006/main" noGrp="1"/>
          </p:cNvSpPr>
          <p:nvPr/>
        </p:nvSpPr>
        <p:spPr>
          <a:xfrm xmlns:a="http://schemas.openxmlformats.org/drawingml/2006/main">
            <a:off x="8339328" y="3054096"/>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30">
                <a:solidFill>
                  <a:srgbClr val="5A6474"/>
                </a:solidFill>
                <a:latin typeface="Malgun Gothic"/>
                <a:ea typeface="Malgun Gothic"/>
                <a:cs typeface="Malgun Gothic"/>
              </a:rPr>
              <a:t>Haiku 재서술·토픽 가드 — 점선 연결(계산 금지, 실패 시 폴백)</a:t>
            </a:r>
          </a:p>
        </p:txBody>
      </p:sp>
      <p:sp>
        <p:nvSpPr>
          <p:cNvPr id="28" name="Shape 26">
            <a:extLst xmlns:a="http://schemas.openxmlformats.org/drawingml/2006/main">
              <a:ext uri="{FF2B5EF4-FFF2-40B4-BE49-F238E27FC236}">
                <a16:creationId xmlns:a16="http://schemas.microsoft.com/office/drawing/2014/main" id="{824B32DF-AD28-4440-B2C5-8137E34FFEDB}"/>
              </a:ext>
            </a:extLst>
          </p:cNvPr>
          <p:cNvSpPr>
            <a:spLocks xmlns:a="http://schemas.openxmlformats.org/drawingml/2006/main" noGrp="1"/>
          </p:cNvSpPr>
          <p:nvPr/>
        </p:nvSpPr>
        <p:spPr>
          <a:xfrm xmlns:a="http://schemas.openxmlformats.org/drawingml/2006/main">
            <a:off x="8183880" y="3703320"/>
            <a:ext cx="3200400" cy="2020824"/>
          </a:xfrm>
          <a:prstGeom xmlns:a="http://schemas.openxmlformats.org/drawingml/2006/main" prst="roundRect">
            <a:avLst>
              <a:gd name="adj" fmla="val 4072"/>
            </a:avLst>
          </a:prstGeom>
          <a:solidFill xmlns:a="http://schemas.openxmlformats.org/drawingml/2006/main">
            <a:srgbClr val="FFFFFF"/>
          </a:solidFill>
          <a:ln xmlns:a="http://schemas.openxmlformats.org/drawingml/2006/main" w="12700">
            <a:solidFill>
              <a:srgbClr val="D9E0EC"/>
            </a:solidFill>
            <a:prstDash val="solid"/>
          </a:ln>
        </p:spPr>
      </p:sp>
      <p:sp>
        <p:nvSpPr>
          <p:cNvPr id="29" name="Text 27">
            <a:extLst xmlns:a="http://schemas.openxmlformats.org/drawingml/2006/main">
              <a:ext uri="{FF2B5EF4-FFF2-40B4-BE49-F238E27FC236}">
                <a16:creationId xmlns:a16="http://schemas.microsoft.com/office/drawing/2014/main" id="{53B08510-5C66-47EB-A8DA-4C0CC98D3A84}"/>
              </a:ext>
            </a:extLst>
          </p:cNvPr>
          <p:cNvSpPr>
            <a:spLocks xmlns:a="http://schemas.openxmlformats.org/drawingml/2006/main" noGrp="1"/>
          </p:cNvSpPr>
          <p:nvPr/>
        </p:nvSpPr>
        <p:spPr>
          <a:xfrm xmlns:a="http://schemas.openxmlformats.org/drawingml/2006/main">
            <a:off x="8339328" y="3822192"/>
            <a:ext cx="2834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규모 한눈에</a:t>
            </a:r>
          </a:p>
        </p:txBody>
      </p:sp>
      <p:sp>
        <p:nvSpPr>
          <p:cNvPr id="30" name="Text 28">
            <a:extLst xmlns:a="http://schemas.openxmlformats.org/drawingml/2006/main">
              <a:ext uri="{FF2B5EF4-FFF2-40B4-BE49-F238E27FC236}">
                <a16:creationId xmlns:a16="http://schemas.microsoft.com/office/drawing/2014/main" id="{F9F329DC-4B84-4344-A42C-C22B15CED93A}"/>
              </a:ext>
            </a:extLst>
          </p:cNvPr>
          <p:cNvSpPr>
            <a:spLocks xmlns:a="http://schemas.openxmlformats.org/drawingml/2006/main" noGrp="1"/>
          </p:cNvSpPr>
          <p:nvPr/>
        </p:nvSpPr>
        <p:spPr>
          <a:xfrm xmlns:a="http://schemas.openxmlformats.org/drawingml/2006/main">
            <a:off x="8339328" y="411480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공식 데이터</a:t>
            </a:r>
          </a:p>
        </p:txBody>
      </p:sp>
      <p:sp>
        <p:nvSpPr>
          <p:cNvPr id="31" name="Text 29">
            <a:extLst xmlns:a="http://schemas.openxmlformats.org/drawingml/2006/main">
              <a:ext uri="{FF2B5EF4-FFF2-40B4-BE49-F238E27FC236}">
                <a16:creationId xmlns:a16="http://schemas.microsoft.com/office/drawing/2014/main" id="{8FA234A3-37DD-40F7-8FA6-340D400A2CD0}"/>
              </a:ext>
            </a:extLst>
          </p:cNvPr>
          <p:cNvSpPr>
            <a:spLocks xmlns:a="http://schemas.openxmlformats.org/drawingml/2006/main" noGrp="1"/>
          </p:cNvSpPr>
          <p:nvPr/>
        </p:nvSpPr>
        <p:spPr>
          <a:xfrm xmlns:a="http://schemas.openxmlformats.org/drawingml/2006/main">
            <a:off x="10058400" y="411480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18202E"/>
                </a:solidFill>
                <a:latin typeface="Malgun Gothic"/>
                <a:ea typeface="Malgun Gothic"/>
                <a:cs typeface="Malgun Gothic"/>
              </a:rPr>
              <a:t>8개 출처</a:t>
            </a:r>
          </a:p>
        </p:txBody>
      </p:sp>
      <p:sp>
        <p:nvSpPr>
          <p:cNvPr id="32" name="Text 30">
            <a:extLst xmlns:a="http://schemas.openxmlformats.org/drawingml/2006/main">
              <a:ext uri="{FF2B5EF4-FFF2-40B4-BE49-F238E27FC236}">
                <a16:creationId xmlns:a16="http://schemas.microsoft.com/office/drawing/2014/main" id="{F5299C98-9F74-42D0-9AF2-4091BE774389}"/>
              </a:ext>
            </a:extLst>
          </p:cNvPr>
          <p:cNvSpPr>
            <a:spLocks xmlns:a="http://schemas.openxmlformats.org/drawingml/2006/main" noGrp="1"/>
          </p:cNvSpPr>
          <p:nvPr/>
        </p:nvSpPr>
        <p:spPr>
          <a:xfrm xmlns:a="http://schemas.openxmlformats.org/drawingml/2006/main">
            <a:off x="8339328" y="442569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합성 고객</a:t>
            </a:r>
          </a:p>
        </p:txBody>
      </p:sp>
      <p:sp>
        <p:nvSpPr>
          <p:cNvPr id="33" name="Text 31">
            <a:extLst xmlns:a="http://schemas.openxmlformats.org/drawingml/2006/main">
              <a:ext uri="{FF2B5EF4-FFF2-40B4-BE49-F238E27FC236}">
                <a16:creationId xmlns:a16="http://schemas.microsoft.com/office/drawing/2014/main" id="{1F00E1E1-46BD-4627-8E4A-5F68C1B7E680}"/>
              </a:ext>
            </a:extLst>
          </p:cNvPr>
          <p:cNvSpPr>
            <a:spLocks xmlns:a="http://schemas.openxmlformats.org/drawingml/2006/main" noGrp="1"/>
          </p:cNvSpPr>
          <p:nvPr/>
        </p:nvSpPr>
        <p:spPr>
          <a:xfrm xmlns:a="http://schemas.openxmlformats.org/drawingml/2006/main">
            <a:off x="10058400" y="4425696"/>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18202E"/>
                </a:solidFill>
                <a:latin typeface="Malgun Gothic"/>
                <a:ea typeface="Malgun Gothic"/>
                <a:cs typeface="Malgun Gothic"/>
              </a:rPr>
              <a:t>10,000명</a:t>
            </a:r>
          </a:p>
        </p:txBody>
      </p:sp>
      <p:sp>
        <p:nvSpPr>
          <p:cNvPr id="34" name="Text 32">
            <a:extLst xmlns:a="http://schemas.openxmlformats.org/drawingml/2006/main">
              <a:ext uri="{FF2B5EF4-FFF2-40B4-BE49-F238E27FC236}">
                <a16:creationId xmlns:a16="http://schemas.microsoft.com/office/drawing/2014/main" id="{A5970785-671F-4870-905E-5A2ACBF630E9}"/>
              </a:ext>
            </a:extLst>
          </p:cNvPr>
          <p:cNvSpPr>
            <a:spLocks xmlns:a="http://schemas.openxmlformats.org/drawingml/2006/main" noGrp="1"/>
          </p:cNvSpPr>
          <p:nvPr/>
        </p:nvSpPr>
        <p:spPr>
          <a:xfrm xmlns:a="http://schemas.openxmlformats.org/drawingml/2006/main">
            <a:off x="8339328" y="473659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RAG</a:t>
            </a:r>
          </a:p>
        </p:txBody>
      </p:sp>
      <p:sp>
        <p:nvSpPr>
          <p:cNvPr id="35" name="Text 33">
            <a:extLst xmlns:a="http://schemas.openxmlformats.org/drawingml/2006/main">
              <a:ext uri="{FF2B5EF4-FFF2-40B4-BE49-F238E27FC236}">
                <a16:creationId xmlns:a16="http://schemas.microsoft.com/office/drawing/2014/main" id="{A8B417B8-CF67-4137-B5F6-1CF734FAE8D8}"/>
              </a:ext>
            </a:extLst>
          </p:cNvPr>
          <p:cNvSpPr>
            <a:spLocks xmlns:a="http://schemas.openxmlformats.org/drawingml/2006/main" noGrp="1"/>
          </p:cNvSpPr>
          <p:nvPr/>
        </p:nvSpPr>
        <p:spPr>
          <a:xfrm xmlns:a="http://schemas.openxmlformats.org/drawingml/2006/main">
            <a:off x="10058400" y="4736592"/>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18202E"/>
                </a:solidFill>
                <a:latin typeface="Malgun Gothic"/>
                <a:ea typeface="Malgun Gothic"/>
                <a:cs typeface="Malgun Gothic"/>
              </a:rPr>
              <a:t>10문서 · 41청크</a:t>
            </a:r>
          </a:p>
        </p:txBody>
      </p:sp>
      <p:sp>
        <p:nvSpPr>
          <p:cNvPr id="36" name="Text 34">
            <a:extLst xmlns:a="http://schemas.openxmlformats.org/drawingml/2006/main">
              <a:ext uri="{FF2B5EF4-FFF2-40B4-BE49-F238E27FC236}">
                <a16:creationId xmlns:a16="http://schemas.microsoft.com/office/drawing/2014/main" id="{651A062F-07BE-4206-AF21-9D81E7F200FC}"/>
              </a:ext>
            </a:extLst>
          </p:cNvPr>
          <p:cNvSpPr>
            <a:spLocks xmlns:a="http://schemas.openxmlformats.org/drawingml/2006/main" noGrp="1"/>
          </p:cNvSpPr>
          <p:nvPr/>
        </p:nvSpPr>
        <p:spPr>
          <a:xfrm xmlns:a="http://schemas.openxmlformats.org/drawingml/2006/main">
            <a:off x="8339328" y="5047488"/>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ETF 유니버스</a:t>
            </a:r>
          </a:p>
        </p:txBody>
      </p:sp>
      <p:sp>
        <p:nvSpPr>
          <p:cNvPr id="37" name="Text 35">
            <a:extLst xmlns:a="http://schemas.openxmlformats.org/drawingml/2006/main">
              <a:ext uri="{FF2B5EF4-FFF2-40B4-BE49-F238E27FC236}">
                <a16:creationId xmlns:a16="http://schemas.microsoft.com/office/drawing/2014/main" id="{2F49B68C-F3DE-4C94-998E-1BCD088712F1}"/>
              </a:ext>
            </a:extLst>
          </p:cNvPr>
          <p:cNvSpPr>
            <a:spLocks xmlns:a="http://schemas.openxmlformats.org/drawingml/2006/main" noGrp="1"/>
          </p:cNvSpPr>
          <p:nvPr/>
        </p:nvSpPr>
        <p:spPr>
          <a:xfrm xmlns:a="http://schemas.openxmlformats.org/drawingml/2006/main">
            <a:off x="10058400" y="5047488"/>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18202E"/>
                </a:solidFill>
                <a:latin typeface="Malgun Gothic"/>
                <a:ea typeface="Malgun Gothic"/>
                <a:cs typeface="Malgun Gothic"/>
              </a:rPr>
              <a:t>2,507행</a:t>
            </a:r>
          </a:p>
        </p:txBody>
      </p:sp>
      <p:sp>
        <p:nvSpPr>
          <p:cNvPr id="38" name="Text 36">
            <a:extLst xmlns:a="http://schemas.openxmlformats.org/drawingml/2006/main">
              <a:ext uri="{FF2B5EF4-FFF2-40B4-BE49-F238E27FC236}">
                <a16:creationId xmlns:a16="http://schemas.microsoft.com/office/drawing/2014/main" id="{9EE90EE9-7F12-4905-B954-EDEAB8F0EFC3}"/>
              </a:ext>
            </a:extLst>
          </p:cNvPr>
          <p:cNvSpPr>
            <a:spLocks xmlns:a="http://schemas.openxmlformats.org/drawingml/2006/main" noGrp="1"/>
          </p:cNvSpPr>
          <p:nvPr/>
        </p:nvSpPr>
        <p:spPr>
          <a:xfrm xmlns:a="http://schemas.openxmlformats.org/drawingml/2006/main">
            <a:off x="8339328" y="535838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TR 이력</a:t>
            </a:r>
          </a:p>
        </p:txBody>
      </p:sp>
      <p:sp>
        <p:nvSpPr>
          <p:cNvPr id="39" name="Text 37">
            <a:extLst xmlns:a="http://schemas.openxmlformats.org/drawingml/2006/main">
              <a:ext uri="{FF2B5EF4-FFF2-40B4-BE49-F238E27FC236}">
                <a16:creationId xmlns:a16="http://schemas.microsoft.com/office/drawing/2014/main" id="{28BF0EDA-580C-4FA9-A1F4-3DFCC3759CE8}"/>
              </a:ext>
            </a:extLst>
          </p:cNvPr>
          <p:cNvSpPr>
            <a:spLocks xmlns:a="http://schemas.openxmlformats.org/drawingml/2006/main" noGrp="1"/>
          </p:cNvSpPr>
          <p:nvPr/>
        </p:nvSpPr>
        <p:spPr>
          <a:xfrm xmlns:a="http://schemas.openxmlformats.org/drawingml/2006/main">
            <a:off x="10058400" y="5358384"/>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18202E"/>
                </a:solidFill>
                <a:latin typeface="Malgun Gothic"/>
                <a:ea typeface="Malgun Gothic"/>
                <a:cs typeface="Malgun Gothic"/>
              </a:rPr>
              <a:t>217,833행</a:t>
            </a:r>
          </a:p>
        </p:txBody>
      </p:sp>
      <p:sp>
        <p:nvSpPr>
          <p:cNvPr id="40" name="Text 38">
            <a:extLst xmlns:a="http://schemas.openxmlformats.org/drawingml/2006/main">
              <a:ext uri="{FF2B5EF4-FFF2-40B4-BE49-F238E27FC236}">
                <a16:creationId xmlns:a16="http://schemas.microsoft.com/office/drawing/2014/main" id="{E69551F6-31D5-417E-BF38-D3366C45DC16}"/>
              </a:ext>
            </a:extLst>
          </p:cNvPr>
          <p:cNvSpPr>
            <a:spLocks xmlns:a="http://schemas.openxmlformats.org/drawingml/2006/main" noGrp="1"/>
          </p:cNvSpPr>
          <p:nvPr/>
        </p:nvSpPr>
        <p:spPr>
          <a:xfrm xmlns:a="http://schemas.openxmlformats.org/drawingml/2006/main">
            <a:off x="548640" y="5989320"/>
            <a:ext cx="86868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React</a:t>
            </a:r>
          </a:p>
        </p:txBody>
      </p:sp>
      <p:sp>
        <p:nvSpPr>
          <p:cNvPr id="41" name="Text 39">
            <a:extLst xmlns:a="http://schemas.openxmlformats.org/drawingml/2006/main">
              <a:ext uri="{FF2B5EF4-FFF2-40B4-BE49-F238E27FC236}">
                <a16:creationId xmlns:a16="http://schemas.microsoft.com/office/drawing/2014/main" id="{010F3681-F7C3-4D0F-95FE-49F39653C628}"/>
              </a:ext>
            </a:extLst>
          </p:cNvPr>
          <p:cNvSpPr>
            <a:spLocks xmlns:a="http://schemas.openxmlformats.org/drawingml/2006/main" noGrp="1"/>
          </p:cNvSpPr>
          <p:nvPr/>
        </p:nvSpPr>
        <p:spPr>
          <a:xfrm xmlns:a="http://schemas.openxmlformats.org/drawingml/2006/main">
            <a:off x="1545336" y="5989320"/>
            <a:ext cx="100584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TypeScript</a:t>
            </a:r>
          </a:p>
        </p:txBody>
      </p:sp>
      <p:sp>
        <p:nvSpPr>
          <p:cNvPr id="42" name="Text 40">
            <a:extLst xmlns:a="http://schemas.openxmlformats.org/drawingml/2006/main">
              <a:ext uri="{FF2B5EF4-FFF2-40B4-BE49-F238E27FC236}">
                <a16:creationId xmlns:a16="http://schemas.microsoft.com/office/drawing/2014/main" id="{91F1B75E-2226-4389-9D46-0EAA533EFE05}"/>
              </a:ext>
            </a:extLst>
          </p:cNvPr>
          <p:cNvSpPr>
            <a:spLocks xmlns:a="http://schemas.openxmlformats.org/drawingml/2006/main" noGrp="1"/>
          </p:cNvSpPr>
          <p:nvPr/>
        </p:nvSpPr>
        <p:spPr>
          <a:xfrm xmlns:a="http://schemas.openxmlformats.org/drawingml/2006/main">
            <a:off x="2679192" y="5989320"/>
            <a:ext cx="109728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Vite · PWA</a:t>
            </a:r>
          </a:p>
        </p:txBody>
      </p:sp>
      <p:sp>
        <p:nvSpPr>
          <p:cNvPr id="43" name="Text 41">
            <a:extLst xmlns:a="http://schemas.openxmlformats.org/drawingml/2006/main">
              <a:ext uri="{FF2B5EF4-FFF2-40B4-BE49-F238E27FC236}">
                <a16:creationId xmlns:a16="http://schemas.microsoft.com/office/drawing/2014/main" id="{0ADB407E-0E50-48AC-ABD0-938E828BEBBB}"/>
              </a:ext>
            </a:extLst>
          </p:cNvPr>
          <p:cNvSpPr>
            <a:spLocks xmlns:a="http://schemas.openxmlformats.org/drawingml/2006/main" noGrp="1"/>
          </p:cNvSpPr>
          <p:nvPr/>
        </p:nvSpPr>
        <p:spPr>
          <a:xfrm xmlns:a="http://schemas.openxmlformats.org/drawingml/2006/main">
            <a:off x="3904488" y="5989320"/>
            <a:ext cx="86868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FastAPI</a:t>
            </a:r>
          </a:p>
        </p:txBody>
      </p:sp>
      <p:sp>
        <p:nvSpPr>
          <p:cNvPr id="44" name="Text 42">
            <a:extLst xmlns:a="http://schemas.openxmlformats.org/drawingml/2006/main">
              <a:ext uri="{FF2B5EF4-FFF2-40B4-BE49-F238E27FC236}">
                <a16:creationId xmlns:a16="http://schemas.microsoft.com/office/drawing/2014/main" id="{AEAB5959-69B2-4AE4-A628-261BD864B85F}"/>
              </a:ext>
            </a:extLst>
          </p:cNvPr>
          <p:cNvSpPr>
            <a:spLocks xmlns:a="http://schemas.openxmlformats.org/drawingml/2006/main" noGrp="1"/>
          </p:cNvSpPr>
          <p:nvPr/>
        </p:nvSpPr>
        <p:spPr>
          <a:xfrm xmlns:a="http://schemas.openxmlformats.org/drawingml/2006/main">
            <a:off x="4901184" y="5989320"/>
            <a:ext cx="105156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pydantic-ai</a:t>
            </a:r>
          </a:p>
        </p:txBody>
      </p:sp>
      <p:sp>
        <p:nvSpPr>
          <p:cNvPr id="45" name="Text 43">
            <a:extLst xmlns:a="http://schemas.openxmlformats.org/drawingml/2006/main">
              <a:ext uri="{FF2B5EF4-FFF2-40B4-BE49-F238E27FC236}">
                <a16:creationId xmlns:a16="http://schemas.microsoft.com/office/drawing/2014/main" id="{775ACDE4-DDF1-42B7-87EE-833538C7761D}"/>
              </a:ext>
            </a:extLst>
          </p:cNvPr>
          <p:cNvSpPr>
            <a:spLocks xmlns:a="http://schemas.openxmlformats.org/drawingml/2006/main" noGrp="1"/>
          </p:cNvSpPr>
          <p:nvPr/>
        </p:nvSpPr>
        <p:spPr>
          <a:xfrm xmlns:a="http://schemas.openxmlformats.org/drawingml/2006/main">
            <a:off x="6080760" y="5989320"/>
            <a:ext cx="77724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numpy</a:t>
            </a:r>
          </a:p>
        </p:txBody>
      </p:sp>
      <p:sp>
        <p:nvSpPr>
          <p:cNvPr id="46" name="Text 44">
            <a:extLst xmlns:a="http://schemas.openxmlformats.org/drawingml/2006/main">
              <a:ext uri="{FF2B5EF4-FFF2-40B4-BE49-F238E27FC236}">
                <a16:creationId xmlns:a16="http://schemas.microsoft.com/office/drawing/2014/main" id="{1CB85482-CCC3-4527-A4FF-B99E3B523954}"/>
              </a:ext>
            </a:extLst>
          </p:cNvPr>
          <p:cNvSpPr>
            <a:spLocks xmlns:a="http://schemas.openxmlformats.org/drawingml/2006/main" noGrp="1"/>
          </p:cNvSpPr>
          <p:nvPr/>
        </p:nvSpPr>
        <p:spPr>
          <a:xfrm xmlns:a="http://schemas.openxmlformats.org/drawingml/2006/main">
            <a:off x="6986016" y="5989320"/>
            <a:ext cx="123444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PostgreSQL</a:t>
            </a:r>
          </a:p>
        </p:txBody>
      </p:sp>
      <p:sp>
        <p:nvSpPr>
          <p:cNvPr id="47" name="Text 45">
            <a:extLst xmlns:a="http://schemas.openxmlformats.org/drawingml/2006/main">
              <a:ext uri="{FF2B5EF4-FFF2-40B4-BE49-F238E27FC236}">
                <a16:creationId xmlns:a16="http://schemas.microsoft.com/office/drawing/2014/main" id="{09B8D7C4-7D13-4250-9BC2-61EBA1981E4B}"/>
              </a:ext>
            </a:extLst>
          </p:cNvPr>
          <p:cNvSpPr>
            <a:spLocks xmlns:a="http://schemas.openxmlformats.org/drawingml/2006/main" noGrp="1"/>
          </p:cNvSpPr>
          <p:nvPr/>
        </p:nvSpPr>
        <p:spPr>
          <a:xfrm xmlns:a="http://schemas.openxmlformats.org/drawingml/2006/main">
            <a:off x="8348472" y="5989320"/>
            <a:ext cx="86868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pgvector</a:t>
            </a:r>
          </a:p>
        </p:txBody>
      </p:sp>
      <p:sp>
        <p:nvSpPr>
          <p:cNvPr id="48" name="Text 46">
            <a:extLst xmlns:a="http://schemas.openxmlformats.org/drawingml/2006/main">
              <a:ext uri="{FF2B5EF4-FFF2-40B4-BE49-F238E27FC236}">
                <a16:creationId xmlns:a16="http://schemas.microsoft.com/office/drawing/2014/main" id="{63B2FE07-5B16-43DC-8CBE-A45D8DA37ECB}"/>
              </a:ext>
            </a:extLst>
          </p:cNvPr>
          <p:cNvSpPr>
            <a:spLocks xmlns:a="http://schemas.openxmlformats.org/drawingml/2006/main" noGrp="1"/>
          </p:cNvSpPr>
          <p:nvPr/>
        </p:nvSpPr>
        <p:spPr>
          <a:xfrm xmlns:a="http://schemas.openxmlformats.org/drawingml/2006/main">
            <a:off x="9345168" y="5989320"/>
            <a:ext cx="82296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BGE-M3</a:t>
            </a:r>
          </a:p>
        </p:txBody>
      </p:sp>
      <p:sp>
        <p:nvSpPr>
          <p:cNvPr id="49" name="Text 47">
            <a:extLst xmlns:a="http://schemas.openxmlformats.org/drawingml/2006/main">
              <a:ext uri="{FF2B5EF4-FFF2-40B4-BE49-F238E27FC236}">
                <a16:creationId xmlns:a16="http://schemas.microsoft.com/office/drawing/2014/main" id="{DDB82398-2B43-4297-9DBC-14362E737D5B}"/>
              </a:ext>
            </a:extLst>
          </p:cNvPr>
          <p:cNvSpPr>
            <a:spLocks xmlns:a="http://schemas.openxmlformats.org/drawingml/2006/main" noGrp="1"/>
          </p:cNvSpPr>
          <p:nvPr/>
        </p:nvSpPr>
        <p:spPr>
          <a:xfrm xmlns:a="http://schemas.openxmlformats.org/drawingml/2006/main">
            <a:off x="10296144" y="5989320"/>
            <a:ext cx="1188720" cy="310896"/>
          </a:xfrm>
          <a:prstGeom xmlns:a="http://schemas.openxmlformats.org/drawingml/2006/main" prst="roundRect">
            <a:avLst>
              <a:gd name="adj" fmla="val 41176"/>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A4FD8"/>
                </a:solidFill>
                <a:latin typeface="Malgun Gothic"/>
                <a:ea typeface="Malgun Gothic"/>
                <a:cs typeface="Malgun Gothic"/>
              </a:rPr>
              <a:t>GitHub Actions</a:t>
            </a:r>
          </a:p>
        </p:txBody>
      </p:sp>
      <p:sp>
        <p:nvSpPr>
          <p:cNvPr id="50" name="Text 48">
            <a:extLst xmlns:a="http://schemas.openxmlformats.org/drawingml/2006/main">
              <a:ext uri="{FF2B5EF4-FFF2-40B4-BE49-F238E27FC236}">
                <a16:creationId xmlns:a16="http://schemas.microsoft.com/office/drawing/2014/main" id="{7AEF9228-5508-42D0-98D7-1605FC6655D3}"/>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15</a:t>
            </a:r>
          </a:p>
        </p:txBody>
      </p:sp>
    </p:spTree>
    <p:extLst>
      <p:ext uri="{BB962C8B-B14F-4D97-AF65-F5344CB8AC3E}">
        <p14:creationId xmlns:p14="http://schemas.microsoft.com/office/powerpoint/2010/main" val="37305409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424D5D-F68F-47A8-BE6D-9FB5FED20403}"/>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15 · 서비스 구현 — 핵심 기능 · DEMO</a:t>
            </a:r>
          </a:p>
        </p:txBody>
      </p:sp>
      <p:sp>
        <p:nvSpPr>
          <p:cNvPr id="3" name="Text 1">
            <a:extLst xmlns:a="http://schemas.openxmlformats.org/drawingml/2006/main">
              <a:ext uri="{FF2B5EF4-FFF2-40B4-BE49-F238E27FC236}">
                <a16:creationId xmlns:a16="http://schemas.microsoft.com/office/drawing/2014/main" id="{EEA80F44-4848-4DE4-B7C6-38484CD15876}"/>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투자를 잘 몰라도, 내 상태 → 이유 → 다음 행동 순서로 이해한다</a:t>
            </a:r>
          </a:p>
        </p:txBody>
      </p:sp>
      <p:sp>
        <p:nvSpPr>
          <p:cNvPr id="4" name="Shape 2">
            <a:extLst xmlns:a="http://schemas.openxmlformats.org/drawingml/2006/main">
              <a:ext uri="{FF2B5EF4-FFF2-40B4-BE49-F238E27FC236}">
                <a16:creationId xmlns:a16="http://schemas.microsoft.com/office/drawing/2014/main" id="{02E13BCF-22A6-4C61-8A0B-1D4FEDA9E2FB}"/>
              </a:ext>
            </a:extLst>
          </p:cNvPr>
          <p:cNvSpPr>
            <a:spLocks xmlns:a="http://schemas.openxmlformats.org/drawingml/2006/main" noGrp="1"/>
          </p:cNvSpPr>
          <p:nvPr/>
        </p:nvSpPr>
        <p:spPr>
          <a:xfrm xmlns:a="http://schemas.openxmlformats.org/drawingml/2006/main">
            <a:off x="548640" y="1508760"/>
            <a:ext cx="2066544" cy="1078992"/>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12700">
            <a:solidFill>
              <a:srgbClr val="D9E0EC"/>
            </a:solidFill>
            <a:prstDash val="solid"/>
          </a:ln>
        </p:spPr>
      </p:sp>
      <p:sp>
        <p:nvSpPr>
          <p:cNvPr id="5" name="Shape 3">
            <a:extLst xmlns:a="http://schemas.openxmlformats.org/drawingml/2006/main">
              <a:ext uri="{FF2B5EF4-FFF2-40B4-BE49-F238E27FC236}">
                <a16:creationId xmlns:a16="http://schemas.microsoft.com/office/drawing/2014/main" id="{55620223-663E-4BB2-ACED-A18AD90CD042}"/>
              </a:ext>
            </a:extLst>
          </p:cNvPr>
          <p:cNvSpPr>
            <a:spLocks xmlns:a="http://schemas.openxmlformats.org/drawingml/2006/main" noGrp="1"/>
          </p:cNvSpPr>
          <p:nvPr/>
        </p:nvSpPr>
        <p:spPr>
          <a:xfrm xmlns:a="http://schemas.openxmlformats.org/drawingml/2006/main">
            <a:off x="667512" y="1627632"/>
            <a:ext cx="256032" cy="256032"/>
          </a:xfrm>
          <a:prstGeom xmlns:a="http://schemas.openxmlformats.org/drawingml/2006/main" prst="ellipse">
            <a:avLst/>
          </a:prstGeom>
          <a:solidFill xmlns:a="http://schemas.openxmlformats.org/drawingml/2006/main">
            <a:srgbClr val="1A4FD8"/>
          </a:solidFill>
        </p:spPr>
      </p:sp>
      <p:sp>
        <p:nvSpPr>
          <p:cNvPr id="6" name="Text 4">
            <a:extLst xmlns:a="http://schemas.openxmlformats.org/drawingml/2006/main">
              <a:ext uri="{FF2B5EF4-FFF2-40B4-BE49-F238E27FC236}">
                <a16:creationId xmlns:a16="http://schemas.microsoft.com/office/drawing/2014/main" id="{B4161770-3375-41BB-BD8F-8DE4CC6CC379}"/>
              </a:ext>
            </a:extLst>
          </p:cNvPr>
          <p:cNvSpPr>
            <a:spLocks xmlns:a="http://schemas.openxmlformats.org/drawingml/2006/main" noGrp="1"/>
          </p:cNvSpPr>
          <p:nvPr/>
        </p:nvSpPr>
        <p:spPr>
          <a:xfrm xmlns:a="http://schemas.openxmlformats.org/drawingml/2006/main">
            <a:off x="667512" y="162763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Malgun Gothic"/>
                <a:ea typeface="Malgun Gothic"/>
                <a:cs typeface="Malgun Gothic"/>
              </a:rPr>
              <a:t>1</a:t>
            </a:r>
          </a:p>
        </p:txBody>
      </p:sp>
      <p:sp>
        <p:nvSpPr>
          <p:cNvPr id="7" name="Text 5">
            <a:extLst xmlns:a="http://schemas.openxmlformats.org/drawingml/2006/main">
              <a:ext uri="{FF2B5EF4-FFF2-40B4-BE49-F238E27FC236}">
                <a16:creationId xmlns:a16="http://schemas.microsoft.com/office/drawing/2014/main" id="{C6F59A38-3D59-42C7-9D0C-6D887741FCBB}"/>
              </a:ext>
            </a:extLst>
          </p:cNvPr>
          <p:cNvSpPr>
            <a:spLocks xmlns:a="http://schemas.openxmlformats.org/drawingml/2006/main" noGrp="1"/>
          </p:cNvSpPr>
          <p:nvPr/>
        </p:nvSpPr>
        <p:spPr>
          <a:xfrm xmlns:a="http://schemas.openxmlformats.org/drawingml/2006/main">
            <a:off x="987552" y="1609344"/>
            <a:ext cx="15361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로그인</a:t>
            </a:r>
          </a:p>
        </p:txBody>
      </p:sp>
      <p:sp>
        <p:nvSpPr>
          <p:cNvPr id="8" name="Text 6">
            <a:extLst xmlns:a="http://schemas.openxmlformats.org/drawingml/2006/main">
              <a:ext uri="{FF2B5EF4-FFF2-40B4-BE49-F238E27FC236}">
                <a16:creationId xmlns:a16="http://schemas.microsoft.com/office/drawing/2014/main" id="{60661316-ECF4-4901-81CC-EE7E7655B6A5}"/>
              </a:ext>
            </a:extLst>
          </p:cNvPr>
          <p:cNvSpPr>
            <a:spLocks xmlns:a="http://schemas.openxmlformats.org/drawingml/2006/main" noGrp="1"/>
          </p:cNvSpPr>
          <p:nvPr/>
        </p:nvSpPr>
        <p:spPr>
          <a:xfrm xmlns:a="http://schemas.openxmlformats.org/drawingml/2006/main">
            <a:off x="676656" y="1956816"/>
            <a:ext cx="18105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70">
                <a:solidFill>
                  <a:srgbClr val="5A6474"/>
                </a:solidFill>
                <a:latin typeface="Malgun Gothic"/>
                <a:ea typeface="Malgun Gothic"/>
                <a:cs typeface="Malgun Gothic"/>
              </a:rPr>
              <a:t>Supabase Auth · 대상 계정</a:t>
            </a:r>
          </a:p>
        </p:txBody>
      </p:sp>
      <p:sp>
        <p:nvSpPr>
          <p:cNvPr id="9" name="Text 7">
            <a:extLst xmlns:a="http://schemas.openxmlformats.org/drawingml/2006/main">
              <a:ext uri="{FF2B5EF4-FFF2-40B4-BE49-F238E27FC236}">
                <a16:creationId xmlns:a16="http://schemas.microsoft.com/office/drawing/2014/main" id="{BA8BDD35-585E-4902-8A9D-7686EA49E81B}"/>
              </a:ext>
            </a:extLst>
          </p:cNvPr>
          <p:cNvSpPr>
            <a:spLocks xmlns:a="http://schemas.openxmlformats.org/drawingml/2006/main" noGrp="1"/>
          </p:cNvSpPr>
          <p:nvPr/>
        </p:nvSpPr>
        <p:spPr>
          <a:xfrm xmlns:a="http://schemas.openxmlformats.org/drawingml/2006/main">
            <a:off x="2587752" y="1874520"/>
            <a:ext cx="2377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9AA3B2"/>
                </a:solidFill>
                <a:latin typeface="Malgun Gothic"/>
                <a:ea typeface="Malgun Gothic"/>
                <a:cs typeface="Malgun Gothic"/>
              </a:rPr>
              <a:t>→</a:t>
            </a:r>
          </a:p>
        </p:txBody>
      </p:sp>
      <p:sp>
        <p:nvSpPr>
          <p:cNvPr id="10" name="Shape 8">
            <a:extLst xmlns:a="http://schemas.openxmlformats.org/drawingml/2006/main">
              <a:ext uri="{FF2B5EF4-FFF2-40B4-BE49-F238E27FC236}">
                <a16:creationId xmlns:a16="http://schemas.microsoft.com/office/drawing/2014/main" id="{00F64429-F5EE-4E68-BC74-61A297838B63}"/>
              </a:ext>
            </a:extLst>
          </p:cNvPr>
          <p:cNvSpPr>
            <a:spLocks xmlns:a="http://schemas.openxmlformats.org/drawingml/2006/main" noGrp="1"/>
          </p:cNvSpPr>
          <p:nvPr/>
        </p:nvSpPr>
        <p:spPr>
          <a:xfrm xmlns:a="http://schemas.openxmlformats.org/drawingml/2006/main">
            <a:off x="2807208" y="1508760"/>
            <a:ext cx="2066544" cy="1078992"/>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12700">
            <a:solidFill>
              <a:srgbClr val="D9E0EC"/>
            </a:solidFill>
            <a:prstDash val="solid"/>
          </a:ln>
        </p:spPr>
      </p:sp>
      <p:sp>
        <p:nvSpPr>
          <p:cNvPr id="11" name="Shape 9">
            <a:extLst xmlns:a="http://schemas.openxmlformats.org/drawingml/2006/main">
              <a:ext uri="{FF2B5EF4-FFF2-40B4-BE49-F238E27FC236}">
                <a16:creationId xmlns:a16="http://schemas.microsoft.com/office/drawing/2014/main" id="{1CCA7052-4731-4625-BDEA-22DE84F591C8}"/>
              </a:ext>
            </a:extLst>
          </p:cNvPr>
          <p:cNvSpPr>
            <a:spLocks xmlns:a="http://schemas.openxmlformats.org/drawingml/2006/main" noGrp="1"/>
          </p:cNvSpPr>
          <p:nvPr/>
        </p:nvSpPr>
        <p:spPr>
          <a:xfrm xmlns:a="http://schemas.openxmlformats.org/drawingml/2006/main">
            <a:off x="2926080" y="1627632"/>
            <a:ext cx="256032" cy="256032"/>
          </a:xfrm>
          <a:prstGeom xmlns:a="http://schemas.openxmlformats.org/drawingml/2006/main" prst="ellipse">
            <a:avLst/>
          </a:prstGeom>
          <a:solidFill xmlns:a="http://schemas.openxmlformats.org/drawingml/2006/main">
            <a:srgbClr val="1A4FD8"/>
          </a:solidFill>
        </p:spPr>
      </p:sp>
      <p:sp>
        <p:nvSpPr>
          <p:cNvPr id="12" name="Text 10">
            <a:extLst xmlns:a="http://schemas.openxmlformats.org/drawingml/2006/main">
              <a:ext uri="{FF2B5EF4-FFF2-40B4-BE49-F238E27FC236}">
                <a16:creationId xmlns:a16="http://schemas.microsoft.com/office/drawing/2014/main" id="{E2318485-7C3B-4B72-B22F-CDD1F8BBABFB}"/>
              </a:ext>
            </a:extLst>
          </p:cNvPr>
          <p:cNvSpPr>
            <a:spLocks xmlns:a="http://schemas.openxmlformats.org/drawingml/2006/main" noGrp="1"/>
          </p:cNvSpPr>
          <p:nvPr/>
        </p:nvSpPr>
        <p:spPr>
          <a:xfrm xmlns:a="http://schemas.openxmlformats.org/drawingml/2006/main">
            <a:off x="2926080" y="162763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Malgun Gothic"/>
                <a:ea typeface="Malgun Gothic"/>
                <a:cs typeface="Malgun Gothic"/>
              </a:rPr>
              <a:t>2</a:t>
            </a:r>
          </a:p>
        </p:txBody>
      </p:sp>
      <p:sp>
        <p:nvSpPr>
          <p:cNvPr id="13" name="Text 11">
            <a:extLst xmlns:a="http://schemas.openxmlformats.org/drawingml/2006/main">
              <a:ext uri="{FF2B5EF4-FFF2-40B4-BE49-F238E27FC236}">
                <a16:creationId xmlns:a16="http://schemas.microsoft.com/office/drawing/2014/main" id="{E308C2C7-6839-4FE1-B7FD-CA142193BB76}"/>
              </a:ext>
            </a:extLst>
          </p:cNvPr>
          <p:cNvSpPr>
            <a:spLocks xmlns:a="http://schemas.openxmlformats.org/drawingml/2006/main" noGrp="1"/>
          </p:cNvSpPr>
          <p:nvPr/>
        </p:nvSpPr>
        <p:spPr>
          <a:xfrm xmlns:a="http://schemas.openxmlformats.org/drawingml/2006/main">
            <a:off x="3246120" y="1609344"/>
            <a:ext cx="15361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첫 이용 가이드</a:t>
            </a:r>
          </a:p>
        </p:txBody>
      </p:sp>
      <p:sp>
        <p:nvSpPr>
          <p:cNvPr id="14" name="Text 12">
            <a:extLst xmlns:a="http://schemas.openxmlformats.org/drawingml/2006/main">
              <a:ext uri="{FF2B5EF4-FFF2-40B4-BE49-F238E27FC236}">
                <a16:creationId xmlns:a16="http://schemas.microsoft.com/office/drawing/2014/main" id="{F1776D46-B2D7-4DD9-BDBA-59E31DC87B35}"/>
              </a:ext>
            </a:extLst>
          </p:cNvPr>
          <p:cNvSpPr>
            <a:spLocks xmlns:a="http://schemas.openxmlformats.org/drawingml/2006/main" noGrp="1"/>
          </p:cNvSpPr>
          <p:nvPr/>
        </p:nvSpPr>
        <p:spPr>
          <a:xfrm xmlns:a="http://schemas.openxmlformats.org/drawingml/2006/main">
            <a:off x="2935224" y="1956816"/>
            <a:ext cx="18105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70">
                <a:solidFill>
                  <a:srgbClr val="5A6474"/>
                </a:solidFill>
                <a:latin typeface="Malgun Gothic"/>
                <a:ea typeface="Malgun Gothic"/>
                <a:cs typeface="Malgun Gothic"/>
              </a:rPr>
              <a:t>로그인마다 핵심 기능 5단계 안내</a:t>
            </a:r>
          </a:p>
        </p:txBody>
      </p:sp>
      <p:sp>
        <p:nvSpPr>
          <p:cNvPr id="15" name="Text 13">
            <a:extLst xmlns:a="http://schemas.openxmlformats.org/drawingml/2006/main">
              <a:ext uri="{FF2B5EF4-FFF2-40B4-BE49-F238E27FC236}">
                <a16:creationId xmlns:a16="http://schemas.microsoft.com/office/drawing/2014/main" id="{D8F3029E-7169-4306-B767-38C4DF872A67}"/>
              </a:ext>
            </a:extLst>
          </p:cNvPr>
          <p:cNvSpPr>
            <a:spLocks xmlns:a="http://schemas.openxmlformats.org/drawingml/2006/main" noGrp="1"/>
          </p:cNvSpPr>
          <p:nvPr/>
        </p:nvSpPr>
        <p:spPr>
          <a:xfrm xmlns:a="http://schemas.openxmlformats.org/drawingml/2006/main">
            <a:off x="4846320" y="1874520"/>
            <a:ext cx="2377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9AA3B2"/>
                </a:solidFill>
                <a:latin typeface="Malgun Gothic"/>
                <a:ea typeface="Malgun Gothic"/>
                <a:cs typeface="Malgun Gothic"/>
              </a:rPr>
              <a:t>→</a:t>
            </a:r>
          </a:p>
        </p:txBody>
      </p:sp>
      <p:sp>
        <p:nvSpPr>
          <p:cNvPr id="16" name="Shape 14">
            <a:extLst xmlns:a="http://schemas.openxmlformats.org/drawingml/2006/main">
              <a:ext uri="{FF2B5EF4-FFF2-40B4-BE49-F238E27FC236}">
                <a16:creationId xmlns:a16="http://schemas.microsoft.com/office/drawing/2014/main" id="{44189479-7EA4-490E-B05F-569F8B98CAC2}"/>
              </a:ext>
            </a:extLst>
          </p:cNvPr>
          <p:cNvSpPr>
            <a:spLocks xmlns:a="http://schemas.openxmlformats.org/drawingml/2006/main" noGrp="1"/>
          </p:cNvSpPr>
          <p:nvPr/>
        </p:nvSpPr>
        <p:spPr>
          <a:xfrm xmlns:a="http://schemas.openxmlformats.org/drawingml/2006/main">
            <a:off x="5065776" y="1508760"/>
            <a:ext cx="2066544" cy="1078992"/>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12700">
            <a:solidFill>
              <a:srgbClr val="D9E0EC"/>
            </a:solidFill>
            <a:prstDash val="solid"/>
          </a:ln>
        </p:spPr>
      </p:sp>
      <p:sp>
        <p:nvSpPr>
          <p:cNvPr id="17" name="Shape 15">
            <a:extLst xmlns:a="http://schemas.openxmlformats.org/drawingml/2006/main">
              <a:ext uri="{FF2B5EF4-FFF2-40B4-BE49-F238E27FC236}">
                <a16:creationId xmlns:a16="http://schemas.microsoft.com/office/drawing/2014/main" id="{C61ACED2-AACB-45FD-B0CC-9ACF96BA29ED}"/>
              </a:ext>
            </a:extLst>
          </p:cNvPr>
          <p:cNvSpPr>
            <a:spLocks xmlns:a="http://schemas.openxmlformats.org/drawingml/2006/main" noGrp="1"/>
          </p:cNvSpPr>
          <p:nvPr/>
        </p:nvSpPr>
        <p:spPr>
          <a:xfrm xmlns:a="http://schemas.openxmlformats.org/drawingml/2006/main">
            <a:off x="5184648" y="1627632"/>
            <a:ext cx="256032" cy="256032"/>
          </a:xfrm>
          <a:prstGeom xmlns:a="http://schemas.openxmlformats.org/drawingml/2006/main" prst="ellipse">
            <a:avLst/>
          </a:prstGeom>
          <a:solidFill xmlns:a="http://schemas.openxmlformats.org/drawingml/2006/main">
            <a:srgbClr val="1A4FD8"/>
          </a:solidFill>
        </p:spPr>
      </p:sp>
      <p:sp>
        <p:nvSpPr>
          <p:cNvPr id="18" name="Text 16">
            <a:extLst xmlns:a="http://schemas.openxmlformats.org/drawingml/2006/main">
              <a:ext uri="{FF2B5EF4-FFF2-40B4-BE49-F238E27FC236}">
                <a16:creationId xmlns:a16="http://schemas.microsoft.com/office/drawing/2014/main" id="{739E23DE-F1D9-4F1B-9F3C-078842261DE8}"/>
              </a:ext>
            </a:extLst>
          </p:cNvPr>
          <p:cNvSpPr>
            <a:spLocks xmlns:a="http://schemas.openxmlformats.org/drawingml/2006/main" noGrp="1"/>
          </p:cNvSpPr>
          <p:nvPr/>
        </p:nvSpPr>
        <p:spPr>
          <a:xfrm xmlns:a="http://schemas.openxmlformats.org/drawingml/2006/main">
            <a:off x="5184648" y="162763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Malgun Gothic"/>
                <a:ea typeface="Malgun Gothic"/>
                <a:cs typeface="Malgun Gothic"/>
              </a:rPr>
              <a:t>3</a:t>
            </a:r>
          </a:p>
        </p:txBody>
      </p:sp>
      <p:sp>
        <p:nvSpPr>
          <p:cNvPr id="19" name="Text 17">
            <a:extLst xmlns:a="http://schemas.openxmlformats.org/drawingml/2006/main">
              <a:ext uri="{FF2B5EF4-FFF2-40B4-BE49-F238E27FC236}">
                <a16:creationId xmlns:a16="http://schemas.microsoft.com/office/drawing/2014/main" id="{87C9D10C-1B42-4AA8-9669-26434BDF07AE}"/>
              </a:ext>
            </a:extLst>
          </p:cNvPr>
          <p:cNvSpPr>
            <a:spLocks xmlns:a="http://schemas.openxmlformats.org/drawingml/2006/main" noGrp="1"/>
          </p:cNvSpPr>
          <p:nvPr/>
        </p:nvSpPr>
        <p:spPr>
          <a:xfrm xmlns:a="http://schemas.openxmlformats.org/drawingml/2006/main">
            <a:off x="5504688" y="1609344"/>
            <a:ext cx="15361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계좌 연동 동의</a:t>
            </a:r>
          </a:p>
        </p:txBody>
      </p:sp>
      <p:sp>
        <p:nvSpPr>
          <p:cNvPr id="20" name="Text 18">
            <a:extLst xmlns:a="http://schemas.openxmlformats.org/drawingml/2006/main">
              <a:ext uri="{FF2B5EF4-FFF2-40B4-BE49-F238E27FC236}">
                <a16:creationId xmlns:a16="http://schemas.microsoft.com/office/drawing/2014/main" id="{C22C8ECC-1EB0-4544-975F-C6BCC4A82BFB}"/>
              </a:ext>
            </a:extLst>
          </p:cNvPr>
          <p:cNvSpPr>
            <a:spLocks xmlns:a="http://schemas.openxmlformats.org/drawingml/2006/main" noGrp="1"/>
          </p:cNvSpPr>
          <p:nvPr/>
        </p:nvSpPr>
        <p:spPr>
          <a:xfrm xmlns:a="http://schemas.openxmlformats.org/drawingml/2006/main">
            <a:off x="5193792" y="1956816"/>
            <a:ext cx="18105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70">
                <a:solidFill>
                  <a:srgbClr val="5A6474"/>
                </a:solidFill>
                <a:latin typeface="Malgun Gothic"/>
                <a:ea typeface="Malgun Gothic"/>
                <a:cs typeface="Malgun Gothic"/>
              </a:rPr>
              <a:t>표시 전용 · 실제 금융사 연결 없음</a:t>
            </a:r>
          </a:p>
        </p:txBody>
      </p:sp>
      <p:sp>
        <p:nvSpPr>
          <p:cNvPr id="21" name="Text 19">
            <a:extLst xmlns:a="http://schemas.openxmlformats.org/drawingml/2006/main">
              <a:ext uri="{FF2B5EF4-FFF2-40B4-BE49-F238E27FC236}">
                <a16:creationId xmlns:a16="http://schemas.microsoft.com/office/drawing/2014/main" id="{BAD5336F-5690-429F-A593-B3B7A844E69F}"/>
              </a:ext>
            </a:extLst>
          </p:cNvPr>
          <p:cNvSpPr>
            <a:spLocks xmlns:a="http://schemas.openxmlformats.org/drawingml/2006/main" noGrp="1"/>
          </p:cNvSpPr>
          <p:nvPr/>
        </p:nvSpPr>
        <p:spPr>
          <a:xfrm xmlns:a="http://schemas.openxmlformats.org/drawingml/2006/main">
            <a:off x="7104888" y="1874520"/>
            <a:ext cx="2377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9AA3B2"/>
                </a:solidFill>
                <a:latin typeface="Malgun Gothic"/>
                <a:ea typeface="Malgun Gothic"/>
                <a:cs typeface="Malgun Gothic"/>
              </a:rPr>
              <a:t>→</a:t>
            </a:r>
          </a:p>
        </p:txBody>
      </p:sp>
      <p:sp>
        <p:nvSpPr>
          <p:cNvPr id="22" name="Shape 20">
            <a:extLst xmlns:a="http://schemas.openxmlformats.org/drawingml/2006/main">
              <a:ext uri="{FF2B5EF4-FFF2-40B4-BE49-F238E27FC236}">
                <a16:creationId xmlns:a16="http://schemas.microsoft.com/office/drawing/2014/main" id="{11CE7D48-3E4E-4D07-9AA5-B2D635AB1B62}"/>
              </a:ext>
            </a:extLst>
          </p:cNvPr>
          <p:cNvSpPr>
            <a:spLocks xmlns:a="http://schemas.openxmlformats.org/drawingml/2006/main" noGrp="1"/>
          </p:cNvSpPr>
          <p:nvPr/>
        </p:nvSpPr>
        <p:spPr>
          <a:xfrm xmlns:a="http://schemas.openxmlformats.org/drawingml/2006/main">
            <a:off x="7324344" y="1508760"/>
            <a:ext cx="2066544" cy="1078992"/>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12700">
            <a:solidFill>
              <a:srgbClr val="D9E0EC"/>
            </a:solidFill>
            <a:prstDash val="solid"/>
          </a:ln>
        </p:spPr>
      </p:sp>
      <p:sp>
        <p:nvSpPr>
          <p:cNvPr id="23" name="Shape 21">
            <a:extLst xmlns:a="http://schemas.openxmlformats.org/drawingml/2006/main">
              <a:ext uri="{FF2B5EF4-FFF2-40B4-BE49-F238E27FC236}">
                <a16:creationId xmlns:a16="http://schemas.microsoft.com/office/drawing/2014/main" id="{6A2CF4EB-498E-41F2-8889-0CB361A915AC}"/>
              </a:ext>
            </a:extLst>
          </p:cNvPr>
          <p:cNvSpPr>
            <a:spLocks xmlns:a="http://schemas.openxmlformats.org/drawingml/2006/main" noGrp="1"/>
          </p:cNvSpPr>
          <p:nvPr/>
        </p:nvSpPr>
        <p:spPr>
          <a:xfrm xmlns:a="http://schemas.openxmlformats.org/drawingml/2006/main">
            <a:off x="7443216" y="1627632"/>
            <a:ext cx="256032" cy="256032"/>
          </a:xfrm>
          <a:prstGeom xmlns:a="http://schemas.openxmlformats.org/drawingml/2006/main" prst="ellipse">
            <a:avLst/>
          </a:prstGeom>
          <a:solidFill xmlns:a="http://schemas.openxmlformats.org/drawingml/2006/main">
            <a:srgbClr val="1A4FD8"/>
          </a:solidFill>
        </p:spPr>
      </p:sp>
      <p:sp>
        <p:nvSpPr>
          <p:cNvPr id="24" name="Text 22">
            <a:extLst xmlns:a="http://schemas.openxmlformats.org/drawingml/2006/main">
              <a:ext uri="{FF2B5EF4-FFF2-40B4-BE49-F238E27FC236}">
                <a16:creationId xmlns:a16="http://schemas.microsoft.com/office/drawing/2014/main" id="{A4E8E214-C972-40B5-B52C-3EABA6662107}"/>
              </a:ext>
            </a:extLst>
          </p:cNvPr>
          <p:cNvSpPr>
            <a:spLocks xmlns:a="http://schemas.openxmlformats.org/drawingml/2006/main" noGrp="1"/>
          </p:cNvSpPr>
          <p:nvPr/>
        </p:nvSpPr>
        <p:spPr>
          <a:xfrm xmlns:a="http://schemas.openxmlformats.org/drawingml/2006/main">
            <a:off x="7443216" y="162763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Malgun Gothic"/>
                <a:ea typeface="Malgun Gothic"/>
                <a:cs typeface="Malgun Gothic"/>
              </a:rPr>
              <a:t>4</a:t>
            </a:r>
          </a:p>
        </p:txBody>
      </p:sp>
      <p:sp>
        <p:nvSpPr>
          <p:cNvPr id="25" name="Text 23">
            <a:extLst xmlns:a="http://schemas.openxmlformats.org/drawingml/2006/main">
              <a:ext uri="{FF2B5EF4-FFF2-40B4-BE49-F238E27FC236}">
                <a16:creationId xmlns:a16="http://schemas.microsoft.com/office/drawing/2014/main" id="{AAAF9BBB-9952-462C-9748-844551B9315B}"/>
              </a:ext>
            </a:extLst>
          </p:cNvPr>
          <p:cNvSpPr>
            <a:spLocks xmlns:a="http://schemas.openxmlformats.org/drawingml/2006/main" noGrp="1"/>
          </p:cNvSpPr>
          <p:nvPr/>
        </p:nvSpPr>
        <p:spPr>
          <a:xfrm xmlns:a="http://schemas.openxmlformats.org/drawingml/2006/main">
            <a:off x="7763256" y="1609344"/>
            <a:ext cx="15361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투자성향 17문항</a:t>
            </a:r>
          </a:p>
        </p:txBody>
      </p:sp>
      <p:sp>
        <p:nvSpPr>
          <p:cNvPr id="26" name="Text 24">
            <a:extLst xmlns:a="http://schemas.openxmlformats.org/drawingml/2006/main">
              <a:ext uri="{FF2B5EF4-FFF2-40B4-BE49-F238E27FC236}">
                <a16:creationId xmlns:a16="http://schemas.microsoft.com/office/drawing/2014/main" id="{AFBC5776-0083-4DEA-9EAA-728FF9AD23AE}"/>
              </a:ext>
            </a:extLst>
          </p:cNvPr>
          <p:cNvSpPr>
            <a:spLocks xmlns:a="http://schemas.openxmlformats.org/drawingml/2006/main" noGrp="1"/>
          </p:cNvSpPr>
          <p:nvPr/>
        </p:nvSpPr>
        <p:spPr>
          <a:xfrm xmlns:a="http://schemas.openxmlformats.org/drawingml/2006/main">
            <a:off x="7452360" y="1956816"/>
            <a:ext cx="18105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70">
                <a:solidFill>
                  <a:srgbClr val="5A6474"/>
                </a:solidFill>
                <a:latin typeface="Malgun Gothic"/>
                <a:ea typeface="Malgun Gothic"/>
                <a:cs typeface="Malgun Gothic"/>
              </a:rPr>
              <a:t>한 문항씩 진행 · 이전/진행률 표시</a:t>
            </a:r>
          </a:p>
        </p:txBody>
      </p:sp>
      <p:sp>
        <p:nvSpPr>
          <p:cNvPr id="27" name="Text 25">
            <a:extLst xmlns:a="http://schemas.openxmlformats.org/drawingml/2006/main">
              <a:ext uri="{FF2B5EF4-FFF2-40B4-BE49-F238E27FC236}">
                <a16:creationId xmlns:a16="http://schemas.microsoft.com/office/drawing/2014/main" id="{AB496C5D-C8BD-4180-B7C0-44AB369FDC19}"/>
              </a:ext>
            </a:extLst>
          </p:cNvPr>
          <p:cNvSpPr>
            <a:spLocks xmlns:a="http://schemas.openxmlformats.org/drawingml/2006/main" noGrp="1"/>
          </p:cNvSpPr>
          <p:nvPr/>
        </p:nvSpPr>
        <p:spPr>
          <a:xfrm xmlns:a="http://schemas.openxmlformats.org/drawingml/2006/main">
            <a:off x="9363456" y="1874520"/>
            <a:ext cx="2377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9AA3B2"/>
                </a:solidFill>
                <a:latin typeface="Malgun Gothic"/>
                <a:ea typeface="Malgun Gothic"/>
                <a:cs typeface="Malgun Gothic"/>
              </a:rPr>
              <a:t>→</a:t>
            </a:r>
          </a:p>
        </p:txBody>
      </p:sp>
      <p:sp>
        <p:nvSpPr>
          <p:cNvPr id="28" name="Shape 26">
            <a:extLst xmlns:a="http://schemas.openxmlformats.org/drawingml/2006/main">
              <a:ext uri="{FF2B5EF4-FFF2-40B4-BE49-F238E27FC236}">
                <a16:creationId xmlns:a16="http://schemas.microsoft.com/office/drawing/2014/main" id="{0E066773-2E31-4ABF-9935-07FD2BE6AFE4}"/>
              </a:ext>
            </a:extLst>
          </p:cNvPr>
          <p:cNvSpPr>
            <a:spLocks xmlns:a="http://schemas.openxmlformats.org/drawingml/2006/main" noGrp="1"/>
          </p:cNvSpPr>
          <p:nvPr/>
        </p:nvSpPr>
        <p:spPr>
          <a:xfrm xmlns:a="http://schemas.openxmlformats.org/drawingml/2006/main">
            <a:off x="9582912" y="1508760"/>
            <a:ext cx="2066544" cy="1078992"/>
          </a:xfrm>
          <a:prstGeom xmlns:a="http://schemas.openxmlformats.org/drawingml/2006/main" prst="roundRect">
            <a:avLst>
              <a:gd name="adj" fmla="val 7627"/>
            </a:avLst>
          </a:prstGeom>
          <a:solidFill xmlns:a="http://schemas.openxmlformats.org/drawingml/2006/main">
            <a:srgbClr val="EEF3FE"/>
          </a:solidFill>
          <a:ln xmlns:a="http://schemas.openxmlformats.org/drawingml/2006/main" w="12700">
            <a:solidFill>
              <a:srgbClr val="D7E2F8"/>
            </a:solidFill>
            <a:prstDash val="solid"/>
          </a:ln>
        </p:spPr>
      </p:sp>
      <p:sp>
        <p:nvSpPr>
          <p:cNvPr id="29" name="Shape 27">
            <a:extLst xmlns:a="http://schemas.openxmlformats.org/drawingml/2006/main">
              <a:ext uri="{FF2B5EF4-FFF2-40B4-BE49-F238E27FC236}">
                <a16:creationId xmlns:a16="http://schemas.microsoft.com/office/drawing/2014/main" id="{EC31ABCC-F1A8-40B0-8C45-CCD9EECB11CF}"/>
              </a:ext>
            </a:extLst>
          </p:cNvPr>
          <p:cNvSpPr>
            <a:spLocks xmlns:a="http://schemas.openxmlformats.org/drawingml/2006/main" noGrp="1"/>
          </p:cNvSpPr>
          <p:nvPr/>
        </p:nvSpPr>
        <p:spPr>
          <a:xfrm xmlns:a="http://schemas.openxmlformats.org/drawingml/2006/main">
            <a:off x="9701784" y="1627632"/>
            <a:ext cx="256032" cy="256032"/>
          </a:xfrm>
          <a:prstGeom xmlns:a="http://schemas.openxmlformats.org/drawingml/2006/main" prst="ellipse">
            <a:avLst/>
          </a:prstGeom>
          <a:solidFill xmlns:a="http://schemas.openxmlformats.org/drawingml/2006/main">
            <a:srgbClr val="1A4FD8"/>
          </a:solidFill>
        </p:spPr>
      </p:sp>
      <p:sp>
        <p:nvSpPr>
          <p:cNvPr id="30" name="Text 28">
            <a:extLst xmlns:a="http://schemas.openxmlformats.org/drawingml/2006/main">
              <a:ext uri="{FF2B5EF4-FFF2-40B4-BE49-F238E27FC236}">
                <a16:creationId xmlns:a16="http://schemas.microsoft.com/office/drawing/2014/main" id="{DB608163-0F70-48CD-8886-8512B71C8F7C}"/>
              </a:ext>
            </a:extLst>
          </p:cNvPr>
          <p:cNvSpPr>
            <a:spLocks xmlns:a="http://schemas.openxmlformats.org/drawingml/2006/main" noGrp="1"/>
          </p:cNvSpPr>
          <p:nvPr/>
        </p:nvSpPr>
        <p:spPr>
          <a:xfrm xmlns:a="http://schemas.openxmlformats.org/drawingml/2006/main">
            <a:off x="9701784" y="162763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Malgun Gothic"/>
                <a:ea typeface="Malgun Gothic"/>
                <a:cs typeface="Malgun Gothic"/>
              </a:rPr>
              <a:t>5</a:t>
            </a:r>
          </a:p>
        </p:txBody>
      </p:sp>
      <p:sp>
        <p:nvSpPr>
          <p:cNvPr id="31" name="Text 29">
            <a:extLst xmlns:a="http://schemas.openxmlformats.org/drawingml/2006/main">
              <a:ext uri="{FF2B5EF4-FFF2-40B4-BE49-F238E27FC236}">
                <a16:creationId xmlns:a16="http://schemas.microsoft.com/office/drawing/2014/main" id="{887C61D5-CF2F-4389-91AE-606FB15E35E5}"/>
              </a:ext>
            </a:extLst>
          </p:cNvPr>
          <p:cNvSpPr>
            <a:spLocks xmlns:a="http://schemas.openxmlformats.org/drawingml/2006/main" noGrp="1"/>
          </p:cNvSpPr>
          <p:nvPr/>
        </p:nvSpPr>
        <p:spPr>
          <a:xfrm xmlns:a="http://schemas.openxmlformats.org/drawingml/2006/main">
            <a:off x="10021824" y="1609344"/>
            <a:ext cx="15361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8202E"/>
                </a:solidFill>
                <a:latin typeface="Malgun Gothic"/>
                <a:ea typeface="Malgun Gothic"/>
                <a:cs typeface="Malgun Gothic"/>
              </a:rPr>
              <a:t>홈 · 핵심 기능</a:t>
            </a:r>
          </a:p>
        </p:txBody>
      </p:sp>
      <p:sp>
        <p:nvSpPr>
          <p:cNvPr id="32" name="Text 30">
            <a:extLst xmlns:a="http://schemas.openxmlformats.org/drawingml/2006/main">
              <a:ext uri="{FF2B5EF4-FFF2-40B4-BE49-F238E27FC236}">
                <a16:creationId xmlns:a16="http://schemas.microsoft.com/office/drawing/2014/main" id="{2CD52F99-A6D2-41A2-B94D-1F4D218D042E}"/>
              </a:ext>
            </a:extLst>
          </p:cNvPr>
          <p:cNvSpPr>
            <a:spLocks xmlns:a="http://schemas.openxmlformats.org/drawingml/2006/main" noGrp="1"/>
          </p:cNvSpPr>
          <p:nvPr/>
        </p:nvSpPr>
        <p:spPr>
          <a:xfrm xmlns:a="http://schemas.openxmlformats.org/drawingml/2006/main">
            <a:off x="9710928" y="1956816"/>
            <a:ext cx="18105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70">
                <a:solidFill>
                  <a:srgbClr val="5A6474"/>
                </a:solidFill>
                <a:latin typeface="Malgun Gothic"/>
                <a:ea typeface="Malgun Gothic"/>
                <a:cs typeface="Malgun Gothic"/>
              </a:rPr>
              <a:t>자산 상세 · 챗봇 · 계산기 · Pick</a:t>
            </a:r>
          </a:p>
        </p:txBody>
      </p:sp>
      <p:sp>
        <p:nvSpPr>
          <p:cNvPr id="33" name="Text 31">
            <a:extLst xmlns:a="http://schemas.openxmlformats.org/drawingml/2006/main">
              <a:ext uri="{FF2B5EF4-FFF2-40B4-BE49-F238E27FC236}">
                <a16:creationId xmlns:a16="http://schemas.microsoft.com/office/drawing/2014/main" id="{E0B943DE-693E-4ACE-B36B-26879A56FA1A}"/>
              </a:ext>
            </a:extLst>
          </p:cNvPr>
          <p:cNvSpPr>
            <a:spLocks xmlns:a="http://schemas.openxmlformats.org/drawingml/2006/main" noGrp="1"/>
          </p:cNvSpPr>
          <p:nvPr/>
        </p:nvSpPr>
        <p:spPr>
          <a:xfrm xmlns:a="http://schemas.openxmlformats.org/drawingml/2006/main">
            <a:off x="548640" y="288036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화면에서 확인할 핵심</a:t>
            </a:r>
          </a:p>
        </p:txBody>
      </p:sp>
      <p:sp>
        <p:nvSpPr>
          <p:cNvPr id="34" name="Text 32">
            <a:extLst xmlns:a="http://schemas.openxmlformats.org/drawingml/2006/main">
              <a:ext uri="{FF2B5EF4-FFF2-40B4-BE49-F238E27FC236}">
                <a16:creationId xmlns:a16="http://schemas.microsoft.com/office/drawing/2014/main" id="{64245DB2-5FA9-4B81-8D62-A8FB059C8295}"/>
              </a:ext>
            </a:extLst>
          </p:cNvPr>
          <p:cNvSpPr>
            <a:spLocks xmlns:a="http://schemas.openxmlformats.org/drawingml/2006/main" noGrp="1"/>
          </p:cNvSpPr>
          <p:nvPr/>
        </p:nvSpPr>
        <p:spPr>
          <a:xfrm xmlns:a="http://schemas.openxmlformats.org/drawingml/2006/main">
            <a:off x="548640" y="3200400"/>
            <a:ext cx="5577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spcAft>
                <a:spcPts val="700"/>
              </a:spcAft>
              <a:buSzPct val="100000"/>
              <a:buChar char="•"/>
            </a:pPr>
            <a:r>
              <a:rPr sz="1100">
                <a:solidFill>
                  <a:srgbClr val="18202E"/>
                </a:solidFill>
                <a:latin typeface="Malgun Gothic"/>
                <a:ea typeface="Malgun Gothic"/>
                <a:cs typeface="Malgun Gothic"/>
              </a:rPr>
              <a:t>첫 이용 가이드: 로그인 직후 핵심 기능과 흐름을 5단계로 안내</a:t>
            </a:r>
          </a:p>
          <a:p xmlns:a="http://schemas.openxmlformats.org/drawingml/2006/main">
            <a:pPr marL="127000" indent="-127000">
              <a:spcAft>
                <a:spcPts val="700"/>
              </a:spcAft>
              <a:buSzPct val="100000"/>
              <a:buChar char="•"/>
            </a:pPr>
            <a:r>
              <a:rPr sz="1100">
                <a:solidFill>
                  <a:srgbClr val="18202E"/>
                </a:solidFill>
                <a:latin typeface="Malgun Gothic"/>
                <a:ea typeface="Malgun Gothic"/>
                <a:cs typeface="Malgun Gothic"/>
              </a:rPr>
              <a:t>투자성향: 17문항을 한 화면에 하나씩 진행하고 진행률·이전을 제공</a:t>
            </a:r>
          </a:p>
          <a:p xmlns:a="http://schemas.openxmlformats.org/drawingml/2006/main">
            <a:pPr marL="127000" indent="-127000">
              <a:spcAft>
                <a:spcPts val="700"/>
              </a:spcAft>
              <a:buSzPct val="100000"/>
              <a:buChar char="•"/>
            </a:pPr>
            <a:r>
              <a:rPr sz="1100">
                <a:solidFill>
                  <a:srgbClr val="18202E"/>
                </a:solidFill>
                <a:latin typeface="Malgun Gothic"/>
                <a:ea typeface="Malgun Gothic"/>
                <a:cs typeface="Malgun Gothic"/>
              </a:rPr>
              <a:t>홈: 한 줄 요약과 자산군 선택으로 세부 ETF를 확인</a:t>
            </a:r>
          </a:p>
          <a:p xmlns:a="http://schemas.openxmlformats.org/drawingml/2006/main">
            <a:pPr marL="127000" indent="-127000">
              <a:spcAft>
                <a:spcPts val="700"/>
              </a:spcAft>
              <a:buSzPct val="100000"/>
              <a:buChar char="•"/>
            </a:pPr>
            <a:r>
              <a:rPr sz="1100">
                <a:solidFill>
                  <a:srgbClr val="18202E"/>
                </a:solidFill>
                <a:latin typeface="Malgun Gothic"/>
                <a:ea typeface="Malgun Gothic"/>
                <a:cs typeface="Malgun Gothic"/>
              </a:rPr>
              <a:t>챗봇·계산기: 근거 답변과 동일 가정의 적립·수령 시나리오 비교</a:t>
            </a:r>
          </a:p>
          <a:p xmlns:a="http://schemas.openxmlformats.org/drawingml/2006/main">
            <a:pPr marL="127000" indent="-127000">
              <a:spcAft>
                <a:spcPts val="700"/>
              </a:spcAft>
              <a:buSzPct val="100000"/>
              <a:buChar char="•"/>
            </a:pPr>
            <a:r>
              <a:rPr sz="1100">
                <a:solidFill>
                  <a:srgbClr val="18202E"/>
                </a:solidFill>
                <a:latin typeface="Malgun Gothic"/>
                <a:ea typeface="Malgun Gothic"/>
                <a:cs typeface="Malgun Gothic"/>
              </a:rPr>
              <a:t>이용자 Pick: 대표 고객의 구성·선택 이유를 참고</a:t>
            </a:r>
          </a:p>
        </p:txBody>
      </p:sp>
      <p:sp>
        <p:nvSpPr>
          <p:cNvPr id="35" name="Shape 33">
            <a:extLst xmlns:a="http://schemas.openxmlformats.org/drawingml/2006/main">
              <a:ext uri="{FF2B5EF4-FFF2-40B4-BE49-F238E27FC236}">
                <a16:creationId xmlns:a16="http://schemas.microsoft.com/office/drawing/2014/main" id="{9C329442-2622-4734-B62F-8C71B00B89C7}"/>
              </a:ext>
            </a:extLst>
          </p:cNvPr>
          <p:cNvSpPr>
            <a:spLocks xmlns:a="http://schemas.openxmlformats.org/drawingml/2006/main" noGrp="1"/>
          </p:cNvSpPr>
          <p:nvPr/>
        </p:nvSpPr>
        <p:spPr>
          <a:xfrm xmlns:a="http://schemas.openxmlformats.org/drawingml/2006/main">
            <a:off x="6400800" y="2880360"/>
            <a:ext cx="4983480" cy="2880360"/>
          </a:xfrm>
          <a:prstGeom xmlns:a="http://schemas.openxmlformats.org/drawingml/2006/main" prst="roundRect">
            <a:avLst>
              <a:gd name="adj" fmla="val 3175"/>
            </a:avLst>
          </a:prstGeom>
          <a:solidFill xmlns:a="http://schemas.openxmlformats.org/drawingml/2006/main">
            <a:srgbClr val="F7F9FE"/>
          </a:solidFill>
          <a:ln xmlns:a="http://schemas.openxmlformats.org/drawingml/2006/main" w="15875">
            <a:solidFill>
              <a:srgbClr val="9AA3B2"/>
            </a:solidFill>
            <a:prstDash val="dash"/>
          </a:ln>
        </p:spPr>
      </p:sp>
      <p:sp>
        <p:nvSpPr>
          <p:cNvPr id="38" name="Text 36">
            <a:extLst xmlns:a="http://schemas.openxmlformats.org/drawingml/2006/main">
              <a:ext uri="{FF2B5EF4-FFF2-40B4-BE49-F238E27FC236}">
                <a16:creationId xmlns:a16="http://schemas.microsoft.com/office/drawing/2014/main" id="{C73B1E20-FE52-4DA3-9B1D-020AA986FE8C}"/>
              </a:ext>
            </a:extLst>
          </p:cNvPr>
          <p:cNvSpPr>
            <a:spLocks xmlns:a="http://schemas.openxmlformats.org/drawingml/2006/main" noGrp="1"/>
          </p:cNvSpPr>
          <p:nvPr/>
        </p:nvSpPr>
        <p:spPr>
          <a:xfrm xmlns:a="http://schemas.openxmlformats.org/drawingml/2006/main">
            <a:off x="6667500" y="3162300"/>
            <a:ext cx="2686050" cy="1504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30">
                <a:solidFill>
                  <a:srgbClr val="5A6474"/>
                </a:solidFill>
                <a:latin typeface="Malgun Gothic"/>
                <a:ea typeface="Malgun Gothic"/>
                <a:cs typeface="Malgun Gothic"/>
              </a:rPr>
              <a:t>시연에서 확인할 것</a:t>
            </a:r>
          </a:p>
          <a:p xmlns:a="http://schemas.openxmlformats.org/drawingml/2006/main">
            <a:pPr marL="0" indent="0" algn="ctr">
              <a:buNone/>
            </a:pPr>
            <a:r>
              <a:rPr sz="930">
                <a:solidFill>
                  <a:srgbClr val="5A6474"/>
                </a:solidFill>
                <a:latin typeface="Malgun Gothic"/>
                <a:ea typeface="Malgun Gothic"/>
                <a:cs typeface="Malgun Gothic"/>
              </a:rPr>
              <a:t>가이드 → 17문항 성향 진단 → 홈 진입</a:t>
            </a:r>
          </a:p>
          <a:p xmlns:a="http://schemas.openxmlformats.org/drawingml/2006/main">
            <a:pPr marL="0" indent="0" algn="ctr">
              <a:buNone/>
            </a:pPr>
            <a:r>
              <a:rPr sz="930">
                <a:solidFill>
                  <a:srgbClr val="5A6474"/>
                </a:solidFill>
                <a:latin typeface="Malgun Gothic"/>
                <a:ea typeface="Malgun Gothic"/>
                <a:cs typeface="Malgun Gothic"/>
              </a:rPr>
              <a:t>한 줄 요약 → 자산 구성 → 챗봇 점검 → 계산기</a:t>
            </a:r>
          </a:p>
          <a:p xmlns:a="http://schemas.openxmlformats.org/drawingml/2006/main">
            <a:pPr marL="0" indent="0" algn="ctr">
              <a:buNone/>
            </a:pPr>
            <a:r>
              <a:rPr sz="930">
                <a:solidFill>
                  <a:srgbClr val="5A6474"/>
                </a:solidFill>
                <a:latin typeface="Malgun Gothic"/>
                <a:ea typeface="Malgun Gothic"/>
                <a:cs typeface="Malgun Gothic"/>
              </a:rPr>
              <a:t>숫자에는 출처·기준일, 과거 실적에는 한계 표시</a:t>
            </a:r>
          </a:p>
        </p:txBody>
      </p:sp>
      <p:sp>
        <p:nvSpPr>
          <p:cNvPr id="39" name="Text 37">
            <a:extLst xmlns:a="http://schemas.openxmlformats.org/drawingml/2006/main">
              <a:ext uri="{FF2B5EF4-FFF2-40B4-BE49-F238E27FC236}">
                <a16:creationId xmlns:a16="http://schemas.microsoft.com/office/drawing/2014/main" id="{FCD954AA-2526-463A-A56B-910B7D4471C8}"/>
              </a:ext>
            </a:extLst>
          </p:cNvPr>
          <p:cNvSpPr>
            <a:spLocks xmlns:a="http://schemas.openxmlformats.org/drawingml/2006/main" noGrp="1"/>
          </p:cNvSpPr>
          <p:nvPr/>
        </p:nvSpPr>
        <p:spPr>
          <a:xfrm xmlns:a="http://schemas.openxmlformats.org/drawingml/2006/main">
            <a:off x="548640" y="5943600"/>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모든 화면은 표시 전용 목데이터 — 실제 금융사 연결 · 주문 · 자동매매는 발생하지 않음</a:t>
            </a:r>
          </a:p>
        </p:txBody>
      </p:sp>
      <p:sp>
        <p:nvSpPr>
          <p:cNvPr id="40" name="Text 38">
            <a:extLst xmlns:a="http://schemas.openxmlformats.org/drawingml/2006/main">
              <a:ext uri="{FF2B5EF4-FFF2-40B4-BE49-F238E27FC236}">
                <a16:creationId xmlns:a16="http://schemas.microsoft.com/office/drawing/2014/main" id="{E4B45213-C951-4100-8416-97BBEFC78CD1}"/>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16</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876f70da1f0744ab"/>
          <a:srcRect xmlns:a="http://schemas.openxmlformats.org/drawingml/2006/main" l="1903" t="0" r="1903" b="0"/>
          <a:stretch xmlns:a="http://schemas.openxmlformats.org/drawingml/2006/main">
            <a:fillRect l="0" t="0" r="0" b="0"/>
          </a:stretch>
        </p:blipFill>
        <p:spPr>
          <a:xfrm xmlns:a="http://schemas.openxmlformats.org/drawingml/2006/main">
            <a:off x="9791700" y="3009900"/>
            <a:ext cx="1171575" cy="2609850"/>
          </a:xfrm>
          <a:prstGeom xmlns:a="http://schemas.openxmlformats.org/drawingml/2006/main" prst="roundRect">
            <a:avLst>
              <a:gd name="adj" fmla="val 9756"/>
            </a:avLst>
          </a:prstGeom>
        </p:spPr>
      </p:pic>
    </p:spTree>
    <p:extLst>
      <p:ext uri="{BB962C8B-B14F-4D97-AF65-F5344CB8AC3E}">
        <p14:creationId xmlns:p14="http://schemas.microsoft.com/office/powerpoint/2010/main" val="74501690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939798-B9A5-4459-BCC4-208D41A7D731}"/>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 16 · 비즈니스 가치 — WHY US</a:t>
            </a:r>
          </a:p>
        </p:txBody>
      </p:sp>
      <p:sp>
        <p:nvSpPr>
          <p:cNvPr id="3" name="Text 1">
            <a:extLst xmlns:a="http://schemas.openxmlformats.org/drawingml/2006/main">
              <a:ext uri="{FF2B5EF4-FFF2-40B4-BE49-F238E27FC236}">
                <a16:creationId xmlns:a16="http://schemas.microsoft.com/office/drawing/2014/main" id="{0468CE50-3B68-432F-A913-0FF2596007C8}"/>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투자를 잘 몰라도 ‘무엇이 문제인지, 왜 그런지, 다음에 무엇을 볼지’가 보인다</a:t>
            </a:r>
          </a:p>
        </p:txBody>
      </p:sp>
      <p:sp>
        <p:nvSpPr>
          <p:cNvPr id="4" name="Shape 2">
            <a:extLst xmlns:a="http://schemas.openxmlformats.org/drawingml/2006/main">
              <a:ext uri="{FF2B5EF4-FFF2-40B4-BE49-F238E27FC236}">
                <a16:creationId xmlns:a16="http://schemas.microsoft.com/office/drawing/2014/main" id="{7368A488-C65D-429B-9583-4F9A99B0F30A}"/>
              </a:ext>
            </a:extLst>
          </p:cNvPr>
          <p:cNvSpPr>
            <a:spLocks xmlns:a="http://schemas.openxmlformats.org/drawingml/2006/main" noGrp="1"/>
          </p:cNvSpPr>
          <p:nvPr/>
        </p:nvSpPr>
        <p:spPr>
          <a:xfrm xmlns:a="http://schemas.openxmlformats.org/drawingml/2006/main">
            <a:off x="548640" y="1508760"/>
            <a:ext cx="5404104" cy="1737360"/>
          </a:xfrm>
          <a:prstGeom xmlns:a="http://schemas.openxmlformats.org/drawingml/2006/main" prst="roundRect">
            <a:avLst>
              <a:gd name="adj" fmla="val 4737"/>
            </a:avLst>
          </a:prstGeom>
          <a:solidFill xmlns:a="http://schemas.openxmlformats.org/drawingml/2006/main">
            <a:srgbClr val="FFFFFF"/>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3F774CDD-66B5-4FBA-9108-78056A1B5B80}"/>
              </a:ext>
            </a:extLst>
          </p:cNvPr>
          <p:cNvSpPr>
            <a:spLocks xmlns:a="http://schemas.openxmlformats.org/drawingml/2006/main" noGrp="1"/>
          </p:cNvSpPr>
          <p:nvPr/>
        </p:nvSpPr>
        <p:spPr>
          <a:xfrm xmlns:a="http://schemas.openxmlformats.org/drawingml/2006/main">
            <a:off x="749808" y="1673352"/>
            <a:ext cx="38496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8202E"/>
                </a:solidFill>
                <a:latin typeface="Malgun Gothic"/>
                <a:ea typeface="Malgun Gothic"/>
                <a:cs typeface="Malgun Gothic"/>
              </a:rPr>
              <a:t>한눈에 시작</a:t>
            </a:r>
          </a:p>
        </p:txBody>
      </p:sp>
      <p:sp>
        <p:nvSpPr>
          <p:cNvPr id="6" name="Text 4">
            <a:extLst xmlns:a="http://schemas.openxmlformats.org/drawingml/2006/main">
              <a:ext uri="{FF2B5EF4-FFF2-40B4-BE49-F238E27FC236}">
                <a16:creationId xmlns:a16="http://schemas.microsoft.com/office/drawing/2014/main" id="{77952E81-E9DF-4ABD-A067-E6AF4449CA64}"/>
              </a:ext>
            </a:extLst>
          </p:cNvPr>
          <p:cNvSpPr>
            <a:spLocks xmlns:a="http://schemas.openxmlformats.org/drawingml/2006/main" noGrp="1"/>
          </p:cNvSpPr>
          <p:nvPr/>
        </p:nvSpPr>
        <p:spPr>
          <a:xfrm xmlns:a="http://schemas.openxmlformats.org/drawingml/2006/main">
            <a:off x="4654296" y="1691640"/>
            <a:ext cx="1115568" cy="274320"/>
          </a:xfrm>
          <a:prstGeom xmlns:a="http://schemas.openxmlformats.org/drawingml/2006/main" prst="roundRect">
            <a:avLst>
              <a:gd name="adj" fmla="val 46667"/>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진단</a:t>
            </a:r>
          </a:p>
        </p:txBody>
      </p:sp>
      <p:sp>
        <p:nvSpPr>
          <p:cNvPr id="7" name="Text 5">
            <a:extLst xmlns:a="http://schemas.openxmlformats.org/drawingml/2006/main">
              <a:ext uri="{FF2B5EF4-FFF2-40B4-BE49-F238E27FC236}">
                <a16:creationId xmlns:a16="http://schemas.microsoft.com/office/drawing/2014/main" id="{0F3F7708-837B-4B83-BEE2-5DBDC7F21343}"/>
              </a:ext>
            </a:extLst>
          </p:cNvPr>
          <p:cNvSpPr>
            <a:spLocks xmlns:a="http://schemas.openxmlformats.org/drawingml/2006/main" noGrp="1"/>
          </p:cNvSpPr>
          <p:nvPr/>
        </p:nvSpPr>
        <p:spPr>
          <a:xfrm xmlns:a="http://schemas.openxmlformats.org/drawingml/2006/main">
            <a:off x="749808" y="2075688"/>
            <a:ext cx="500176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0">
                <a:solidFill>
                  <a:srgbClr val="5A6474"/>
                </a:solidFill>
                <a:latin typeface="Malgun Gothic"/>
                <a:ea typeface="Malgun Gothic"/>
                <a:cs typeface="Malgun Gothic"/>
              </a:rPr>
              <a:t>내 포트폴리오를 한 문장으로 먼저 파악</a:t>
            </a:r>
          </a:p>
        </p:txBody>
      </p:sp>
      <p:sp>
        <p:nvSpPr>
          <p:cNvPr id="8" name="Shape 6">
            <a:extLst xmlns:a="http://schemas.openxmlformats.org/drawingml/2006/main">
              <a:ext uri="{FF2B5EF4-FFF2-40B4-BE49-F238E27FC236}">
                <a16:creationId xmlns:a16="http://schemas.microsoft.com/office/drawing/2014/main" id="{A24C9782-68ED-4DA1-9B1A-14396B9D1C22}"/>
              </a:ext>
            </a:extLst>
          </p:cNvPr>
          <p:cNvSpPr>
            <a:spLocks xmlns:a="http://schemas.openxmlformats.org/drawingml/2006/main" noGrp="1"/>
          </p:cNvSpPr>
          <p:nvPr/>
        </p:nvSpPr>
        <p:spPr>
          <a:xfrm xmlns:a="http://schemas.openxmlformats.org/drawingml/2006/main">
            <a:off x="6236208" y="1508760"/>
            <a:ext cx="5404104" cy="1737360"/>
          </a:xfrm>
          <a:prstGeom xmlns:a="http://schemas.openxmlformats.org/drawingml/2006/main" prst="roundRect">
            <a:avLst>
              <a:gd name="adj" fmla="val 4737"/>
            </a:avLst>
          </a:prstGeom>
          <a:solidFill xmlns:a="http://schemas.openxmlformats.org/drawingml/2006/main">
            <a:srgbClr val="FFFFFF"/>
          </a:solidFill>
          <a:ln xmlns:a="http://schemas.openxmlformats.org/drawingml/2006/main" w="12700">
            <a:solidFill>
              <a:srgbClr val="D9E0EC"/>
            </a:solidFill>
            <a:prstDash val="solid"/>
          </a:ln>
        </p:spPr>
      </p:sp>
      <p:sp>
        <p:nvSpPr>
          <p:cNvPr id="9" name="Text 7">
            <a:extLst xmlns:a="http://schemas.openxmlformats.org/drawingml/2006/main">
              <a:ext uri="{FF2B5EF4-FFF2-40B4-BE49-F238E27FC236}">
                <a16:creationId xmlns:a16="http://schemas.microsoft.com/office/drawing/2014/main" id="{78886D25-8948-4B57-9EC1-0DE886018C56}"/>
              </a:ext>
            </a:extLst>
          </p:cNvPr>
          <p:cNvSpPr>
            <a:spLocks xmlns:a="http://schemas.openxmlformats.org/drawingml/2006/main" noGrp="1"/>
          </p:cNvSpPr>
          <p:nvPr/>
        </p:nvSpPr>
        <p:spPr>
          <a:xfrm xmlns:a="http://schemas.openxmlformats.org/drawingml/2006/main">
            <a:off x="6437376" y="1673352"/>
            <a:ext cx="38496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8202E"/>
                </a:solidFill>
                <a:latin typeface="Malgun Gothic"/>
                <a:ea typeface="Malgun Gothic"/>
                <a:cs typeface="Malgun Gothic"/>
              </a:rPr>
              <a:t>왜 그런지 확인</a:t>
            </a:r>
          </a:p>
        </p:txBody>
      </p:sp>
      <p:sp>
        <p:nvSpPr>
          <p:cNvPr id="10" name="Text 8">
            <a:extLst xmlns:a="http://schemas.openxmlformats.org/drawingml/2006/main">
              <a:ext uri="{FF2B5EF4-FFF2-40B4-BE49-F238E27FC236}">
                <a16:creationId xmlns:a16="http://schemas.microsoft.com/office/drawing/2014/main" id="{BBA7ADA7-31A9-4CB9-9615-3BB4A81125DB}"/>
              </a:ext>
            </a:extLst>
          </p:cNvPr>
          <p:cNvSpPr>
            <a:spLocks xmlns:a="http://schemas.openxmlformats.org/drawingml/2006/main" noGrp="1"/>
          </p:cNvSpPr>
          <p:nvPr/>
        </p:nvSpPr>
        <p:spPr>
          <a:xfrm xmlns:a="http://schemas.openxmlformats.org/drawingml/2006/main">
            <a:off x="10341864" y="1691640"/>
            <a:ext cx="1115568" cy="274320"/>
          </a:xfrm>
          <a:prstGeom xmlns:a="http://schemas.openxmlformats.org/drawingml/2006/main" prst="roundRect">
            <a:avLst>
              <a:gd name="adj" fmla="val 46667"/>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근거</a:t>
            </a:r>
          </a:p>
        </p:txBody>
      </p:sp>
      <p:sp>
        <p:nvSpPr>
          <p:cNvPr id="11" name="Text 9">
            <a:extLst xmlns:a="http://schemas.openxmlformats.org/drawingml/2006/main">
              <a:ext uri="{FF2B5EF4-FFF2-40B4-BE49-F238E27FC236}">
                <a16:creationId xmlns:a16="http://schemas.microsoft.com/office/drawing/2014/main" id="{160D32D8-EC97-47A1-9590-3720619165F6}"/>
              </a:ext>
            </a:extLst>
          </p:cNvPr>
          <p:cNvSpPr>
            <a:spLocks xmlns:a="http://schemas.openxmlformats.org/drawingml/2006/main" noGrp="1"/>
          </p:cNvSpPr>
          <p:nvPr/>
        </p:nvSpPr>
        <p:spPr>
          <a:xfrm xmlns:a="http://schemas.openxmlformats.org/drawingml/2006/main">
            <a:off x="6437376" y="2075688"/>
            <a:ext cx="500176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0">
                <a:solidFill>
                  <a:srgbClr val="5A6474"/>
                </a:solidFill>
                <a:latin typeface="Malgun Gothic"/>
                <a:ea typeface="Malgun Gothic"/>
                <a:cs typeface="Malgun Gothic"/>
              </a:rPr>
              <a:t>수치·출처·기준일과 위험을 함께 표시</a:t>
            </a:r>
          </a:p>
        </p:txBody>
      </p:sp>
      <p:sp>
        <p:nvSpPr>
          <p:cNvPr id="12" name="Shape 10">
            <a:extLst xmlns:a="http://schemas.openxmlformats.org/drawingml/2006/main">
              <a:ext uri="{FF2B5EF4-FFF2-40B4-BE49-F238E27FC236}">
                <a16:creationId xmlns:a16="http://schemas.microsoft.com/office/drawing/2014/main" id="{E9A43445-DF78-45E8-AE60-DFA0AEB922AD}"/>
              </a:ext>
            </a:extLst>
          </p:cNvPr>
          <p:cNvSpPr>
            <a:spLocks xmlns:a="http://schemas.openxmlformats.org/drawingml/2006/main" noGrp="1"/>
          </p:cNvSpPr>
          <p:nvPr/>
        </p:nvSpPr>
        <p:spPr>
          <a:xfrm xmlns:a="http://schemas.openxmlformats.org/drawingml/2006/main">
            <a:off x="548640" y="3429000"/>
            <a:ext cx="5404104" cy="1737360"/>
          </a:xfrm>
          <a:prstGeom xmlns:a="http://schemas.openxmlformats.org/drawingml/2006/main" prst="roundRect">
            <a:avLst>
              <a:gd name="adj" fmla="val 4737"/>
            </a:avLst>
          </a:prstGeom>
          <a:solidFill xmlns:a="http://schemas.openxmlformats.org/drawingml/2006/main">
            <a:srgbClr val="FFFFFF"/>
          </a:solidFill>
          <a:ln xmlns:a="http://schemas.openxmlformats.org/drawingml/2006/main" w="12700">
            <a:solidFill>
              <a:srgbClr val="D9E0EC"/>
            </a:solidFill>
            <a:prstDash val="solid"/>
          </a:ln>
        </p:spPr>
      </p:sp>
      <p:sp>
        <p:nvSpPr>
          <p:cNvPr id="13" name="Text 11">
            <a:extLst xmlns:a="http://schemas.openxmlformats.org/drawingml/2006/main">
              <a:ext uri="{FF2B5EF4-FFF2-40B4-BE49-F238E27FC236}">
                <a16:creationId xmlns:a16="http://schemas.microsoft.com/office/drawing/2014/main" id="{70C1B43C-C8E0-4E32-AB61-2414D6071A34}"/>
              </a:ext>
            </a:extLst>
          </p:cNvPr>
          <p:cNvSpPr>
            <a:spLocks xmlns:a="http://schemas.openxmlformats.org/drawingml/2006/main" noGrp="1"/>
          </p:cNvSpPr>
          <p:nvPr/>
        </p:nvSpPr>
        <p:spPr>
          <a:xfrm xmlns:a="http://schemas.openxmlformats.org/drawingml/2006/main">
            <a:off x="749808" y="3593592"/>
            <a:ext cx="38496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8202E"/>
                </a:solidFill>
                <a:latin typeface="Malgun Gothic"/>
                <a:ea typeface="Malgun Gothic"/>
                <a:cs typeface="Malgun Gothic"/>
              </a:rPr>
              <a:t>내가 선택</a:t>
            </a:r>
          </a:p>
        </p:txBody>
      </p:sp>
      <p:sp>
        <p:nvSpPr>
          <p:cNvPr id="14" name="Text 12">
            <a:extLst xmlns:a="http://schemas.openxmlformats.org/drawingml/2006/main">
              <a:ext uri="{FF2B5EF4-FFF2-40B4-BE49-F238E27FC236}">
                <a16:creationId xmlns:a16="http://schemas.microsoft.com/office/drawing/2014/main" id="{6BB337E8-9F6E-4348-8ABA-268F5B10C92D}"/>
              </a:ext>
            </a:extLst>
          </p:cNvPr>
          <p:cNvSpPr>
            <a:spLocks xmlns:a="http://schemas.openxmlformats.org/drawingml/2006/main" noGrp="1"/>
          </p:cNvSpPr>
          <p:nvPr/>
        </p:nvSpPr>
        <p:spPr>
          <a:xfrm xmlns:a="http://schemas.openxmlformats.org/drawingml/2006/main">
            <a:off x="4654296" y="3611880"/>
            <a:ext cx="1115568" cy="274320"/>
          </a:xfrm>
          <a:prstGeom xmlns:a="http://schemas.openxmlformats.org/drawingml/2006/main" prst="roundRect">
            <a:avLst>
              <a:gd name="adj" fmla="val 46667"/>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통제</a:t>
            </a:r>
          </a:p>
        </p:txBody>
      </p:sp>
      <p:sp>
        <p:nvSpPr>
          <p:cNvPr id="15" name="Text 13">
            <a:extLst xmlns:a="http://schemas.openxmlformats.org/drawingml/2006/main">
              <a:ext uri="{FF2B5EF4-FFF2-40B4-BE49-F238E27FC236}">
                <a16:creationId xmlns:a16="http://schemas.microsoft.com/office/drawing/2014/main" id="{C63E365A-FF32-4CC5-A195-EAF735D7A235}"/>
              </a:ext>
            </a:extLst>
          </p:cNvPr>
          <p:cNvSpPr>
            <a:spLocks xmlns:a="http://schemas.openxmlformats.org/drawingml/2006/main" noGrp="1"/>
          </p:cNvSpPr>
          <p:nvPr/>
        </p:nvSpPr>
        <p:spPr>
          <a:xfrm xmlns:a="http://schemas.openxmlformats.org/drawingml/2006/main">
            <a:off x="749808" y="3995928"/>
            <a:ext cx="500176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0">
                <a:solidFill>
                  <a:srgbClr val="5A6474"/>
                </a:solidFill>
                <a:latin typeface="Malgun Gothic"/>
                <a:ea typeface="Malgun Gothic"/>
                <a:cs typeface="Malgun Gothic"/>
              </a:rPr>
              <a:t>자동매매 없이 비교한 뒤 사용자가 결정</a:t>
            </a:r>
          </a:p>
        </p:txBody>
      </p:sp>
      <p:sp>
        <p:nvSpPr>
          <p:cNvPr id="16" name="Shape 14">
            <a:extLst xmlns:a="http://schemas.openxmlformats.org/drawingml/2006/main">
              <a:ext uri="{FF2B5EF4-FFF2-40B4-BE49-F238E27FC236}">
                <a16:creationId xmlns:a16="http://schemas.microsoft.com/office/drawing/2014/main" id="{83004195-3B43-4E29-94C2-B5E46191B6C0}"/>
              </a:ext>
            </a:extLst>
          </p:cNvPr>
          <p:cNvSpPr>
            <a:spLocks xmlns:a="http://schemas.openxmlformats.org/drawingml/2006/main" noGrp="1"/>
          </p:cNvSpPr>
          <p:nvPr/>
        </p:nvSpPr>
        <p:spPr>
          <a:xfrm xmlns:a="http://schemas.openxmlformats.org/drawingml/2006/main">
            <a:off x="6236208" y="3429000"/>
            <a:ext cx="5404104" cy="1737360"/>
          </a:xfrm>
          <a:prstGeom xmlns:a="http://schemas.openxmlformats.org/drawingml/2006/main" prst="roundRect">
            <a:avLst>
              <a:gd name="adj" fmla="val 4737"/>
            </a:avLst>
          </a:prstGeom>
          <a:solidFill xmlns:a="http://schemas.openxmlformats.org/drawingml/2006/main">
            <a:srgbClr val="FFFFFF"/>
          </a:solidFill>
          <a:ln xmlns:a="http://schemas.openxmlformats.org/drawingml/2006/main" w="12700">
            <a:solidFill>
              <a:srgbClr val="D9E0EC"/>
            </a:solidFill>
            <a:prstDash val="solid"/>
          </a:ln>
        </p:spPr>
      </p:sp>
      <p:sp>
        <p:nvSpPr>
          <p:cNvPr id="17" name="Text 15">
            <a:extLst xmlns:a="http://schemas.openxmlformats.org/drawingml/2006/main">
              <a:ext uri="{FF2B5EF4-FFF2-40B4-BE49-F238E27FC236}">
                <a16:creationId xmlns:a16="http://schemas.microsoft.com/office/drawing/2014/main" id="{51CB5DAA-41B3-4C29-8DD6-D828D0D3410E}"/>
              </a:ext>
            </a:extLst>
          </p:cNvPr>
          <p:cNvSpPr>
            <a:spLocks xmlns:a="http://schemas.openxmlformats.org/drawingml/2006/main" noGrp="1"/>
          </p:cNvSpPr>
          <p:nvPr/>
        </p:nvSpPr>
        <p:spPr>
          <a:xfrm xmlns:a="http://schemas.openxmlformats.org/drawingml/2006/main">
            <a:off x="6437376" y="3593592"/>
            <a:ext cx="38496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8202E"/>
                </a:solidFill>
                <a:latin typeface="Malgun Gothic"/>
                <a:ea typeface="Malgun Gothic"/>
                <a:cs typeface="Malgun Gothic"/>
              </a:rPr>
              <a:t>빠르게 응답</a:t>
            </a:r>
          </a:p>
        </p:txBody>
      </p:sp>
      <p:sp>
        <p:nvSpPr>
          <p:cNvPr id="18" name="Text 16">
            <a:extLst xmlns:a="http://schemas.openxmlformats.org/drawingml/2006/main">
              <a:ext uri="{FF2B5EF4-FFF2-40B4-BE49-F238E27FC236}">
                <a16:creationId xmlns:a16="http://schemas.microsoft.com/office/drawing/2014/main" id="{3C09FAD7-FC57-4D05-918E-6876F2D59FB7}"/>
              </a:ext>
            </a:extLst>
          </p:cNvPr>
          <p:cNvSpPr>
            <a:spLocks xmlns:a="http://schemas.openxmlformats.org/drawingml/2006/main" noGrp="1"/>
          </p:cNvSpPr>
          <p:nvPr/>
        </p:nvSpPr>
        <p:spPr>
          <a:xfrm xmlns:a="http://schemas.openxmlformats.org/drawingml/2006/main">
            <a:off x="10341864" y="3611880"/>
            <a:ext cx="1115568" cy="274320"/>
          </a:xfrm>
          <a:prstGeom xmlns:a="http://schemas.openxmlformats.org/drawingml/2006/main" prst="roundRect">
            <a:avLst>
              <a:gd name="adj" fmla="val 46667"/>
            </a:avLst>
          </a:prstGeom>
          <a:solidFill xmlns:a="http://schemas.openxmlformats.org/drawingml/2006/main">
            <a:srgbClr val="EEF3FE"/>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A4FD8"/>
                </a:solidFill>
                <a:latin typeface="Malgun Gothic"/>
                <a:ea typeface="Malgun Gothic"/>
                <a:cs typeface="Malgun Gothic"/>
              </a:rPr>
              <a:t>효율</a:t>
            </a:r>
          </a:p>
        </p:txBody>
      </p:sp>
      <p:sp>
        <p:nvSpPr>
          <p:cNvPr id="19" name="Text 17">
            <a:extLst xmlns:a="http://schemas.openxmlformats.org/drawingml/2006/main">
              <a:ext uri="{FF2B5EF4-FFF2-40B4-BE49-F238E27FC236}">
                <a16:creationId xmlns:a16="http://schemas.microsoft.com/office/drawing/2014/main" id="{496360DB-D14E-45BF-B720-B6940B3DFD3D}"/>
              </a:ext>
            </a:extLst>
          </p:cNvPr>
          <p:cNvSpPr>
            <a:spLocks xmlns:a="http://schemas.openxmlformats.org/drawingml/2006/main" noGrp="1"/>
          </p:cNvSpPr>
          <p:nvPr/>
        </p:nvSpPr>
        <p:spPr>
          <a:xfrm xmlns:a="http://schemas.openxmlformats.org/drawingml/2006/main">
            <a:off x="6437376" y="3995928"/>
            <a:ext cx="500176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0">
                <a:solidFill>
                  <a:srgbClr val="5A6474"/>
                </a:solidFill>
                <a:latin typeface="Malgun Gothic"/>
                <a:ea typeface="Malgun Gothic"/>
                <a:cs typeface="Malgun Gothic"/>
              </a:rPr>
              <a:t>룰 기반 우선 · 설명이 필요할 때만 작은 LLM</a:t>
            </a:r>
          </a:p>
        </p:txBody>
      </p:sp>
      <p:sp>
        <p:nvSpPr>
          <p:cNvPr id="20" name="Shape 18">
            <a:extLst xmlns:a="http://schemas.openxmlformats.org/drawingml/2006/main">
              <a:ext uri="{FF2B5EF4-FFF2-40B4-BE49-F238E27FC236}">
                <a16:creationId xmlns:a16="http://schemas.microsoft.com/office/drawing/2014/main" id="{EE8653D7-6665-485E-8303-DD26B0AA78C8}"/>
              </a:ext>
            </a:extLst>
          </p:cNvPr>
          <p:cNvSpPr>
            <a:spLocks xmlns:a="http://schemas.openxmlformats.org/drawingml/2006/main" noGrp="1"/>
          </p:cNvSpPr>
          <p:nvPr/>
        </p:nvSpPr>
        <p:spPr>
          <a:xfrm xmlns:a="http://schemas.openxmlformats.org/drawingml/2006/main">
            <a:off x="548640" y="5486400"/>
            <a:ext cx="11091672" cy="777240"/>
          </a:xfrm>
          <a:prstGeom xmlns:a="http://schemas.openxmlformats.org/drawingml/2006/main" prst="roundRect">
            <a:avLst>
              <a:gd name="adj" fmla="val 10588"/>
            </a:avLst>
          </a:prstGeom>
          <a:solidFill xmlns:a="http://schemas.openxmlformats.org/drawingml/2006/main">
            <a:srgbClr val="EEF3FE"/>
          </a:solidFill>
          <a:ln xmlns:a="http://schemas.openxmlformats.org/drawingml/2006/main" w="12700">
            <a:solidFill>
              <a:srgbClr val="D7E2F8"/>
            </a:solidFill>
            <a:prstDash val="solid"/>
          </a:ln>
        </p:spPr>
      </p:sp>
      <p:sp>
        <p:nvSpPr>
          <p:cNvPr id="21" name="Text 19">
            <a:extLst xmlns:a="http://schemas.openxmlformats.org/drawingml/2006/main">
              <a:ext uri="{FF2B5EF4-FFF2-40B4-BE49-F238E27FC236}">
                <a16:creationId xmlns:a16="http://schemas.microsoft.com/office/drawing/2014/main" id="{97A5FD1A-63DC-4C94-B0B8-14CD0B4F77A7}"/>
              </a:ext>
            </a:extLst>
          </p:cNvPr>
          <p:cNvSpPr>
            <a:spLocks xmlns:a="http://schemas.openxmlformats.org/drawingml/2006/main" noGrp="1"/>
          </p:cNvSpPr>
          <p:nvPr/>
        </p:nvSpPr>
        <p:spPr>
          <a:xfrm xmlns:a="http://schemas.openxmlformats.org/drawingml/2006/main">
            <a:off x="749808" y="5486400"/>
            <a:ext cx="10689336"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사용 이유 | 자체 설문에서 가장 많이 고른 지원 방식은 “AI가 진단 결과와 근거를 설명하고 내가 결정”(15/30)이었습니다. 연금:KDA는 한 줄 진단으로 시작해 세금·위험·전략의 이유를 보여주고, 최종 선택은 사용자에게 남깁니다.</a:t>
            </a:r>
          </a:p>
        </p:txBody>
      </p:sp>
      <p:sp>
        <p:nvSpPr>
          <p:cNvPr id="22" name="Text 20">
            <a:extLst xmlns:a="http://schemas.openxmlformats.org/drawingml/2006/main">
              <a:ext uri="{FF2B5EF4-FFF2-40B4-BE49-F238E27FC236}">
                <a16:creationId xmlns:a16="http://schemas.microsoft.com/office/drawing/2014/main" id="{A0A88E88-7223-40A9-8416-2AB9B08BD68F}"/>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17</a:t>
            </a:r>
          </a:p>
        </p:txBody>
      </p:sp>
    </p:spTree>
    <p:extLst>
      <p:ext uri="{BB962C8B-B14F-4D97-AF65-F5344CB8AC3E}">
        <p14:creationId xmlns:p14="http://schemas.microsoft.com/office/powerpoint/2010/main" val="7404754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D53F0DC-BC2E-42B6-A9CB-9810D3CB0588}"/>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17 · 한계 · 다음 단계</a:t>
            </a:r>
          </a:p>
        </p:txBody>
      </p:sp>
      <p:sp>
        <p:nvSpPr>
          <p:cNvPr id="3" name="Text 1">
            <a:extLst xmlns:a="http://schemas.openxmlformats.org/drawingml/2006/main">
              <a:ext uri="{FF2B5EF4-FFF2-40B4-BE49-F238E27FC236}">
                <a16:creationId xmlns:a16="http://schemas.microsoft.com/office/drawing/2014/main" id="{BBC10607-A79A-496F-BCF9-79F453930149}"/>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한계는 공개하고, 출시 판단에 필요한 검증만 남긴다</a:t>
            </a:r>
          </a:p>
        </p:txBody>
      </p:sp>
      <p:sp>
        <p:nvSpPr>
          <p:cNvPr id="4" name="Text 2">
            <a:extLst xmlns:a="http://schemas.openxmlformats.org/drawingml/2006/main">
              <a:ext uri="{FF2B5EF4-FFF2-40B4-BE49-F238E27FC236}">
                <a16:creationId xmlns:a16="http://schemas.microsoft.com/office/drawing/2014/main" id="{9231D943-9237-4017-A396-34D04441F61A}"/>
              </a:ext>
            </a:extLst>
          </p:cNvPr>
          <p:cNvSpPr>
            <a:spLocks xmlns:a="http://schemas.openxmlformats.org/drawingml/2006/main" noGrp="1"/>
          </p:cNvSpPr>
          <p:nvPr/>
        </p:nvSpPr>
        <p:spPr>
          <a:xfrm xmlns:a="http://schemas.openxmlformats.org/drawingml/2006/main">
            <a:off x="548640" y="1417320"/>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현재 한계 — 솔직 공개</a:t>
            </a:r>
          </a:p>
        </p:txBody>
      </p:sp>
      <p:sp>
        <p:nvSpPr>
          <p:cNvPr id="5" name="Shape 3">
            <a:extLst xmlns:a="http://schemas.openxmlformats.org/drawingml/2006/main">
              <a:ext uri="{FF2B5EF4-FFF2-40B4-BE49-F238E27FC236}">
                <a16:creationId xmlns:a16="http://schemas.microsoft.com/office/drawing/2014/main" id="{9D9CEDE9-B29A-4057-8028-09CB0CBA976F}"/>
              </a:ext>
            </a:extLst>
          </p:cNvPr>
          <p:cNvSpPr>
            <a:spLocks xmlns:a="http://schemas.openxmlformats.org/drawingml/2006/main" noGrp="1"/>
          </p:cNvSpPr>
          <p:nvPr/>
        </p:nvSpPr>
        <p:spPr>
          <a:xfrm xmlns:a="http://schemas.openxmlformats.org/drawingml/2006/main">
            <a:off x="548640" y="1783080"/>
            <a:ext cx="5349240" cy="896112"/>
          </a:xfrm>
          <a:prstGeom xmlns:a="http://schemas.openxmlformats.org/drawingml/2006/main" prst="roundRect">
            <a:avLst>
              <a:gd name="adj" fmla="val 9184"/>
            </a:avLst>
          </a:prstGeom>
          <a:solidFill xmlns:a="http://schemas.openxmlformats.org/drawingml/2006/main">
            <a:srgbClr val="FBF1DF"/>
          </a:solidFill>
        </p:spPr>
      </p:sp>
      <p:sp>
        <p:nvSpPr>
          <p:cNvPr id="6" name="Text 4">
            <a:extLst xmlns:a="http://schemas.openxmlformats.org/drawingml/2006/main">
              <a:ext uri="{FF2B5EF4-FFF2-40B4-BE49-F238E27FC236}">
                <a16:creationId xmlns:a16="http://schemas.microsoft.com/office/drawing/2014/main" id="{F8382840-42C3-4F84-B401-1BE6481BDB62}"/>
              </a:ext>
            </a:extLst>
          </p:cNvPr>
          <p:cNvSpPr>
            <a:spLocks xmlns:a="http://schemas.openxmlformats.org/drawingml/2006/main" noGrp="1"/>
          </p:cNvSpPr>
          <p:nvPr/>
        </p:nvSpPr>
        <p:spPr>
          <a:xfrm xmlns:a="http://schemas.openxmlformats.org/drawingml/2006/main">
            <a:off x="713232" y="1856232"/>
            <a:ext cx="14630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C77A1E"/>
                </a:solidFill>
                <a:latin typeface="Malgun Gothic"/>
                <a:ea typeface="Malgun Gothic"/>
                <a:cs typeface="Malgun Gothic"/>
              </a:rPr>
              <a:t>데이터</a:t>
            </a:r>
          </a:p>
        </p:txBody>
      </p:sp>
      <p:sp>
        <p:nvSpPr>
          <p:cNvPr id="7" name="Text 5">
            <a:extLst xmlns:a="http://schemas.openxmlformats.org/drawingml/2006/main">
              <a:ext uri="{FF2B5EF4-FFF2-40B4-BE49-F238E27FC236}">
                <a16:creationId xmlns:a16="http://schemas.microsoft.com/office/drawing/2014/main" id="{3AE34654-A904-4DD9-8F4E-6AFF0EE73A80}"/>
              </a:ext>
            </a:extLst>
          </p:cNvPr>
          <p:cNvSpPr>
            <a:spLocks xmlns:a="http://schemas.openxmlformats.org/drawingml/2006/main" noGrp="1"/>
          </p:cNvSpPr>
          <p:nvPr/>
        </p:nvSpPr>
        <p:spPr>
          <a:xfrm xmlns:a="http://schemas.openxmlformats.org/drawingml/2006/main">
            <a:off x="2194560" y="1856232"/>
            <a:ext cx="356616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실계좌·마이데이터 미연동 — 현재 사용자 계좌·소득·납입은 합성 목데이터</a:t>
            </a:r>
          </a:p>
        </p:txBody>
      </p:sp>
      <p:sp>
        <p:nvSpPr>
          <p:cNvPr id="8" name="Shape 6">
            <a:extLst xmlns:a="http://schemas.openxmlformats.org/drawingml/2006/main">
              <a:ext uri="{FF2B5EF4-FFF2-40B4-BE49-F238E27FC236}">
                <a16:creationId xmlns:a16="http://schemas.microsoft.com/office/drawing/2014/main" id="{C79BDC10-CBFE-4D1F-8E63-712299928EBA}"/>
              </a:ext>
            </a:extLst>
          </p:cNvPr>
          <p:cNvSpPr>
            <a:spLocks xmlns:a="http://schemas.openxmlformats.org/drawingml/2006/main" noGrp="1"/>
          </p:cNvSpPr>
          <p:nvPr/>
        </p:nvSpPr>
        <p:spPr>
          <a:xfrm xmlns:a="http://schemas.openxmlformats.org/drawingml/2006/main">
            <a:off x="548640" y="2807208"/>
            <a:ext cx="5349240" cy="896112"/>
          </a:xfrm>
          <a:prstGeom xmlns:a="http://schemas.openxmlformats.org/drawingml/2006/main" prst="roundRect">
            <a:avLst>
              <a:gd name="adj" fmla="val 9184"/>
            </a:avLst>
          </a:prstGeom>
          <a:solidFill xmlns:a="http://schemas.openxmlformats.org/drawingml/2006/main">
            <a:srgbClr val="FBF1DF"/>
          </a:solidFill>
        </p:spPr>
      </p:sp>
      <p:sp>
        <p:nvSpPr>
          <p:cNvPr id="9" name="Text 7">
            <a:extLst xmlns:a="http://schemas.openxmlformats.org/drawingml/2006/main">
              <a:ext uri="{FF2B5EF4-FFF2-40B4-BE49-F238E27FC236}">
                <a16:creationId xmlns:a16="http://schemas.microsoft.com/office/drawing/2014/main" id="{525A8E12-4A35-43FE-822C-AD9FD5D1142B}"/>
              </a:ext>
            </a:extLst>
          </p:cNvPr>
          <p:cNvSpPr>
            <a:spLocks xmlns:a="http://schemas.openxmlformats.org/drawingml/2006/main" noGrp="1"/>
          </p:cNvSpPr>
          <p:nvPr/>
        </p:nvSpPr>
        <p:spPr>
          <a:xfrm xmlns:a="http://schemas.openxmlformats.org/drawingml/2006/main">
            <a:off x="713232" y="2880360"/>
            <a:ext cx="14630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C77A1E"/>
                </a:solidFill>
                <a:latin typeface="Malgun Gothic"/>
                <a:ea typeface="Malgun Gothic"/>
                <a:cs typeface="Malgun Gothic"/>
              </a:rPr>
              <a:t>AI · RAG</a:t>
            </a:r>
          </a:p>
        </p:txBody>
      </p:sp>
      <p:sp>
        <p:nvSpPr>
          <p:cNvPr id="10" name="Text 8">
            <a:extLst xmlns:a="http://schemas.openxmlformats.org/drawingml/2006/main">
              <a:ext uri="{FF2B5EF4-FFF2-40B4-BE49-F238E27FC236}">
                <a16:creationId xmlns:a16="http://schemas.microsoft.com/office/drawing/2014/main" id="{6E2CB5E3-7DFA-4A28-B3FD-5719B9AB92E2}"/>
              </a:ext>
            </a:extLst>
          </p:cNvPr>
          <p:cNvSpPr>
            <a:spLocks xmlns:a="http://schemas.openxmlformats.org/drawingml/2006/main" noGrp="1"/>
          </p:cNvSpPr>
          <p:nvPr/>
        </p:nvSpPr>
        <p:spPr>
          <a:xfrm xmlns:a="http://schemas.openxmlformats.org/drawingml/2006/main">
            <a:off x="2194560" y="2880360"/>
            <a:ext cx="356616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Haiku A/B 표본이 작고, 승인 RAG 코퍼스는 10문서·41청크로 범위가 제한적</a:t>
            </a:r>
          </a:p>
        </p:txBody>
      </p:sp>
      <p:sp>
        <p:nvSpPr>
          <p:cNvPr id="11" name="Shape 9">
            <a:extLst xmlns:a="http://schemas.openxmlformats.org/drawingml/2006/main">
              <a:ext uri="{FF2B5EF4-FFF2-40B4-BE49-F238E27FC236}">
                <a16:creationId xmlns:a16="http://schemas.microsoft.com/office/drawing/2014/main" id="{47067A09-66F4-495B-9D50-E3BA35D007FB}"/>
              </a:ext>
            </a:extLst>
          </p:cNvPr>
          <p:cNvSpPr>
            <a:spLocks xmlns:a="http://schemas.openxmlformats.org/drawingml/2006/main" noGrp="1"/>
          </p:cNvSpPr>
          <p:nvPr/>
        </p:nvSpPr>
        <p:spPr>
          <a:xfrm xmlns:a="http://schemas.openxmlformats.org/drawingml/2006/main">
            <a:off x="548640" y="3831336"/>
            <a:ext cx="5349240" cy="896112"/>
          </a:xfrm>
          <a:prstGeom xmlns:a="http://schemas.openxmlformats.org/drawingml/2006/main" prst="roundRect">
            <a:avLst>
              <a:gd name="adj" fmla="val 9184"/>
            </a:avLst>
          </a:prstGeom>
          <a:solidFill xmlns:a="http://schemas.openxmlformats.org/drawingml/2006/main">
            <a:srgbClr val="FBF1DF"/>
          </a:solidFill>
        </p:spPr>
      </p:sp>
      <p:sp>
        <p:nvSpPr>
          <p:cNvPr id="12" name="Text 10">
            <a:extLst xmlns:a="http://schemas.openxmlformats.org/drawingml/2006/main">
              <a:ext uri="{FF2B5EF4-FFF2-40B4-BE49-F238E27FC236}">
                <a16:creationId xmlns:a16="http://schemas.microsoft.com/office/drawing/2014/main" id="{9656FA37-2946-41FD-80DC-22924EAB7010}"/>
              </a:ext>
            </a:extLst>
          </p:cNvPr>
          <p:cNvSpPr>
            <a:spLocks xmlns:a="http://schemas.openxmlformats.org/drawingml/2006/main" noGrp="1"/>
          </p:cNvSpPr>
          <p:nvPr/>
        </p:nvSpPr>
        <p:spPr>
          <a:xfrm xmlns:a="http://schemas.openxmlformats.org/drawingml/2006/main">
            <a:off x="713232" y="3904488"/>
            <a:ext cx="14630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C77A1E"/>
                </a:solidFill>
                <a:latin typeface="Malgun Gothic"/>
                <a:ea typeface="Malgun Gothic"/>
                <a:cs typeface="Malgun Gothic"/>
              </a:rPr>
              <a:t>운영</a:t>
            </a:r>
          </a:p>
        </p:txBody>
      </p:sp>
      <p:sp>
        <p:nvSpPr>
          <p:cNvPr id="13" name="Text 11">
            <a:extLst xmlns:a="http://schemas.openxmlformats.org/drawingml/2006/main">
              <a:ext uri="{FF2B5EF4-FFF2-40B4-BE49-F238E27FC236}">
                <a16:creationId xmlns:a16="http://schemas.microsoft.com/office/drawing/2014/main" id="{A3E034BD-E207-4739-B547-2E71C9D75795}"/>
              </a:ext>
            </a:extLst>
          </p:cNvPr>
          <p:cNvSpPr>
            <a:spLocks xmlns:a="http://schemas.openxmlformats.org/drawingml/2006/main" noGrp="1"/>
          </p:cNvSpPr>
          <p:nvPr/>
        </p:nvSpPr>
        <p:spPr>
          <a:xfrm xmlns:a="http://schemas.openxmlformats.org/drawingml/2006/main">
            <a:off x="2194560" y="3904488"/>
            <a:ext cx="356616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Render API 200 확인 · Vercel API URL/CORS·최신 배포 복구 후 골든패스 E2E 필요</a:t>
            </a:r>
          </a:p>
        </p:txBody>
      </p:sp>
      <p:sp>
        <p:nvSpPr>
          <p:cNvPr id="14" name="Shape 12">
            <a:extLst xmlns:a="http://schemas.openxmlformats.org/drawingml/2006/main">
              <a:ext uri="{FF2B5EF4-FFF2-40B4-BE49-F238E27FC236}">
                <a16:creationId xmlns:a16="http://schemas.microsoft.com/office/drawing/2014/main" id="{7E3B7D2D-DC83-411A-B0D0-2DB0A03007CE}"/>
              </a:ext>
            </a:extLst>
          </p:cNvPr>
          <p:cNvSpPr>
            <a:spLocks xmlns:a="http://schemas.openxmlformats.org/drawingml/2006/main" noGrp="1"/>
          </p:cNvSpPr>
          <p:nvPr/>
        </p:nvSpPr>
        <p:spPr>
          <a:xfrm xmlns:a="http://schemas.openxmlformats.org/drawingml/2006/main">
            <a:off x="548640" y="4855464"/>
            <a:ext cx="5349240" cy="896112"/>
          </a:xfrm>
          <a:prstGeom xmlns:a="http://schemas.openxmlformats.org/drawingml/2006/main" prst="roundRect">
            <a:avLst>
              <a:gd name="adj" fmla="val 9184"/>
            </a:avLst>
          </a:prstGeom>
          <a:solidFill xmlns:a="http://schemas.openxmlformats.org/drawingml/2006/main">
            <a:srgbClr val="FBF1DF"/>
          </a:solidFill>
        </p:spPr>
      </p:sp>
      <p:sp>
        <p:nvSpPr>
          <p:cNvPr id="15" name="Text 13">
            <a:extLst xmlns:a="http://schemas.openxmlformats.org/drawingml/2006/main">
              <a:ext uri="{FF2B5EF4-FFF2-40B4-BE49-F238E27FC236}">
                <a16:creationId xmlns:a16="http://schemas.microsoft.com/office/drawing/2014/main" id="{E96A66BF-6338-4693-9937-5CB623839AE1}"/>
              </a:ext>
            </a:extLst>
          </p:cNvPr>
          <p:cNvSpPr>
            <a:spLocks xmlns:a="http://schemas.openxmlformats.org/drawingml/2006/main" noGrp="1"/>
          </p:cNvSpPr>
          <p:nvPr/>
        </p:nvSpPr>
        <p:spPr>
          <a:xfrm xmlns:a="http://schemas.openxmlformats.org/drawingml/2006/main">
            <a:off x="713232" y="4928616"/>
            <a:ext cx="146304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C77A1E"/>
                </a:solidFill>
                <a:latin typeface="Malgun Gothic"/>
                <a:ea typeface="Malgun Gothic"/>
                <a:cs typeface="Malgun Gothic"/>
              </a:rPr>
              <a:t>보안 · 규제</a:t>
            </a:r>
          </a:p>
        </p:txBody>
      </p:sp>
      <p:sp>
        <p:nvSpPr>
          <p:cNvPr id="16" name="Text 14">
            <a:extLst xmlns:a="http://schemas.openxmlformats.org/drawingml/2006/main">
              <a:ext uri="{FF2B5EF4-FFF2-40B4-BE49-F238E27FC236}">
                <a16:creationId xmlns:a16="http://schemas.microsoft.com/office/drawing/2014/main" id="{422868A7-78B7-4615-B83C-7288CFF0122B}"/>
              </a:ext>
            </a:extLst>
          </p:cNvPr>
          <p:cNvSpPr>
            <a:spLocks xmlns:a="http://schemas.openxmlformats.org/drawingml/2006/main" noGrp="1"/>
          </p:cNvSpPr>
          <p:nvPr/>
        </p:nvSpPr>
        <p:spPr>
          <a:xfrm xmlns:a="http://schemas.openxmlformats.org/drawingml/2006/main">
            <a:off x="2194560" y="4928616"/>
            <a:ext cx="356616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Supabase 유출 비밀번호 보호 활성화 대기 · 실서비스화 시 자문·적합성·개인정보·콘텐츠 권리 재검토</a:t>
            </a:r>
          </a:p>
        </p:txBody>
      </p:sp>
      <p:sp>
        <p:nvSpPr>
          <p:cNvPr id="17" name="Text 15">
            <a:extLst xmlns:a="http://schemas.openxmlformats.org/drawingml/2006/main">
              <a:ext uri="{FF2B5EF4-FFF2-40B4-BE49-F238E27FC236}">
                <a16:creationId xmlns:a16="http://schemas.microsoft.com/office/drawing/2014/main" id="{D9498398-2FB6-4DC3-95B6-4FF253E8BE6A}"/>
              </a:ext>
            </a:extLst>
          </p:cNvPr>
          <p:cNvSpPr>
            <a:spLocks xmlns:a="http://schemas.openxmlformats.org/drawingml/2006/main" noGrp="1"/>
          </p:cNvSpPr>
          <p:nvPr/>
        </p:nvSpPr>
        <p:spPr>
          <a:xfrm xmlns:a="http://schemas.openxmlformats.org/drawingml/2006/main">
            <a:off x="6263640" y="1417320"/>
            <a:ext cx="5120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8202E"/>
                </a:solidFill>
                <a:latin typeface="Malgun Gothic"/>
                <a:ea typeface="Malgun Gothic"/>
                <a:cs typeface="Malgun Gothic"/>
              </a:rPr>
              <a:t>출시 판단을 위한 검증 과제</a:t>
            </a:r>
          </a:p>
        </p:txBody>
      </p:sp>
      <p:sp>
        <p:nvSpPr>
          <p:cNvPr id="18" name="Shape 16">
            <a:extLst xmlns:a="http://schemas.openxmlformats.org/drawingml/2006/main">
              <a:ext uri="{FF2B5EF4-FFF2-40B4-BE49-F238E27FC236}">
                <a16:creationId xmlns:a16="http://schemas.microsoft.com/office/drawing/2014/main" id="{07D12502-FE51-4C72-9DB3-957DB76B90AC}"/>
              </a:ext>
            </a:extLst>
          </p:cNvPr>
          <p:cNvSpPr>
            <a:spLocks xmlns:a="http://schemas.openxmlformats.org/drawingml/2006/main" noGrp="1"/>
          </p:cNvSpPr>
          <p:nvPr/>
        </p:nvSpPr>
        <p:spPr>
          <a:xfrm xmlns:a="http://schemas.openxmlformats.org/drawingml/2006/main">
            <a:off x="6263640" y="1874520"/>
            <a:ext cx="292608" cy="292608"/>
          </a:xfrm>
          <a:prstGeom xmlns:a="http://schemas.openxmlformats.org/drawingml/2006/main" prst="ellipse">
            <a:avLst/>
          </a:prstGeom>
          <a:solidFill xmlns:a="http://schemas.openxmlformats.org/drawingml/2006/main">
            <a:srgbClr val="1A4FD8"/>
          </a:solidFill>
        </p:spPr>
      </p:sp>
      <p:sp>
        <p:nvSpPr>
          <p:cNvPr id="19" name="Text 17">
            <a:extLst xmlns:a="http://schemas.openxmlformats.org/drawingml/2006/main">
              <a:ext uri="{FF2B5EF4-FFF2-40B4-BE49-F238E27FC236}">
                <a16:creationId xmlns:a16="http://schemas.microsoft.com/office/drawing/2014/main" id="{2BA241AA-5C68-4D21-8314-7A3E4CC1B6E1}"/>
              </a:ext>
            </a:extLst>
          </p:cNvPr>
          <p:cNvSpPr>
            <a:spLocks xmlns:a="http://schemas.openxmlformats.org/drawingml/2006/main" noGrp="1"/>
          </p:cNvSpPr>
          <p:nvPr/>
        </p:nvSpPr>
        <p:spPr>
          <a:xfrm xmlns:a="http://schemas.openxmlformats.org/drawingml/2006/main">
            <a:off x="6263640" y="1874520"/>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1</a:t>
            </a:r>
          </a:p>
        </p:txBody>
      </p:sp>
      <p:sp>
        <p:nvSpPr>
          <p:cNvPr id="20" name="Text 18">
            <a:extLst xmlns:a="http://schemas.openxmlformats.org/drawingml/2006/main">
              <a:ext uri="{FF2B5EF4-FFF2-40B4-BE49-F238E27FC236}">
                <a16:creationId xmlns:a16="http://schemas.microsoft.com/office/drawing/2014/main" id="{07B3DFF9-2617-4839-B235-74941145366E}"/>
              </a:ext>
            </a:extLst>
          </p:cNvPr>
          <p:cNvSpPr>
            <a:spLocks xmlns:a="http://schemas.openxmlformats.org/drawingml/2006/main" noGrp="1"/>
          </p:cNvSpPr>
          <p:nvPr/>
        </p:nvSpPr>
        <p:spPr>
          <a:xfrm xmlns:a="http://schemas.openxmlformats.org/drawingml/2006/main">
            <a:off x="6675120" y="1801368"/>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사용자 이해도 검증</a:t>
            </a:r>
          </a:p>
        </p:txBody>
      </p:sp>
      <p:sp>
        <p:nvSpPr>
          <p:cNvPr id="21" name="Text 19">
            <a:extLst xmlns:a="http://schemas.openxmlformats.org/drawingml/2006/main">
              <a:ext uri="{FF2B5EF4-FFF2-40B4-BE49-F238E27FC236}">
                <a16:creationId xmlns:a16="http://schemas.microsoft.com/office/drawing/2014/main" id="{B7B48020-EEC9-4BC0-965B-A814C47017B1}"/>
              </a:ext>
            </a:extLst>
          </p:cNvPr>
          <p:cNvSpPr>
            <a:spLocks xmlns:a="http://schemas.openxmlformats.org/drawingml/2006/main" noGrp="1"/>
          </p:cNvSpPr>
          <p:nvPr/>
        </p:nvSpPr>
        <p:spPr>
          <a:xfrm xmlns:a="http://schemas.openxmlformats.org/drawingml/2006/main">
            <a:off x="6675120" y="2075688"/>
            <a:ext cx="4709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A6474"/>
                </a:solidFill>
                <a:latin typeface="Malgun Gothic"/>
                <a:ea typeface="Malgun Gothic"/>
                <a:cs typeface="Malgun Gothic"/>
              </a:rPr>
              <a:t>설명 전·후 계좌 이해도 · 완료율 · 재질문률 비교</a:t>
            </a:r>
          </a:p>
        </p:txBody>
      </p:sp>
      <p:sp>
        <p:nvSpPr>
          <p:cNvPr id="22" name="Shape 20">
            <a:extLst xmlns:a="http://schemas.openxmlformats.org/drawingml/2006/main">
              <a:ext uri="{FF2B5EF4-FFF2-40B4-BE49-F238E27FC236}">
                <a16:creationId xmlns:a16="http://schemas.microsoft.com/office/drawing/2014/main" id="{4E17173B-267E-49F8-8C44-016A1034066B}"/>
              </a:ext>
            </a:extLst>
          </p:cNvPr>
          <p:cNvSpPr>
            <a:spLocks xmlns:a="http://schemas.openxmlformats.org/drawingml/2006/main" noGrp="1"/>
          </p:cNvSpPr>
          <p:nvPr/>
        </p:nvSpPr>
        <p:spPr>
          <a:xfrm xmlns:a="http://schemas.openxmlformats.org/drawingml/2006/main">
            <a:off x="6263640" y="2596896"/>
            <a:ext cx="292608" cy="292608"/>
          </a:xfrm>
          <a:prstGeom xmlns:a="http://schemas.openxmlformats.org/drawingml/2006/main" prst="ellipse">
            <a:avLst/>
          </a:prstGeom>
          <a:solidFill xmlns:a="http://schemas.openxmlformats.org/drawingml/2006/main">
            <a:srgbClr val="1A4FD8"/>
          </a:solidFill>
        </p:spPr>
      </p:sp>
      <p:sp>
        <p:nvSpPr>
          <p:cNvPr id="23" name="Text 21">
            <a:extLst xmlns:a="http://schemas.openxmlformats.org/drawingml/2006/main">
              <a:ext uri="{FF2B5EF4-FFF2-40B4-BE49-F238E27FC236}">
                <a16:creationId xmlns:a16="http://schemas.microsoft.com/office/drawing/2014/main" id="{EE90A81E-8EEF-472A-A000-391EA7724E18}"/>
              </a:ext>
            </a:extLst>
          </p:cNvPr>
          <p:cNvSpPr>
            <a:spLocks xmlns:a="http://schemas.openxmlformats.org/drawingml/2006/main" noGrp="1"/>
          </p:cNvSpPr>
          <p:nvPr/>
        </p:nvSpPr>
        <p:spPr>
          <a:xfrm xmlns:a="http://schemas.openxmlformats.org/drawingml/2006/main">
            <a:off x="6263640" y="259689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2</a:t>
            </a:r>
          </a:p>
        </p:txBody>
      </p:sp>
      <p:sp>
        <p:nvSpPr>
          <p:cNvPr id="24" name="Text 22">
            <a:extLst xmlns:a="http://schemas.openxmlformats.org/drawingml/2006/main">
              <a:ext uri="{FF2B5EF4-FFF2-40B4-BE49-F238E27FC236}">
                <a16:creationId xmlns:a16="http://schemas.microsoft.com/office/drawing/2014/main" id="{80DFFBD5-3DAB-4884-93D6-A43E9DB73D1C}"/>
              </a:ext>
            </a:extLst>
          </p:cNvPr>
          <p:cNvSpPr>
            <a:spLocks xmlns:a="http://schemas.openxmlformats.org/drawingml/2006/main" noGrp="1"/>
          </p:cNvSpPr>
          <p:nvPr/>
        </p:nvSpPr>
        <p:spPr>
          <a:xfrm xmlns:a="http://schemas.openxmlformats.org/drawingml/2006/main">
            <a:off x="6675120" y="2523744"/>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핵심 사용자 흐름 회귀 검증</a:t>
            </a:r>
          </a:p>
        </p:txBody>
      </p:sp>
      <p:sp>
        <p:nvSpPr>
          <p:cNvPr id="25" name="Text 23">
            <a:extLst xmlns:a="http://schemas.openxmlformats.org/drawingml/2006/main">
              <a:ext uri="{FF2B5EF4-FFF2-40B4-BE49-F238E27FC236}">
                <a16:creationId xmlns:a16="http://schemas.microsoft.com/office/drawing/2014/main" id="{CDD789AD-AD72-40F5-9986-A8386105C2A0}"/>
              </a:ext>
            </a:extLst>
          </p:cNvPr>
          <p:cNvSpPr>
            <a:spLocks xmlns:a="http://schemas.openxmlformats.org/drawingml/2006/main" noGrp="1"/>
          </p:cNvSpPr>
          <p:nvPr/>
        </p:nvSpPr>
        <p:spPr>
          <a:xfrm xmlns:a="http://schemas.openxmlformats.org/drawingml/2006/main">
            <a:off x="6675120" y="2798064"/>
            <a:ext cx="4709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A6474"/>
                </a:solidFill>
                <a:latin typeface="Malgun Gothic"/>
                <a:ea typeface="Malgun Gothic"/>
                <a:cs typeface="Malgun Gothic"/>
              </a:rPr>
              <a:t>로그인 → 이용 가이드 → 17문항 성향 → 홈 → 계산·챗봇 전 구간</a:t>
            </a:r>
          </a:p>
        </p:txBody>
      </p:sp>
      <p:sp>
        <p:nvSpPr>
          <p:cNvPr id="26" name="Shape 24">
            <a:extLst xmlns:a="http://schemas.openxmlformats.org/drawingml/2006/main">
              <a:ext uri="{FF2B5EF4-FFF2-40B4-BE49-F238E27FC236}">
                <a16:creationId xmlns:a16="http://schemas.microsoft.com/office/drawing/2014/main" id="{5F3BA23C-EBAB-4FF4-B302-9ECFA253A886}"/>
              </a:ext>
            </a:extLst>
          </p:cNvPr>
          <p:cNvSpPr>
            <a:spLocks xmlns:a="http://schemas.openxmlformats.org/drawingml/2006/main" noGrp="1"/>
          </p:cNvSpPr>
          <p:nvPr/>
        </p:nvSpPr>
        <p:spPr>
          <a:xfrm xmlns:a="http://schemas.openxmlformats.org/drawingml/2006/main">
            <a:off x="6263640" y="3319272"/>
            <a:ext cx="292608" cy="292608"/>
          </a:xfrm>
          <a:prstGeom xmlns:a="http://schemas.openxmlformats.org/drawingml/2006/main" prst="ellipse">
            <a:avLst/>
          </a:prstGeom>
          <a:solidFill xmlns:a="http://schemas.openxmlformats.org/drawingml/2006/main">
            <a:srgbClr val="B9C6E8"/>
          </a:solidFill>
        </p:spPr>
      </p:sp>
      <p:sp>
        <p:nvSpPr>
          <p:cNvPr id="27" name="Text 25">
            <a:extLst xmlns:a="http://schemas.openxmlformats.org/drawingml/2006/main">
              <a:ext uri="{FF2B5EF4-FFF2-40B4-BE49-F238E27FC236}">
                <a16:creationId xmlns:a16="http://schemas.microsoft.com/office/drawing/2014/main" id="{4BFCE76A-5937-449D-9A2A-F25673A2AFA0}"/>
              </a:ext>
            </a:extLst>
          </p:cNvPr>
          <p:cNvSpPr>
            <a:spLocks xmlns:a="http://schemas.openxmlformats.org/drawingml/2006/main" noGrp="1"/>
          </p:cNvSpPr>
          <p:nvPr/>
        </p:nvSpPr>
        <p:spPr>
          <a:xfrm xmlns:a="http://schemas.openxmlformats.org/drawingml/2006/main">
            <a:off x="6263640" y="3319272"/>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3</a:t>
            </a:r>
          </a:p>
        </p:txBody>
      </p:sp>
      <p:sp>
        <p:nvSpPr>
          <p:cNvPr id="28" name="Text 26">
            <a:extLst xmlns:a="http://schemas.openxmlformats.org/drawingml/2006/main">
              <a:ext uri="{FF2B5EF4-FFF2-40B4-BE49-F238E27FC236}">
                <a16:creationId xmlns:a16="http://schemas.microsoft.com/office/drawing/2014/main" id="{338E4A13-7D2B-4BEA-9CCE-33D45B7EEA48}"/>
              </a:ext>
            </a:extLst>
          </p:cNvPr>
          <p:cNvSpPr>
            <a:spLocks xmlns:a="http://schemas.openxmlformats.org/drawingml/2006/main" noGrp="1"/>
          </p:cNvSpPr>
          <p:nvPr/>
        </p:nvSpPr>
        <p:spPr>
          <a:xfrm xmlns:a="http://schemas.openxmlformats.org/drawingml/2006/main">
            <a:off x="6675120" y="3246120"/>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규칙·수치 회귀 검증</a:t>
            </a:r>
          </a:p>
        </p:txBody>
      </p:sp>
      <p:sp>
        <p:nvSpPr>
          <p:cNvPr id="29" name="Text 27">
            <a:extLst xmlns:a="http://schemas.openxmlformats.org/drawingml/2006/main">
              <a:ext uri="{FF2B5EF4-FFF2-40B4-BE49-F238E27FC236}">
                <a16:creationId xmlns:a16="http://schemas.microsoft.com/office/drawing/2014/main" id="{2B97C018-E4C8-484E-A003-ECBA1CA5BF33}"/>
              </a:ext>
            </a:extLst>
          </p:cNvPr>
          <p:cNvSpPr>
            <a:spLocks xmlns:a="http://schemas.openxmlformats.org/drawingml/2006/main" noGrp="1"/>
          </p:cNvSpPr>
          <p:nvPr/>
        </p:nvSpPr>
        <p:spPr>
          <a:xfrm xmlns:a="http://schemas.openxmlformats.org/drawingml/2006/main">
            <a:off x="6675120" y="3520440"/>
            <a:ext cx="4709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A6474"/>
                </a:solidFill>
                <a:latin typeface="Malgun Gothic"/>
                <a:ea typeface="Malgun Gothic"/>
                <a:cs typeface="Malgun Gothic"/>
              </a:rPr>
              <a:t>계좌 규칙·세액공제·적격성·전략 산식 자동 검증</a:t>
            </a:r>
          </a:p>
        </p:txBody>
      </p:sp>
      <p:sp>
        <p:nvSpPr>
          <p:cNvPr id="30" name="Shape 28">
            <a:extLst xmlns:a="http://schemas.openxmlformats.org/drawingml/2006/main">
              <a:ext uri="{FF2B5EF4-FFF2-40B4-BE49-F238E27FC236}">
                <a16:creationId xmlns:a16="http://schemas.microsoft.com/office/drawing/2014/main" id="{A73160D8-4AD8-4829-9835-966F0A1D67E3}"/>
              </a:ext>
            </a:extLst>
          </p:cNvPr>
          <p:cNvSpPr>
            <a:spLocks xmlns:a="http://schemas.openxmlformats.org/drawingml/2006/main" noGrp="1"/>
          </p:cNvSpPr>
          <p:nvPr/>
        </p:nvSpPr>
        <p:spPr>
          <a:xfrm xmlns:a="http://schemas.openxmlformats.org/drawingml/2006/main">
            <a:off x="6263640" y="4041648"/>
            <a:ext cx="292608" cy="292608"/>
          </a:xfrm>
          <a:prstGeom xmlns:a="http://schemas.openxmlformats.org/drawingml/2006/main" prst="ellipse">
            <a:avLst/>
          </a:prstGeom>
          <a:solidFill xmlns:a="http://schemas.openxmlformats.org/drawingml/2006/main">
            <a:srgbClr val="B9C6E8"/>
          </a:solidFill>
        </p:spPr>
      </p:sp>
      <p:sp>
        <p:nvSpPr>
          <p:cNvPr id="31" name="Text 29">
            <a:extLst xmlns:a="http://schemas.openxmlformats.org/drawingml/2006/main">
              <a:ext uri="{FF2B5EF4-FFF2-40B4-BE49-F238E27FC236}">
                <a16:creationId xmlns:a16="http://schemas.microsoft.com/office/drawing/2014/main" id="{C8B36603-78BD-4CD8-BD1D-7438F6152CAE}"/>
              </a:ext>
            </a:extLst>
          </p:cNvPr>
          <p:cNvSpPr>
            <a:spLocks xmlns:a="http://schemas.openxmlformats.org/drawingml/2006/main" noGrp="1"/>
          </p:cNvSpPr>
          <p:nvPr/>
        </p:nvSpPr>
        <p:spPr>
          <a:xfrm xmlns:a="http://schemas.openxmlformats.org/drawingml/2006/main">
            <a:off x="6263640" y="4041648"/>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4</a:t>
            </a:r>
          </a:p>
        </p:txBody>
      </p:sp>
      <p:sp>
        <p:nvSpPr>
          <p:cNvPr id="32" name="Text 30">
            <a:extLst xmlns:a="http://schemas.openxmlformats.org/drawingml/2006/main">
              <a:ext uri="{FF2B5EF4-FFF2-40B4-BE49-F238E27FC236}">
                <a16:creationId xmlns:a16="http://schemas.microsoft.com/office/drawing/2014/main" id="{380D868E-DC1A-40C7-938A-4EA0CBEA60C4}"/>
              </a:ext>
            </a:extLst>
          </p:cNvPr>
          <p:cNvSpPr>
            <a:spLocks xmlns:a="http://schemas.openxmlformats.org/drawingml/2006/main" noGrp="1"/>
          </p:cNvSpPr>
          <p:nvPr/>
        </p:nvSpPr>
        <p:spPr>
          <a:xfrm xmlns:a="http://schemas.openxmlformats.org/drawingml/2006/main">
            <a:off x="6675120" y="3968496"/>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운영 지표 모니터링</a:t>
            </a:r>
          </a:p>
        </p:txBody>
      </p:sp>
      <p:sp>
        <p:nvSpPr>
          <p:cNvPr id="33" name="Text 31">
            <a:extLst xmlns:a="http://schemas.openxmlformats.org/drawingml/2006/main">
              <a:ext uri="{FF2B5EF4-FFF2-40B4-BE49-F238E27FC236}">
                <a16:creationId xmlns:a16="http://schemas.microsoft.com/office/drawing/2014/main" id="{BBACC677-2991-48D6-AF5E-668FAD7E5374}"/>
              </a:ext>
            </a:extLst>
          </p:cNvPr>
          <p:cNvSpPr>
            <a:spLocks xmlns:a="http://schemas.openxmlformats.org/drawingml/2006/main" noGrp="1"/>
          </p:cNvSpPr>
          <p:nvPr/>
        </p:nvSpPr>
        <p:spPr>
          <a:xfrm xmlns:a="http://schemas.openxmlformats.org/drawingml/2006/main">
            <a:off x="6675120" y="4242816"/>
            <a:ext cx="4709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A6474"/>
                </a:solidFill>
                <a:latin typeface="Malgun Gothic"/>
                <a:ea typeface="Malgun Gothic"/>
                <a:cs typeface="Malgun Gothic"/>
              </a:rPr>
              <a:t>응답 지연 · 오류 · LLM 호출률 · 데이터 최신성</a:t>
            </a:r>
          </a:p>
        </p:txBody>
      </p:sp>
      <p:sp>
        <p:nvSpPr>
          <p:cNvPr id="34" name="Shape 32">
            <a:extLst xmlns:a="http://schemas.openxmlformats.org/drawingml/2006/main">
              <a:ext uri="{FF2B5EF4-FFF2-40B4-BE49-F238E27FC236}">
                <a16:creationId xmlns:a16="http://schemas.microsoft.com/office/drawing/2014/main" id="{ABCD311E-AE4D-43C6-9D4F-B8D7C9051183}"/>
              </a:ext>
            </a:extLst>
          </p:cNvPr>
          <p:cNvSpPr>
            <a:spLocks xmlns:a="http://schemas.openxmlformats.org/drawingml/2006/main" noGrp="1"/>
          </p:cNvSpPr>
          <p:nvPr/>
        </p:nvSpPr>
        <p:spPr>
          <a:xfrm xmlns:a="http://schemas.openxmlformats.org/drawingml/2006/main">
            <a:off x="6263640" y="4764024"/>
            <a:ext cx="292608" cy="292608"/>
          </a:xfrm>
          <a:prstGeom xmlns:a="http://schemas.openxmlformats.org/drawingml/2006/main" prst="ellipse">
            <a:avLst/>
          </a:prstGeom>
          <a:solidFill xmlns:a="http://schemas.openxmlformats.org/drawingml/2006/main">
            <a:srgbClr val="B9C6E8"/>
          </a:solidFill>
        </p:spPr>
      </p:sp>
      <p:sp>
        <p:nvSpPr>
          <p:cNvPr id="35" name="Text 33">
            <a:extLst xmlns:a="http://schemas.openxmlformats.org/drawingml/2006/main">
              <a:ext uri="{FF2B5EF4-FFF2-40B4-BE49-F238E27FC236}">
                <a16:creationId xmlns:a16="http://schemas.microsoft.com/office/drawing/2014/main" id="{62B20B5B-BD9F-4739-9905-83043A749770}"/>
              </a:ext>
            </a:extLst>
          </p:cNvPr>
          <p:cNvSpPr>
            <a:spLocks xmlns:a="http://schemas.openxmlformats.org/drawingml/2006/main" noGrp="1"/>
          </p:cNvSpPr>
          <p:nvPr/>
        </p:nvSpPr>
        <p:spPr>
          <a:xfrm xmlns:a="http://schemas.openxmlformats.org/drawingml/2006/main">
            <a:off x="6263640" y="476402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5</a:t>
            </a:r>
          </a:p>
        </p:txBody>
      </p:sp>
      <p:sp>
        <p:nvSpPr>
          <p:cNvPr id="36" name="Text 34">
            <a:extLst xmlns:a="http://schemas.openxmlformats.org/drawingml/2006/main">
              <a:ext uri="{FF2B5EF4-FFF2-40B4-BE49-F238E27FC236}">
                <a16:creationId xmlns:a16="http://schemas.microsoft.com/office/drawing/2014/main" id="{ECC274AB-E085-4B21-B48E-A25ABDBF8DCE}"/>
              </a:ext>
            </a:extLst>
          </p:cNvPr>
          <p:cNvSpPr>
            <a:spLocks xmlns:a="http://schemas.openxmlformats.org/drawingml/2006/main" noGrp="1"/>
          </p:cNvSpPr>
          <p:nvPr/>
        </p:nvSpPr>
        <p:spPr>
          <a:xfrm xmlns:a="http://schemas.openxmlformats.org/drawingml/2006/main">
            <a:off x="6675120" y="4690872"/>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보안 · 규제 점검</a:t>
            </a:r>
          </a:p>
        </p:txBody>
      </p:sp>
      <p:sp>
        <p:nvSpPr>
          <p:cNvPr id="37" name="Text 35">
            <a:extLst xmlns:a="http://schemas.openxmlformats.org/drawingml/2006/main">
              <a:ext uri="{FF2B5EF4-FFF2-40B4-BE49-F238E27FC236}">
                <a16:creationId xmlns:a16="http://schemas.microsoft.com/office/drawing/2014/main" id="{A9EFFE96-758A-4E84-8401-633D51285548}"/>
              </a:ext>
            </a:extLst>
          </p:cNvPr>
          <p:cNvSpPr>
            <a:spLocks xmlns:a="http://schemas.openxmlformats.org/drawingml/2006/main" noGrp="1"/>
          </p:cNvSpPr>
          <p:nvPr/>
        </p:nvSpPr>
        <p:spPr>
          <a:xfrm xmlns:a="http://schemas.openxmlformats.org/drawingml/2006/main">
            <a:off x="6675120" y="4965192"/>
            <a:ext cx="4709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A6474"/>
                </a:solidFill>
                <a:latin typeface="Malgun Gothic"/>
                <a:ea typeface="Malgun Gothic"/>
                <a:cs typeface="Malgun Gothic"/>
              </a:rPr>
              <a:t>개인정보 · 설명 적합성 · 콘텐츠 권리 재검토</a:t>
            </a:r>
          </a:p>
        </p:txBody>
      </p:sp>
      <p:sp>
        <p:nvSpPr>
          <p:cNvPr id="38" name="Shape 36">
            <a:extLst xmlns:a="http://schemas.openxmlformats.org/drawingml/2006/main">
              <a:ext uri="{FF2B5EF4-FFF2-40B4-BE49-F238E27FC236}">
                <a16:creationId xmlns:a16="http://schemas.microsoft.com/office/drawing/2014/main" id="{DE19D880-98CD-4550-8C6E-6C5A41F25E02}"/>
              </a:ext>
            </a:extLst>
          </p:cNvPr>
          <p:cNvSpPr>
            <a:spLocks xmlns:a="http://schemas.openxmlformats.org/drawingml/2006/main" noGrp="1"/>
          </p:cNvSpPr>
          <p:nvPr/>
        </p:nvSpPr>
        <p:spPr>
          <a:xfrm xmlns:a="http://schemas.openxmlformats.org/drawingml/2006/main">
            <a:off x="6263640" y="5486400"/>
            <a:ext cx="292608" cy="292608"/>
          </a:xfrm>
          <a:prstGeom xmlns:a="http://schemas.openxmlformats.org/drawingml/2006/main" prst="ellipse">
            <a:avLst/>
          </a:prstGeom>
          <a:solidFill xmlns:a="http://schemas.openxmlformats.org/drawingml/2006/main">
            <a:srgbClr val="B9C6E8"/>
          </a:solidFill>
        </p:spPr>
      </p:sp>
      <p:sp>
        <p:nvSpPr>
          <p:cNvPr id="39" name="Text 37">
            <a:extLst xmlns:a="http://schemas.openxmlformats.org/drawingml/2006/main">
              <a:ext uri="{FF2B5EF4-FFF2-40B4-BE49-F238E27FC236}">
                <a16:creationId xmlns:a16="http://schemas.microsoft.com/office/drawing/2014/main" id="{66098AA6-E20E-4F0D-9D85-2D4892D5F2B9}"/>
              </a:ext>
            </a:extLst>
          </p:cNvPr>
          <p:cNvSpPr>
            <a:spLocks xmlns:a="http://schemas.openxmlformats.org/drawingml/2006/main" noGrp="1"/>
          </p:cNvSpPr>
          <p:nvPr/>
        </p:nvSpPr>
        <p:spPr>
          <a:xfrm xmlns:a="http://schemas.openxmlformats.org/drawingml/2006/main">
            <a:off x="6263640" y="5486400"/>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Malgun Gothic"/>
                <a:ea typeface="Malgun Gothic"/>
                <a:cs typeface="Malgun Gothic"/>
              </a:rPr>
              <a:t>6</a:t>
            </a:r>
          </a:p>
        </p:txBody>
      </p:sp>
      <p:sp>
        <p:nvSpPr>
          <p:cNvPr id="40" name="Text 38">
            <a:extLst xmlns:a="http://schemas.openxmlformats.org/drawingml/2006/main">
              <a:ext uri="{FF2B5EF4-FFF2-40B4-BE49-F238E27FC236}">
                <a16:creationId xmlns:a16="http://schemas.microsoft.com/office/drawing/2014/main" id="{EDC7F459-0840-4A51-8EFE-A13278D5556E}"/>
              </a:ext>
            </a:extLst>
          </p:cNvPr>
          <p:cNvSpPr>
            <a:spLocks xmlns:a="http://schemas.openxmlformats.org/drawingml/2006/main" noGrp="1"/>
          </p:cNvSpPr>
          <p:nvPr/>
        </p:nvSpPr>
        <p:spPr>
          <a:xfrm xmlns:a="http://schemas.openxmlformats.org/drawingml/2006/main">
            <a:off x="6675120" y="5413248"/>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8202E"/>
                </a:solidFill>
                <a:latin typeface="Malgun Gothic"/>
                <a:ea typeface="Malgun Gothic"/>
                <a:cs typeface="Malgun Gothic"/>
              </a:rPr>
              <a:t>데이터·근거 품질 점검</a:t>
            </a:r>
          </a:p>
        </p:txBody>
      </p:sp>
      <p:sp>
        <p:nvSpPr>
          <p:cNvPr id="41" name="Text 39">
            <a:extLst xmlns:a="http://schemas.openxmlformats.org/drawingml/2006/main">
              <a:ext uri="{FF2B5EF4-FFF2-40B4-BE49-F238E27FC236}">
                <a16:creationId xmlns:a16="http://schemas.microsoft.com/office/drawing/2014/main" id="{D03D8B83-E2F7-48CD-AFD4-1E757885E8AA}"/>
              </a:ext>
            </a:extLst>
          </p:cNvPr>
          <p:cNvSpPr>
            <a:spLocks xmlns:a="http://schemas.openxmlformats.org/drawingml/2006/main" noGrp="1"/>
          </p:cNvSpPr>
          <p:nvPr/>
        </p:nvSpPr>
        <p:spPr>
          <a:xfrm xmlns:a="http://schemas.openxmlformats.org/drawingml/2006/main">
            <a:off x="6675120" y="5687568"/>
            <a:ext cx="4709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A6474"/>
                </a:solidFill>
                <a:latin typeface="Malgun Gothic"/>
                <a:ea typeface="Malgun Gothic"/>
                <a:cs typeface="Malgun Gothic"/>
              </a:rPr>
              <a:t>기준일·출처·원본 보존·RAG 회귀 테스트</a:t>
            </a:r>
          </a:p>
        </p:txBody>
      </p:sp>
      <p:sp>
        <p:nvSpPr>
          <p:cNvPr id="42" name="Text 40">
            <a:extLst xmlns:a="http://schemas.openxmlformats.org/drawingml/2006/main">
              <a:ext uri="{FF2B5EF4-FFF2-40B4-BE49-F238E27FC236}">
                <a16:creationId xmlns:a16="http://schemas.microsoft.com/office/drawing/2014/main" id="{042735B2-1D70-41CA-BFA2-5A5E6F4697F9}"/>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 연금:KDA · KDA 증권  |  18</a:t>
            </a:r>
          </a:p>
        </p:txBody>
      </p:sp>
    </p:spTree>
    <p:extLst>
      <p:ext uri="{BB962C8B-B14F-4D97-AF65-F5344CB8AC3E}">
        <p14:creationId xmlns:p14="http://schemas.microsoft.com/office/powerpoint/2010/main" val="328504359"/>
      </p:ext>
    </p:extLst>
  </p:cSld>
</p:sld>
</file>

<file path=ppt/slides/slide19.xml><?xml version="1.0" encoding="utf-8"?>
<p:sld xmlns:p="http://schemas.openxmlformats.org/presentationml/2006/main">
  <p:cSld>
    <p:bg>
      <p:bgPr>
        <a:solidFill xmlns:a="http://schemas.openxmlformats.org/drawingml/2006/main">
          <a:srgbClr val="0F1E45"/>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C5B8F2-0701-49C5-B314-A10F404CBF49}"/>
              </a:ext>
            </a:extLst>
          </p:cNvPr>
          <p:cNvSpPr>
            <a:spLocks xmlns:a="http://schemas.openxmlformats.org/drawingml/2006/main" noGrp="1"/>
          </p:cNvSpPr>
          <p:nvPr/>
        </p:nvSpPr>
        <p:spPr>
          <a:xfrm xmlns:a="http://schemas.openxmlformats.org/drawingml/2006/main">
            <a:off x="548640" y="502920"/>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8FB0F8"/>
                </a:solidFill>
                <a:latin typeface="Malgun Gothic"/>
                <a:ea typeface="Malgun Gothic"/>
                <a:cs typeface="Malgun Gothic"/>
              </a:rPr>
              <a:t>TEAM · KDA 증권</a:t>
            </a:r>
          </a:p>
        </p:txBody>
      </p:sp>
      <p:sp>
        <p:nvSpPr>
          <p:cNvPr id="3" name="Text 1">
            <a:extLst xmlns:a="http://schemas.openxmlformats.org/drawingml/2006/main">
              <a:ext uri="{FF2B5EF4-FFF2-40B4-BE49-F238E27FC236}">
                <a16:creationId xmlns:a16="http://schemas.microsoft.com/office/drawing/2014/main" id="{95BC3A41-9865-475F-AAA9-DF0267633831}"/>
              </a:ext>
            </a:extLst>
          </p:cNvPr>
          <p:cNvSpPr>
            <a:spLocks xmlns:a="http://schemas.openxmlformats.org/drawingml/2006/main" noGrp="1"/>
          </p:cNvSpPr>
          <p:nvPr/>
        </p:nvSpPr>
        <p:spPr>
          <a:xfrm xmlns:a="http://schemas.openxmlformats.org/drawingml/2006/main">
            <a:off x="548640" y="841248"/>
            <a:ext cx="110916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FFFFFF"/>
                </a:solidFill>
                <a:latin typeface="Malgun Gothic"/>
                <a:ea typeface="Malgun Gothic"/>
                <a:cs typeface="Malgun Gothic"/>
              </a:rPr>
              <a:t>팀원별 담당 역할과 기여</a:t>
            </a:r>
          </a:p>
        </p:txBody>
      </p:sp>
      <p:sp>
        <p:nvSpPr>
          <p:cNvPr id="4" name="Shape 2">
            <a:extLst xmlns:a="http://schemas.openxmlformats.org/drawingml/2006/main">
              <a:ext uri="{FF2B5EF4-FFF2-40B4-BE49-F238E27FC236}">
                <a16:creationId xmlns:a16="http://schemas.microsoft.com/office/drawing/2014/main" id="{CF2EB8C7-A1FF-4277-955C-0EDCEB01268A}"/>
              </a:ext>
            </a:extLst>
          </p:cNvPr>
          <p:cNvSpPr>
            <a:spLocks xmlns:a="http://schemas.openxmlformats.org/drawingml/2006/main" noGrp="1"/>
          </p:cNvSpPr>
          <p:nvPr/>
        </p:nvSpPr>
        <p:spPr>
          <a:xfrm xmlns:a="http://schemas.openxmlformats.org/drawingml/2006/main">
            <a:off x="548640" y="160020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5" name="Text 3">
            <a:extLst xmlns:a="http://schemas.openxmlformats.org/drawingml/2006/main">
              <a:ext uri="{FF2B5EF4-FFF2-40B4-BE49-F238E27FC236}">
                <a16:creationId xmlns:a16="http://schemas.microsoft.com/office/drawing/2014/main" id="{59CE2237-473F-45F9-9C8A-E92B3479E088}"/>
              </a:ext>
            </a:extLst>
          </p:cNvPr>
          <p:cNvSpPr>
            <a:spLocks xmlns:a="http://schemas.openxmlformats.org/drawingml/2006/main" noGrp="1"/>
          </p:cNvSpPr>
          <p:nvPr/>
        </p:nvSpPr>
        <p:spPr>
          <a:xfrm xmlns:a="http://schemas.openxmlformats.org/drawingml/2006/main">
            <a:off x="731520" y="172821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이재용   총괄·AI 아키텍처</a:t>
            </a:r>
          </a:p>
        </p:txBody>
      </p:sp>
      <p:sp>
        <p:nvSpPr>
          <p:cNvPr id="6" name="Text 4">
            <a:extLst xmlns:a="http://schemas.openxmlformats.org/drawingml/2006/main">
              <a:ext uri="{FF2B5EF4-FFF2-40B4-BE49-F238E27FC236}">
                <a16:creationId xmlns:a16="http://schemas.microsoft.com/office/drawing/2014/main" id="{C9D257A9-22FF-4E3F-93DA-1920328DE5F8}"/>
              </a:ext>
            </a:extLst>
          </p:cNvPr>
          <p:cNvSpPr>
            <a:spLocks xmlns:a="http://schemas.openxmlformats.org/drawingml/2006/main" noGrp="1"/>
          </p:cNvSpPr>
          <p:nvPr/>
        </p:nvSpPr>
        <p:spPr>
          <a:xfrm xmlns:a="http://schemas.openxmlformats.org/drawingml/2006/main">
            <a:off x="731520" y="211226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전체 구조 · 규칙 엔진/LLM 분리 · 서비스 통합·검증</a:t>
            </a:r>
          </a:p>
        </p:txBody>
      </p:sp>
      <p:sp>
        <p:nvSpPr>
          <p:cNvPr id="7" name="Shape 5">
            <a:extLst xmlns:a="http://schemas.openxmlformats.org/drawingml/2006/main">
              <a:ext uri="{FF2B5EF4-FFF2-40B4-BE49-F238E27FC236}">
                <a16:creationId xmlns:a16="http://schemas.microsoft.com/office/drawing/2014/main" id="{D00A9B9B-C89C-43CC-9847-667041703DA6}"/>
              </a:ext>
            </a:extLst>
          </p:cNvPr>
          <p:cNvSpPr>
            <a:spLocks xmlns:a="http://schemas.openxmlformats.org/drawingml/2006/main" noGrp="1"/>
          </p:cNvSpPr>
          <p:nvPr/>
        </p:nvSpPr>
        <p:spPr>
          <a:xfrm xmlns:a="http://schemas.openxmlformats.org/drawingml/2006/main">
            <a:off x="4343400" y="160020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8" name="Text 6">
            <a:extLst xmlns:a="http://schemas.openxmlformats.org/drawingml/2006/main">
              <a:ext uri="{FF2B5EF4-FFF2-40B4-BE49-F238E27FC236}">
                <a16:creationId xmlns:a16="http://schemas.microsoft.com/office/drawing/2014/main" id="{7C8A3E1C-A6A7-4D46-8DE6-C6C23E9D2FA3}"/>
              </a:ext>
            </a:extLst>
          </p:cNvPr>
          <p:cNvSpPr>
            <a:spLocks xmlns:a="http://schemas.openxmlformats.org/drawingml/2006/main" noGrp="1"/>
          </p:cNvSpPr>
          <p:nvPr/>
        </p:nvSpPr>
        <p:spPr>
          <a:xfrm xmlns:a="http://schemas.openxmlformats.org/drawingml/2006/main">
            <a:off x="4526280" y="172821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이호연   조장·챗봇 백엔드</a:t>
            </a:r>
          </a:p>
        </p:txBody>
      </p:sp>
      <p:sp>
        <p:nvSpPr>
          <p:cNvPr id="9" name="Text 7">
            <a:extLst xmlns:a="http://schemas.openxmlformats.org/drawingml/2006/main">
              <a:ext uri="{FF2B5EF4-FFF2-40B4-BE49-F238E27FC236}">
                <a16:creationId xmlns:a16="http://schemas.microsoft.com/office/drawing/2014/main" id="{BC51731B-1A83-4282-9E75-1B62791B2042}"/>
              </a:ext>
            </a:extLst>
          </p:cNvPr>
          <p:cNvSpPr>
            <a:spLocks xmlns:a="http://schemas.openxmlformats.org/drawingml/2006/main" noGrp="1"/>
          </p:cNvSpPr>
          <p:nvPr/>
        </p:nvSpPr>
        <p:spPr>
          <a:xfrm xmlns:a="http://schemas.openxmlformats.org/drawingml/2006/main">
            <a:off x="4526280" y="211226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뉴스·ETF 테마·연금계좌 도구 · FastAPI·데이터 연동</a:t>
            </a:r>
          </a:p>
        </p:txBody>
      </p:sp>
      <p:sp>
        <p:nvSpPr>
          <p:cNvPr id="10" name="Shape 8">
            <a:extLst xmlns:a="http://schemas.openxmlformats.org/drawingml/2006/main">
              <a:ext uri="{FF2B5EF4-FFF2-40B4-BE49-F238E27FC236}">
                <a16:creationId xmlns:a16="http://schemas.microsoft.com/office/drawing/2014/main" id="{46A69A65-BE2C-4985-9BBF-61E1B278A198}"/>
              </a:ext>
            </a:extLst>
          </p:cNvPr>
          <p:cNvSpPr>
            <a:spLocks xmlns:a="http://schemas.openxmlformats.org/drawingml/2006/main" noGrp="1"/>
          </p:cNvSpPr>
          <p:nvPr/>
        </p:nvSpPr>
        <p:spPr>
          <a:xfrm xmlns:a="http://schemas.openxmlformats.org/drawingml/2006/main">
            <a:off x="8138160" y="160020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11" name="Text 9">
            <a:extLst xmlns:a="http://schemas.openxmlformats.org/drawingml/2006/main">
              <a:ext uri="{FF2B5EF4-FFF2-40B4-BE49-F238E27FC236}">
                <a16:creationId xmlns:a16="http://schemas.microsoft.com/office/drawing/2014/main" id="{93D6E8ED-61D4-44A1-9856-FE36BE8F4853}"/>
              </a:ext>
            </a:extLst>
          </p:cNvPr>
          <p:cNvSpPr>
            <a:spLocks xmlns:a="http://schemas.openxmlformats.org/drawingml/2006/main" noGrp="1"/>
          </p:cNvSpPr>
          <p:nvPr/>
        </p:nvSpPr>
        <p:spPr>
          <a:xfrm xmlns:a="http://schemas.openxmlformats.org/drawingml/2006/main">
            <a:off x="8321040" y="172821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김태형   연금 엔진·ETF 데이터</a:t>
            </a:r>
          </a:p>
        </p:txBody>
      </p:sp>
      <p:sp>
        <p:nvSpPr>
          <p:cNvPr id="12" name="Text 10">
            <a:extLst xmlns:a="http://schemas.openxmlformats.org/drawingml/2006/main">
              <a:ext uri="{FF2B5EF4-FFF2-40B4-BE49-F238E27FC236}">
                <a16:creationId xmlns:a16="http://schemas.microsoft.com/office/drawing/2014/main" id="{1565C565-0DC7-4641-9E6E-BE75D239DE33}"/>
              </a:ext>
            </a:extLst>
          </p:cNvPr>
          <p:cNvSpPr>
            <a:spLocks xmlns:a="http://schemas.openxmlformats.org/drawingml/2006/main" noGrp="1"/>
          </p:cNvSpPr>
          <p:nvPr/>
        </p:nvSpPr>
        <p:spPr>
          <a:xfrm xmlns:a="http://schemas.openxmlformats.org/drawingml/2006/main">
            <a:off x="8321040" y="211226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계좌 규칙 · 계획가정 · 위험/스트레스 · 공식 ETF 검증</a:t>
            </a:r>
          </a:p>
        </p:txBody>
      </p:sp>
      <p:sp>
        <p:nvSpPr>
          <p:cNvPr id="13" name="Shape 11">
            <a:extLst xmlns:a="http://schemas.openxmlformats.org/drawingml/2006/main">
              <a:ext uri="{FF2B5EF4-FFF2-40B4-BE49-F238E27FC236}">
                <a16:creationId xmlns:a16="http://schemas.microsoft.com/office/drawing/2014/main" id="{D539FEEE-6CFC-4613-B598-A432FA18CE24}"/>
              </a:ext>
            </a:extLst>
          </p:cNvPr>
          <p:cNvSpPr>
            <a:spLocks xmlns:a="http://schemas.openxmlformats.org/drawingml/2006/main" noGrp="1"/>
          </p:cNvSpPr>
          <p:nvPr/>
        </p:nvSpPr>
        <p:spPr>
          <a:xfrm xmlns:a="http://schemas.openxmlformats.org/drawingml/2006/main">
            <a:off x="548640" y="301752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14" name="Text 12">
            <a:extLst xmlns:a="http://schemas.openxmlformats.org/drawingml/2006/main">
              <a:ext uri="{FF2B5EF4-FFF2-40B4-BE49-F238E27FC236}">
                <a16:creationId xmlns:a16="http://schemas.microsoft.com/office/drawing/2014/main" id="{2E58C174-B382-4814-8329-FB1B100B01B4}"/>
              </a:ext>
            </a:extLst>
          </p:cNvPr>
          <p:cNvSpPr>
            <a:spLocks xmlns:a="http://schemas.openxmlformats.org/drawingml/2006/main" noGrp="1"/>
          </p:cNvSpPr>
          <p:nvPr/>
        </p:nvSpPr>
        <p:spPr>
          <a:xfrm xmlns:a="http://schemas.openxmlformats.org/drawingml/2006/main">
            <a:off x="731520" y="314553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최호택   프론트엔드·서비스 UI</a:t>
            </a:r>
          </a:p>
        </p:txBody>
      </p:sp>
      <p:sp>
        <p:nvSpPr>
          <p:cNvPr id="15" name="Text 13">
            <a:extLst xmlns:a="http://schemas.openxmlformats.org/drawingml/2006/main">
              <a:ext uri="{FF2B5EF4-FFF2-40B4-BE49-F238E27FC236}">
                <a16:creationId xmlns:a16="http://schemas.microsoft.com/office/drawing/2014/main" id="{36EF8D44-6F4B-4038-9A87-9381F63AC065}"/>
              </a:ext>
            </a:extLst>
          </p:cNvPr>
          <p:cNvSpPr>
            <a:spLocks xmlns:a="http://schemas.openxmlformats.org/drawingml/2006/main" noGrp="1"/>
          </p:cNvSpPr>
          <p:nvPr/>
        </p:nvSpPr>
        <p:spPr>
          <a:xfrm xmlns:a="http://schemas.openxmlformats.org/drawingml/2006/main">
            <a:off x="731520" y="352958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React PWA · 로그인/온보딩 · 홈·계산기·데모 UX</a:t>
            </a:r>
          </a:p>
        </p:txBody>
      </p:sp>
      <p:sp>
        <p:nvSpPr>
          <p:cNvPr id="16" name="Shape 14">
            <a:extLst xmlns:a="http://schemas.openxmlformats.org/drawingml/2006/main">
              <a:ext uri="{FF2B5EF4-FFF2-40B4-BE49-F238E27FC236}">
                <a16:creationId xmlns:a16="http://schemas.microsoft.com/office/drawing/2014/main" id="{23D44F18-6B99-4F6F-8C90-B3919DA0C6B7}"/>
              </a:ext>
            </a:extLst>
          </p:cNvPr>
          <p:cNvSpPr>
            <a:spLocks xmlns:a="http://schemas.openxmlformats.org/drawingml/2006/main" noGrp="1"/>
          </p:cNvSpPr>
          <p:nvPr/>
        </p:nvSpPr>
        <p:spPr>
          <a:xfrm xmlns:a="http://schemas.openxmlformats.org/drawingml/2006/main">
            <a:off x="4343400" y="301752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17" name="Text 15">
            <a:extLst xmlns:a="http://schemas.openxmlformats.org/drawingml/2006/main">
              <a:ext uri="{FF2B5EF4-FFF2-40B4-BE49-F238E27FC236}">
                <a16:creationId xmlns:a16="http://schemas.microsoft.com/office/drawing/2014/main" id="{0512E205-F92A-411E-87BE-6D9BC540D8D8}"/>
              </a:ext>
            </a:extLst>
          </p:cNvPr>
          <p:cNvSpPr>
            <a:spLocks xmlns:a="http://schemas.openxmlformats.org/drawingml/2006/main" noGrp="1"/>
          </p:cNvSpPr>
          <p:nvPr/>
        </p:nvSpPr>
        <p:spPr>
          <a:xfrm xmlns:a="http://schemas.openxmlformats.org/drawingml/2006/main">
            <a:off x="4526280" y="314553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진재현   프론트엔드·서비스 UI</a:t>
            </a:r>
          </a:p>
        </p:txBody>
      </p:sp>
      <p:sp>
        <p:nvSpPr>
          <p:cNvPr id="18" name="Text 16">
            <a:extLst xmlns:a="http://schemas.openxmlformats.org/drawingml/2006/main">
              <a:ext uri="{FF2B5EF4-FFF2-40B4-BE49-F238E27FC236}">
                <a16:creationId xmlns:a16="http://schemas.microsoft.com/office/drawing/2014/main" id="{BEFFE2E0-F3C1-43FD-98FA-C4CEFAC54E54}"/>
              </a:ext>
            </a:extLst>
          </p:cNvPr>
          <p:cNvSpPr>
            <a:spLocks xmlns:a="http://schemas.openxmlformats.org/drawingml/2006/main" noGrp="1"/>
          </p:cNvSpPr>
          <p:nvPr/>
        </p:nvSpPr>
        <p:spPr>
          <a:xfrm xmlns:a="http://schemas.openxmlformats.org/drawingml/2006/main">
            <a:off x="4526280" y="352958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투자성향 진단 · 챗봇·스트리밍 · 화면 QA</a:t>
            </a:r>
          </a:p>
        </p:txBody>
      </p:sp>
      <p:sp>
        <p:nvSpPr>
          <p:cNvPr id="19" name="Shape 17">
            <a:extLst xmlns:a="http://schemas.openxmlformats.org/drawingml/2006/main">
              <a:ext uri="{FF2B5EF4-FFF2-40B4-BE49-F238E27FC236}">
                <a16:creationId xmlns:a16="http://schemas.microsoft.com/office/drawing/2014/main" id="{8F50A620-A9A2-4595-BD10-C69A87A07383}"/>
              </a:ext>
            </a:extLst>
          </p:cNvPr>
          <p:cNvSpPr>
            <a:spLocks xmlns:a="http://schemas.openxmlformats.org/drawingml/2006/main" noGrp="1"/>
          </p:cNvSpPr>
          <p:nvPr/>
        </p:nvSpPr>
        <p:spPr>
          <a:xfrm xmlns:a="http://schemas.openxmlformats.org/drawingml/2006/main">
            <a:off x="8138160" y="301752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20" name="Text 18">
            <a:extLst xmlns:a="http://schemas.openxmlformats.org/drawingml/2006/main">
              <a:ext uri="{FF2B5EF4-FFF2-40B4-BE49-F238E27FC236}">
                <a16:creationId xmlns:a16="http://schemas.microsoft.com/office/drawing/2014/main" id="{045F0FD2-1F5F-41B5-BA22-A1D96DC4B450}"/>
              </a:ext>
            </a:extLst>
          </p:cNvPr>
          <p:cNvSpPr>
            <a:spLocks xmlns:a="http://schemas.openxmlformats.org/drawingml/2006/main" noGrp="1"/>
          </p:cNvSpPr>
          <p:nvPr/>
        </p:nvSpPr>
        <p:spPr>
          <a:xfrm xmlns:a="http://schemas.openxmlformats.org/drawingml/2006/main">
            <a:off x="8321040" y="314553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정인성   데이터·서비스 통합</a:t>
            </a:r>
          </a:p>
        </p:txBody>
      </p:sp>
      <p:sp>
        <p:nvSpPr>
          <p:cNvPr id="21" name="Text 19">
            <a:extLst xmlns:a="http://schemas.openxmlformats.org/drawingml/2006/main">
              <a:ext uri="{FF2B5EF4-FFF2-40B4-BE49-F238E27FC236}">
                <a16:creationId xmlns:a16="http://schemas.microsoft.com/office/drawing/2014/main" id="{039C0842-B827-4A51-9E5B-4346553AAE28}"/>
              </a:ext>
            </a:extLst>
          </p:cNvPr>
          <p:cNvSpPr>
            <a:spLocks xmlns:a="http://schemas.openxmlformats.org/drawingml/2006/main" noGrp="1"/>
          </p:cNvSpPr>
          <p:nvPr/>
        </p:nvSpPr>
        <p:spPr>
          <a:xfrm xmlns:a="http://schemas.openxmlformats.org/drawingml/2006/main">
            <a:off x="8321040" y="352958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고객 목데이터 · 대표 6인 · Supabase/Auth · 챗봇·데모 UX·QA</a:t>
            </a:r>
          </a:p>
        </p:txBody>
      </p:sp>
      <p:sp>
        <p:nvSpPr>
          <p:cNvPr id="22" name="Text 20">
            <a:extLst xmlns:a="http://schemas.openxmlformats.org/drawingml/2006/main">
              <a:ext uri="{FF2B5EF4-FFF2-40B4-BE49-F238E27FC236}">
                <a16:creationId xmlns:a16="http://schemas.microsoft.com/office/drawing/2014/main" id="{B57F1C30-A785-49D4-8EB9-AE0874A62BF5}"/>
              </a:ext>
            </a:extLst>
          </p:cNvPr>
          <p:cNvSpPr>
            <a:spLocks xmlns:a="http://schemas.openxmlformats.org/drawingml/2006/main" noGrp="1"/>
          </p:cNvSpPr>
          <p:nvPr/>
        </p:nvSpPr>
        <p:spPr>
          <a:xfrm xmlns:a="http://schemas.openxmlformats.org/drawingml/2006/main">
            <a:off x="548640" y="4800600"/>
            <a:ext cx="76809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FFFFFF"/>
                </a:solidFill>
                <a:latin typeface="Malgun Gothic"/>
                <a:ea typeface="Malgun Gothic"/>
                <a:cs typeface="Malgun Gothic"/>
              </a:rPr>
              <a:t>역할은 프론트/백엔드만이 아니라 데이터·엔진·AI·서비스 통합의 실제 기여 기준으로 정리했습니다.</a:t>
            </a:r>
          </a:p>
        </p:txBody>
      </p:sp>
      <p:sp>
        <p:nvSpPr>
          <p:cNvPr id="23" name="Text 21">
            <a:extLst xmlns:a="http://schemas.openxmlformats.org/drawingml/2006/main">
              <a:ext uri="{FF2B5EF4-FFF2-40B4-BE49-F238E27FC236}">
                <a16:creationId xmlns:a16="http://schemas.microsoft.com/office/drawing/2014/main" id="{7F7AB145-5D4B-48DA-B63F-460DED270574}"/>
              </a:ext>
            </a:extLst>
          </p:cNvPr>
          <p:cNvSpPr>
            <a:spLocks xmlns:a="http://schemas.openxmlformats.org/drawingml/2006/main" noGrp="1"/>
          </p:cNvSpPr>
          <p:nvPr/>
        </p:nvSpPr>
        <p:spPr>
          <a:xfrm xmlns:a="http://schemas.openxmlformats.org/drawingml/2006/main">
            <a:off x="8412480" y="4892040"/>
            <a:ext cx="2971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900" b="1">
                <a:solidFill>
                  <a:srgbClr val="FFFFFF"/>
                </a:solidFill>
                <a:latin typeface="Malgun Gothic"/>
                <a:ea typeface="Malgun Gothic"/>
                <a:cs typeface="Malgun Gothic"/>
              </a:rPr>
              <a:t>TEAM &amp; CONTRIBUTION</a:t>
            </a:r>
          </a:p>
        </p:txBody>
      </p:sp>
      <p:sp>
        <p:nvSpPr>
          <p:cNvPr id="24" name="Text 22">
            <a:extLst xmlns:a="http://schemas.openxmlformats.org/drawingml/2006/main">
              <a:ext uri="{FF2B5EF4-FFF2-40B4-BE49-F238E27FC236}">
                <a16:creationId xmlns:a16="http://schemas.microsoft.com/office/drawing/2014/main" id="{B70B4631-6A02-4211-9A61-36E3E648F61F}"/>
              </a:ext>
            </a:extLst>
          </p:cNvPr>
          <p:cNvSpPr>
            <a:spLocks xmlns:a="http://schemas.openxmlformats.org/drawingml/2006/main" noGrp="1"/>
          </p:cNvSpPr>
          <p:nvPr/>
        </p:nvSpPr>
        <p:spPr>
          <a:xfrm xmlns:a="http://schemas.openxmlformats.org/drawingml/2006/main">
            <a:off x="6583680" y="5486400"/>
            <a:ext cx="4800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6E7FA8"/>
                </a:solidFill>
                <a:latin typeface="Malgun Gothic"/>
                <a:ea typeface="Malgun Gothic"/>
                <a:cs typeface="Malgun Gothic"/>
              </a:rPr>
              <a:t>근거: 프로젝트 헌장 §5 · 기획서 §8 · 팀원별 담당업무 문서</a:t>
            </a:r>
          </a:p>
        </p:txBody>
      </p:sp>
    </p:spTree>
    <p:extLst>
      <p:ext uri="{BB962C8B-B14F-4D97-AF65-F5344CB8AC3E}">
        <p14:creationId xmlns:p14="http://schemas.microsoft.com/office/powerpoint/2010/main" val="576268446"/>
      </p:ext>
    </p:extLst>
  </p:cSld>
</p:sld>
</file>

<file path=ppt/slides/slide20.xml><?xml version="1.0" encoding="utf-8"?>
<p:sld xmlns:p="http://schemas.openxmlformats.org/presentationml/2006/main">
  <p:cSld>
    <p:bg>
      <p:bgPr>
        <a:solidFill xmlns:a="http://schemas.openxmlformats.org/drawingml/2006/main">
          <a:srgbClr val="0F1E45"/>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C5B8F2-0701-49C5-B314-A10F404CBF49}"/>
              </a:ext>
            </a:extLst>
          </p:cNvPr>
          <p:cNvSpPr>
            <a:spLocks xmlns:a="http://schemas.openxmlformats.org/drawingml/2006/main" noGrp="1"/>
          </p:cNvSpPr>
          <p:nvPr/>
        </p:nvSpPr>
        <p:spPr>
          <a:xfrm xmlns:a="http://schemas.openxmlformats.org/drawingml/2006/main">
            <a:off x="548640" y="502920"/>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8FB0F8"/>
                </a:solidFill>
                <a:latin typeface="Malgun Gothic"/>
                <a:ea typeface="Malgun Gothic"/>
                <a:cs typeface="Malgun Gothic"/>
              </a:rPr>
              <a:t>TEAM · KDA 증권</a:t>
            </a:r>
          </a:p>
        </p:txBody>
      </p:sp>
      <p:sp>
        <p:nvSpPr>
          <p:cNvPr id="3" name="Text 1">
            <a:extLst xmlns:a="http://schemas.openxmlformats.org/drawingml/2006/main">
              <a:ext uri="{FF2B5EF4-FFF2-40B4-BE49-F238E27FC236}">
                <a16:creationId xmlns:a16="http://schemas.microsoft.com/office/drawing/2014/main" id="{95BC3A41-9865-475F-AAA9-DF0267633831}"/>
              </a:ext>
            </a:extLst>
          </p:cNvPr>
          <p:cNvSpPr>
            <a:spLocks xmlns:a="http://schemas.openxmlformats.org/drawingml/2006/main" noGrp="1"/>
          </p:cNvSpPr>
          <p:nvPr/>
        </p:nvSpPr>
        <p:spPr>
          <a:xfrm xmlns:a="http://schemas.openxmlformats.org/drawingml/2006/main">
            <a:off x="548640" y="841248"/>
            <a:ext cx="110916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FFFFFF"/>
                </a:solidFill>
                <a:latin typeface="Malgun Gothic"/>
                <a:ea typeface="Malgun Gothic"/>
                <a:cs typeface="Malgun Gothic"/>
              </a:rPr>
              <a:t>질문 분야별 담당자</a:t>
            </a:r>
          </a:p>
        </p:txBody>
      </p:sp>
      <p:sp>
        <p:nvSpPr>
          <p:cNvPr id="4" name="Shape 2">
            <a:extLst xmlns:a="http://schemas.openxmlformats.org/drawingml/2006/main">
              <a:ext uri="{FF2B5EF4-FFF2-40B4-BE49-F238E27FC236}">
                <a16:creationId xmlns:a16="http://schemas.microsoft.com/office/drawing/2014/main" id="{CF2EB8C7-A1FF-4277-955C-0EDCEB01268A}"/>
              </a:ext>
            </a:extLst>
          </p:cNvPr>
          <p:cNvSpPr>
            <a:spLocks xmlns:a="http://schemas.openxmlformats.org/drawingml/2006/main" noGrp="1"/>
          </p:cNvSpPr>
          <p:nvPr/>
        </p:nvSpPr>
        <p:spPr>
          <a:xfrm xmlns:a="http://schemas.openxmlformats.org/drawingml/2006/main">
            <a:off x="548640" y="160020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5" name="Text 3">
            <a:extLst xmlns:a="http://schemas.openxmlformats.org/drawingml/2006/main">
              <a:ext uri="{FF2B5EF4-FFF2-40B4-BE49-F238E27FC236}">
                <a16:creationId xmlns:a16="http://schemas.microsoft.com/office/drawing/2014/main" id="{59CE2237-473F-45F9-9C8A-E92B3479E088}"/>
              </a:ext>
            </a:extLst>
          </p:cNvPr>
          <p:cNvSpPr>
            <a:spLocks xmlns:a="http://schemas.openxmlformats.org/drawingml/2006/main" noGrp="1"/>
          </p:cNvSpPr>
          <p:nvPr/>
        </p:nvSpPr>
        <p:spPr>
          <a:xfrm xmlns:a="http://schemas.openxmlformats.org/drawingml/2006/main">
            <a:off x="731520" y="172821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서비스 · 아키텍처</a:t>
            </a:r>
          </a:p>
        </p:txBody>
      </p:sp>
      <p:sp>
        <p:nvSpPr>
          <p:cNvPr id="6" name="Text 4">
            <a:extLst xmlns:a="http://schemas.openxmlformats.org/drawingml/2006/main">
              <a:ext uri="{FF2B5EF4-FFF2-40B4-BE49-F238E27FC236}">
                <a16:creationId xmlns:a16="http://schemas.microsoft.com/office/drawing/2014/main" id="{C9D257A9-22FF-4E3F-93DA-1920328DE5F8}"/>
              </a:ext>
            </a:extLst>
          </p:cNvPr>
          <p:cNvSpPr>
            <a:spLocks xmlns:a="http://schemas.openxmlformats.org/drawingml/2006/main" noGrp="1"/>
          </p:cNvSpPr>
          <p:nvPr/>
        </p:nvSpPr>
        <p:spPr>
          <a:xfrm xmlns:a="http://schemas.openxmlformats.org/drawingml/2006/main">
            <a:off x="731520" y="211226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이재용 — 전체 구조·통합·검증</a:t>
            </a:r>
          </a:p>
        </p:txBody>
      </p:sp>
      <p:sp>
        <p:nvSpPr>
          <p:cNvPr id="7" name="Shape 5">
            <a:extLst xmlns:a="http://schemas.openxmlformats.org/drawingml/2006/main">
              <a:ext uri="{FF2B5EF4-FFF2-40B4-BE49-F238E27FC236}">
                <a16:creationId xmlns:a16="http://schemas.microsoft.com/office/drawing/2014/main" id="{D00A9B9B-C89C-43CC-9847-667041703DA6}"/>
              </a:ext>
            </a:extLst>
          </p:cNvPr>
          <p:cNvSpPr>
            <a:spLocks xmlns:a="http://schemas.openxmlformats.org/drawingml/2006/main" noGrp="1"/>
          </p:cNvSpPr>
          <p:nvPr/>
        </p:nvSpPr>
        <p:spPr>
          <a:xfrm xmlns:a="http://schemas.openxmlformats.org/drawingml/2006/main">
            <a:off x="4343400" y="160020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8" name="Text 6">
            <a:extLst xmlns:a="http://schemas.openxmlformats.org/drawingml/2006/main">
              <a:ext uri="{FF2B5EF4-FFF2-40B4-BE49-F238E27FC236}">
                <a16:creationId xmlns:a16="http://schemas.microsoft.com/office/drawing/2014/main" id="{7C8A3E1C-A6A7-4D46-8DE6-C6C23E9D2FA3}"/>
              </a:ext>
            </a:extLst>
          </p:cNvPr>
          <p:cNvSpPr>
            <a:spLocks xmlns:a="http://schemas.openxmlformats.org/drawingml/2006/main" noGrp="1"/>
          </p:cNvSpPr>
          <p:nvPr/>
        </p:nvSpPr>
        <p:spPr>
          <a:xfrm xmlns:a="http://schemas.openxmlformats.org/drawingml/2006/main">
            <a:off x="4526280" y="172821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챗봇 · 백엔드</a:t>
            </a:r>
          </a:p>
        </p:txBody>
      </p:sp>
      <p:sp>
        <p:nvSpPr>
          <p:cNvPr id="9" name="Text 7">
            <a:extLst xmlns:a="http://schemas.openxmlformats.org/drawingml/2006/main">
              <a:ext uri="{FF2B5EF4-FFF2-40B4-BE49-F238E27FC236}">
                <a16:creationId xmlns:a16="http://schemas.microsoft.com/office/drawing/2014/main" id="{BC51731B-1A83-4282-9E75-1B62791B2042}"/>
              </a:ext>
            </a:extLst>
          </p:cNvPr>
          <p:cNvSpPr>
            <a:spLocks xmlns:a="http://schemas.openxmlformats.org/drawingml/2006/main" noGrp="1"/>
          </p:cNvSpPr>
          <p:nvPr/>
        </p:nvSpPr>
        <p:spPr>
          <a:xfrm xmlns:a="http://schemas.openxmlformats.org/drawingml/2006/main">
            <a:off x="4526280" y="211226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이호연 — 도구·데이터·FastAPI</a:t>
            </a:r>
          </a:p>
        </p:txBody>
      </p:sp>
      <p:sp>
        <p:nvSpPr>
          <p:cNvPr id="10" name="Shape 8">
            <a:extLst xmlns:a="http://schemas.openxmlformats.org/drawingml/2006/main">
              <a:ext uri="{FF2B5EF4-FFF2-40B4-BE49-F238E27FC236}">
                <a16:creationId xmlns:a16="http://schemas.microsoft.com/office/drawing/2014/main" id="{46A69A65-BE2C-4985-9BBF-61E1B278A198}"/>
              </a:ext>
            </a:extLst>
          </p:cNvPr>
          <p:cNvSpPr>
            <a:spLocks xmlns:a="http://schemas.openxmlformats.org/drawingml/2006/main" noGrp="1"/>
          </p:cNvSpPr>
          <p:nvPr/>
        </p:nvSpPr>
        <p:spPr>
          <a:xfrm xmlns:a="http://schemas.openxmlformats.org/drawingml/2006/main">
            <a:off x="8138160" y="160020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11" name="Text 9">
            <a:extLst xmlns:a="http://schemas.openxmlformats.org/drawingml/2006/main">
              <a:ext uri="{FF2B5EF4-FFF2-40B4-BE49-F238E27FC236}">
                <a16:creationId xmlns:a16="http://schemas.microsoft.com/office/drawing/2014/main" id="{93D6E8ED-61D4-44A1-9856-FE36BE8F4853}"/>
              </a:ext>
            </a:extLst>
          </p:cNvPr>
          <p:cNvSpPr>
            <a:spLocks xmlns:a="http://schemas.openxmlformats.org/drawingml/2006/main" noGrp="1"/>
          </p:cNvSpPr>
          <p:nvPr/>
        </p:nvSpPr>
        <p:spPr>
          <a:xfrm xmlns:a="http://schemas.openxmlformats.org/drawingml/2006/main">
            <a:off x="8321040" y="172821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연금 엔진 · ETF</a:t>
            </a:r>
          </a:p>
        </p:txBody>
      </p:sp>
      <p:sp>
        <p:nvSpPr>
          <p:cNvPr id="12" name="Text 10">
            <a:extLst xmlns:a="http://schemas.openxmlformats.org/drawingml/2006/main">
              <a:ext uri="{FF2B5EF4-FFF2-40B4-BE49-F238E27FC236}">
                <a16:creationId xmlns:a16="http://schemas.microsoft.com/office/drawing/2014/main" id="{1565C565-0DC7-4641-9E6E-BE75D239DE33}"/>
              </a:ext>
            </a:extLst>
          </p:cNvPr>
          <p:cNvSpPr>
            <a:spLocks xmlns:a="http://schemas.openxmlformats.org/drawingml/2006/main" noGrp="1"/>
          </p:cNvSpPr>
          <p:nvPr/>
        </p:nvSpPr>
        <p:spPr>
          <a:xfrm xmlns:a="http://schemas.openxmlformats.org/drawingml/2006/main">
            <a:off x="8321040" y="211226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김태형 — 계좌 규칙·위험·가정</a:t>
            </a:r>
          </a:p>
        </p:txBody>
      </p:sp>
      <p:sp>
        <p:nvSpPr>
          <p:cNvPr id="13" name="Shape 11">
            <a:extLst xmlns:a="http://schemas.openxmlformats.org/drawingml/2006/main">
              <a:ext uri="{FF2B5EF4-FFF2-40B4-BE49-F238E27FC236}">
                <a16:creationId xmlns:a16="http://schemas.microsoft.com/office/drawing/2014/main" id="{D539FEEE-6CFC-4613-B598-A432FA18CE24}"/>
              </a:ext>
            </a:extLst>
          </p:cNvPr>
          <p:cNvSpPr>
            <a:spLocks xmlns:a="http://schemas.openxmlformats.org/drawingml/2006/main" noGrp="1"/>
          </p:cNvSpPr>
          <p:nvPr/>
        </p:nvSpPr>
        <p:spPr>
          <a:xfrm xmlns:a="http://schemas.openxmlformats.org/drawingml/2006/main">
            <a:off x="548640" y="301752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14" name="Text 12">
            <a:extLst xmlns:a="http://schemas.openxmlformats.org/drawingml/2006/main">
              <a:ext uri="{FF2B5EF4-FFF2-40B4-BE49-F238E27FC236}">
                <a16:creationId xmlns:a16="http://schemas.microsoft.com/office/drawing/2014/main" id="{2E58C174-B382-4814-8329-FB1B100B01B4}"/>
              </a:ext>
            </a:extLst>
          </p:cNvPr>
          <p:cNvSpPr>
            <a:spLocks xmlns:a="http://schemas.openxmlformats.org/drawingml/2006/main" noGrp="1"/>
          </p:cNvSpPr>
          <p:nvPr/>
        </p:nvSpPr>
        <p:spPr>
          <a:xfrm xmlns:a="http://schemas.openxmlformats.org/drawingml/2006/main">
            <a:off x="731520" y="314553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프론트 · 데모</a:t>
            </a:r>
          </a:p>
        </p:txBody>
      </p:sp>
      <p:sp>
        <p:nvSpPr>
          <p:cNvPr id="15" name="Text 13">
            <a:extLst xmlns:a="http://schemas.openxmlformats.org/drawingml/2006/main">
              <a:ext uri="{FF2B5EF4-FFF2-40B4-BE49-F238E27FC236}">
                <a16:creationId xmlns:a16="http://schemas.microsoft.com/office/drawing/2014/main" id="{36EF8D44-6F4B-4038-9A87-9381F63AC065}"/>
              </a:ext>
            </a:extLst>
          </p:cNvPr>
          <p:cNvSpPr>
            <a:spLocks xmlns:a="http://schemas.openxmlformats.org/drawingml/2006/main" noGrp="1"/>
          </p:cNvSpPr>
          <p:nvPr/>
        </p:nvSpPr>
        <p:spPr>
          <a:xfrm xmlns:a="http://schemas.openxmlformats.org/drawingml/2006/main">
            <a:off x="731520" y="352958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최호택 — 골든패스·화면 UX</a:t>
            </a:r>
          </a:p>
        </p:txBody>
      </p:sp>
      <p:sp>
        <p:nvSpPr>
          <p:cNvPr id="16" name="Shape 14">
            <a:extLst xmlns:a="http://schemas.openxmlformats.org/drawingml/2006/main">
              <a:ext uri="{FF2B5EF4-FFF2-40B4-BE49-F238E27FC236}">
                <a16:creationId xmlns:a16="http://schemas.microsoft.com/office/drawing/2014/main" id="{23D44F18-6B99-4F6F-8C90-B3919DA0C6B7}"/>
              </a:ext>
            </a:extLst>
          </p:cNvPr>
          <p:cNvSpPr>
            <a:spLocks xmlns:a="http://schemas.openxmlformats.org/drawingml/2006/main" noGrp="1"/>
          </p:cNvSpPr>
          <p:nvPr/>
        </p:nvSpPr>
        <p:spPr>
          <a:xfrm xmlns:a="http://schemas.openxmlformats.org/drawingml/2006/main">
            <a:off x="4343400" y="301752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17" name="Text 15">
            <a:extLst xmlns:a="http://schemas.openxmlformats.org/drawingml/2006/main">
              <a:ext uri="{FF2B5EF4-FFF2-40B4-BE49-F238E27FC236}">
                <a16:creationId xmlns:a16="http://schemas.microsoft.com/office/drawing/2014/main" id="{0512E205-F92A-411E-87BE-6D9BC540D8D8}"/>
              </a:ext>
            </a:extLst>
          </p:cNvPr>
          <p:cNvSpPr>
            <a:spLocks xmlns:a="http://schemas.openxmlformats.org/drawingml/2006/main" noGrp="1"/>
          </p:cNvSpPr>
          <p:nvPr/>
        </p:nvSpPr>
        <p:spPr>
          <a:xfrm xmlns:a="http://schemas.openxmlformats.org/drawingml/2006/main">
            <a:off x="4526280" y="314553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프론트 · 챗 UI</a:t>
            </a:r>
          </a:p>
        </p:txBody>
      </p:sp>
      <p:sp>
        <p:nvSpPr>
          <p:cNvPr id="18" name="Text 16">
            <a:extLst xmlns:a="http://schemas.openxmlformats.org/drawingml/2006/main">
              <a:ext uri="{FF2B5EF4-FFF2-40B4-BE49-F238E27FC236}">
                <a16:creationId xmlns:a16="http://schemas.microsoft.com/office/drawing/2014/main" id="{BEFFE2E0-F3C1-43FD-98FA-C4CEFAC54E54}"/>
              </a:ext>
            </a:extLst>
          </p:cNvPr>
          <p:cNvSpPr>
            <a:spLocks xmlns:a="http://schemas.openxmlformats.org/drawingml/2006/main" noGrp="1"/>
          </p:cNvSpPr>
          <p:nvPr/>
        </p:nvSpPr>
        <p:spPr>
          <a:xfrm xmlns:a="http://schemas.openxmlformats.org/drawingml/2006/main">
            <a:off x="4526280" y="352958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진재현 — 투자성향 진단·챗 UI</a:t>
            </a:r>
          </a:p>
        </p:txBody>
      </p:sp>
      <p:sp>
        <p:nvSpPr>
          <p:cNvPr id="19" name="Shape 17">
            <a:extLst xmlns:a="http://schemas.openxmlformats.org/drawingml/2006/main">
              <a:ext uri="{FF2B5EF4-FFF2-40B4-BE49-F238E27FC236}">
                <a16:creationId xmlns:a16="http://schemas.microsoft.com/office/drawing/2014/main" id="{8F50A620-A9A2-4595-BD10-C69A87A07383}"/>
              </a:ext>
            </a:extLst>
          </p:cNvPr>
          <p:cNvSpPr>
            <a:spLocks xmlns:a="http://schemas.openxmlformats.org/drawingml/2006/main" noGrp="1"/>
          </p:cNvSpPr>
          <p:nvPr/>
        </p:nvSpPr>
        <p:spPr>
          <a:xfrm xmlns:a="http://schemas.openxmlformats.org/drawingml/2006/main">
            <a:off x="8138160" y="3017520"/>
            <a:ext cx="3602736" cy="1234440"/>
          </a:xfrm>
          <a:prstGeom xmlns:a="http://schemas.openxmlformats.org/drawingml/2006/main" prst="roundRect">
            <a:avLst>
              <a:gd name="adj" fmla="val 7407"/>
            </a:avLst>
          </a:prstGeom>
          <a:solidFill xmlns:a="http://schemas.openxmlformats.org/drawingml/2006/main">
            <a:srgbClr val="1B2F66"/>
          </a:solidFill>
          <a:ln xmlns:a="http://schemas.openxmlformats.org/drawingml/2006/main" w="12700">
            <a:solidFill>
              <a:srgbClr val="31437F"/>
            </a:solidFill>
            <a:prstDash val="solid"/>
          </a:ln>
        </p:spPr>
      </p:sp>
      <p:sp>
        <p:nvSpPr>
          <p:cNvPr id="20" name="Text 18">
            <a:extLst xmlns:a="http://schemas.openxmlformats.org/drawingml/2006/main">
              <a:ext uri="{FF2B5EF4-FFF2-40B4-BE49-F238E27FC236}">
                <a16:creationId xmlns:a16="http://schemas.microsoft.com/office/drawing/2014/main" id="{045F0FD2-1F5F-41B5-BA22-A1D96DC4B450}"/>
              </a:ext>
            </a:extLst>
          </p:cNvPr>
          <p:cNvSpPr>
            <a:spLocks xmlns:a="http://schemas.openxmlformats.org/drawingml/2006/main" noGrp="1"/>
          </p:cNvSpPr>
          <p:nvPr/>
        </p:nvSpPr>
        <p:spPr>
          <a:xfrm xmlns:a="http://schemas.openxmlformats.org/drawingml/2006/main">
            <a:off x="8321040" y="3145536"/>
            <a:ext cx="323697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Malgun Gothic"/>
                <a:ea typeface="Malgun Gothic"/>
                <a:cs typeface="Malgun Gothic"/>
              </a:rPr>
              <a:t>데이터 · 서비스 통합</a:t>
            </a:r>
          </a:p>
        </p:txBody>
      </p:sp>
      <p:sp>
        <p:nvSpPr>
          <p:cNvPr id="21" name="Text 19">
            <a:extLst xmlns:a="http://schemas.openxmlformats.org/drawingml/2006/main">
              <a:ext uri="{FF2B5EF4-FFF2-40B4-BE49-F238E27FC236}">
                <a16:creationId xmlns:a16="http://schemas.microsoft.com/office/drawing/2014/main" id="{039C0842-B827-4A51-9E5B-4346553AAE28}"/>
              </a:ext>
            </a:extLst>
          </p:cNvPr>
          <p:cNvSpPr>
            <a:spLocks xmlns:a="http://schemas.openxmlformats.org/drawingml/2006/main" noGrp="1"/>
          </p:cNvSpPr>
          <p:nvPr/>
        </p:nvSpPr>
        <p:spPr>
          <a:xfrm xmlns:a="http://schemas.openxmlformats.org/drawingml/2006/main">
            <a:off x="8321040" y="3529584"/>
            <a:ext cx="323697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80">
                <a:solidFill>
                  <a:srgbClr val="9DB0D8"/>
                </a:solidFill>
                <a:latin typeface="Malgun Gothic"/>
                <a:ea typeface="Malgun Gothic"/>
                <a:cs typeface="Malgun Gothic"/>
              </a:rPr>
              <a:t>정인성 — 고객데이터·Auth·시연 QA</a:t>
            </a:r>
          </a:p>
        </p:txBody>
      </p:sp>
      <p:sp>
        <p:nvSpPr>
          <p:cNvPr id="22" name="Text 20">
            <a:extLst xmlns:a="http://schemas.openxmlformats.org/drawingml/2006/main">
              <a:ext uri="{FF2B5EF4-FFF2-40B4-BE49-F238E27FC236}">
                <a16:creationId xmlns:a16="http://schemas.microsoft.com/office/drawing/2014/main" id="{B57F1C30-A785-49D4-8EB9-AE0874A62BF5}"/>
              </a:ext>
            </a:extLst>
          </p:cNvPr>
          <p:cNvSpPr>
            <a:spLocks xmlns:a="http://schemas.openxmlformats.org/drawingml/2006/main" noGrp="1"/>
          </p:cNvSpPr>
          <p:nvPr/>
        </p:nvSpPr>
        <p:spPr>
          <a:xfrm xmlns:a="http://schemas.openxmlformats.org/drawingml/2006/main">
            <a:off x="548640" y="4800600"/>
            <a:ext cx="76809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FFFFFF"/>
                </a:solidFill>
                <a:latin typeface="Malgun Gothic"/>
                <a:ea typeface="Malgun Gothic"/>
                <a:cs typeface="Malgun Gothic"/>
              </a:rPr>
              <a:t>퇴직연금부터 시작해 규칙으로 계산하고, AI는 설명만 — 사용자가 납득하고 직접 결정합니다.</a:t>
            </a:r>
          </a:p>
        </p:txBody>
      </p:sp>
      <p:sp>
        <p:nvSpPr>
          <p:cNvPr id="23" name="Text 21">
            <a:extLst xmlns:a="http://schemas.openxmlformats.org/drawingml/2006/main">
              <a:ext uri="{FF2B5EF4-FFF2-40B4-BE49-F238E27FC236}">
                <a16:creationId xmlns:a16="http://schemas.microsoft.com/office/drawing/2014/main" id="{7F7AB145-5D4B-48DA-B63F-460DED270574}"/>
              </a:ext>
            </a:extLst>
          </p:cNvPr>
          <p:cNvSpPr>
            <a:spLocks xmlns:a="http://schemas.openxmlformats.org/drawingml/2006/main" noGrp="1"/>
          </p:cNvSpPr>
          <p:nvPr/>
        </p:nvSpPr>
        <p:spPr>
          <a:xfrm xmlns:a="http://schemas.openxmlformats.org/drawingml/2006/main">
            <a:off x="8412480" y="4892040"/>
            <a:ext cx="2971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900" b="1">
                <a:solidFill>
                  <a:srgbClr val="FFFFFF"/>
                </a:solidFill>
                <a:latin typeface="Malgun Gothic"/>
                <a:ea typeface="Malgun Gothic"/>
                <a:cs typeface="Malgun Gothic"/>
              </a:rPr>
              <a:t>감사합니다 · Q&amp;A</a:t>
            </a:r>
          </a:p>
        </p:txBody>
      </p:sp>
      <p:sp>
        <p:nvSpPr>
          <p:cNvPr id="24" name="Text 22">
            <a:extLst xmlns:a="http://schemas.openxmlformats.org/drawingml/2006/main">
              <a:ext uri="{FF2B5EF4-FFF2-40B4-BE49-F238E27FC236}">
                <a16:creationId xmlns:a16="http://schemas.microsoft.com/office/drawing/2014/main" id="{B70B4631-6A02-4211-9A61-36E3E648F61F}"/>
              </a:ext>
            </a:extLst>
          </p:cNvPr>
          <p:cNvSpPr>
            <a:spLocks xmlns:a="http://schemas.openxmlformats.org/drawingml/2006/main" noGrp="1"/>
          </p:cNvSpPr>
          <p:nvPr/>
        </p:nvSpPr>
        <p:spPr>
          <a:xfrm xmlns:a="http://schemas.openxmlformats.org/drawingml/2006/main">
            <a:off x="6583680" y="5486400"/>
            <a:ext cx="4800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6E7FA8"/>
                </a:solidFill>
                <a:latin typeface="Malgun Gothic"/>
                <a:ea typeface="Malgun Gothic"/>
                <a:cs typeface="Malgun Gothic"/>
              </a:rPr>
              <a:t>근거·API·ERD·엔진 계약은 Appendix 및 프로젝트 문서로 제공합니다.</a:t>
            </a:r>
          </a:p>
        </p:txBody>
      </p:sp>
    </p:spTree>
    <p:extLst>
      <p:ext uri="{BB962C8B-B14F-4D97-AF65-F5344CB8AC3E}">
        <p14:creationId xmlns:p14="http://schemas.microsoft.com/office/powerpoint/2010/main" val="57626844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E2F2F3-7ADC-4402-AF96-784FB6949A51}"/>
              </a:ext>
            </a:extLst>
          </p:cNvPr>
          <p:cNvSpPr>
            <a:spLocks xmlns:a="http://schemas.openxmlformats.org/drawingml/2006/main" noGrp="1"/>
          </p:cNvSpPr>
          <p:nvPr/>
        </p:nvSpPr>
        <p:spPr>
          <a:xfrm xmlns:a="http://schemas.openxmlformats.org/drawingml/2006/main">
            <a:off x="548640" y="402336"/>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A4FD8"/>
                </a:solidFill>
                <a:latin typeface="Malgun Gothic"/>
                <a:ea typeface="Malgun Gothic"/>
                <a:cs typeface="Malgun Gothic"/>
              </a:rPr>
              <a:t>APPENDIX · 출처 · 조사방법</a:t>
            </a:r>
          </a:p>
        </p:txBody>
      </p:sp>
      <p:sp>
        <p:nvSpPr>
          <p:cNvPr id="3" name="Text 1">
            <a:extLst xmlns:a="http://schemas.openxmlformats.org/drawingml/2006/main">
              <a:ext uri="{FF2B5EF4-FFF2-40B4-BE49-F238E27FC236}">
                <a16:creationId xmlns:a16="http://schemas.microsoft.com/office/drawing/2014/main" id="{E5C62A69-348C-43CF-965D-BCC42A17C38C}"/>
              </a:ext>
            </a:extLst>
          </p:cNvPr>
          <p:cNvSpPr>
            <a:spLocks xmlns:a="http://schemas.openxmlformats.org/drawingml/2006/main" noGrp="1"/>
          </p:cNvSpPr>
          <p:nvPr/>
        </p:nvSpPr>
        <p:spPr>
          <a:xfrm xmlns:a="http://schemas.openxmlformats.org/drawingml/2006/main">
            <a:off x="548640" y="676656"/>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8202E"/>
                </a:solidFill>
                <a:latin typeface="Malgun Gothic"/>
                <a:ea typeface="Malgun Gothic"/>
                <a:cs typeface="Malgun Gothic"/>
              </a:rPr>
              <a:t>주요 주장마다 기준일·분모·원문을 연결했습니다</a:t>
            </a:r>
          </a:p>
        </p:txBody>
      </p:sp>
      <p:sp>
        <p:nvSpPr>
          <p:cNvPr id="4" name="Shape 2">
            <a:extLst xmlns:a="http://schemas.openxmlformats.org/drawingml/2006/main">
              <a:ext uri="{FF2B5EF4-FFF2-40B4-BE49-F238E27FC236}">
                <a16:creationId xmlns:a16="http://schemas.microsoft.com/office/drawing/2014/main" id="{507F8BFB-A586-410F-A2DC-03FA3C675A7B}"/>
              </a:ext>
            </a:extLst>
          </p:cNvPr>
          <p:cNvSpPr>
            <a:spLocks xmlns:a="http://schemas.openxmlformats.org/drawingml/2006/main" noGrp="1"/>
          </p:cNvSpPr>
          <p:nvPr/>
        </p:nvSpPr>
        <p:spPr>
          <a:xfrm xmlns:a="http://schemas.openxmlformats.org/drawingml/2006/main">
            <a:off x="548640" y="1463040"/>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5" name="Text 3">
            <a:extLst xmlns:a="http://schemas.openxmlformats.org/drawingml/2006/main">
              <a:ext uri="{FF2B5EF4-FFF2-40B4-BE49-F238E27FC236}">
                <a16:creationId xmlns:a16="http://schemas.microsoft.com/office/drawing/2014/main" id="{AF2323A2-2E8E-40EB-983E-8FC326026346}"/>
              </a:ext>
            </a:extLst>
          </p:cNvPr>
          <p:cNvSpPr>
            <a:spLocks xmlns:a="http://schemas.openxmlformats.org/drawingml/2006/main" noGrp="1"/>
          </p:cNvSpPr>
          <p:nvPr/>
        </p:nvSpPr>
        <p:spPr>
          <a:xfrm xmlns:a="http://schemas.openxmlformats.org/drawingml/2006/main">
            <a:off x="694944" y="1581912"/>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경총 2025 인식조사</a:t>
            </a:r>
          </a:p>
        </p:txBody>
      </p:sp>
      <p:sp>
        <p:nvSpPr>
          <p:cNvPr id="6" name="Text 4">
            <a:extLst xmlns:a="http://schemas.openxmlformats.org/drawingml/2006/main">
              <a:ext uri="{FF2B5EF4-FFF2-40B4-BE49-F238E27FC236}">
                <a16:creationId xmlns:a16="http://schemas.microsoft.com/office/drawing/2014/main" id="{07CC199D-1DDE-4F94-B1BF-CCC1583BDB8A}"/>
              </a:ext>
            </a:extLst>
          </p:cNvPr>
          <p:cNvSpPr>
            <a:spLocks xmlns:a="http://schemas.openxmlformats.org/drawingml/2006/main" noGrp="1"/>
          </p:cNvSpPr>
          <p:nvPr/>
        </p:nvSpPr>
        <p:spPr>
          <a:xfrm xmlns:a="http://schemas.openxmlformats.org/drawingml/2006/main">
            <a:off x="694944" y="1901952"/>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n=1,003 · 2025.6 · ±3.1%p
eiec.kdi.re.kr/.../0000196977</a:t>
            </a:r>
          </a:p>
        </p:txBody>
      </p:sp>
      <p:sp>
        <p:nvSpPr>
          <p:cNvPr id="7" name="Shape 5">
            <a:extLst xmlns:a="http://schemas.openxmlformats.org/drawingml/2006/main">
              <a:ext uri="{FF2B5EF4-FFF2-40B4-BE49-F238E27FC236}">
                <a16:creationId xmlns:a16="http://schemas.microsoft.com/office/drawing/2014/main" id="{E85FD767-5B10-4BFB-BAB5-D8FA184D1274}"/>
              </a:ext>
            </a:extLst>
          </p:cNvPr>
          <p:cNvSpPr>
            <a:spLocks xmlns:a="http://schemas.openxmlformats.org/drawingml/2006/main" noGrp="1"/>
          </p:cNvSpPr>
          <p:nvPr/>
        </p:nvSpPr>
        <p:spPr>
          <a:xfrm xmlns:a="http://schemas.openxmlformats.org/drawingml/2006/main">
            <a:off x="3374136" y="1463040"/>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8" name="Text 6">
            <a:extLst xmlns:a="http://schemas.openxmlformats.org/drawingml/2006/main">
              <a:ext uri="{FF2B5EF4-FFF2-40B4-BE49-F238E27FC236}">
                <a16:creationId xmlns:a16="http://schemas.microsoft.com/office/drawing/2014/main" id="{463E2EA7-79F7-4B18-9C27-E75A1CA9FB10}"/>
              </a:ext>
            </a:extLst>
          </p:cNvPr>
          <p:cNvSpPr>
            <a:spLocks xmlns:a="http://schemas.openxmlformats.org/drawingml/2006/main" noGrp="1"/>
          </p:cNvSpPr>
          <p:nvPr/>
        </p:nvSpPr>
        <p:spPr>
          <a:xfrm xmlns:a="http://schemas.openxmlformats.org/drawingml/2006/main">
            <a:off x="3520440" y="1581912"/>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고용부·금감원 투자 백서</a:t>
            </a:r>
          </a:p>
        </p:txBody>
      </p:sp>
      <p:sp>
        <p:nvSpPr>
          <p:cNvPr id="9" name="Text 7">
            <a:extLst xmlns:a="http://schemas.openxmlformats.org/drawingml/2006/main">
              <a:ext uri="{FF2B5EF4-FFF2-40B4-BE49-F238E27FC236}">
                <a16:creationId xmlns:a16="http://schemas.microsoft.com/office/drawing/2014/main" id="{7E4DE8DF-7443-4342-8338-3D604AD75086}"/>
              </a:ext>
            </a:extLst>
          </p:cNvPr>
          <p:cNvSpPr>
            <a:spLocks xmlns:a="http://schemas.openxmlformats.org/drawingml/2006/main" noGrp="1"/>
          </p:cNvSpPr>
          <p:nvPr/>
        </p:nvSpPr>
        <p:spPr>
          <a:xfrm xmlns:a="http://schemas.openxmlformats.org/drawingml/2006/main">
            <a:off x="3520440" y="1901952"/>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2025년 말 기준 · 2026.5.20
moel.go.kr/.../news_seq=19411</a:t>
            </a:r>
          </a:p>
        </p:txBody>
      </p:sp>
      <p:sp>
        <p:nvSpPr>
          <p:cNvPr id="10" name="Shape 8">
            <a:extLst xmlns:a="http://schemas.openxmlformats.org/drawingml/2006/main">
              <a:ext uri="{FF2B5EF4-FFF2-40B4-BE49-F238E27FC236}">
                <a16:creationId xmlns:a16="http://schemas.microsoft.com/office/drawing/2014/main" id="{EBFF55D8-741C-4366-A1DD-85502240B81D}"/>
              </a:ext>
            </a:extLst>
          </p:cNvPr>
          <p:cNvSpPr>
            <a:spLocks xmlns:a="http://schemas.openxmlformats.org/drawingml/2006/main" noGrp="1"/>
          </p:cNvSpPr>
          <p:nvPr/>
        </p:nvSpPr>
        <p:spPr>
          <a:xfrm xmlns:a="http://schemas.openxmlformats.org/drawingml/2006/main">
            <a:off x="6199632" y="1463040"/>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11" name="Text 9">
            <a:extLst xmlns:a="http://schemas.openxmlformats.org/drawingml/2006/main">
              <a:ext uri="{FF2B5EF4-FFF2-40B4-BE49-F238E27FC236}">
                <a16:creationId xmlns:a16="http://schemas.microsoft.com/office/drawing/2014/main" id="{134CFE8D-DF1B-4C3B-B45A-3FA3FF8325BD}"/>
              </a:ext>
            </a:extLst>
          </p:cNvPr>
          <p:cNvSpPr>
            <a:spLocks xmlns:a="http://schemas.openxmlformats.org/drawingml/2006/main" noGrp="1"/>
          </p:cNvSpPr>
          <p:nvPr/>
        </p:nvSpPr>
        <p:spPr>
          <a:xfrm xmlns:a="http://schemas.openxmlformats.org/drawingml/2006/main">
            <a:off x="6345936" y="1581912"/>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퇴직연금 실물이전</a:t>
            </a:r>
          </a:p>
        </p:txBody>
      </p:sp>
      <p:sp>
        <p:nvSpPr>
          <p:cNvPr id="12" name="Text 10">
            <a:extLst xmlns:a="http://schemas.openxmlformats.org/drawingml/2006/main">
              <a:ext uri="{FF2B5EF4-FFF2-40B4-BE49-F238E27FC236}">
                <a16:creationId xmlns:a16="http://schemas.microsoft.com/office/drawing/2014/main" id="{240EF56C-86E8-4C6A-8FE3-98303AF1791A}"/>
              </a:ext>
            </a:extLst>
          </p:cNvPr>
          <p:cNvSpPr>
            <a:spLocks xmlns:a="http://schemas.openxmlformats.org/drawingml/2006/main" noGrp="1"/>
          </p:cNvSpPr>
          <p:nvPr/>
        </p:nvSpPr>
        <p:spPr>
          <a:xfrm xmlns:a="http://schemas.openxmlformats.org/drawingml/2006/main">
            <a:off x="6345936" y="1901952"/>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2025.1.31 누적
moel.go.kr/.../news_seq=17537</a:t>
            </a:r>
          </a:p>
        </p:txBody>
      </p:sp>
      <p:sp>
        <p:nvSpPr>
          <p:cNvPr id="13" name="Shape 11">
            <a:extLst xmlns:a="http://schemas.openxmlformats.org/drawingml/2006/main">
              <a:ext uri="{FF2B5EF4-FFF2-40B4-BE49-F238E27FC236}">
                <a16:creationId xmlns:a16="http://schemas.microsoft.com/office/drawing/2014/main" id="{559983D7-CF7F-4AF7-AF9E-2CFAFBF787CC}"/>
              </a:ext>
            </a:extLst>
          </p:cNvPr>
          <p:cNvSpPr>
            <a:spLocks xmlns:a="http://schemas.openxmlformats.org/drawingml/2006/main" noGrp="1"/>
          </p:cNvSpPr>
          <p:nvPr/>
        </p:nvSpPr>
        <p:spPr>
          <a:xfrm xmlns:a="http://schemas.openxmlformats.org/drawingml/2006/main">
            <a:off x="9025128" y="1463040"/>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14" name="Text 12">
            <a:extLst xmlns:a="http://schemas.openxmlformats.org/drawingml/2006/main">
              <a:ext uri="{FF2B5EF4-FFF2-40B4-BE49-F238E27FC236}">
                <a16:creationId xmlns:a16="http://schemas.microsoft.com/office/drawing/2014/main" id="{4EFAACD2-1874-4B02-B803-4948B2CC395B}"/>
              </a:ext>
            </a:extLst>
          </p:cNvPr>
          <p:cNvSpPr>
            <a:spLocks xmlns:a="http://schemas.openxmlformats.org/drawingml/2006/main" noGrp="1"/>
          </p:cNvSpPr>
          <p:nvPr/>
        </p:nvSpPr>
        <p:spPr>
          <a:xfrm xmlns:a="http://schemas.openxmlformats.org/drawingml/2006/main">
            <a:off x="9171432" y="1581912"/>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키움 서비스 출시 보도</a:t>
            </a:r>
          </a:p>
        </p:txBody>
      </p:sp>
      <p:sp>
        <p:nvSpPr>
          <p:cNvPr id="15" name="Text 13">
            <a:extLst xmlns:a="http://schemas.openxmlformats.org/drawingml/2006/main">
              <a:ext uri="{FF2B5EF4-FFF2-40B4-BE49-F238E27FC236}">
                <a16:creationId xmlns:a16="http://schemas.microsoft.com/office/drawing/2014/main" id="{0C0B3ED4-C340-4EE0-B6E9-9A3E440B3DF1}"/>
              </a:ext>
            </a:extLst>
          </p:cNvPr>
          <p:cNvSpPr>
            <a:spLocks xmlns:a="http://schemas.openxmlformats.org/drawingml/2006/main" noGrp="1"/>
          </p:cNvSpPr>
          <p:nvPr/>
        </p:nvSpPr>
        <p:spPr>
          <a:xfrm xmlns:a="http://schemas.openxmlformats.org/drawingml/2006/main">
            <a:off x="9171432" y="1901952"/>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한국경제TV · 2026.5.28
v.daum.net/v/20260528154803531</a:t>
            </a:r>
          </a:p>
        </p:txBody>
      </p:sp>
      <p:sp>
        <p:nvSpPr>
          <p:cNvPr id="16" name="Shape 14">
            <a:extLst xmlns:a="http://schemas.openxmlformats.org/drawingml/2006/main">
              <a:ext uri="{FF2B5EF4-FFF2-40B4-BE49-F238E27FC236}">
                <a16:creationId xmlns:a16="http://schemas.microsoft.com/office/drawing/2014/main" id="{ACB1F710-2AA2-4CF1-829A-2CEB3A553A21}"/>
              </a:ext>
            </a:extLst>
          </p:cNvPr>
          <p:cNvSpPr>
            <a:spLocks xmlns:a="http://schemas.openxmlformats.org/drawingml/2006/main" noGrp="1"/>
          </p:cNvSpPr>
          <p:nvPr/>
        </p:nvSpPr>
        <p:spPr>
          <a:xfrm xmlns:a="http://schemas.openxmlformats.org/drawingml/2006/main">
            <a:off x="548640" y="2944368"/>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17" name="Text 15">
            <a:extLst xmlns:a="http://schemas.openxmlformats.org/drawingml/2006/main">
              <a:ext uri="{FF2B5EF4-FFF2-40B4-BE49-F238E27FC236}">
                <a16:creationId xmlns:a16="http://schemas.microsoft.com/office/drawing/2014/main" id="{ECA9D085-9241-40E8-ABB5-8459092EC719}"/>
              </a:ext>
            </a:extLst>
          </p:cNvPr>
          <p:cNvSpPr>
            <a:spLocks xmlns:a="http://schemas.openxmlformats.org/drawingml/2006/main" noGrp="1"/>
          </p:cNvSpPr>
          <p:nvPr/>
        </p:nvSpPr>
        <p:spPr>
          <a:xfrm xmlns:a="http://schemas.openxmlformats.org/drawingml/2006/main">
            <a:off x="694944" y="3063240"/>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공식 상품·시장 데이터</a:t>
            </a:r>
          </a:p>
        </p:txBody>
      </p:sp>
      <p:sp>
        <p:nvSpPr>
          <p:cNvPr id="18" name="Text 16">
            <a:extLst xmlns:a="http://schemas.openxmlformats.org/drawingml/2006/main">
              <a:ext uri="{FF2B5EF4-FFF2-40B4-BE49-F238E27FC236}">
                <a16:creationId xmlns:a16="http://schemas.microsoft.com/office/drawing/2014/main" id="{0C115783-FEF7-4E9A-9EBA-249E07D3A6E8}"/>
              </a:ext>
            </a:extLst>
          </p:cNvPr>
          <p:cNvSpPr>
            <a:spLocks xmlns:a="http://schemas.openxmlformats.org/drawingml/2006/main" noGrp="1"/>
          </p:cNvSpPr>
          <p:nvPr/>
        </p:nvSpPr>
        <p:spPr>
          <a:xfrm xmlns:a="http://schemas.openxmlformats.org/drawingml/2006/main">
            <a:off x="694944" y="3383280"/>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FSS · KRX · KIS · KIND · DART · 국가법령정보</a:t>
            </a:r>
          </a:p>
        </p:txBody>
      </p:sp>
      <p:sp>
        <p:nvSpPr>
          <p:cNvPr id="19" name="Shape 17">
            <a:extLst xmlns:a="http://schemas.openxmlformats.org/drawingml/2006/main">
              <a:ext uri="{FF2B5EF4-FFF2-40B4-BE49-F238E27FC236}">
                <a16:creationId xmlns:a16="http://schemas.microsoft.com/office/drawing/2014/main" id="{FCA4F253-1B9C-40EA-B43C-6F671EB4F4B7}"/>
              </a:ext>
            </a:extLst>
          </p:cNvPr>
          <p:cNvSpPr>
            <a:spLocks xmlns:a="http://schemas.openxmlformats.org/drawingml/2006/main" noGrp="1"/>
          </p:cNvSpPr>
          <p:nvPr/>
        </p:nvSpPr>
        <p:spPr>
          <a:xfrm xmlns:a="http://schemas.openxmlformats.org/drawingml/2006/main">
            <a:off x="3374136" y="2944368"/>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20" name="Text 18">
            <a:extLst xmlns:a="http://schemas.openxmlformats.org/drawingml/2006/main">
              <a:ext uri="{FF2B5EF4-FFF2-40B4-BE49-F238E27FC236}">
                <a16:creationId xmlns:a16="http://schemas.microsoft.com/office/drawing/2014/main" id="{E73471B1-68DC-424C-ABD3-7674FBCE5D28}"/>
              </a:ext>
            </a:extLst>
          </p:cNvPr>
          <p:cNvSpPr>
            <a:spLocks xmlns:a="http://schemas.openxmlformats.org/drawingml/2006/main" noGrp="1"/>
          </p:cNvSpPr>
          <p:nvPr/>
        </p:nvSpPr>
        <p:spPr>
          <a:xfrm xmlns:a="http://schemas.openxmlformats.org/drawingml/2006/main">
            <a:off x="3520440" y="3063240"/>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장기 계획가정 근거</a:t>
            </a:r>
          </a:p>
        </p:txBody>
      </p:sp>
      <p:sp>
        <p:nvSpPr>
          <p:cNvPr id="21" name="Text 19">
            <a:extLst xmlns:a="http://schemas.openxmlformats.org/drawingml/2006/main">
              <a:ext uri="{FF2B5EF4-FFF2-40B4-BE49-F238E27FC236}">
                <a16:creationId xmlns:a16="http://schemas.microsoft.com/office/drawing/2014/main" id="{63F03910-72CF-4B0D-B09F-C93D074D8DFC}"/>
              </a:ext>
            </a:extLst>
          </p:cNvPr>
          <p:cNvSpPr>
            <a:spLocks xmlns:a="http://schemas.openxmlformats.org/drawingml/2006/main" noGrp="1"/>
          </p:cNvSpPr>
          <p:nvPr/>
        </p:nvSpPr>
        <p:spPr>
          <a:xfrm xmlns:a="http://schemas.openxmlformats.org/drawingml/2006/main">
            <a:off x="3520440" y="3383280"/>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J.P. Morgan CMA + KOFIA/KIS 비용 · 정책 2026-07-22</a:t>
            </a:r>
          </a:p>
        </p:txBody>
      </p:sp>
      <p:sp>
        <p:nvSpPr>
          <p:cNvPr id="22" name="Shape 20">
            <a:extLst xmlns:a="http://schemas.openxmlformats.org/drawingml/2006/main">
              <a:ext uri="{FF2B5EF4-FFF2-40B4-BE49-F238E27FC236}">
                <a16:creationId xmlns:a16="http://schemas.microsoft.com/office/drawing/2014/main" id="{18709D40-EAF1-405F-9A7C-5D871FD74523}"/>
              </a:ext>
            </a:extLst>
          </p:cNvPr>
          <p:cNvSpPr>
            <a:spLocks xmlns:a="http://schemas.openxmlformats.org/drawingml/2006/main" noGrp="1"/>
          </p:cNvSpPr>
          <p:nvPr/>
        </p:nvSpPr>
        <p:spPr>
          <a:xfrm xmlns:a="http://schemas.openxmlformats.org/drawingml/2006/main">
            <a:off x="6199632" y="2944368"/>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23" name="Text 21">
            <a:extLst xmlns:a="http://schemas.openxmlformats.org/drawingml/2006/main">
              <a:ext uri="{FF2B5EF4-FFF2-40B4-BE49-F238E27FC236}">
                <a16:creationId xmlns:a16="http://schemas.microsoft.com/office/drawing/2014/main" id="{6FE766C2-BE61-4868-807C-006C16A72499}"/>
              </a:ext>
            </a:extLst>
          </p:cNvPr>
          <p:cNvSpPr>
            <a:spLocks xmlns:a="http://schemas.openxmlformats.org/drawingml/2006/main" noGrp="1"/>
          </p:cNvSpPr>
          <p:nvPr/>
        </p:nvSpPr>
        <p:spPr>
          <a:xfrm xmlns:a="http://schemas.openxmlformats.org/drawingml/2006/main">
            <a:off x="6345936" y="3063240"/>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팀 자체 수요조사</a:t>
            </a:r>
          </a:p>
        </p:txBody>
      </p:sp>
      <p:sp>
        <p:nvSpPr>
          <p:cNvPr id="24" name="Text 22">
            <a:extLst xmlns:a="http://schemas.openxmlformats.org/drawingml/2006/main">
              <a:ext uri="{FF2B5EF4-FFF2-40B4-BE49-F238E27FC236}">
                <a16:creationId xmlns:a16="http://schemas.microsoft.com/office/drawing/2014/main" id="{48830DE0-D7C3-4330-96F9-DBCE7507D2F2}"/>
              </a:ext>
            </a:extLst>
          </p:cNvPr>
          <p:cNvSpPr>
            <a:spLocks xmlns:a="http://schemas.openxmlformats.org/drawingml/2006/main" noGrp="1"/>
          </p:cNvSpPr>
          <p:nvPr/>
        </p:nvSpPr>
        <p:spPr>
          <a:xfrm xmlns:a="http://schemas.openxmlformats.org/drawingml/2006/main">
            <a:off x="6345936" y="3383280"/>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n=30 · 2026.7.13~14</a:t>
            </a:r>
          </a:p>
          <a:p xmlns:a="http://schemas.openxmlformats.org/drawingml/2006/main">
            <a:pPr marL="0" indent="0">
              <a:buNone/>
            </a:pPr>
            <a:r>
              <a:rPr sz="940">
                <a:solidFill>
                  <a:srgbClr val="18202E"/>
                </a:solidFill>
                <a:latin typeface="Malgun Gothic"/>
                <a:ea typeface="Malgun Gothic"/>
                <a:cs typeface="Malgun Gothic"/>
              </a:rPr>
              <a:t>비식별 원본: data/reference/연금계좌_…_수요조사.xlsx</a:t>
            </a:r>
          </a:p>
        </p:txBody>
      </p:sp>
      <p:sp>
        <p:nvSpPr>
          <p:cNvPr id="25" name="Shape 23">
            <a:extLst xmlns:a="http://schemas.openxmlformats.org/drawingml/2006/main">
              <a:ext uri="{FF2B5EF4-FFF2-40B4-BE49-F238E27FC236}">
                <a16:creationId xmlns:a16="http://schemas.microsoft.com/office/drawing/2014/main" id="{B3AB31B3-E1A2-4C4A-B25F-BBFB192D349A}"/>
              </a:ext>
            </a:extLst>
          </p:cNvPr>
          <p:cNvSpPr>
            <a:spLocks xmlns:a="http://schemas.openxmlformats.org/drawingml/2006/main" noGrp="1"/>
          </p:cNvSpPr>
          <p:nvPr/>
        </p:nvSpPr>
        <p:spPr>
          <a:xfrm xmlns:a="http://schemas.openxmlformats.org/drawingml/2006/main">
            <a:off x="9025128" y="2944368"/>
            <a:ext cx="2624328" cy="1316736"/>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D9E0EC"/>
            </a:solidFill>
            <a:prstDash val="solid"/>
          </a:ln>
        </p:spPr>
      </p:sp>
      <p:sp>
        <p:nvSpPr>
          <p:cNvPr id="26" name="Text 24">
            <a:extLst xmlns:a="http://schemas.openxmlformats.org/drawingml/2006/main">
              <a:ext uri="{FF2B5EF4-FFF2-40B4-BE49-F238E27FC236}">
                <a16:creationId xmlns:a16="http://schemas.microsoft.com/office/drawing/2014/main" id="{A1C1813B-74BB-406F-B45F-CC6D06112534}"/>
              </a:ext>
            </a:extLst>
          </p:cNvPr>
          <p:cNvSpPr>
            <a:spLocks xmlns:a="http://schemas.openxmlformats.org/drawingml/2006/main" noGrp="1"/>
          </p:cNvSpPr>
          <p:nvPr/>
        </p:nvSpPr>
        <p:spPr>
          <a:xfrm xmlns:a="http://schemas.openxmlformats.org/drawingml/2006/main">
            <a:off x="9171432" y="3063240"/>
            <a:ext cx="2331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4FD8"/>
                </a:solidFill>
                <a:latin typeface="Malgun Gothic"/>
                <a:ea typeface="Malgun Gothic"/>
                <a:cs typeface="Malgun Gothic"/>
              </a:rPr>
              <a:t>검증 기준</a:t>
            </a:r>
          </a:p>
        </p:txBody>
      </p:sp>
      <p:sp>
        <p:nvSpPr>
          <p:cNvPr id="27" name="Text 25">
            <a:extLst xmlns:a="http://schemas.openxmlformats.org/drawingml/2006/main">
              <a:ext uri="{FF2B5EF4-FFF2-40B4-BE49-F238E27FC236}">
                <a16:creationId xmlns:a16="http://schemas.microsoft.com/office/drawing/2014/main" id="{A99A3598-A043-4DD9-88FD-73697F954EEA}"/>
              </a:ext>
            </a:extLst>
          </p:cNvPr>
          <p:cNvSpPr>
            <a:spLocks xmlns:a="http://schemas.openxmlformats.org/drawingml/2006/main" noGrp="1"/>
          </p:cNvSpPr>
          <p:nvPr/>
        </p:nvSpPr>
        <p:spPr>
          <a:xfrm xmlns:a="http://schemas.openxmlformats.org/drawingml/2006/main">
            <a:off x="9171432" y="3383280"/>
            <a:ext cx="23317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a:solidFill>
                  <a:srgbClr val="18202E"/>
                </a:solidFill>
                <a:latin typeface="Malgun Gothic"/>
                <a:ea typeface="Malgun Gothic"/>
                <a:cs typeface="Malgun Gothic"/>
              </a:rPr>
              <a:t>main 검증 기준선(8aadd15) · BE 1,151 / FE 104 · 2026.7.24</a:t>
            </a:r>
          </a:p>
        </p:txBody>
      </p:sp>
      <p:sp>
        <p:nvSpPr>
          <p:cNvPr id="28" name="Shape 26">
            <a:extLst xmlns:a="http://schemas.openxmlformats.org/drawingml/2006/main">
              <a:ext uri="{FF2B5EF4-FFF2-40B4-BE49-F238E27FC236}">
                <a16:creationId xmlns:a16="http://schemas.microsoft.com/office/drawing/2014/main" id="{229EE8CB-4D00-4744-B41D-018A73B869DE}"/>
              </a:ext>
            </a:extLst>
          </p:cNvPr>
          <p:cNvSpPr>
            <a:spLocks xmlns:a="http://schemas.openxmlformats.org/drawingml/2006/main" noGrp="1"/>
          </p:cNvSpPr>
          <p:nvPr/>
        </p:nvSpPr>
        <p:spPr>
          <a:xfrm xmlns:a="http://schemas.openxmlformats.org/drawingml/2006/main">
            <a:off x="548640" y="4663440"/>
            <a:ext cx="11091672" cy="914400"/>
          </a:xfrm>
          <a:prstGeom xmlns:a="http://schemas.openxmlformats.org/drawingml/2006/main" prst="roundRect">
            <a:avLst>
              <a:gd name="adj" fmla="val 9000"/>
            </a:avLst>
          </a:prstGeom>
          <a:solidFill xmlns:a="http://schemas.openxmlformats.org/drawingml/2006/main">
            <a:srgbClr val="F7F9FE"/>
          </a:solidFill>
          <a:ln xmlns:a="http://schemas.openxmlformats.org/drawingml/2006/main" w="12700">
            <a:solidFill>
              <a:srgbClr val="D9E0EC"/>
            </a:solidFill>
            <a:prstDash val="solid"/>
          </a:ln>
        </p:spPr>
      </p:sp>
      <p:sp>
        <p:nvSpPr>
          <p:cNvPr id="29" name="Text 27">
            <a:extLst xmlns:a="http://schemas.openxmlformats.org/drawingml/2006/main">
              <a:ext uri="{FF2B5EF4-FFF2-40B4-BE49-F238E27FC236}">
                <a16:creationId xmlns:a16="http://schemas.microsoft.com/office/drawing/2014/main" id="{578E24CD-500B-463C-B310-9553600E870D}"/>
              </a:ext>
            </a:extLst>
          </p:cNvPr>
          <p:cNvSpPr>
            <a:spLocks xmlns:a="http://schemas.openxmlformats.org/drawingml/2006/main" noGrp="1"/>
          </p:cNvSpPr>
          <p:nvPr/>
        </p:nvSpPr>
        <p:spPr>
          <a:xfrm xmlns:a="http://schemas.openxmlformats.org/drawingml/2006/main">
            <a:off x="731520" y="4773168"/>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8202E"/>
                </a:solidFill>
                <a:latin typeface="Malgun Gothic"/>
                <a:ea typeface="Malgun Gothic"/>
                <a:cs typeface="Malgun Gothic"/>
              </a:rPr>
              <a:t>발표에서 지킨 근거 원칙</a:t>
            </a:r>
          </a:p>
        </p:txBody>
      </p:sp>
      <p:sp>
        <p:nvSpPr>
          <p:cNvPr id="30" name="Text 28">
            <a:extLst xmlns:a="http://schemas.openxmlformats.org/drawingml/2006/main">
              <a:ext uri="{FF2B5EF4-FFF2-40B4-BE49-F238E27FC236}">
                <a16:creationId xmlns:a16="http://schemas.microsoft.com/office/drawing/2014/main" id="{73376E27-C2EF-424A-AD25-FFDCA4B55A9B}"/>
              </a:ext>
            </a:extLst>
          </p:cNvPr>
          <p:cNvSpPr>
            <a:spLocks xmlns:a="http://schemas.openxmlformats.org/drawingml/2006/main" noGrp="1"/>
          </p:cNvSpPr>
          <p:nvPr/>
        </p:nvSpPr>
        <p:spPr>
          <a:xfrm xmlns:a="http://schemas.openxmlformats.org/drawingml/2006/main">
            <a:off x="731520" y="5074920"/>
            <a:ext cx="137160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분모·기준일</a:t>
            </a:r>
          </a:p>
        </p:txBody>
      </p:sp>
      <p:sp>
        <p:nvSpPr>
          <p:cNvPr id="31" name="Text 29">
            <a:extLst xmlns:a="http://schemas.openxmlformats.org/drawingml/2006/main">
              <a:ext uri="{FF2B5EF4-FFF2-40B4-BE49-F238E27FC236}">
                <a16:creationId xmlns:a16="http://schemas.microsoft.com/office/drawing/2014/main" id="{404BA281-B241-4B3E-801D-FDA1CCE504C3}"/>
              </a:ext>
            </a:extLst>
          </p:cNvPr>
          <p:cNvSpPr>
            <a:spLocks xmlns:a="http://schemas.openxmlformats.org/drawingml/2006/main" noGrp="1"/>
          </p:cNvSpPr>
          <p:nvPr/>
        </p:nvSpPr>
        <p:spPr>
          <a:xfrm xmlns:a="http://schemas.openxmlformats.org/drawingml/2006/main">
            <a:off x="2267712" y="5074920"/>
            <a:ext cx="169164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실측/가설 분리</a:t>
            </a:r>
          </a:p>
        </p:txBody>
      </p:sp>
      <p:sp>
        <p:nvSpPr>
          <p:cNvPr id="32" name="Text 30">
            <a:extLst xmlns:a="http://schemas.openxmlformats.org/drawingml/2006/main">
              <a:ext uri="{FF2B5EF4-FFF2-40B4-BE49-F238E27FC236}">
                <a16:creationId xmlns:a16="http://schemas.microsoft.com/office/drawing/2014/main" id="{4B2D44B4-C438-41E7-9ED2-ADBE148CE7B9}"/>
              </a:ext>
            </a:extLst>
          </p:cNvPr>
          <p:cNvSpPr>
            <a:spLocks xmlns:a="http://schemas.openxmlformats.org/drawingml/2006/main" noGrp="1"/>
          </p:cNvSpPr>
          <p:nvPr/>
        </p:nvSpPr>
        <p:spPr>
          <a:xfrm xmlns:a="http://schemas.openxmlformats.org/drawingml/2006/main">
            <a:off x="4123944" y="5074920"/>
            <a:ext cx="192024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과거실적만</a:t>
            </a:r>
          </a:p>
        </p:txBody>
      </p:sp>
      <p:sp>
        <p:nvSpPr>
          <p:cNvPr id="33" name="Text 31">
            <a:extLst xmlns:a="http://schemas.openxmlformats.org/drawingml/2006/main">
              <a:ext uri="{FF2B5EF4-FFF2-40B4-BE49-F238E27FC236}">
                <a16:creationId xmlns:a16="http://schemas.microsoft.com/office/drawing/2014/main" id="{EAB1F1C8-5988-417C-8118-A40D6E33A34F}"/>
              </a:ext>
            </a:extLst>
          </p:cNvPr>
          <p:cNvSpPr>
            <a:spLocks xmlns:a="http://schemas.openxmlformats.org/drawingml/2006/main" noGrp="1"/>
          </p:cNvSpPr>
          <p:nvPr/>
        </p:nvSpPr>
        <p:spPr>
          <a:xfrm xmlns:a="http://schemas.openxmlformats.org/drawingml/2006/main">
            <a:off x="6208776" y="5074920"/>
            <a:ext cx="132588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출처 칩</a:t>
            </a:r>
          </a:p>
        </p:txBody>
      </p:sp>
      <p:sp>
        <p:nvSpPr>
          <p:cNvPr id="34" name="Text 32">
            <a:extLst xmlns:a="http://schemas.openxmlformats.org/drawingml/2006/main">
              <a:ext uri="{FF2B5EF4-FFF2-40B4-BE49-F238E27FC236}">
                <a16:creationId xmlns:a16="http://schemas.microsoft.com/office/drawing/2014/main" id="{FDAF3631-DDC6-4D4D-8480-33FF4067FBB4}"/>
              </a:ext>
            </a:extLst>
          </p:cNvPr>
          <p:cNvSpPr>
            <a:spLocks xmlns:a="http://schemas.openxmlformats.org/drawingml/2006/main" noGrp="1"/>
          </p:cNvSpPr>
          <p:nvPr/>
        </p:nvSpPr>
        <p:spPr>
          <a:xfrm xmlns:a="http://schemas.openxmlformats.org/drawingml/2006/main">
            <a:off x="7699248" y="5074920"/>
            <a:ext cx="1600200" cy="329184"/>
          </a:xfrm>
          <a:prstGeom xmlns:a="http://schemas.openxmlformats.org/drawingml/2006/main" prst="roundRect">
            <a:avLst>
              <a:gd name="adj" fmla="val 38889"/>
            </a:avLst>
          </a:prstGeom>
          <a:solidFill xmlns:a="http://schemas.openxmlformats.org/drawingml/2006/main">
            <a:srgbClr val="FFFFFF"/>
          </a:solidFill>
          <a:ln xmlns:a="http://schemas.openxmlformats.org/drawingml/2006/main" w="9525">
            <a:solidFill>
              <a:srgbClr val="D7E2F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A4FD8"/>
                </a:solidFill>
                <a:latin typeface="Malgun Gothic"/>
                <a:ea typeface="Malgun Gothic"/>
                <a:cs typeface="Malgun Gothic"/>
              </a:rPr>
              <a:t>표본 한계</a:t>
            </a:r>
          </a:p>
        </p:txBody>
      </p:sp>
      <p:sp>
        <p:nvSpPr>
          <p:cNvPr id="35" name="Text 33">
            <a:extLst xmlns:a="http://schemas.openxmlformats.org/drawingml/2006/main">
              <a:ext uri="{FF2B5EF4-FFF2-40B4-BE49-F238E27FC236}">
                <a16:creationId xmlns:a16="http://schemas.microsoft.com/office/drawing/2014/main" id="{87BC1F6B-6E59-4824-8DA0-41D435191850}"/>
              </a:ext>
            </a:extLst>
          </p:cNvPr>
          <p:cNvSpPr>
            <a:spLocks xmlns:a="http://schemas.openxmlformats.org/drawingml/2006/main" noGrp="1"/>
          </p:cNvSpPr>
          <p:nvPr/>
        </p:nvSpPr>
        <p:spPr>
          <a:xfrm xmlns:a="http://schemas.openxmlformats.org/drawingml/2006/main">
            <a:off x="548640" y="5806440"/>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A6474"/>
                </a:solidFill>
                <a:latin typeface="Malgun Gothic"/>
                <a:ea typeface="Malgun Gothic"/>
                <a:cs typeface="Malgun Gothic"/>
              </a:rPr>
              <a:t>자체 조사는 편의표본이라 전국 대표성 주장에는 쓰지 않았습니다. 연락처를 제거한 비식별 사본만 저장소에 편입했습니다.</a:t>
            </a:r>
          </a:p>
        </p:txBody>
      </p:sp>
      <p:sp>
        <p:nvSpPr>
          <p:cNvPr id="36" name="Text 34">
            <a:extLst xmlns:a="http://schemas.openxmlformats.org/drawingml/2006/main">
              <a:ext uri="{FF2B5EF4-FFF2-40B4-BE49-F238E27FC236}">
                <a16:creationId xmlns:a16="http://schemas.microsoft.com/office/drawing/2014/main" id="{F4D692DD-BDF3-430F-B4AC-3EEA234388AA}"/>
              </a:ext>
            </a:extLst>
          </p:cNvPr>
          <p:cNvSpPr>
            <a:spLocks xmlns:a="http://schemas.openxmlformats.org/drawingml/2006/main" noGrp="1"/>
          </p:cNvSpPr>
          <p:nvPr/>
        </p:nvSpPr>
        <p:spPr>
          <a:xfrm xmlns:a="http://schemas.openxmlformats.org/drawingml/2006/main">
            <a:off x="9509760" y="6528816"/>
            <a:ext cx="2130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9AA3B2"/>
                </a:solidFill>
                <a:latin typeface="Malgun Gothic"/>
                <a:ea typeface="Malgun Gothic"/>
                <a:cs typeface="Malgun Gothic"/>
              </a:rPr>
              <a:t>연금:KDA · KDA 증권  |  21</a:t>
            </a:r>
          </a:p>
        </p:txBody>
      </p:sp>
    </p:spTree>
    <p:extLst>
      <p:ext uri="{BB962C8B-B14F-4D97-AF65-F5344CB8AC3E}">
        <p14:creationId xmlns:p14="http://schemas.microsoft.com/office/powerpoint/2010/main" val="78072701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2026-07-24T05:52:12.5730000Z</dcterms:created>
  <dcterms:modified xsi:type="dcterms:W3CDTF">2026-07-24T05:52:12.5730000Z</dcterms:modified>
</coreProperties>
</file>