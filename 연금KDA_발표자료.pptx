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가중치</c:v>
                </c:pt>
              </c:strCache>
            </c:strRef>
          </c:tx>
          <c:spPr>
            <a:solidFill>
              <a:srgbClr val="1A4FD8"/>
            </a:solidFill>
            <a:effectLst/>
          </c:spPr>
          <c:invertIfNegative val="0"/>
          <c:dLbls>
            <c:numFmt formatCode="0&quot;%&quot;" sourceLinked="0"/>
            <c:txPr>
              <a:bodyPr/>
              <a:lstStyle/>
              <a:p>
                <a:pPr>
                  <a:defRPr b="0" i="0" strike="noStrike" sz="1000" u="none">
                    <a:solidFill>
                      <a:srgbClr val="5A6474"/>
                    </a:solidFill>
                    <a:latin typeface="Malgun Gothic"/>
                  </a:defRPr>
                </a:pPr>
              </a:p>
            </c:txPr>
            <c:showLegendKey val="0"/>
            <c:showVal val="1"/>
            <c:showCatName val="0"/>
            <c:showSerName val="0"/>
            <c:showPercent val="0"/>
            <c:showBubbleSize val="0"/>
            <c:showLeaderLines val="0"/>
          </c:dLbls>
          <c:cat>
            <c:multiLvlStrRef>
              <c:f>Sheet1!$A$2:$A$7</c:f>
              <c:multiLvlStrCache>
                <c:ptCount val="6"/>
                <c:lvl>
                  <c:pt idx="0">
                    <c:v>유동성(거래대금)</c:v>
                  </c:pt>
                  <c:pt idx="1">
                    <c:v>비용(총보수)</c:v>
                  </c:pt>
                  <c:pt idx="2">
                    <c:v>규모(순자산)</c:v>
                  </c:pt>
                  <c:pt idx="3">
                    <c:v>NAV 괴리</c:v>
                  </c:pt>
                  <c:pt idx="4">
                    <c:v>추적오차</c:v>
                  </c:pt>
                  <c:pt idx="5">
                    <c:v>이력 길이</c:v>
                  </c:pt>
                </c:lvl>
              </c:multiLvlStrCache>
            </c:multiLvlStrRef>
          </c:cat>
          <c:val>
            <c:numRef>
              <c:f>Sheet1!$B$2:$B$7</c:f>
              <c:numCache>
                <c:formatCode>General</c:formatCode>
                <c:ptCount val="6"/>
                <c:pt idx="0">
                  <c:v>25</c:v>
                </c:pt>
                <c:pt idx="1">
                  <c:v>20</c:v>
                </c:pt>
                <c:pt idx="2">
                  <c:v>20</c:v>
                </c:pt>
                <c:pt idx="3">
                  <c:v>15</c:v>
                </c:pt>
                <c:pt idx="4">
                  <c:v>15</c:v>
                </c:pt>
                <c:pt idx="5">
                  <c:v>5</c:v>
                </c:pt>
              </c:numCache>
            </c:numRef>
          </c:val>
        </c:ser>
        <c:dLbls>
          <c:numFmt formatCode="0&quot;%&quot;" sourceLinked="0"/>
          <c:txPr>
            <a:bodyPr/>
            <a:lstStyle/>
            <a:p>
              <a:pPr>
                <a:defRPr b="0" i="0" strike="noStrike" sz="1000" u="none">
                  <a:solidFill>
                    <a:srgbClr val="5A6474"/>
                  </a:solidFill>
                  <a:latin typeface="Malgun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8202E"/>
                </a:solidFill>
                <a:latin typeface="Malgun Gothic"/>
              </a:defRPr>
            </a:pPr>
            <a:endParaRPr lang="en-US"/>
          </a:p>
        </c:txPr>
        <c:crossAx val="2094734552"/>
        <c:crosses val="autoZero"/>
        <c:auto val="1"/>
        <c:lblAlgn val="ctr"/>
        <c:noMultiLvlLbl val="1"/>
      </c:catAx>
      <c:valAx>
        <c:axId val="2094734552"/>
        <c:scaling>
          <c:orientation val="minMax"/>
          <c:max val="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검증 통과율</c:v>
                </c:pt>
              </c:strCache>
            </c:strRef>
          </c:tx>
          <c:spPr>
            <a:solidFill>
              <a:srgbClr val="1A4FD8"/>
            </a:solidFill>
            <a:effectLst/>
          </c:spPr>
          <c:invertIfNegative val="0"/>
          <c:dLbls>
            <c:numFmt formatCode="0&quot;%&quot;" sourceLinked="0"/>
            <c:txPr>
              <a:bodyPr/>
              <a:lstStyle/>
              <a:p>
                <a:pPr>
                  <a:defRPr b="0" i="0" strike="noStrike" sz="1300" u="none">
                    <a:solidFill>
                      <a:srgbClr val="18202E"/>
                    </a:solidFill>
                    <a:latin typeface="Malgun Gothic"/>
                  </a:defRPr>
                </a:pPr>
              </a:p>
            </c:txPr>
            <c:showLegendKey val="0"/>
            <c:showVal val="1"/>
            <c:showCatName val="0"/>
            <c:showSerName val="0"/>
            <c:showPercent val="0"/>
            <c:showBubbleSize val="0"/>
            <c:showLeaderLines val="0"/>
          </c:dLbls>
          <c:cat>
            <c:multiLvlStrRef>
              <c:f>Sheet1!$A$2:$A$3</c:f>
              <c:multiLvlStrCache>
                <c:ptCount val="2"/>
                <c:lvl>
                  <c:pt idx="0">
                    <c:v>claude-haiku-4-5 (thinking OFF)</c:v>
                  </c:pt>
                  <c:pt idx="1">
                    <c:v>claude-sonnet (adaptive)</c:v>
                  </c:pt>
                </c:lvl>
              </c:multiLvlStrCache>
            </c:multiLvlStrRef>
          </c:cat>
          <c:val>
            <c:numRef>
              <c:f>Sheet1!$B$2:$B$3</c:f>
              <c:numCache>
                <c:formatCode>General</c:formatCode>
                <c:ptCount val="2"/>
                <c:pt idx="0">
                  <c:v>60</c:v>
                </c:pt>
                <c:pt idx="1">
                  <c:v>20</c:v>
                </c:pt>
              </c:numCache>
            </c:numRef>
          </c:val>
        </c:ser>
        <c:dLbls>
          <c:numFmt formatCode="0&quot;%&quot;" sourceLinked="0"/>
          <c:txPr>
            <a:bodyPr/>
            <a:lstStyle/>
            <a:p>
              <a:pPr>
                <a:defRPr b="0" i="0" strike="noStrike" sz="1300" u="none">
                  <a:solidFill>
                    <a:srgbClr val="18202E"/>
                  </a:solidFill>
                  <a:latin typeface="Malgun Gothic"/>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8202E"/>
                </a:solidFill>
                <a:latin typeface="Malgun Gothic"/>
              </a:defRPr>
            </a:pPr>
            <a:endParaRPr lang="en-US"/>
          </a:p>
        </c:txPr>
        <c:crossAx val="2094734552"/>
        <c:crosses val="autoZero"/>
        <c:auto val="1"/>
        <c:lblAlgn val="ctr"/>
        <c:noMultiLvlLbl val="1"/>
      </c:catAx>
      <c:valAx>
        <c:axId val="2094734552"/>
        <c:scaling>
          <c:orientation val="minMax"/>
          <c:max val="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KDA 증권의 연금:KDA — '연금:크다'라고 읽습니다. 이 서비스를 통해 고객의 연금이 커지기를 바란다는 의미를 담아 지은 이름이며, 연금 포트폴리오 가이드 PB 서비스입니다. DC형 퇴직연금·IRP·연금저축 세 계좌를 한곳에서 설명하며, 일임이 아니라 자문·정보 제공형입니다. 핵심 한 줄: 계산은 규칙 엔진이 하고, AI는 설명만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공식 데이터 861개 ETF 유니버스와 규칙 엔진을 만들었고, AI 답변의 모든 숫자는 근거와 대조됩니다. 실측 수치 네 가지만 기억해 주세요 — 861개 적격 ETF, 21만 8천 행 수익 이력, 포트폴리오 120개 검증 위반 0건, 테스트 944개 통과.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지금인가. 적립금 508조, 2035년 1200조 전망의 시장에서 2024년 12월 일임 규제가 열리며 경쟁이 시작됐습니다. 그런데 이용자 여정을 보면 조회는 커머디티가 됐지만 진단과 설명, 실행이 끊겨 있습니다. 시장은 블랙박스 일임 아니면 참고용 정보제공 두 갈래뿐이고, 우리는 그 사이의 '설명 레이어'를 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타깃은 연금 방치형 3040 직장인입니다. 시연은 완전 합성 페르소나 6인이 5개 투자성향을 나눠 맡습니다. 해결책은 5대 기능 — 자산 홈, 챗봇, 투자전략, 타 고객 포트폴리오, 세금계산이며, 방향은 '대신'이 아니라 '스스로 굴리게 돕는' AI입니다.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설계 원칙입니다. 자문형이라 일임 규제를 구조적으로 피하고, 계산과 설명을 분리해 환각을 차단하며, 계좌별 규칙 혼합과 실·목 데이터 경계는 코드 레벨에서 강제합니다. 여기에 출처 칩과 성향 밖 제안 금지가 항상 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데이터는 전부 공식 API 8종입니다. 수정주가 89만 관측, 분배 공시 8천 건까지 결합했고, 법령 원문의 '100분의 70' 문구를 기계로 검증해 규칙 마스터를 만듭니다. 모든 수집은 원본 보존과 SHA-256 매니페스트로 재현 가능하고, 뉴스와 구성종목은 cron으로 무인 운영됩니다.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 핵심은 '가격'을 '총수익'으로 바꾸는 것입니다. 수정주가에 분배금 재투자를 결합해 TR 지수를 만들고, 못 만드는 구간은 추정하지 않고 제외·표기합니다. ETF 후보 랭킹은 품질점수 6요소로만 매기고 과거수익률은 쓰지 않습니다 — 추천이 아니라는 방어선입니다.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파이프라인 여섯 단계입니다. 질문은 가드레일을 거쳐 여덟 개 인텐트로 라우팅되고, 계산은 전부 결정론 규칙 엔진이 합니다. 핵심은 다섯 번째 — 답변 숫자를 근거 객체와 대조해서 안 맞으면 응답 자체가 안 만들어집니다. LLM 재서술은 옵션 부품이라 꺼져도 서비스가 돌아갑니다.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규칙 엔진에는 연금 제도가 그대로 들어가 있습니다. 70% 한도, 세액공제 한도와 공제율, 연령별 연금소득세, 1500만 원 룰, 수령한도까지 전부 코드화됐습니다. 오른쪽은 교육용 포트폴리오 파이프라인 다섯 단계이고, 120개 조합 전수 생성에서 한도 위반이 0건입니다.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선정은 벤치마크가 아니라 우리 가드 검증 통과율로 했습니다. Haiku가 60%로 Sonnet의 3배였고 속도도 2배라 채택했습니다. RAG는 승인 문서 16종만, BGE-M3 임베딩과 전문검색을 RRF로 융합하고, 대표 질의 18케이스에서 Hit@1 1.0을 기록했습니다.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네 축입니다. 포트폴리오 120개 전수 0건, 테스트 944개, 원격 E2E 다섯 종, 그리고 PR을 막는 품질 게이트 8종. 성능은 공시 응답 3분의 1, 부팅 3분의 1 이상 단축했고, 스트리밍 구조로 체감 대기를 없앴습니다.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아키텍처는 단방향 4계층입니다. 프론트는 라이브러리 최소주의 PWA, 백엔드는 FastAPI 39개 엔드포인트, 계산은 의존성 제로 규칙 엔진, 데이터는 PostgreSQL 53개 테이블 전면 RLS입니다. Claude는 점선 — 서술만 담당하는 선택 부품입니다.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흐름입니다. 데모 계정으로 로그인하면 계좌 연동 동의와 성향 진단을 거쳐 메인 홈, 그리고 핵심인 연금가이드 챗으로 갑니다. 답변이 먼저 타이핑되고 AI 재서술이 교체되는 것, 그리고 모든 숫자의 출처 칩을 눈으로 확인시켜 주세요. 여기에 시연 영상을 넣으면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비즈니스 가치는 네 가지입니다. 규제·민원 리스크를 구조로 낮추고, 운영을 무인화하고, AI 비용을 캐시와 작은 모델로 억제하며, 실물이전 시대에 설명 레이어로 고객을 유입·락인합니다. ROI는 지어내지 않고 실측 지표로만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한계는 숨기지 않습니다. 실계좌 미연동, 가드 잔여 결함, 전용 화면 일부 미연결, 그리고 표현 규제 유예까지 그대로 공개합니다. 로드맵은 가드 보강과 화면 연결이 최우선이고, 장기적으로 실계좌 연동까지 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 분담입니다. 아키텍처·총괄 질문은 이재용, 챗봇·백엔드는 이호연, 엔진·산식은 김태형, 화면은 최호택·진재현, 확장 기능은 정인성이 답합니다. 마지막 한 줄 — 정보가 충분하면 투자자는 현명하다. 연금:KDA는 그 정보를 검증된 구조로 전합니다.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45"/>
        </a:solidFill>
      </p:bgPr>
    </p:bg>
    <p:spTree>
      <p:nvGrpSpPr>
        <p:cNvPr id="1" name=""/>
        <p:cNvGrpSpPr/>
        <p:nvPr/>
      </p:nvGrpSpPr>
      <p:grpSpPr>
        <a:xfrm>
          <a:off x="0" y="0"/>
          <a:ext cx="0" cy="0"/>
          <a:chOff x="0" y="0"/>
          <a:chExt cx="0" cy="0"/>
        </a:xfrm>
      </p:grpSpPr>
      <p:sp>
        <p:nvSpPr>
          <p:cNvPr id="2" name="Text 0"/>
          <p:cNvSpPr/>
          <p:nvPr/>
        </p:nvSpPr>
        <p:spPr>
          <a:xfrm>
            <a:off x="548640" y="502920"/>
            <a:ext cx="4572000" cy="274320"/>
          </a:xfrm>
          <a:prstGeom prst="rect">
            <a:avLst/>
          </a:prstGeom>
          <a:noFill/>
          <a:ln/>
        </p:spPr>
        <p:txBody>
          <a:bodyPr wrap="square" lIns="0" tIns="0" rIns="0" bIns="0" rtlCol="0" anchor="ctr"/>
          <a:lstStyle/>
          <a:p>
            <a:pPr indent="0" marL="0">
              <a:buNone/>
            </a:pPr>
            <a:r>
              <a:rPr lang="en-US" sz="1100" b="1" spc="300" kern="0" dirty="0">
                <a:solidFill>
                  <a:srgbClr val="8FB0F8"/>
                </a:solidFill>
                <a:latin typeface="Malgun Gothic" pitchFamily="34" charset="0"/>
                <a:ea typeface="Malgun Gothic" pitchFamily="34" charset="-122"/>
                <a:cs typeface="Malgun Gothic" pitchFamily="34" charset="-120"/>
              </a:rPr>
              <a:t>TEAM  KDA 증권</a:t>
            </a:r>
            <a:endParaRPr lang="en-US" sz="1100" dirty="0"/>
          </a:p>
        </p:txBody>
      </p:sp>
      <p:sp>
        <p:nvSpPr>
          <p:cNvPr id="3" name="Text 1"/>
          <p:cNvSpPr/>
          <p:nvPr/>
        </p:nvSpPr>
        <p:spPr>
          <a:xfrm>
            <a:off x="804672" y="1572768"/>
            <a:ext cx="6766560" cy="310896"/>
          </a:xfrm>
          <a:prstGeom prst="rect">
            <a:avLst/>
          </a:prstGeom>
          <a:noFill/>
          <a:ln/>
        </p:spPr>
        <p:txBody>
          <a:bodyPr wrap="square" lIns="0" tIns="0" rIns="0" bIns="0" rtlCol="0" anchor="ctr"/>
          <a:lstStyle/>
          <a:p>
            <a:pPr indent="0" marL="0">
              <a:buNone/>
            </a:pPr>
            <a:r>
              <a:rPr lang="en-US" sz="1250" b="1" spc="150" kern="0" dirty="0">
                <a:solidFill>
                  <a:srgbClr val="8FB0F8"/>
                </a:solidFill>
                <a:latin typeface="Malgun Gothic" pitchFamily="34" charset="0"/>
                <a:ea typeface="Malgun Gothic" pitchFamily="34" charset="-122"/>
                <a:cs typeface="Malgun Gothic" pitchFamily="34" charset="-120"/>
              </a:rPr>
              <a:t>연금 포트폴리오 가이드 PB 서비스</a:t>
            </a:r>
            <a:endParaRPr lang="en-US" sz="1250" dirty="0"/>
          </a:p>
        </p:txBody>
      </p:sp>
      <p:sp>
        <p:nvSpPr>
          <p:cNvPr id="4" name="Text 2"/>
          <p:cNvSpPr/>
          <p:nvPr/>
        </p:nvSpPr>
        <p:spPr>
          <a:xfrm>
            <a:off x="777240" y="1901952"/>
            <a:ext cx="6949440" cy="1051560"/>
          </a:xfrm>
          <a:prstGeom prst="rect">
            <a:avLst/>
          </a:prstGeom>
          <a:noFill/>
          <a:ln/>
        </p:spPr>
        <p:txBody>
          <a:bodyPr wrap="square" lIns="0" tIns="0" rIns="0" bIns="0" rtlCol="0" anchor="ctr"/>
          <a:lstStyle/>
          <a:p>
            <a:pPr indent="0" marL="0">
              <a:buNone/>
            </a:pPr>
            <a:r>
              <a:rPr lang="en-US" sz="6000" b="1" dirty="0">
                <a:solidFill>
                  <a:srgbClr val="FFFFFF"/>
                </a:solidFill>
                <a:latin typeface="Malgun Gothic" pitchFamily="34" charset="0"/>
                <a:ea typeface="Malgun Gothic" pitchFamily="34" charset="-122"/>
                <a:cs typeface="Malgun Gothic" pitchFamily="34" charset="-120"/>
              </a:rPr>
              <a:t>연금</a:t>
            </a:r>
            <a:pPr indent="0" marL="0">
              <a:buNone/>
            </a:pPr>
            <a:r>
              <a:rPr lang="en-US" sz="6000" b="1" dirty="0">
                <a:solidFill>
                  <a:srgbClr val="8FB0F8"/>
                </a:solidFill>
                <a:latin typeface="Malgun Gothic" pitchFamily="34" charset="0"/>
                <a:ea typeface="Malgun Gothic" pitchFamily="34" charset="-122"/>
                <a:cs typeface="Malgun Gothic" pitchFamily="34" charset="-120"/>
              </a:rPr>
              <a:t>:</a:t>
            </a:r>
            <a:pPr indent="0" marL="0">
              <a:buNone/>
            </a:pPr>
            <a:r>
              <a:rPr lang="en-US" sz="6000" b="1" dirty="0">
                <a:solidFill>
                  <a:srgbClr val="8FB0F8"/>
                </a:solidFill>
                <a:latin typeface="Malgun Gothic" pitchFamily="34" charset="0"/>
                <a:ea typeface="Malgun Gothic" pitchFamily="34" charset="-122"/>
                <a:cs typeface="Malgun Gothic" pitchFamily="34" charset="-120"/>
              </a:rPr>
              <a:t>KDA</a:t>
            </a:r>
            <a:endParaRPr lang="en-US" sz="6000" dirty="0"/>
          </a:p>
        </p:txBody>
      </p:sp>
      <p:sp>
        <p:nvSpPr>
          <p:cNvPr id="5" name="Text 3"/>
          <p:cNvSpPr/>
          <p:nvPr/>
        </p:nvSpPr>
        <p:spPr>
          <a:xfrm>
            <a:off x="804672" y="3054096"/>
            <a:ext cx="6949440" cy="384048"/>
          </a:xfrm>
          <a:prstGeom prst="rect">
            <a:avLst/>
          </a:prstGeom>
          <a:noFill/>
          <a:ln/>
        </p:spPr>
        <p:txBody>
          <a:bodyPr wrap="square" lIns="0" tIns="0" rIns="0" bIns="0" rtlCol="0" anchor="ctr"/>
          <a:lstStyle/>
          <a:p>
            <a:pPr indent="0" marL="0">
              <a:buNone/>
            </a:pPr>
            <a:r>
              <a:rPr lang="en-US" sz="1450" b="1" dirty="0">
                <a:solidFill>
                  <a:srgbClr val="DCE6FB"/>
                </a:solidFill>
                <a:latin typeface="Malgun Gothic" pitchFamily="34" charset="0"/>
                <a:ea typeface="Malgun Gothic" pitchFamily="34" charset="-122"/>
                <a:cs typeface="Malgun Gothic" pitchFamily="34" charset="-120"/>
              </a:rPr>
              <a:t>「연금:크다」</a:t>
            </a:r>
            <a:pPr indent="0" marL="0">
              <a:buNone/>
            </a:pPr>
            <a:r>
              <a:rPr lang="en-US" sz="1450" dirty="0">
                <a:solidFill>
                  <a:srgbClr val="DCE6FB"/>
                </a:solidFill>
                <a:latin typeface="Malgun Gothic" pitchFamily="34" charset="0"/>
                <a:ea typeface="Malgun Gothic" pitchFamily="34" charset="-122"/>
                <a:cs typeface="Malgun Gothic" pitchFamily="34" charset="-120"/>
              </a:rPr>
              <a:t> — 고객의 연금이 </a:t>
            </a:r>
            <a:pPr indent="0" marL="0">
              <a:buNone/>
            </a:pPr>
            <a:r>
              <a:rPr lang="en-US" sz="1450" b="1" dirty="0">
                <a:solidFill>
                  <a:srgbClr val="8FB0F8"/>
                </a:solidFill>
                <a:latin typeface="Malgun Gothic" pitchFamily="34" charset="0"/>
                <a:ea typeface="Malgun Gothic" pitchFamily="34" charset="-122"/>
                <a:cs typeface="Malgun Gothic" pitchFamily="34" charset="-120"/>
              </a:rPr>
              <a:t>커지기를</a:t>
            </a:r>
            <a:pPr indent="0" marL="0">
              <a:buNone/>
            </a:pPr>
            <a:r>
              <a:rPr lang="en-US" sz="1450" dirty="0">
                <a:solidFill>
                  <a:srgbClr val="DCE6FB"/>
                </a:solidFill>
                <a:latin typeface="Malgun Gothic" pitchFamily="34" charset="0"/>
                <a:ea typeface="Malgun Gothic" pitchFamily="34" charset="-122"/>
                <a:cs typeface="Malgun Gothic" pitchFamily="34" charset="-120"/>
              </a:rPr>
              <a:t> 바라는 마음을 담은 이름입니다.</a:t>
            </a:r>
            <a:endParaRPr lang="en-US" sz="1450" dirty="0"/>
          </a:p>
        </p:txBody>
      </p:sp>
      <p:sp>
        <p:nvSpPr>
          <p:cNvPr id="6" name="Text 4"/>
          <p:cNvSpPr/>
          <p:nvPr/>
        </p:nvSpPr>
        <p:spPr>
          <a:xfrm>
            <a:off x="804672" y="3529584"/>
            <a:ext cx="6766560" cy="365760"/>
          </a:xfrm>
          <a:prstGeom prst="rect">
            <a:avLst/>
          </a:prstGeom>
          <a:noFill/>
          <a:ln/>
        </p:spPr>
        <p:txBody>
          <a:bodyPr wrap="square" lIns="0" tIns="0" rIns="0" bIns="0" rtlCol="0" anchor="ctr"/>
          <a:lstStyle/>
          <a:p>
            <a:pPr indent="0" marL="0">
              <a:buNone/>
            </a:pPr>
            <a:r>
              <a:rPr lang="en-US" sz="1200" dirty="0">
                <a:solidFill>
                  <a:srgbClr val="9DB0D8"/>
                </a:solidFill>
                <a:latin typeface="Malgun Gothic" pitchFamily="34" charset="0"/>
                <a:ea typeface="Malgun Gothic" pitchFamily="34" charset="-122"/>
                <a:cs typeface="Malgun Gothic" pitchFamily="34" charset="-120"/>
              </a:rPr>
              <a:t>스스로 굴리게 돕는 설명 가능한 AI — 계산은 규칙 엔진이, 설명은 AI가 합니다.</a:t>
            </a:r>
            <a:endParaRPr lang="en-US" sz="1200" dirty="0"/>
          </a:p>
        </p:txBody>
      </p:sp>
      <p:sp>
        <p:nvSpPr>
          <p:cNvPr id="7" name="Text 5"/>
          <p:cNvSpPr/>
          <p:nvPr/>
        </p:nvSpPr>
        <p:spPr>
          <a:xfrm>
            <a:off x="804672" y="4114800"/>
            <a:ext cx="1325880" cy="292608"/>
          </a:xfrm>
          <a:prstGeom prst="roundRect">
            <a:avLst>
              <a:gd name="adj" fmla="val 43750"/>
            </a:avLst>
          </a:prstGeom>
          <a:solidFill>
            <a:srgbClr val="1B2F66"/>
          </a:solidFill>
          <a:ln w="9525">
            <a:solidFill>
              <a:srgbClr val="31437F"/>
            </a:solidFill>
          </a:ln>
        </p:spPr>
        <p:txBody>
          <a:bodyPr wrap="square" lIns="0" tIns="0" rIns="0" bIns="0" rtlCol="0" anchor="ctr"/>
          <a:lstStyle/>
          <a:p>
            <a:pPr algn="ctr" indent="0" marL="0">
              <a:buNone/>
            </a:pPr>
            <a:r>
              <a:rPr lang="en-US" sz="1000" b="1" dirty="0">
                <a:solidFill>
                  <a:srgbClr val="BFD2F8"/>
                </a:solidFill>
                <a:latin typeface="Malgun Gothic" pitchFamily="34" charset="0"/>
                <a:ea typeface="Malgun Gothic" pitchFamily="34" charset="-122"/>
                <a:cs typeface="Malgun Gothic" pitchFamily="34" charset="-120"/>
              </a:rPr>
              <a:t>DC형 퇴직연금</a:t>
            </a:r>
            <a:endParaRPr lang="en-US" sz="1000" dirty="0"/>
          </a:p>
        </p:txBody>
      </p:sp>
      <p:sp>
        <p:nvSpPr>
          <p:cNvPr id="8" name="Text 6"/>
          <p:cNvSpPr/>
          <p:nvPr/>
        </p:nvSpPr>
        <p:spPr>
          <a:xfrm>
            <a:off x="2276856" y="4114800"/>
            <a:ext cx="685800" cy="292608"/>
          </a:xfrm>
          <a:prstGeom prst="roundRect">
            <a:avLst>
              <a:gd name="adj" fmla="val 43750"/>
            </a:avLst>
          </a:prstGeom>
          <a:solidFill>
            <a:srgbClr val="1B2F66"/>
          </a:solidFill>
          <a:ln w="9525">
            <a:solidFill>
              <a:srgbClr val="31437F"/>
            </a:solidFill>
          </a:ln>
        </p:spPr>
        <p:txBody>
          <a:bodyPr wrap="square" lIns="0" tIns="0" rIns="0" bIns="0" rtlCol="0" anchor="ctr"/>
          <a:lstStyle/>
          <a:p>
            <a:pPr algn="ctr" indent="0" marL="0">
              <a:buNone/>
            </a:pPr>
            <a:r>
              <a:rPr lang="en-US" sz="1000" b="1" dirty="0">
                <a:solidFill>
                  <a:srgbClr val="BFD2F8"/>
                </a:solidFill>
                <a:latin typeface="Malgun Gothic" pitchFamily="34" charset="0"/>
                <a:ea typeface="Malgun Gothic" pitchFamily="34" charset="-122"/>
                <a:cs typeface="Malgun Gothic" pitchFamily="34" charset="-120"/>
              </a:rPr>
              <a:t>IRP</a:t>
            </a:r>
            <a:endParaRPr lang="en-US" sz="1000" dirty="0"/>
          </a:p>
        </p:txBody>
      </p:sp>
      <p:sp>
        <p:nvSpPr>
          <p:cNvPr id="9" name="Text 7"/>
          <p:cNvSpPr/>
          <p:nvPr/>
        </p:nvSpPr>
        <p:spPr>
          <a:xfrm>
            <a:off x="3108960" y="4114800"/>
            <a:ext cx="960120" cy="292608"/>
          </a:xfrm>
          <a:prstGeom prst="roundRect">
            <a:avLst>
              <a:gd name="adj" fmla="val 43750"/>
            </a:avLst>
          </a:prstGeom>
          <a:solidFill>
            <a:srgbClr val="1B2F66"/>
          </a:solidFill>
          <a:ln w="9525">
            <a:solidFill>
              <a:srgbClr val="31437F"/>
            </a:solidFill>
          </a:ln>
        </p:spPr>
        <p:txBody>
          <a:bodyPr wrap="square" lIns="0" tIns="0" rIns="0" bIns="0" rtlCol="0" anchor="ctr"/>
          <a:lstStyle/>
          <a:p>
            <a:pPr algn="ctr" indent="0" marL="0">
              <a:buNone/>
            </a:pPr>
            <a:r>
              <a:rPr lang="en-US" sz="1000" b="1" dirty="0">
                <a:solidFill>
                  <a:srgbClr val="BFD2F8"/>
                </a:solidFill>
                <a:latin typeface="Malgun Gothic" pitchFamily="34" charset="0"/>
                <a:ea typeface="Malgun Gothic" pitchFamily="34" charset="-122"/>
                <a:cs typeface="Malgun Gothic" pitchFamily="34" charset="-120"/>
              </a:rPr>
              <a:t>연금저축</a:t>
            </a:r>
            <a:endParaRPr lang="en-US" sz="1000" dirty="0"/>
          </a:p>
        </p:txBody>
      </p:sp>
      <p:sp>
        <p:nvSpPr>
          <p:cNvPr id="10" name="Text 8"/>
          <p:cNvSpPr/>
          <p:nvPr/>
        </p:nvSpPr>
        <p:spPr>
          <a:xfrm>
            <a:off x="4215384" y="4114800"/>
            <a:ext cx="2148840" cy="292608"/>
          </a:xfrm>
          <a:prstGeom prst="roundRect">
            <a:avLst>
              <a:gd name="adj" fmla="val 43750"/>
            </a:avLst>
          </a:prstGeom>
          <a:solidFill>
            <a:srgbClr val="1B2F66"/>
          </a:solidFill>
          <a:ln w="9525">
            <a:solidFill>
              <a:srgbClr val="31437F"/>
            </a:solidFill>
          </a:ln>
        </p:spPr>
        <p:txBody>
          <a:bodyPr wrap="square" lIns="0" tIns="0" rIns="0" bIns="0" rtlCol="0" anchor="ctr"/>
          <a:lstStyle/>
          <a:p>
            <a:pPr algn="ctr" indent="0" marL="0">
              <a:buNone/>
            </a:pPr>
            <a:r>
              <a:rPr lang="en-US" sz="1000" b="1" dirty="0">
                <a:solidFill>
                  <a:srgbClr val="BFD2F8"/>
                </a:solidFill>
                <a:latin typeface="Malgun Gothic" pitchFamily="34" charset="0"/>
                <a:ea typeface="Malgun Gothic" pitchFamily="34" charset="-122"/>
                <a:cs typeface="Malgun Gothic" pitchFamily="34" charset="-120"/>
              </a:rPr>
              <a:t>자문·정보 제공형 (일임 아님)</a:t>
            </a:r>
            <a:endParaRPr lang="en-US" sz="1000" dirty="0"/>
          </a:p>
        </p:txBody>
      </p:sp>
      <p:sp>
        <p:nvSpPr>
          <p:cNvPr id="11" name="Shape 9"/>
          <p:cNvSpPr/>
          <p:nvPr/>
        </p:nvSpPr>
        <p:spPr>
          <a:xfrm>
            <a:off x="8732520" y="1234440"/>
            <a:ext cx="2697480" cy="4526280"/>
          </a:xfrm>
          <a:prstGeom prst="roundRect">
            <a:avLst>
              <a:gd name="adj" fmla="val 7458"/>
            </a:avLst>
          </a:prstGeom>
          <a:solidFill>
            <a:srgbClr val="1B2F66"/>
          </a:solidFill>
          <a:ln w="12700">
            <a:solidFill>
              <a:srgbClr val="31437F"/>
            </a:solidFill>
            <a:prstDash val="solid"/>
          </a:ln>
        </p:spPr>
      </p:sp>
      <p:sp>
        <p:nvSpPr>
          <p:cNvPr id="12" name="Text 10"/>
          <p:cNvSpPr/>
          <p:nvPr/>
        </p:nvSpPr>
        <p:spPr>
          <a:xfrm>
            <a:off x="8915400" y="1417320"/>
            <a:ext cx="2331720" cy="274320"/>
          </a:xfrm>
          <a:prstGeom prst="rect">
            <a:avLst/>
          </a:prstGeom>
          <a:noFill/>
          <a:ln/>
        </p:spPr>
        <p:txBody>
          <a:bodyPr wrap="square" lIns="0" tIns="0" rIns="0" bIns="0" rtlCol="0" anchor="ctr"/>
          <a:lstStyle/>
          <a:p>
            <a:pPr indent="0" marL="0">
              <a:buNone/>
            </a:pPr>
            <a:r>
              <a:rPr lang="en-US" sz="1050" b="1" dirty="0">
                <a:solidFill>
                  <a:srgbClr val="BFD2F8"/>
                </a:solidFill>
                <a:latin typeface="Malgun Gothic" pitchFamily="34" charset="0"/>
                <a:ea typeface="Malgun Gothic" pitchFamily="34" charset="-122"/>
                <a:cs typeface="Malgun Gothic" pitchFamily="34" charset="-120"/>
              </a:rPr>
              <a:t>연금가이드</a:t>
            </a:r>
            <a:endParaRPr lang="en-US" sz="1050" dirty="0"/>
          </a:p>
        </p:txBody>
      </p:sp>
      <p:sp>
        <p:nvSpPr>
          <p:cNvPr id="13" name="Shape 11"/>
          <p:cNvSpPr/>
          <p:nvPr/>
        </p:nvSpPr>
        <p:spPr>
          <a:xfrm>
            <a:off x="9646920" y="1828800"/>
            <a:ext cx="1600200" cy="384048"/>
          </a:xfrm>
          <a:prstGeom prst="roundRect">
            <a:avLst>
              <a:gd name="adj" fmla="val 28571"/>
            </a:avLst>
          </a:prstGeom>
          <a:solidFill>
            <a:srgbClr val="1A4FD8"/>
          </a:solidFill>
          <a:ln/>
        </p:spPr>
      </p:sp>
      <p:sp>
        <p:nvSpPr>
          <p:cNvPr id="14" name="Text 12"/>
          <p:cNvSpPr/>
          <p:nvPr/>
        </p:nvSpPr>
        <p:spPr>
          <a:xfrm>
            <a:off x="9710928" y="1856232"/>
            <a:ext cx="1481328" cy="329184"/>
          </a:xfrm>
          <a:prstGeom prst="rect">
            <a:avLst/>
          </a:prstGeom>
          <a:noFill/>
          <a:ln/>
        </p:spPr>
        <p:txBody>
          <a:bodyPr wrap="square" lIns="0" tIns="0" rIns="0" bIns="0" rtlCol="0" anchor="ctr"/>
          <a:lstStyle/>
          <a:p>
            <a:pPr algn="ctr" indent="0" marL="0">
              <a:buNone/>
            </a:pPr>
            <a:r>
              <a:rPr lang="en-US" sz="860" dirty="0">
                <a:solidFill>
                  <a:srgbClr val="FFFFFF"/>
                </a:solidFill>
                <a:latin typeface="Malgun Gothic" pitchFamily="34" charset="0"/>
                <a:ea typeface="Malgun Gothic" pitchFamily="34" charset="-122"/>
                <a:cs typeface="Malgun Gothic" pitchFamily="34" charset="-120"/>
              </a:rPr>
              <a:t>세액공제 얼마 받아요?</a:t>
            </a:r>
            <a:endParaRPr lang="en-US" sz="860" dirty="0"/>
          </a:p>
        </p:txBody>
      </p:sp>
      <p:sp>
        <p:nvSpPr>
          <p:cNvPr id="15" name="Shape 13"/>
          <p:cNvSpPr/>
          <p:nvPr/>
        </p:nvSpPr>
        <p:spPr>
          <a:xfrm>
            <a:off x="8915400" y="2377440"/>
            <a:ext cx="2057400" cy="1417320"/>
          </a:xfrm>
          <a:prstGeom prst="roundRect">
            <a:avLst>
              <a:gd name="adj" fmla="val 7742"/>
            </a:avLst>
          </a:prstGeom>
          <a:solidFill>
            <a:srgbClr val="FFFFFF"/>
          </a:solidFill>
          <a:ln/>
        </p:spPr>
      </p:sp>
      <p:sp>
        <p:nvSpPr>
          <p:cNvPr id="16" name="Text 14"/>
          <p:cNvSpPr/>
          <p:nvPr/>
        </p:nvSpPr>
        <p:spPr>
          <a:xfrm>
            <a:off x="9025128" y="2468880"/>
            <a:ext cx="1847088" cy="914400"/>
          </a:xfrm>
          <a:prstGeom prst="rect">
            <a:avLst/>
          </a:prstGeom>
          <a:noFill/>
          <a:ln/>
        </p:spPr>
        <p:txBody>
          <a:bodyPr wrap="square" lIns="0" tIns="0" rIns="0" bIns="0" rtlCol="0" anchor="t"/>
          <a:lstStyle/>
          <a:p>
            <a:pPr indent="0" marL="0">
              <a:buNone/>
            </a:pPr>
            <a:r>
              <a:rPr lang="en-US" sz="880" dirty="0">
                <a:solidFill>
                  <a:srgbClr val="18202E"/>
                </a:solidFill>
                <a:latin typeface="Malgun Gothic" pitchFamily="34" charset="0"/>
                <a:ea typeface="Malgun Gothic" pitchFamily="34" charset="-122"/>
                <a:cs typeface="Malgun Gothic" pitchFamily="34" charset="-120"/>
              </a:rPr>
              <a:t>연금저축 600만 원까지</a:t>
            </a:r>
            <a:endParaRPr lang="en-US" sz="880" dirty="0"/>
          </a:p>
          <a:p>
            <a:pPr indent="0" marL="0">
              <a:buNone/>
            </a:pPr>
            <a:r>
              <a:rPr lang="en-US" sz="880" dirty="0">
                <a:solidFill>
                  <a:srgbClr val="18202E"/>
                </a:solidFill>
                <a:latin typeface="Malgun Gothic" pitchFamily="34" charset="0"/>
                <a:ea typeface="Malgun Gothic" pitchFamily="34" charset="-122"/>
                <a:cs typeface="Malgun Gothic" pitchFamily="34" charset="-120"/>
              </a:rPr>
              <a:t>납입하면 총급여 기준</a:t>
            </a:r>
            <a:endParaRPr lang="en-US" sz="880" dirty="0"/>
          </a:p>
          <a:p>
            <a:pPr indent="0" marL="0">
              <a:buNone/>
            </a:pPr>
            <a:r>
              <a:rPr lang="en-US" sz="880" dirty="0">
                <a:solidFill>
                  <a:srgbClr val="18202E"/>
                </a:solidFill>
                <a:latin typeface="Malgun Gothic" pitchFamily="34" charset="0"/>
                <a:ea typeface="Malgun Gothic" pitchFamily="34" charset="-122"/>
                <a:cs typeface="Malgun Gothic" pitchFamily="34" charset="-120"/>
              </a:rPr>
              <a:t>공제율 16.5%가 적용돼요.</a:t>
            </a:r>
            <a:endParaRPr lang="en-US" sz="880" dirty="0"/>
          </a:p>
        </p:txBody>
      </p:sp>
      <p:sp>
        <p:nvSpPr>
          <p:cNvPr id="17" name="Text 15"/>
          <p:cNvSpPr/>
          <p:nvPr/>
        </p:nvSpPr>
        <p:spPr>
          <a:xfrm>
            <a:off x="9025128" y="3401568"/>
            <a:ext cx="841248" cy="237744"/>
          </a:xfrm>
          <a:prstGeom prst="roundRect">
            <a:avLst>
              <a:gd name="adj" fmla="val 53846"/>
            </a:avLst>
          </a:prstGeom>
          <a:solidFill>
            <a:srgbClr val="EEF3FE"/>
          </a:solidFill>
          <a:ln w="9525">
            <a:solidFill>
              <a:srgbClr val="D7E2F8"/>
            </a:solidFill>
          </a:ln>
        </p:spPr>
        <p:txBody>
          <a:bodyPr wrap="square" lIns="0" tIns="0" rIns="0" bIns="0" rtlCol="0" anchor="ctr"/>
          <a:lstStyle/>
          <a:p>
            <a:pPr algn="ctr" indent="0" marL="0">
              <a:buNone/>
            </a:pPr>
            <a:r>
              <a:rPr lang="en-US" sz="800" b="1" dirty="0">
                <a:solidFill>
                  <a:srgbClr val="1A4FD8"/>
                </a:solidFill>
                <a:latin typeface="Malgun Gothic" pitchFamily="34" charset="0"/>
                <a:ea typeface="Malgun Gothic" pitchFamily="34" charset="-122"/>
                <a:cs typeface="Malgun Gothic" pitchFamily="34" charset="-120"/>
              </a:rPr>
              <a:t>출처 3건</a:t>
            </a:r>
            <a:endParaRPr lang="en-US" sz="800" dirty="0"/>
          </a:p>
        </p:txBody>
      </p:sp>
      <p:sp>
        <p:nvSpPr>
          <p:cNvPr id="18" name="Text 16"/>
          <p:cNvSpPr/>
          <p:nvPr/>
        </p:nvSpPr>
        <p:spPr>
          <a:xfrm>
            <a:off x="9930384" y="3401568"/>
            <a:ext cx="914400" cy="237744"/>
          </a:xfrm>
          <a:prstGeom prst="roundRect">
            <a:avLst>
              <a:gd name="adj" fmla="val 53846"/>
            </a:avLst>
          </a:prstGeom>
          <a:solidFill>
            <a:srgbClr val="E6F3EA"/>
          </a:solidFill>
          <a:ln w="9525">
            <a:solidFill>
              <a:srgbClr val="CBE5D4"/>
            </a:solidFill>
          </a:ln>
        </p:spPr>
        <p:txBody>
          <a:bodyPr wrap="square" lIns="0" tIns="0" rIns="0" bIns="0" rtlCol="0" anchor="ctr"/>
          <a:lstStyle/>
          <a:p>
            <a:pPr algn="ctr" indent="0" marL="0">
              <a:buNone/>
            </a:pPr>
            <a:r>
              <a:rPr lang="en-US" sz="800" b="1" dirty="0">
                <a:solidFill>
                  <a:srgbClr val="1E8A4C"/>
                </a:solidFill>
                <a:latin typeface="Malgun Gothic" pitchFamily="34" charset="0"/>
                <a:ea typeface="Malgun Gothic" pitchFamily="34" charset="-122"/>
                <a:cs typeface="Malgun Gothic" pitchFamily="34" charset="-120"/>
              </a:rPr>
              <a:t>과거 실적</a:t>
            </a:r>
            <a:endParaRPr lang="en-US" sz="800" dirty="0"/>
          </a:p>
        </p:txBody>
      </p:sp>
      <p:sp>
        <p:nvSpPr>
          <p:cNvPr id="19" name="Shape 17"/>
          <p:cNvSpPr/>
          <p:nvPr/>
        </p:nvSpPr>
        <p:spPr>
          <a:xfrm>
            <a:off x="8915400" y="4069080"/>
            <a:ext cx="2331720" cy="1051560"/>
          </a:xfrm>
          <a:prstGeom prst="roundRect">
            <a:avLst>
              <a:gd name="adj" fmla="val 10435"/>
            </a:avLst>
          </a:prstGeom>
          <a:solidFill>
            <a:srgbClr val="16295E"/>
          </a:solidFill>
          <a:ln w="12700">
            <a:solidFill>
              <a:srgbClr val="31437F"/>
            </a:solidFill>
            <a:prstDash val="solid"/>
          </a:ln>
        </p:spPr>
      </p:sp>
      <p:sp>
        <p:nvSpPr>
          <p:cNvPr id="20" name="Text 18"/>
          <p:cNvSpPr/>
          <p:nvPr/>
        </p:nvSpPr>
        <p:spPr>
          <a:xfrm>
            <a:off x="9052560" y="4187952"/>
            <a:ext cx="2103120" cy="274320"/>
          </a:xfrm>
          <a:prstGeom prst="rect">
            <a:avLst/>
          </a:prstGeom>
          <a:noFill/>
          <a:ln/>
        </p:spPr>
        <p:txBody>
          <a:bodyPr wrap="square" lIns="0" tIns="0" rIns="0" bIns="0" rtlCol="0" anchor="ctr"/>
          <a:lstStyle/>
          <a:p>
            <a:pPr indent="0" marL="0">
              <a:buNone/>
            </a:pPr>
            <a:r>
              <a:rPr lang="en-US" sz="950" b="1" dirty="0">
                <a:solidFill>
                  <a:srgbClr val="8FB0F8"/>
                </a:solidFill>
                <a:latin typeface="Malgun Gothic" pitchFamily="34" charset="0"/>
                <a:ea typeface="Malgun Gothic" pitchFamily="34" charset="-122"/>
                <a:cs typeface="Malgun Gothic" pitchFamily="34" charset="-120"/>
              </a:rPr>
              <a:t>규칙 엔진 검증 완료</a:t>
            </a:r>
            <a:endParaRPr lang="en-US" sz="950" dirty="0"/>
          </a:p>
        </p:txBody>
      </p:sp>
      <p:sp>
        <p:nvSpPr>
          <p:cNvPr id="21" name="Text 19"/>
          <p:cNvSpPr/>
          <p:nvPr/>
        </p:nvSpPr>
        <p:spPr>
          <a:xfrm>
            <a:off x="9052560" y="4480560"/>
            <a:ext cx="2103120" cy="548640"/>
          </a:xfrm>
          <a:prstGeom prst="rect">
            <a:avLst/>
          </a:prstGeom>
          <a:noFill/>
          <a:ln/>
        </p:spPr>
        <p:txBody>
          <a:bodyPr wrap="square" lIns="0" tIns="0" rIns="0" bIns="0" rtlCol="0" anchor="ctr"/>
          <a:lstStyle/>
          <a:p>
            <a:pPr indent="0" marL="0">
              <a:buNone/>
            </a:pPr>
            <a:r>
              <a:rPr lang="en-US" sz="830" dirty="0">
                <a:solidFill>
                  <a:srgbClr val="9DB0D8"/>
                </a:solidFill>
                <a:latin typeface="Malgun Gothic" pitchFamily="34" charset="0"/>
                <a:ea typeface="Malgun Gothic" pitchFamily="34" charset="-122"/>
                <a:cs typeface="Malgun Gothic" pitchFamily="34" charset="-120"/>
              </a:rPr>
              <a:t>숫자 ↔ 근거 대조 · Decimal 결정론</a:t>
            </a:r>
            <a:endParaRPr lang="en-US" sz="830" dirty="0"/>
          </a:p>
          <a:p>
            <a:pPr indent="0" marL="0">
              <a:buNone/>
            </a:pPr>
            <a:r>
              <a:rPr lang="en-US" sz="830" dirty="0">
                <a:solidFill>
                  <a:srgbClr val="9DB0D8"/>
                </a:solidFill>
                <a:latin typeface="Malgun Gothic" pitchFamily="34" charset="0"/>
                <a:ea typeface="Malgun Gothic" pitchFamily="34" charset="-122"/>
                <a:cs typeface="Malgun Gothic" pitchFamily="34" charset="-120"/>
              </a:rPr>
              <a:t>DC·IRP 위험자산 70% 한도 반영</a:t>
            </a:r>
            <a:endParaRPr lang="en-US" sz="830" dirty="0"/>
          </a:p>
        </p:txBody>
      </p:sp>
      <p:sp>
        <p:nvSpPr>
          <p:cNvPr id="22" name="Text 20"/>
          <p:cNvSpPr/>
          <p:nvPr/>
        </p:nvSpPr>
        <p:spPr>
          <a:xfrm>
            <a:off x="804672" y="5989320"/>
            <a:ext cx="5943600" cy="274320"/>
          </a:xfrm>
          <a:prstGeom prst="rect">
            <a:avLst/>
          </a:prstGeom>
          <a:noFill/>
          <a:ln/>
        </p:spPr>
        <p:txBody>
          <a:bodyPr wrap="square" lIns="0" tIns="0" rIns="0" bIns="0" rtlCol="0" anchor="ctr"/>
          <a:lstStyle/>
          <a:p>
            <a:pPr indent="0" marL="0">
              <a:buNone/>
            </a:pPr>
            <a:r>
              <a:rPr lang="en-US" sz="1050" dirty="0">
                <a:solidFill>
                  <a:srgbClr val="9DB0D8"/>
                </a:solidFill>
                <a:latin typeface="Malgun Gothic" pitchFamily="34" charset="0"/>
                <a:ea typeface="Malgun Gothic" pitchFamily="34" charset="-122"/>
                <a:cs typeface="Malgun Gothic" pitchFamily="34" charset="-120"/>
              </a:rPr>
              <a:t>이재용 · 이호연 · 김태형 · 최호택 · 진재현 · 정인성</a:t>
            </a:r>
            <a:endParaRPr lang="en-US" sz="1050" dirty="0"/>
          </a:p>
        </p:txBody>
      </p:sp>
      <p:sp>
        <p:nvSpPr>
          <p:cNvPr id="23" name="Text 21"/>
          <p:cNvSpPr/>
          <p:nvPr/>
        </p:nvSpPr>
        <p:spPr>
          <a:xfrm>
            <a:off x="10515600" y="6382512"/>
            <a:ext cx="1097280" cy="274320"/>
          </a:xfrm>
          <a:prstGeom prst="rect">
            <a:avLst/>
          </a:prstGeom>
          <a:noFill/>
          <a:ln/>
        </p:spPr>
        <p:txBody>
          <a:bodyPr wrap="square" lIns="0" tIns="0" rIns="0" bIns="0" rtlCol="0" anchor="ctr"/>
          <a:lstStyle/>
          <a:p>
            <a:pPr algn="r" indent="0" marL="0">
              <a:buNone/>
            </a:pPr>
            <a:r>
              <a:rPr lang="en-US" sz="1000" dirty="0">
                <a:solidFill>
                  <a:srgbClr val="6E7FA8"/>
                </a:solidFill>
                <a:latin typeface="Malgun Gothic" pitchFamily="34" charset="0"/>
                <a:ea typeface="Malgun Gothic" pitchFamily="34" charset="-122"/>
                <a:cs typeface="Malgun Gothic" pitchFamily="34" charset="-120"/>
              </a:rPr>
              <a:t>2026. 07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01 · EXECUTIVE SUMMARY</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결론 먼저 — 계산은 엔진이, 설명은 AI가</a:t>
            </a:r>
            <a:endParaRPr lang="en-US" sz="2800" dirty="0"/>
          </a:p>
        </p:txBody>
      </p:sp>
      <p:sp>
        <p:nvSpPr>
          <p:cNvPr id="4" name="Text 2"/>
          <p:cNvSpPr/>
          <p:nvPr/>
        </p:nvSpPr>
        <p:spPr>
          <a:xfrm>
            <a:off x="548640" y="1417320"/>
            <a:ext cx="5943600" cy="914400"/>
          </a:xfrm>
          <a:prstGeom prst="rect">
            <a:avLst/>
          </a:prstGeom>
          <a:noFill/>
          <a:ln/>
        </p:spPr>
        <p:txBody>
          <a:bodyPr wrap="square" lIns="0" tIns="0" rIns="0" bIns="0" rtlCol="0" anchor="t"/>
          <a:lstStyle/>
          <a:p>
            <a:pPr indent="0" marL="0">
              <a:buNone/>
            </a:pPr>
            <a:r>
              <a:rPr lang="en-US" sz="1350" dirty="0">
                <a:solidFill>
                  <a:srgbClr val="18202E"/>
                </a:solidFill>
                <a:latin typeface="Malgun Gothic" pitchFamily="34" charset="0"/>
                <a:ea typeface="Malgun Gothic" pitchFamily="34" charset="-122"/>
                <a:cs typeface="Malgun Gothic" pitchFamily="34" charset="-120"/>
              </a:rPr>
              <a:t>세 연금계좌의 자산·납입 현황을 한곳에 보여주고, 설명 가능한 AI 가이드 · 투자전략 비교 · 익명 포트폴리오 참고 · 세금계산을 연결해 이용자의 연금 운용 판단을 돕는 AI 연금가이드.</a:t>
            </a:r>
            <a:endParaRPr lang="en-US" sz="1350" dirty="0"/>
          </a:p>
        </p:txBody>
      </p:sp>
      <p:sp>
        <p:nvSpPr>
          <p:cNvPr id="5" name="Text 3"/>
          <p:cNvSpPr/>
          <p:nvPr/>
        </p:nvSpPr>
        <p:spPr>
          <a:xfrm>
            <a:off x="548640" y="2514600"/>
            <a:ext cx="5943600" cy="2011680"/>
          </a:xfrm>
          <a:prstGeom prst="rect">
            <a:avLst/>
          </a:prstGeom>
          <a:noFill/>
          <a:ln/>
        </p:spPr>
        <p:txBody>
          <a:bodyPr wrap="square" lIns="0" tIns="0" rIns="0" bIns="0" rtlCol="0" anchor="t"/>
          <a:lstStyle/>
          <a:p>
            <a:pPr marL="127000" indent="-127000">
              <a:spcAft>
                <a:spcPts val="900"/>
              </a:spcAft>
              <a:buSzPct val="100000"/>
              <a:buChar char="•"/>
            </a:pPr>
            <a:r>
              <a:rPr lang="en-US" sz="1250" dirty="0">
                <a:solidFill>
                  <a:srgbClr val="18202E"/>
                </a:solidFill>
                <a:latin typeface="Malgun Gothic" pitchFamily="34" charset="0"/>
                <a:ea typeface="Malgun Gothic" pitchFamily="34" charset="-122"/>
                <a:cs typeface="Malgun Gothic" pitchFamily="34" charset="-120"/>
              </a:rPr>
              <a:t>적격 ETF 861개 유니버스 + 연금 제도를 코드로 만든 규칙 엔진</a:t>
            </a:r>
            <a:endParaRPr lang="en-US" sz="1250" dirty="0"/>
          </a:p>
          <a:p>
            <a:pPr marL="127000" indent="-127000">
              <a:spcAft>
                <a:spcPts val="900"/>
              </a:spcAft>
              <a:buSzPct val="100000"/>
              <a:buChar char="•"/>
            </a:pPr>
            <a:r>
              <a:rPr lang="en-US" sz="1250" dirty="0">
                <a:solidFill>
                  <a:srgbClr val="18202E"/>
                </a:solidFill>
                <a:latin typeface="Malgun Gothic" pitchFamily="34" charset="0"/>
                <a:ea typeface="Malgun Gothic" pitchFamily="34" charset="-122"/>
                <a:cs typeface="Malgun Gothic" pitchFamily="34" charset="-120"/>
              </a:rPr>
              <a:t>모든 숫자는 근거와 대조 — 근거 없으면 응답 생성 실패(환각 차단)</a:t>
            </a:r>
            <a:endParaRPr lang="en-US" sz="1250" dirty="0"/>
          </a:p>
          <a:p>
            <a:pPr marL="127000" indent="-127000">
              <a:spcAft>
                <a:spcPts val="900"/>
              </a:spcAft>
              <a:buSzPct val="100000"/>
              <a:buChar char="•"/>
            </a:pPr>
            <a:r>
              <a:rPr lang="en-US" sz="1250" dirty="0">
                <a:solidFill>
                  <a:srgbClr val="18202E"/>
                </a:solidFill>
                <a:latin typeface="Malgun Gothic" pitchFamily="34" charset="0"/>
                <a:ea typeface="Malgun Gothic" pitchFamily="34" charset="-122"/>
                <a:cs typeface="Malgun Gothic" pitchFamily="34" charset="-120"/>
              </a:rPr>
              <a:t>6인 + AI 하네스 협업, 12일 만에 전체 파이프라인 main 머지</a:t>
            </a:r>
            <a:endParaRPr lang="en-US" sz="1250" dirty="0"/>
          </a:p>
        </p:txBody>
      </p:sp>
      <p:sp>
        <p:nvSpPr>
          <p:cNvPr id="6" name="Shape 4"/>
          <p:cNvSpPr/>
          <p:nvPr/>
        </p:nvSpPr>
        <p:spPr>
          <a:xfrm>
            <a:off x="6812280" y="1417320"/>
            <a:ext cx="2377440" cy="1481328"/>
          </a:xfrm>
          <a:prstGeom prst="roundRect">
            <a:avLst>
              <a:gd name="adj" fmla="val 5556"/>
            </a:avLst>
          </a:prstGeom>
          <a:solidFill>
            <a:srgbClr val="FFFFFF"/>
          </a:solidFill>
          <a:ln w="12700">
            <a:solidFill>
              <a:srgbClr val="D9E0EC"/>
            </a:solidFill>
            <a:prstDash val="solid"/>
          </a:ln>
        </p:spPr>
      </p:sp>
      <p:sp>
        <p:nvSpPr>
          <p:cNvPr id="7" name="Text 5"/>
          <p:cNvSpPr/>
          <p:nvPr/>
        </p:nvSpPr>
        <p:spPr>
          <a:xfrm>
            <a:off x="6958584" y="1508760"/>
            <a:ext cx="2084832" cy="711037"/>
          </a:xfrm>
          <a:prstGeom prst="rect">
            <a:avLst/>
          </a:prstGeom>
          <a:noFill/>
          <a:ln/>
        </p:spPr>
        <p:txBody>
          <a:bodyPr wrap="square" lIns="0" tIns="0" rIns="0" bIns="0" rtlCol="0" anchor="b"/>
          <a:lstStyle/>
          <a:p>
            <a:pPr indent="0" marL="0">
              <a:buNone/>
            </a:pPr>
            <a:r>
              <a:rPr lang="en-US" sz="2200" b="1" dirty="0">
                <a:solidFill>
                  <a:srgbClr val="1A4FD8"/>
                </a:solidFill>
                <a:latin typeface="Malgun Gothic" pitchFamily="34" charset="0"/>
                <a:ea typeface="Malgun Gothic" pitchFamily="34" charset="-122"/>
                <a:cs typeface="Malgun Gothic" pitchFamily="34" charset="-120"/>
              </a:rPr>
              <a:t>861 / 945</a:t>
            </a:r>
            <a:endParaRPr lang="en-US" sz="2200" dirty="0"/>
          </a:p>
        </p:txBody>
      </p:sp>
      <p:sp>
        <p:nvSpPr>
          <p:cNvPr id="8" name="Text 6"/>
          <p:cNvSpPr/>
          <p:nvPr/>
        </p:nvSpPr>
        <p:spPr>
          <a:xfrm>
            <a:off x="6958584" y="2242475"/>
            <a:ext cx="208483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연금계좌 적격 ETF</a:t>
            </a:r>
            <a:endParaRPr lang="en-US" sz="1100" dirty="0"/>
          </a:p>
        </p:txBody>
      </p:sp>
      <p:sp>
        <p:nvSpPr>
          <p:cNvPr id="9" name="Text 7"/>
          <p:cNvSpPr/>
          <p:nvPr/>
        </p:nvSpPr>
        <p:spPr>
          <a:xfrm>
            <a:off x="6958584" y="2489363"/>
            <a:ext cx="2084832" cy="381853"/>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DC 823 · IRP 823 · 연금저축 861</a:t>
            </a:r>
            <a:endParaRPr lang="en-US" sz="880" dirty="0"/>
          </a:p>
        </p:txBody>
      </p:sp>
      <p:sp>
        <p:nvSpPr>
          <p:cNvPr id="10" name="Shape 8"/>
          <p:cNvSpPr/>
          <p:nvPr/>
        </p:nvSpPr>
        <p:spPr>
          <a:xfrm>
            <a:off x="9409176" y="1417320"/>
            <a:ext cx="2377440" cy="1481328"/>
          </a:xfrm>
          <a:prstGeom prst="roundRect">
            <a:avLst>
              <a:gd name="adj" fmla="val 5556"/>
            </a:avLst>
          </a:prstGeom>
          <a:solidFill>
            <a:srgbClr val="FFFFFF"/>
          </a:solidFill>
          <a:ln w="12700">
            <a:solidFill>
              <a:srgbClr val="D9E0EC"/>
            </a:solidFill>
            <a:prstDash val="solid"/>
          </a:ln>
        </p:spPr>
      </p:sp>
      <p:sp>
        <p:nvSpPr>
          <p:cNvPr id="11" name="Text 9"/>
          <p:cNvSpPr/>
          <p:nvPr/>
        </p:nvSpPr>
        <p:spPr>
          <a:xfrm>
            <a:off x="9555480" y="1508760"/>
            <a:ext cx="2084832" cy="711037"/>
          </a:xfrm>
          <a:prstGeom prst="rect">
            <a:avLst/>
          </a:prstGeom>
          <a:noFill/>
          <a:ln/>
        </p:spPr>
        <p:txBody>
          <a:bodyPr wrap="square" lIns="0" tIns="0" rIns="0" bIns="0" rtlCol="0" anchor="b"/>
          <a:lstStyle/>
          <a:p>
            <a:pPr indent="0" marL="0">
              <a:buNone/>
            </a:pPr>
            <a:r>
              <a:rPr lang="en-US" sz="2200" b="1" dirty="0">
                <a:solidFill>
                  <a:srgbClr val="1A4FD8"/>
                </a:solidFill>
                <a:latin typeface="Malgun Gothic" pitchFamily="34" charset="0"/>
                <a:ea typeface="Malgun Gothic" pitchFamily="34" charset="-122"/>
                <a:cs typeface="Malgun Gothic" pitchFamily="34" charset="-120"/>
              </a:rPr>
              <a:t>217,833행</a:t>
            </a:r>
            <a:endParaRPr lang="en-US" sz="2200" dirty="0"/>
          </a:p>
        </p:txBody>
      </p:sp>
      <p:sp>
        <p:nvSpPr>
          <p:cNvPr id="12" name="Text 10"/>
          <p:cNvSpPr/>
          <p:nvPr/>
        </p:nvSpPr>
        <p:spPr>
          <a:xfrm>
            <a:off x="9555480" y="2242475"/>
            <a:ext cx="208483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총수익(TR) 이력</a:t>
            </a:r>
            <a:endParaRPr lang="en-US" sz="1100" dirty="0"/>
          </a:p>
        </p:txBody>
      </p:sp>
      <p:sp>
        <p:nvSpPr>
          <p:cNvPr id="13" name="Text 11"/>
          <p:cNvSpPr/>
          <p:nvPr/>
        </p:nvSpPr>
        <p:spPr>
          <a:xfrm>
            <a:off x="9555480" y="2489363"/>
            <a:ext cx="2084832" cy="381853"/>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861개 × 253관측 · 원격 DB 적재</a:t>
            </a:r>
            <a:endParaRPr lang="en-US" sz="880" dirty="0"/>
          </a:p>
        </p:txBody>
      </p:sp>
      <p:sp>
        <p:nvSpPr>
          <p:cNvPr id="14" name="Shape 12"/>
          <p:cNvSpPr/>
          <p:nvPr/>
        </p:nvSpPr>
        <p:spPr>
          <a:xfrm>
            <a:off x="6812280" y="3118104"/>
            <a:ext cx="2377440" cy="1481328"/>
          </a:xfrm>
          <a:prstGeom prst="roundRect">
            <a:avLst>
              <a:gd name="adj" fmla="val 5556"/>
            </a:avLst>
          </a:prstGeom>
          <a:solidFill>
            <a:srgbClr val="FFFFFF"/>
          </a:solidFill>
          <a:ln w="12700">
            <a:solidFill>
              <a:srgbClr val="D9E0EC"/>
            </a:solidFill>
            <a:prstDash val="solid"/>
          </a:ln>
        </p:spPr>
      </p:sp>
      <p:sp>
        <p:nvSpPr>
          <p:cNvPr id="15" name="Text 13"/>
          <p:cNvSpPr/>
          <p:nvPr/>
        </p:nvSpPr>
        <p:spPr>
          <a:xfrm>
            <a:off x="6958584" y="3209544"/>
            <a:ext cx="2084832" cy="711037"/>
          </a:xfrm>
          <a:prstGeom prst="rect">
            <a:avLst/>
          </a:prstGeom>
          <a:noFill/>
          <a:ln/>
        </p:spPr>
        <p:txBody>
          <a:bodyPr wrap="square" lIns="0" tIns="0" rIns="0" bIns="0" rtlCol="0" anchor="b"/>
          <a:lstStyle/>
          <a:p>
            <a:pPr indent="0" marL="0">
              <a:buNone/>
            </a:pPr>
            <a:r>
              <a:rPr lang="en-US" sz="2200" b="1" dirty="0">
                <a:solidFill>
                  <a:srgbClr val="1E8A4C"/>
                </a:solidFill>
                <a:latin typeface="Malgun Gothic" pitchFamily="34" charset="0"/>
                <a:ea typeface="Malgun Gothic" pitchFamily="34" charset="-122"/>
                <a:cs typeface="Malgun Gothic" pitchFamily="34" charset="-120"/>
              </a:rPr>
              <a:t>120개 · 0건</a:t>
            </a:r>
            <a:endParaRPr lang="en-US" sz="2200" dirty="0"/>
          </a:p>
        </p:txBody>
      </p:sp>
      <p:sp>
        <p:nvSpPr>
          <p:cNvPr id="16" name="Text 14"/>
          <p:cNvSpPr/>
          <p:nvPr/>
        </p:nvSpPr>
        <p:spPr>
          <a:xfrm>
            <a:off x="6958584" y="3943259"/>
            <a:ext cx="208483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포트폴리오 검증</a:t>
            </a:r>
            <a:endParaRPr lang="en-US" sz="1100" dirty="0"/>
          </a:p>
        </p:txBody>
      </p:sp>
      <p:sp>
        <p:nvSpPr>
          <p:cNvPr id="17" name="Text 15"/>
          <p:cNvSpPr/>
          <p:nvPr/>
        </p:nvSpPr>
        <p:spPr>
          <a:xfrm>
            <a:off x="6958584" y="4190147"/>
            <a:ext cx="2084832" cy="381853"/>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70% 한도 위반 0 · 슬리브 누락 0</a:t>
            </a:r>
            <a:endParaRPr lang="en-US" sz="880" dirty="0"/>
          </a:p>
        </p:txBody>
      </p:sp>
      <p:sp>
        <p:nvSpPr>
          <p:cNvPr id="18" name="Shape 16"/>
          <p:cNvSpPr/>
          <p:nvPr/>
        </p:nvSpPr>
        <p:spPr>
          <a:xfrm>
            <a:off x="9409176" y="3118104"/>
            <a:ext cx="2377440" cy="1481328"/>
          </a:xfrm>
          <a:prstGeom prst="roundRect">
            <a:avLst>
              <a:gd name="adj" fmla="val 5556"/>
            </a:avLst>
          </a:prstGeom>
          <a:solidFill>
            <a:srgbClr val="FFFFFF"/>
          </a:solidFill>
          <a:ln w="12700">
            <a:solidFill>
              <a:srgbClr val="D9E0EC"/>
            </a:solidFill>
            <a:prstDash val="solid"/>
          </a:ln>
        </p:spPr>
      </p:sp>
      <p:sp>
        <p:nvSpPr>
          <p:cNvPr id="19" name="Text 17"/>
          <p:cNvSpPr/>
          <p:nvPr/>
        </p:nvSpPr>
        <p:spPr>
          <a:xfrm>
            <a:off x="9555480" y="3209544"/>
            <a:ext cx="2084832" cy="711037"/>
          </a:xfrm>
          <a:prstGeom prst="rect">
            <a:avLst/>
          </a:prstGeom>
          <a:noFill/>
          <a:ln/>
        </p:spPr>
        <p:txBody>
          <a:bodyPr wrap="square" lIns="0" tIns="0" rIns="0" bIns="0" rtlCol="0" anchor="b"/>
          <a:lstStyle/>
          <a:p>
            <a:pPr indent="0" marL="0">
              <a:buNone/>
            </a:pPr>
            <a:r>
              <a:rPr lang="en-US" sz="2200" b="1" dirty="0">
                <a:solidFill>
                  <a:srgbClr val="1A4FD8"/>
                </a:solidFill>
                <a:latin typeface="Malgun Gothic" pitchFamily="34" charset="0"/>
                <a:ea typeface="Malgun Gothic" pitchFamily="34" charset="-122"/>
                <a:cs typeface="Malgun Gothic" pitchFamily="34" charset="-120"/>
              </a:rPr>
              <a:t>944 passed</a:t>
            </a:r>
            <a:endParaRPr lang="en-US" sz="2200" dirty="0"/>
          </a:p>
        </p:txBody>
      </p:sp>
      <p:sp>
        <p:nvSpPr>
          <p:cNvPr id="20" name="Text 18"/>
          <p:cNvSpPr/>
          <p:nvPr/>
        </p:nvSpPr>
        <p:spPr>
          <a:xfrm>
            <a:off x="9555480" y="3943259"/>
            <a:ext cx="208483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백엔드 테스트</a:t>
            </a:r>
            <a:endParaRPr lang="en-US" sz="1100" dirty="0"/>
          </a:p>
        </p:txBody>
      </p:sp>
      <p:sp>
        <p:nvSpPr>
          <p:cNvPr id="21" name="Text 19"/>
          <p:cNvSpPr/>
          <p:nvPr/>
        </p:nvSpPr>
        <p:spPr>
          <a:xfrm>
            <a:off x="9555480" y="4190147"/>
            <a:ext cx="2084832" cy="381853"/>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 프론트 39 · Ruff · 빌드 통과</a:t>
            </a:r>
            <a:endParaRPr lang="en-US" sz="880" dirty="0"/>
          </a:p>
        </p:txBody>
      </p:sp>
      <p:sp>
        <p:nvSpPr>
          <p:cNvPr id="22" name="Text 20"/>
          <p:cNvSpPr/>
          <p:nvPr/>
        </p:nvSpPr>
        <p:spPr>
          <a:xfrm>
            <a:off x="548640" y="5120640"/>
            <a:ext cx="105156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12일 개발</a:t>
            </a:r>
            <a:endParaRPr lang="en-US" sz="1000" dirty="0"/>
          </a:p>
        </p:txBody>
      </p:sp>
      <p:sp>
        <p:nvSpPr>
          <p:cNvPr id="23" name="Text 21"/>
          <p:cNvSpPr/>
          <p:nvPr/>
        </p:nvSpPr>
        <p:spPr>
          <a:xfrm>
            <a:off x="1764792" y="5120640"/>
            <a:ext cx="96012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478 커밋</a:t>
            </a:r>
            <a:endParaRPr lang="en-US" sz="1000" dirty="0"/>
          </a:p>
        </p:txBody>
      </p:sp>
      <p:sp>
        <p:nvSpPr>
          <p:cNvPr id="24" name="Text 22"/>
          <p:cNvSpPr/>
          <p:nvPr/>
        </p:nvSpPr>
        <p:spPr>
          <a:xfrm>
            <a:off x="2889504" y="5120640"/>
            <a:ext cx="123444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PR #137 머지</a:t>
            </a:r>
            <a:endParaRPr lang="en-US" sz="1000" dirty="0"/>
          </a:p>
        </p:txBody>
      </p:sp>
      <p:sp>
        <p:nvSpPr>
          <p:cNvPr id="25" name="Text 23"/>
          <p:cNvSpPr/>
          <p:nvPr/>
        </p:nvSpPr>
        <p:spPr>
          <a:xfrm>
            <a:off x="4288536" y="5120640"/>
            <a:ext cx="132588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REST API 39개</a:t>
            </a:r>
            <a:endParaRPr lang="en-US" sz="1000" dirty="0"/>
          </a:p>
        </p:txBody>
      </p:sp>
      <p:sp>
        <p:nvSpPr>
          <p:cNvPr id="26" name="Text 24"/>
          <p:cNvSpPr/>
          <p:nvPr/>
        </p:nvSpPr>
        <p:spPr>
          <a:xfrm>
            <a:off x="5779008" y="5120640"/>
            <a:ext cx="137160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DB 테이블 53개</a:t>
            </a:r>
            <a:endParaRPr lang="en-US" sz="1000" dirty="0"/>
          </a:p>
        </p:txBody>
      </p:sp>
      <p:sp>
        <p:nvSpPr>
          <p:cNvPr id="27" name="Text 25"/>
          <p:cNvSpPr/>
          <p:nvPr/>
        </p:nvSpPr>
        <p:spPr>
          <a:xfrm>
            <a:off x="7315200" y="5120640"/>
            <a:ext cx="123444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가드레일 10종</a:t>
            </a:r>
            <a:endParaRPr lang="en-US" sz="1000" dirty="0"/>
          </a:p>
        </p:txBody>
      </p:sp>
      <p:sp>
        <p:nvSpPr>
          <p:cNvPr id="28" name="Text 26"/>
          <p:cNvSpPr/>
          <p:nvPr/>
        </p:nvSpPr>
        <p:spPr>
          <a:xfrm>
            <a:off x="548640" y="5715000"/>
            <a:ext cx="11091672"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기준: origin/main 2026-07-21 (PR #137) · 문서+코드 실측 — 상세 근거는 발표 레퍼런스 문서 참조</a:t>
            </a:r>
            <a:endParaRPr lang="en-US" sz="950" dirty="0"/>
          </a:p>
        </p:txBody>
      </p:sp>
      <p:sp>
        <p:nvSpPr>
          <p:cNvPr id="29" name="Text 27"/>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02 · 기획 배경 — WHY NOW</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적립금 508조 시대, '조회' 다음이 비어 있다</a:t>
            </a:r>
            <a:endParaRPr lang="en-US" sz="2800" dirty="0"/>
          </a:p>
        </p:txBody>
      </p:sp>
      <p:sp>
        <p:nvSpPr>
          <p:cNvPr id="4" name="Shape 2"/>
          <p:cNvSpPr/>
          <p:nvPr/>
        </p:nvSpPr>
        <p:spPr>
          <a:xfrm>
            <a:off x="548640" y="1463040"/>
            <a:ext cx="4297680" cy="1060704"/>
          </a:xfrm>
          <a:prstGeom prst="roundRect">
            <a:avLst>
              <a:gd name="adj" fmla="val 7759"/>
            </a:avLst>
          </a:prstGeom>
          <a:solidFill>
            <a:srgbClr val="F7F9FE"/>
          </a:solidFill>
          <a:ln w="12700">
            <a:solidFill>
              <a:srgbClr val="D9E0EC"/>
            </a:solidFill>
            <a:prstDash val="solid"/>
          </a:ln>
        </p:spPr>
      </p:sp>
      <p:sp>
        <p:nvSpPr>
          <p:cNvPr id="5" name="Text 3"/>
          <p:cNvSpPr/>
          <p:nvPr/>
        </p:nvSpPr>
        <p:spPr>
          <a:xfrm>
            <a:off x="713232" y="1554480"/>
            <a:ext cx="1691640" cy="868680"/>
          </a:xfrm>
          <a:prstGeom prst="rect">
            <a:avLst/>
          </a:prstGeom>
          <a:noFill/>
          <a:ln/>
        </p:spPr>
        <p:txBody>
          <a:bodyPr wrap="square" lIns="0" tIns="0" rIns="0" bIns="0" rtlCol="0" anchor="ctr"/>
          <a:lstStyle/>
          <a:p>
            <a:pPr indent="0" marL="0">
              <a:buNone/>
            </a:pPr>
            <a:r>
              <a:rPr lang="en-US" sz="2300" b="1" dirty="0">
                <a:solidFill>
                  <a:srgbClr val="1A4FD8"/>
                </a:solidFill>
                <a:latin typeface="Malgun Gothic" pitchFamily="34" charset="0"/>
                <a:ea typeface="Malgun Gothic" pitchFamily="34" charset="-122"/>
                <a:cs typeface="Malgun Gothic" pitchFamily="34" charset="-120"/>
              </a:rPr>
              <a:t>508조 원</a:t>
            </a:r>
            <a:endParaRPr lang="en-US" sz="2300" dirty="0"/>
          </a:p>
        </p:txBody>
      </p:sp>
      <p:sp>
        <p:nvSpPr>
          <p:cNvPr id="6" name="Text 4"/>
          <p:cNvSpPr/>
          <p:nvPr/>
        </p:nvSpPr>
        <p:spPr>
          <a:xfrm>
            <a:off x="2468880" y="1591056"/>
            <a:ext cx="22860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퇴직연금 적립금 (2026 1Q)</a:t>
            </a:r>
            <a:endParaRPr lang="en-US" sz="1150" dirty="0"/>
          </a:p>
        </p:txBody>
      </p:sp>
      <p:sp>
        <p:nvSpPr>
          <p:cNvPr id="7" name="Text 5"/>
          <p:cNvSpPr/>
          <p:nvPr/>
        </p:nvSpPr>
        <p:spPr>
          <a:xfrm>
            <a:off x="2468880" y="1920240"/>
            <a:ext cx="2267712" cy="548640"/>
          </a:xfrm>
          <a:prstGeom prst="rect">
            <a:avLst/>
          </a:prstGeom>
          <a:noFill/>
          <a:ln/>
        </p:spPr>
        <p:txBody>
          <a:bodyPr wrap="square" lIns="0" tIns="0" rIns="0" bIns="0" rtlCol="0" anchor="t"/>
          <a:lstStyle/>
          <a:p>
            <a:pPr indent="0" marL="0">
              <a:buNone/>
            </a:pPr>
            <a:r>
              <a:rPr lang="en-US" sz="930" dirty="0">
                <a:solidFill>
                  <a:srgbClr val="5A6474"/>
                </a:solidFill>
                <a:latin typeface="Malgun Gothic" pitchFamily="34" charset="0"/>
                <a:ea typeface="Malgun Gothic" pitchFamily="34" charset="-122"/>
                <a:cs typeface="Malgun Gothic" pitchFamily="34" charset="-120"/>
              </a:rPr>
              <a:t>2025년 말 501.4조로 첫 500조 돌파 (+16.1%)</a:t>
            </a:r>
            <a:endParaRPr lang="en-US" sz="930" dirty="0"/>
          </a:p>
        </p:txBody>
      </p:sp>
      <p:sp>
        <p:nvSpPr>
          <p:cNvPr id="8" name="Shape 6"/>
          <p:cNvSpPr/>
          <p:nvPr/>
        </p:nvSpPr>
        <p:spPr>
          <a:xfrm>
            <a:off x="548640" y="2670048"/>
            <a:ext cx="4297680" cy="1060704"/>
          </a:xfrm>
          <a:prstGeom prst="roundRect">
            <a:avLst>
              <a:gd name="adj" fmla="val 7759"/>
            </a:avLst>
          </a:prstGeom>
          <a:solidFill>
            <a:srgbClr val="F7F9FE"/>
          </a:solidFill>
          <a:ln w="12700">
            <a:solidFill>
              <a:srgbClr val="D9E0EC"/>
            </a:solidFill>
            <a:prstDash val="solid"/>
          </a:ln>
        </p:spPr>
      </p:sp>
      <p:sp>
        <p:nvSpPr>
          <p:cNvPr id="9" name="Text 7"/>
          <p:cNvSpPr/>
          <p:nvPr/>
        </p:nvSpPr>
        <p:spPr>
          <a:xfrm>
            <a:off x="713232" y="2761488"/>
            <a:ext cx="1691640" cy="868680"/>
          </a:xfrm>
          <a:prstGeom prst="rect">
            <a:avLst/>
          </a:prstGeom>
          <a:noFill/>
          <a:ln/>
        </p:spPr>
        <p:txBody>
          <a:bodyPr wrap="square" lIns="0" tIns="0" rIns="0" bIns="0" rtlCol="0" anchor="ctr"/>
          <a:lstStyle/>
          <a:p>
            <a:pPr indent="0" marL="0">
              <a:buNone/>
            </a:pPr>
            <a:r>
              <a:rPr lang="en-US" sz="2300" b="1" dirty="0">
                <a:solidFill>
                  <a:srgbClr val="1A4FD8"/>
                </a:solidFill>
                <a:latin typeface="Malgun Gothic" pitchFamily="34" charset="0"/>
                <a:ea typeface="Malgun Gothic" pitchFamily="34" charset="-122"/>
                <a:cs typeface="Malgun Gothic" pitchFamily="34" charset="-120"/>
              </a:rPr>
              <a:t>1,200조</a:t>
            </a:r>
            <a:endParaRPr lang="en-US" sz="2300" dirty="0"/>
          </a:p>
        </p:txBody>
      </p:sp>
      <p:sp>
        <p:nvSpPr>
          <p:cNvPr id="10" name="Text 8"/>
          <p:cNvSpPr/>
          <p:nvPr/>
        </p:nvSpPr>
        <p:spPr>
          <a:xfrm>
            <a:off x="2468880" y="2798064"/>
            <a:ext cx="22860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2035년 시장 전망</a:t>
            </a:r>
            <a:endParaRPr lang="en-US" sz="1150" dirty="0"/>
          </a:p>
        </p:txBody>
      </p:sp>
      <p:sp>
        <p:nvSpPr>
          <p:cNvPr id="11" name="Text 9"/>
          <p:cNvSpPr/>
          <p:nvPr/>
        </p:nvSpPr>
        <p:spPr>
          <a:xfrm>
            <a:off x="2468880" y="3127248"/>
            <a:ext cx="2267712" cy="548640"/>
          </a:xfrm>
          <a:prstGeom prst="rect">
            <a:avLst/>
          </a:prstGeom>
          <a:noFill/>
          <a:ln/>
        </p:spPr>
        <p:txBody>
          <a:bodyPr wrap="square" lIns="0" tIns="0" rIns="0" bIns="0" rtlCol="0" anchor="t"/>
          <a:lstStyle/>
          <a:p>
            <a:pPr indent="0" marL="0">
              <a:buNone/>
            </a:pPr>
            <a:r>
              <a:rPr lang="en-US" sz="930" dirty="0">
                <a:solidFill>
                  <a:srgbClr val="5A6474"/>
                </a:solidFill>
                <a:latin typeface="Malgun Gothic" pitchFamily="34" charset="0"/>
                <a:ea typeface="Malgun Gothic" pitchFamily="34" charset="-122"/>
                <a:cs typeface="Malgun Gothic" pitchFamily="34" charset="-120"/>
              </a:rPr>
              <a:t>증권업권 자금 80%+가 상위 5개사 집중 — '5강 체제'</a:t>
            </a:r>
            <a:endParaRPr lang="en-US" sz="930" dirty="0"/>
          </a:p>
        </p:txBody>
      </p:sp>
      <p:sp>
        <p:nvSpPr>
          <p:cNvPr id="12" name="Shape 10"/>
          <p:cNvSpPr/>
          <p:nvPr/>
        </p:nvSpPr>
        <p:spPr>
          <a:xfrm>
            <a:off x="548640" y="3877056"/>
            <a:ext cx="4297680" cy="1060704"/>
          </a:xfrm>
          <a:prstGeom prst="roundRect">
            <a:avLst>
              <a:gd name="adj" fmla="val 7759"/>
            </a:avLst>
          </a:prstGeom>
          <a:solidFill>
            <a:srgbClr val="EEF3FE"/>
          </a:solidFill>
          <a:ln w="12700">
            <a:solidFill>
              <a:srgbClr val="D9E0EC"/>
            </a:solidFill>
            <a:prstDash val="solid"/>
          </a:ln>
        </p:spPr>
      </p:sp>
      <p:sp>
        <p:nvSpPr>
          <p:cNvPr id="13" name="Text 11"/>
          <p:cNvSpPr/>
          <p:nvPr/>
        </p:nvSpPr>
        <p:spPr>
          <a:xfrm>
            <a:off x="713232" y="3968496"/>
            <a:ext cx="1691640" cy="868680"/>
          </a:xfrm>
          <a:prstGeom prst="rect">
            <a:avLst/>
          </a:prstGeom>
          <a:noFill/>
          <a:ln/>
        </p:spPr>
        <p:txBody>
          <a:bodyPr wrap="square" lIns="0" tIns="0" rIns="0" bIns="0" rtlCol="0" anchor="ctr"/>
          <a:lstStyle/>
          <a:p>
            <a:pPr indent="0" marL="0">
              <a:buNone/>
            </a:pPr>
            <a:r>
              <a:rPr lang="en-US" sz="2300" b="1" dirty="0">
                <a:solidFill>
                  <a:srgbClr val="1A4FD8"/>
                </a:solidFill>
                <a:latin typeface="Malgun Gothic" pitchFamily="34" charset="0"/>
                <a:ea typeface="Malgun Gothic" pitchFamily="34" charset="-122"/>
                <a:cs typeface="Malgun Gothic" pitchFamily="34" charset="-120"/>
              </a:rPr>
              <a:t>2024.12</a:t>
            </a:r>
            <a:endParaRPr lang="en-US" sz="2300" dirty="0"/>
          </a:p>
        </p:txBody>
      </p:sp>
      <p:sp>
        <p:nvSpPr>
          <p:cNvPr id="14" name="Text 12"/>
          <p:cNvSpPr/>
          <p:nvPr/>
        </p:nvSpPr>
        <p:spPr>
          <a:xfrm>
            <a:off x="2468880" y="4005072"/>
            <a:ext cx="22860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로보어드바이저 일임 개방</a:t>
            </a:r>
            <a:endParaRPr lang="en-US" sz="1150" dirty="0"/>
          </a:p>
        </p:txBody>
      </p:sp>
      <p:sp>
        <p:nvSpPr>
          <p:cNvPr id="15" name="Text 13"/>
          <p:cNvSpPr/>
          <p:nvPr/>
        </p:nvSpPr>
        <p:spPr>
          <a:xfrm>
            <a:off x="2468880" y="4334256"/>
            <a:ext cx="2267712" cy="548640"/>
          </a:xfrm>
          <a:prstGeom prst="rect">
            <a:avLst/>
          </a:prstGeom>
          <a:noFill/>
          <a:ln/>
        </p:spPr>
        <p:txBody>
          <a:bodyPr wrap="square" lIns="0" tIns="0" rIns="0" bIns="0" rtlCol="0" anchor="t"/>
          <a:lstStyle/>
          <a:p>
            <a:pPr indent="0" marL="0">
              <a:buNone/>
            </a:pPr>
            <a:r>
              <a:rPr lang="en-US" sz="930" dirty="0">
                <a:solidFill>
                  <a:srgbClr val="5A6474"/>
                </a:solidFill>
                <a:latin typeface="Malgun Gothic" pitchFamily="34" charset="0"/>
                <a:ea typeface="Malgun Gothic" pitchFamily="34" charset="-122"/>
                <a:cs typeface="Malgun Gothic" pitchFamily="34" charset="-120"/>
              </a:rPr>
              <a:t>금융위 혁신금융서비스 지정 17곳 — '제시'에서 '일임'으로</a:t>
            </a:r>
            <a:endParaRPr lang="en-US" sz="930" dirty="0"/>
          </a:p>
        </p:txBody>
      </p:sp>
      <p:sp>
        <p:nvSpPr>
          <p:cNvPr id="16" name="Text 14"/>
          <p:cNvSpPr/>
          <p:nvPr/>
        </p:nvSpPr>
        <p:spPr>
          <a:xfrm>
            <a:off x="5257800" y="1463040"/>
            <a:ext cx="630936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이용자 여정의 단절</a:t>
            </a:r>
            <a:endParaRPr lang="en-US" sz="1250" dirty="0"/>
          </a:p>
        </p:txBody>
      </p:sp>
      <p:sp>
        <p:nvSpPr>
          <p:cNvPr id="17" name="Shape 15"/>
          <p:cNvSpPr/>
          <p:nvPr/>
        </p:nvSpPr>
        <p:spPr>
          <a:xfrm>
            <a:off x="5257800" y="1828800"/>
            <a:ext cx="1920240" cy="914400"/>
          </a:xfrm>
          <a:prstGeom prst="roundRect">
            <a:avLst>
              <a:gd name="adj" fmla="val 9000"/>
            </a:avLst>
          </a:prstGeom>
          <a:solidFill>
            <a:srgbClr val="E6F3EA"/>
          </a:solidFill>
          <a:ln/>
        </p:spPr>
      </p:sp>
      <p:sp>
        <p:nvSpPr>
          <p:cNvPr id="18" name="Text 16"/>
          <p:cNvSpPr/>
          <p:nvPr/>
        </p:nvSpPr>
        <p:spPr>
          <a:xfrm>
            <a:off x="5385816" y="1920240"/>
            <a:ext cx="1664208"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통합 조회</a:t>
            </a:r>
            <a:endParaRPr lang="en-US" sz="1250" dirty="0"/>
          </a:p>
        </p:txBody>
      </p:sp>
      <p:sp>
        <p:nvSpPr>
          <p:cNvPr id="19" name="Text 17"/>
          <p:cNvSpPr/>
          <p:nvPr/>
        </p:nvSpPr>
        <p:spPr>
          <a:xfrm>
            <a:off x="5385816" y="2231136"/>
            <a:ext cx="1664208" cy="475488"/>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이미 보편화 — 포털 89개 기관 연계</a:t>
            </a:r>
            <a:endParaRPr lang="en-US" sz="880" dirty="0"/>
          </a:p>
        </p:txBody>
      </p:sp>
      <p:sp>
        <p:nvSpPr>
          <p:cNvPr id="20" name="Text 18"/>
          <p:cNvSpPr/>
          <p:nvPr/>
        </p:nvSpPr>
        <p:spPr>
          <a:xfrm>
            <a:off x="6464808" y="1700784"/>
            <a:ext cx="658368" cy="256032"/>
          </a:xfrm>
          <a:prstGeom prst="roundRect">
            <a:avLst>
              <a:gd name="adj" fmla="val 50000"/>
            </a:avLst>
          </a:prstGeom>
          <a:solidFill>
            <a:srgbClr val="FFFFFF"/>
          </a:solidFill>
          <a:ln w="9525">
            <a:solidFill>
              <a:srgbClr val="D9E0EC"/>
            </a:solidFill>
          </a:ln>
        </p:spPr>
        <p:txBody>
          <a:bodyPr wrap="square" lIns="0" tIns="0" rIns="0" bIns="0" rtlCol="0" anchor="ctr"/>
          <a:lstStyle/>
          <a:p>
            <a:pPr algn="ctr" indent="0" marL="0">
              <a:buNone/>
            </a:pPr>
            <a:r>
              <a:rPr lang="en-US" sz="850" b="1" dirty="0">
                <a:solidFill>
                  <a:srgbClr val="1E8A4C"/>
                </a:solidFill>
                <a:latin typeface="Malgun Gothic" pitchFamily="34" charset="0"/>
                <a:ea typeface="Malgun Gothic" pitchFamily="34" charset="-122"/>
                <a:cs typeface="Malgun Gothic" pitchFamily="34" charset="-120"/>
              </a:rPr>
              <a:t>완료</a:t>
            </a:r>
            <a:endParaRPr lang="en-US" sz="850" dirty="0"/>
          </a:p>
        </p:txBody>
      </p:sp>
      <p:sp>
        <p:nvSpPr>
          <p:cNvPr id="21" name="Text 19"/>
          <p:cNvSpPr/>
          <p:nvPr/>
        </p:nvSpPr>
        <p:spPr>
          <a:xfrm>
            <a:off x="7187184" y="2148840"/>
            <a:ext cx="274320" cy="274320"/>
          </a:xfrm>
          <a:prstGeom prst="rect">
            <a:avLst/>
          </a:prstGeom>
          <a:noFill/>
          <a:ln/>
        </p:spPr>
        <p:txBody>
          <a:bodyPr wrap="square" lIns="0" tIns="0" rIns="0" bIns="0" rtlCol="0" anchor="ctr"/>
          <a:lstStyle/>
          <a:p>
            <a:pPr algn="ctr" indent="0" marL="0">
              <a:buNone/>
            </a:pPr>
            <a:r>
              <a:rPr lang="en-US" sz="1400" b="1" dirty="0">
                <a:solidFill>
                  <a:srgbClr val="9AA3B2"/>
                </a:solidFill>
                <a:latin typeface="Malgun Gothic" pitchFamily="34" charset="0"/>
                <a:ea typeface="Malgun Gothic" pitchFamily="34" charset="-122"/>
                <a:cs typeface="Malgun Gothic" pitchFamily="34" charset="-120"/>
              </a:rPr>
              <a:t>→</a:t>
            </a:r>
            <a:endParaRPr lang="en-US" sz="1400" dirty="0"/>
          </a:p>
        </p:txBody>
      </p:sp>
      <p:sp>
        <p:nvSpPr>
          <p:cNvPr id="22" name="Shape 20"/>
          <p:cNvSpPr/>
          <p:nvPr/>
        </p:nvSpPr>
        <p:spPr>
          <a:xfrm>
            <a:off x="7470648" y="1828800"/>
            <a:ext cx="1920240" cy="914400"/>
          </a:xfrm>
          <a:prstGeom prst="roundRect">
            <a:avLst>
              <a:gd name="adj" fmla="val 9000"/>
            </a:avLst>
          </a:prstGeom>
          <a:solidFill>
            <a:srgbClr val="FBF1DF"/>
          </a:solidFill>
          <a:ln/>
        </p:spPr>
      </p:sp>
      <p:sp>
        <p:nvSpPr>
          <p:cNvPr id="23" name="Text 21"/>
          <p:cNvSpPr/>
          <p:nvPr/>
        </p:nvSpPr>
        <p:spPr>
          <a:xfrm>
            <a:off x="7598664" y="1920240"/>
            <a:ext cx="1664208"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진단 · 설명</a:t>
            </a:r>
            <a:endParaRPr lang="en-US" sz="1250" dirty="0"/>
          </a:p>
        </p:txBody>
      </p:sp>
      <p:sp>
        <p:nvSpPr>
          <p:cNvPr id="24" name="Text 22"/>
          <p:cNvSpPr/>
          <p:nvPr/>
        </p:nvSpPr>
        <p:spPr>
          <a:xfrm>
            <a:off x="7598664" y="2231136"/>
            <a:ext cx="1664208" cy="475488"/>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계좌 규칙·세제·전략을 잇는 해석 부재</a:t>
            </a:r>
            <a:endParaRPr lang="en-US" sz="880" dirty="0"/>
          </a:p>
        </p:txBody>
      </p:sp>
      <p:sp>
        <p:nvSpPr>
          <p:cNvPr id="25" name="Text 23"/>
          <p:cNvSpPr/>
          <p:nvPr/>
        </p:nvSpPr>
        <p:spPr>
          <a:xfrm>
            <a:off x="8677656" y="1700784"/>
            <a:ext cx="658368" cy="256032"/>
          </a:xfrm>
          <a:prstGeom prst="roundRect">
            <a:avLst>
              <a:gd name="adj" fmla="val 50000"/>
            </a:avLst>
          </a:prstGeom>
          <a:solidFill>
            <a:srgbClr val="FFFFFF"/>
          </a:solidFill>
          <a:ln w="9525">
            <a:solidFill>
              <a:srgbClr val="D9E0EC"/>
            </a:solidFill>
          </a:ln>
        </p:spPr>
        <p:txBody>
          <a:bodyPr wrap="square" lIns="0" tIns="0" rIns="0" bIns="0" rtlCol="0" anchor="ctr"/>
          <a:lstStyle/>
          <a:p>
            <a:pPr algn="ctr" indent="0" marL="0">
              <a:buNone/>
            </a:pPr>
            <a:r>
              <a:rPr lang="en-US" sz="850" b="1" dirty="0">
                <a:solidFill>
                  <a:srgbClr val="C77A1E"/>
                </a:solidFill>
                <a:latin typeface="Malgun Gothic" pitchFamily="34" charset="0"/>
                <a:ea typeface="Malgun Gothic" pitchFamily="34" charset="-122"/>
                <a:cs typeface="Malgun Gothic" pitchFamily="34" charset="-120"/>
              </a:rPr>
              <a:t>공백</a:t>
            </a:r>
            <a:endParaRPr lang="en-US" sz="850" dirty="0"/>
          </a:p>
        </p:txBody>
      </p:sp>
      <p:sp>
        <p:nvSpPr>
          <p:cNvPr id="26" name="Text 24"/>
          <p:cNvSpPr/>
          <p:nvPr/>
        </p:nvSpPr>
        <p:spPr>
          <a:xfrm>
            <a:off x="9400032" y="2148840"/>
            <a:ext cx="274320" cy="274320"/>
          </a:xfrm>
          <a:prstGeom prst="rect">
            <a:avLst/>
          </a:prstGeom>
          <a:noFill/>
          <a:ln/>
        </p:spPr>
        <p:txBody>
          <a:bodyPr wrap="square" lIns="0" tIns="0" rIns="0" bIns="0" rtlCol="0" anchor="ctr"/>
          <a:lstStyle/>
          <a:p>
            <a:pPr algn="ctr" indent="0" marL="0">
              <a:buNone/>
            </a:pPr>
            <a:r>
              <a:rPr lang="en-US" sz="1400" b="1" dirty="0">
                <a:solidFill>
                  <a:srgbClr val="9AA3B2"/>
                </a:solidFill>
                <a:latin typeface="Malgun Gothic" pitchFamily="34" charset="0"/>
                <a:ea typeface="Malgun Gothic" pitchFamily="34" charset="-122"/>
                <a:cs typeface="Malgun Gothic" pitchFamily="34" charset="-120"/>
              </a:rPr>
              <a:t>→</a:t>
            </a:r>
            <a:endParaRPr lang="en-US" sz="1400" dirty="0"/>
          </a:p>
        </p:txBody>
      </p:sp>
      <p:sp>
        <p:nvSpPr>
          <p:cNvPr id="27" name="Shape 25"/>
          <p:cNvSpPr/>
          <p:nvPr/>
        </p:nvSpPr>
        <p:spPr>
          <a:xfrm>
            <a:off x="9683496" y="1828800"/>
            <a:ext cx="1920240" cy="914400"/>
          </a:xfrm>
          <a:prstGeom prst="roundRect">
            <a:avLst>
              <a:gd name="adj" fmla="val 9000"/>
            </a:avLst>
          </a:prstGeom>
          <a:solidFill>
            <a:srgbClr val="FDEBEB"/>
          </a:solidFill>
          <a:ln/>
        </p:spPr>
      </p:sp>
      <p:sp>
        <p:nvSpPr>
          <p:cNvPr id="28" name="Text 26"/>
          <p:cNvSpPr/>
          <p:nvPr/>
        </p:nvSpPr>
        <p:spPr>
          <a:xfrm>
            <a:off x="9811512" y="1920240"/>
            <a:ext cx="1664208"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실행</a:t>
            </a:r>
            <a:endParaRPr lang="en-US" sz="1250" dirty="0"/>
          </a:p>
        </p:txBody>
      </p:sp>
      <p:sp>
        <p:nvSpPr>
          <p:cNvPr id="29" name="Text 27"/>
          <p:cNvSpPr/>
          <p:nvPr/>
        </p:nvSpPr>
        <p:spPr>
          <a:xfrm>
            <a:off x="9811512" y="2231136"/>
            <a:ext cx="1664208" cy="475488"/>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일임(블랙박스) 아니면 '참고용' 방치</a:t>
            </a:r>
            <a:endParaRPr lang="en-US" sz="880" dirty="0"/>
          </a:p>
        </p:txBody>
      </p:sp>
      <p:sp>
        <p:nvSpPr>
          <p:cNvPr id="30" name="Text 28"/>
          <p:cNvSpPr/>
          <p:nvPr/>
        </p:nvSpPr>
        <p:spPr>
          <a:xfrm>
            <a:off x="10890504" y="1700784"/>
            <a:ext cx="658368" cy="256032"/>
          </a:xfrm>
          <a:prstGeom prst="roundRect">
            <a:avLst>
              <a:gd name="adj" fmla="val 50000"/>
            </a:avLst>
          </a:prstGeom>
          <a:solidFill>
            <a:srgbClr val="FFFFFF"/>
          </a:solidFill>
          <a:ln w="9525">
            <a:solidFill>
              <a:srgbClr val="D9E0EC"/>
            </a:solidFill>
          </a:ln>
        </p:spPr>
        <p:txBody>
          <a:bodyPr wrap="square" lIns="0" tIns="0" rIns="0" bIns="0" rtlCol="0" anchor="ctr"/>
          <a:lstStyle/>
          <a:p>
            <a:pPr algn="ctr" indent="0" marL="0">
              <a:buNone/>
            </a:pPr>
            <a:r>
              <a:rPr lang="en-US" sz="850" b="1" dirty="0">
                <a:solidFill>
                  <a:srgbClr val="B03A3A"/>
                </a:solidFill>
                <a:latin typeface="Malgun Gothic" pitchFamily="34" charset="0"/>
                <a:ea typeface="Malgun Gothic" pitchFamily="34" charset="-122"/>
                <a:cs typeface="Malgun Gothic" pitchFamily="34" charset="-120"/>
              </a:rPr>
              <a:t>단절</a:t>
            </a:r>
            <a:endParaRPr lang="en-US" sz="850" dirty="0"/>
          </a:p>
        </p:txBody>
      </p:sp>
      <p:sp>
        <p:nvSpPr>
          <p:cNvPr id="31" name="Shape 29"/>
          <p:cNvSpPr/>
          <p:nvPr/>
        </p:nvSpPr>
        <p:spPr>
          <a:xfrm>
            <a:off x="5257800" y="3063240"/>
            <a:ext cx="6309360" cy="1371600"/>
          </a:xfrm>
          <a:prstGeom prst="roundRect">
            <a:avLst>
              <a:gd name="adj" fmla="val 6000"/>
            </a:avLst>
          </a:prstGeom>
          <a:solidFill>
            <a:srgbClr val="FFFFFF"/>
          </a:solidFill>
          <a:ln w="12700">
            <a:solidFill>
              <a:srgbClr val="D9E0EC"/>
            </a:solidFill>
            <a:prstDash val="solid"/>
          </a:ln>
        </p:spPr>
      </p:sp>
      <p:sp>
        <p:nvSpPr>
          <p:cNvPr id="32" name="Text 30"/>
          <p:cNvSpPr/>
          <p:nvPr/>
        </p:nvSpPr>
        <p:spPr>
          <a:xfrm>
            <a:off x="5440680" y="3200400"/>
            <a:ext cx="3657600" cy="27432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기존 시장의 두 갈래</a:t>
            </a:r>
            <a:endParaRPr lang="en-US" sz="1150" dirty="0"/>
          </a:p>
        </p:txBody>
      </p:sp>
      <p:sp>
        <p:nvSpPr>
          <p:cNvPr id="33" name="Text 31"/>
          <p:cNvSpPr/>
          <p:nvPr/>
        </p:nvSpPr>
        <p:spPr>
          <a:xfrm>
            <a:off x="5440680" y="3493008"/>
            <a:ext cx="5943600" cy="86868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18202E"/>
                </a:solidFill>
                <a:latin typeface="Malgun Gothic" pitchFamily="34" charset="0"/>
                <a:ea typeface="Malgun Gothic" pitchFamily="34" charset="-122"/>
                <a:cs typeface="Malgun Gothic" pitchFamily="34" charset="-120"/>
              </a:rPr>
              <a:t>일임형 — 미래에셋 RA · NH AI콴텍 · KB AI일임: 대신 굴려주는 블랙박스</a:t>
            </a:r>
            <a:endParaRPr lang="en-US" sz="1050" dirty="0"/>
          </a:p>
          <a:p>
            <a:pPr marL="127000" indent="-127000">
              <a:spcAft>
                <a:spcPts val="500"/>
              </a:spcAft>
              <a:buSzPct val="100000"/>
              <a:buChar char="•"/>
            </a:pPr>
            <a:r>
              <a:rPr lang="en-US" sz="1050" dirty="0">
                <a:solidFill>
                  <a:srgbClr val="18202E"/>
                </a:solidFill>
                <a:latin typeface="Malgun Gothic" pitchFamily="34" charset="0"/>
                <a:ea typeface="Malgun Gothic" pitchFamily="34" charset="-122"/>
                <a:cs typeface="Malgun Gothic" pitchFamily="34" charset="-120"/>
              </a:rPr>
              <a:t>정보제공형 — 시뮬레이션 · 콘텐츠 · 포털 조회: “참고용”에서 멈춤</a:t>
            </a:r>
            <a:endParaRPr lang="en-US" sz="1050" dirty="0"/>
          </a:p>
        </p:txBody>
      </p:sp>
      <p:sp>
        <p:nvSpPr>
          <p:cNvPr id="34" name="Shape 32"/>
          <p:cNvSpPr/>
          <p:nvPr/>
        </p:nvSpPr>
        <p:spPr>
          <a:xfrm>
            <a:off x="5257800" y="4617720"/>
            <a:ext cx="6309360" cy="868680"/>
          </a:xfrm>
          <a:prstGeom prst="roundRect">
            <a:avLst>
              <a:gd name="adj" fmla="val 9474"/>
            </a:avLst>
          </a:prstGeom>
          <a:solidFill>
            <a:srgbClr val="EEF3FE"/>
          </a:solidFill>
          <a:ln w="12700">
            <a:solidFill>
              <a:srgbClr val="D7E2F8"/>
            </a:solidFill>
            <a:prstDash val="solid"/>
          </a:ln>
        </p:spPr>
      </p:sp>
      <p:sp>
        <p:nvSpPr>
          <p:cNvPr id="35" name="Text 33"/>
          <p:cNvSpPr/>
          <p:nvPr/>
        </p:nvSpPr>
        <p:spPr>
          <a:xfrm>
            <a:off x="5468112" y="4736592"/>
            <a:ext cx="5897880" cy="64008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우리가 채우는 자리 — </a:t>
            </a:r>
            <a:pPr indent="0" marL="0">
              <a:buNone/>
            </a:pPr>
            <a:r>
              <a:rPr lang="en-US" sz="1150" b="1" dirty="0">
                <a:solidFill>
                  <a:srgbClr val="1A4FD8"/>
                </a:solidFill>
                <a:latin typeface="Malgun Gothic" pitchFamily="34" charset="0"/>
                <a:ea typeface="Malgun Gothic" pitchFamily="34" charset="-122"/>
                <a:cs typeface="Malgun Gothic" pitchFamily="34" charset="-120"/>
              </a:rPr>
              <a:t>설명하며 제안하고, 실행은 이용자가 직접. </a:t>
            </a:r>
            <a:pPr indent="0" marL="0">
              <a:buNone/>
            </a:pPr>
            <a:r>
              <a:rPr lang="en-US" sz="1050" dirty="0">
                <a:solidFill>
                  <a:srgbClr val="5A6474"/>
                </a:solidFill>
                <a:latin typeface="Malgun Gothic" pitchFamily="34" charset="0"/>
                <a:ea typeface="Malgun Gothic" pitchFamily="34" charset="-122"/>
                <a:cs typeface="Malgun Gothic" pitchFamily="34" charset="-120"/>
              </a:rPr>
              <a:t>자문형은 합법 구조로 일임 규제를 피하고, 설명의무를 시스템으로 구현합니다.</a:t>
            </a:r>
            <a:endParaRPr lang="en-US" sz="1150" dirty="0"/>
          </a:p>
        </p:txBody>
      </p:sp>
      <p:sp>
        <p:nvSpPr>
          <p:cNvPr id="36" name="Text 34"/>
          <p:cNvSpPr/>
          <p:nvPr/>
        </p:nvSpPr>
        <p:spPr>
          <a:xfrm>
            <a:off x="548640" y="5806440"/>
            <a:ext cx="11091672"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생성형 AI 금융 규제 방향(요약·응대 중심 허용)과 정합 — “계산은 엔진, LLM은 서술만” 구조</a:t>
            </a:r>
            <a:endParaRPr lang="en-US" sz="950" dirty="0"/>
          </a:p>
        </p:txBody>
      </p:sp>
      <p:sp>
        <p:nvSpPr>
          <p:cNvPr id="37" name="Text 35"/>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03 · 문제 정의 — WHO · WHAT</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'연금 방치형' 3040 직장인을 위한 5가지 연결</a:t>
            </a:r>
            <a:endParaRPr lang="en-US" sz="2800" dirty="0"/>
          </a:p>
        </p:txBody>
      </p:sp>
      <p:sp>
        <p:nvSpPr>
          <p:cNvPr id="4" name="Shape 2"/>
          <p:cNvSpPr/>
          <p:nvPr/>
        </p:nvSpPr>
        <p:spPr>
          <a:xfrm>
            <a:off x="548640" y="1417320"/>
            <a:ext cx="4709160" cy="1828800"/>
          </a:xfrm>
          <a:prstGeom prst="roundRect">
            <a:avLst>
              <a:gd name="adj" fmla="val 4500"/>
            </a:avLst>
          </a:prstGeom>
          <a:solidFill>
            <a:srgbClr val="F7F9FE"/>
          </a:solidFill>
          <a:ln w="12700">
            <a:solidFill>
              <a:srgbClr val="D9E0EC"/>
            </a:solidFill>
            <a:prstDash val="solid"/>
          </a:ln>
        </p:spPr>
      </p:sp>
      <p:sp>
        <p:nvSpPr>
          <p:cNvPr id="5" name="Text 3"/>
          <p:cNvSpPr/>
          <p:nvPr/>
        </p:nvSpPr>
        <p:spPr>
          <a:xfrm>
            <a:off x="731520" y="1554480"/>
            <a:ext cx="2743200" cy="274320"/>
          </a:xfrm>
          <a:prstGeom prst="rect">
            <a:avLst/>
          </a:prstGeom>
          <a:noFill/>
          <a:ln/>
        </p:spPr>
        <p:txBody>
          <a:bodyPr wrap="square" lIns="0" tIns="0" rIns="0" bIns="0" rtlCol="0" anchor="ctr"/>
          <a:lstStyle/>
          <a:p>
            <a:pPr indent="0" marL="0">
              <a:buNone/>
            </a:pPr>
            <a:r>
              <a:rPr lang="en-US" sz="1100" b="1" dirty="0">
                <a:solidFill>
                  <a:srgbClr val="1A4FD8"/>
                </a:solidFill>
                <a:latin typeface="Malgun Gothic" pitchFamily="34" charset="0"/>
                <a:ea typeface="Malgun Gothic" pitchFamily="34" charset="-122"/>
                <a:cs typeface="Malgun Gothic" pitchFamily="34" charset="-120"/>
              </a:rPr>
              <a:t>타깃 페르소나</a:t>
            </a:r>
            <a:endParaRPr lang="en-US" sz="1100" dirty="0"/>
          </a:p>
        </p:txBody>
      </p:sp>
      <p:sp>
        <p:nvSpPr>
          <p:cNvPr id="6" name="Text 4"/>
          <p:cNvSpPr/>
          <p:nvPr/>
        </p:nvSpPr>
        <p:spPr>
          <a:xfrm>
            <a:off x="731520" y="1828800"/>
            <a:ext cx="4297680" cy="347472"/>
          </a:xfrm>
          <a:prstGeom prst="rect">
            <a:avLst/>
          </a:prstGeom>
          <a:noFill/>
          <a:ln/>
        </p:spPr>
        <p:txBody>
          <a:bodyPr wrap="square" lIns="0" tIns="0" rIns="0" bIns="0" rtlCol="0" anchor="ctr"/>
          <a:lstStyle/>
          <a:p>
            <a:pPr indent="0" marL="0">
              <a:buNone/>
            </a:pPr>
            <a:r>
              <a:rPr lang="en-US" sz="1600" b="1" dirty="0">
                <a:solidFill>
                  <a:srgbClr val="18202E"/>
                </a:solidFill>
                <a:latin typeface="Malgun Gothic" pitchFamily="34" charset="0"/>
                <a:ea typeface="Malgun Gothic" pitchFamily="34" charset="-122"/>
                <a:cs typeface="Malgun Gothic" pitchFamily="34" charset="-120"/>
              </a:rPr>
              <a:t>연금 방치형 3040 직장인</a:t>
            </a:r>
            <a:endParaRPr lang="en-US" sz="1600" dirty="0"/>
          </a:p>
        </p:txBody>
      </p:sp>
      <p:sp>
        <p:nvSpPr>
          <p:cNvPr id="7" name="Text 5"/>
          <p:cNvSpPr/>
          <p:nvPr/>
        </p:nvSpPr>
        <p:spPr>
          <a:xfrm>
            <a:off x="731520" y="2212848"/>
            <a:ext cx="4343400" cy="914400"/>
          </a:xfrm>
          <a:prstGeom prst="rect">
            <a:avLst/>
          </a:prstGeom>
          <a:noFill/>
          <a:ln/>
        </p:spPr>
        <p:txBody>
          <a:bodyPr wrap="square" lIns="0" tIns="0" rIns="0" bIns="0" rtlCol="0" anchor="t"/>
          <a:lstStyle/>
          <a:p>
            <a:pPr indent="0" marL="0">
              <a:buNone/>
            </a:pPr>
            <a:r>
              <a:rPr lang="en-US" sz="1050" dirty="0">
                <a:solidFill>
                  <a:srgbClr val="5A6474"/>
                </a:solidFill>
                <a:latin typeface="Malgun Gothic" pitchFamily="34" charset="0"/>
                <a:ea typeface="Malgun Gothic" pitchFamily="34" charset="-122"/>
                <a:cs typeface="Malgun Gothic" pitchFamily="34" charset="-120"/>
              </a:rPr>
              <a:t>계좌는 있지만 계좌별 규칙 · 전체 자산구성 · 세액공제 여지를 한 흐름에서 이해하기 어렵다. 관리·인출까지 자연스럽게 확장 가능한 층.</a:t>
            </a:r>
            <a:endParaRPr lang="en-US" sz="1050" dirty="0"/>
          </a:p>
        </p:txBody>
      </p:sp>
      <p:sp>
        <p:nvSpPr>
          <p:cNvPr id="8" name="Shape 6"/>
          <p:cNvSpPr/>
          <p:nvPr/>
        </p:nvSpPr>
        <p:spPr>
          <a:xfrm>
            <a:off x="548640" y="3474720"/>
            <a:ext cx="4709160" cy="2148840"/>
          </a:xfrm>
          <a:prstGeom prst="roundRect">
            <a:avLst>
              <a:gd name="adj" fmla="val 3830"/>
            </a:avLst>
          </a:prstGeom>
          <a:solidFill>
            <a:srgbClr val="FFFFFF"/>
          </a:solidFill>
          <a:ln w="12700">
            <a:solidFill>
              <a:srgbClr val="D9E0EC"/>
            </a:solidFill>
            <a:prstDash val="solid"/>
          </a:ln>
        </p:spPr>
      </p:sp>
      <p:sp>
        <p:nvSpPr>
          <p:cNvPr id="9" name="Text 7"/>
          <p:cNvSpPr/>
          <p:nvPr/>
        </p:nvSpPr>
        <p:spPr>
          <a:xfrm>
            <a:off x="731520" y="3611880"/>
            <a:ext cx="4297680" cy="274320"/>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시연 페르소나 6인 — 완전 합성 목데이터</a:t>
            </a:r>
            <a:endParaRPr lang="en-US" sz="1100" dirty="0"/>
          </a:p>
        </p:txBody>
      </p:sp>
      <p:sp>
        <p:nvSpPr>
          <p:cNvPr id="10" name="Text 8"/>
          <p:cNvSpPr/>
          <p:nvPr/>
        </p:nvSpPr>
        <p:spPr>
          <a:xfrm>
            <a:off x="731520" y="3950208"/>
            <a:ext cx="2148840" cy="457200"/>
          </a:xfrm>
          <a:prstGeom prst="rect">
            <a:avLst/>
          </a:prstGeom>
          <a:noFill/>
          <a:ln/>
        </p:spPr>
        <p:txBody>
          <a:bodyPr wrap="square" lIns="0" tIns="0" rIns="0" bIns="0" rtlCol="0" anchor="t"/>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박준호  </a:t>
            </a:r>
            <a:pPr indent="0" marL="0">
              <a:buNone/>
            </a:pPr>
            <a:r>
              <a:rPr lang="en-US" sz="930" dirty="0">
                <a:solidFill>
                  <a:srgbClr val="5A6474"/>
                </a:solidFill>
                <a:latin typeface="Malgun Gothic" pitchFamily="34" charset="0"/>
                <a:ea typeface="Malgun Gothic" pitchFamily="34" charset="-122"/>
                <a:cs typeface="Malgun Gothic" pitchFamily="34" charset="-120"/>
              </a:rPr>
              <a:t>DC 방치형</a:t>
            </a:r>
            <a:endParaRPr lang="en-US" sz="1050" dirty="0"/>
          </a:p>
        </p:txBody>
      </p:sp>
      <p:sp>
        <p:nvSpPr>
          <p:cNvPr id="11" name="Text 9"/>
          <p:cNvSpPr/>
          <p:nvPr/>
        </p:nvSpPr>
        <p:spPr>
          <a:xfrm>
            <a:off x="2944368" y="3950208"/>
            <a:ext cx="2148840" cy="457200"/>
          </a:xfrm>
          <a:prstGeom prst="rect">
            <a:avLst/>
          </a:prstGeom>
          <a:noFill/>
          <a:ln/>
        </p:spPr>
        <p:txBody>
          <a:bodyPr wrap="square" lIns="0" tIns="0" rIns="0" bIns="0" rtlCol="0" anchor="t"/>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이서연  </a:t>
            </a:r>
            <a:pPr indent="0" marL="0">
              <a:buNone/>
            </a:pPr>
            <a:r>
              <a:rPr lang="en-US" sz="930" dirty="0">
                <a:solidFill>
                  <a:srgbClr val="5A6474"/>
                </a:solidFill>
                <a:latin typeface="Malgun Gothic" pitchFamily="34" charset="0"/>
                <a:ea typeface="Malgun Gothic" pitchFamily="34" charset="-122"/>
                <a:cs typeface="Malgun Gothic" pitchFamily="34" charset="-120"/>
              </a:rPr>
              <a:t>납입 후 미투자</a:t>
            </a:r>
            <a:endParaRPr lang="en-US" sz="1050" dirty="0"/>
          </a:p>
        </p:txBody>
      </p:sp>
      <p:sp>
        <p:nvSpPr>
          <p:cNvPr id="12" name="Text 10"/>
          <p:cNvSpPr/>
          <p:nvPr/>
        </p:nvSpPr>
        <p:spPr>
          <a:xfrm>
            <a:off x="731520" y="4480560"/>
            <a:ext cx="2148840" cy="457200"/>
          </a:xfrm>
          <a:prstGeom prst="rect">
            <a:avLst/>
          </a:prstGeom>
          <a:noFill/>
          <a:ln/>
        </p:spPr>
        <p:txBody>
          <a:bodyPr wrap="square" lIns="0" tIns="0" rIns="0" bIns="0" rtlCol="0" anchor="t"/>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정민재  </a:t>
            </a:r>
            <a:pPr indent="0" marL="0">
              <a:buNone/>
            </a:pPr>
            <a:r>
              <a:rPr lang="en-US" sz="930" dirty="0">
                <a:solidFill>
                  <a:srgbClr val="5A6474"/>
                </a:solidFill>
                <a:latin typeface="Malgun Gothic" pitchFamily="34" charset="0"/>
                <a:ea typeface="Malgun Gothic" pitchFamily="34" charset="-122"/>
                <a:cs typeface="Malgun Gothic" pitchFamily="34" charset="-120"/>
              </a:rPr>
              <a:t>계좌 간 중복 편중</a:t>
            </a:r>
            <a:endParaRPr lang="en-US" sz="1050" dirty="0"/>
          </a:p>
        </p:txBody>
      </p:sp>
      <p:sp>
        <p:nvSpPr>
          <p:cNvPr id="13" name="Text 11"/>
          <p:cNvSpPr/>
          <p:nvPr/>
        </p:nvSpPr>
        <p:spPr>
          <a:xfrm>
            <a:off x="2944368" y="4480560"/>
            <a:ext cx="2148840" cy="457200"/>
          </a:xfrm>
          <a:prstGeom prst="rect">
            <a:avLst/>
          </a:prstGeom>
          <a:noFill/>
          <a:ln/>
        </p:spPr>
        <p:txBody>
          <a:bodyPr wrap="square" lIns="0" tIns="0" rIns="0" bIns="0" rtlCol="0" anchor="t"/>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김하린  </a:t>
            </a:r>
            <a:pPr indent="0" marL="0">
              <a:buNone/>
            </a:pPr>
            <a:r>
              <a:rPr lang="en-US" sz="930" dirty="0">
                <a:solidFill>
                  <a:srgbClr val="5A6474"/>
                </a:solidFill>
                <a:latin typeface="Malgun Gothic" pitchFamily="34" charset="0"/>
                <a:ea typeface="Malgun Gothic" pitchFamily="34" charset="-122"/>
                <a:cs typeface="Malgun Gothic" pitchFamily="34" charset="-120"/>
              </a:rPr>
              <a:t>은퇴까지 먼 20대</a:t>
            </a:r>
            <a:endParaRPr lang="en-US" sz="1050" dirty="0"/>
          </a:p>
        </p:txBody>
      </p:sp>
      <p:sp>
        <p:nvSpPr>
          <p:cNvPr id="14" name="Text 12"/>
          <p:cNvSpPr/>
          <p:nvPr/>
        </p:nvSpPr>
        <p:spPr>
          <a:xfrm>
            <a:off x="731520" y="5010912"/>
            <a:ext cx="2148840" cy="457200"/>
          </a:xfrm>
          <a:prstGeom prst="rect">
            <a:avLst/>
          </a:prstGeom>
          <a:noFill/>
          <a:ln/>
        </p:spPr>
        <p:txBody>
          <a:bodyPr wrap="square" lIns="0" tIns="0" rIns="0" bIns="0" rtlCol="0" anchor="t"/>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최지훈  </a:t>
            </a:r>
            <a:pPr indent="0" marL="0">
              <a:buNone/>
            </a:pPr>
            <a:r>
              <a:rPr lang="en-US" sz="930" dirty="0">
                <a:solidFill>
                  <a:srgbClr val="5A6474"/>
                </a:solidFill>
                <a:latin typeface="Malgun Gothic" pitchFamily="34" charset="0"/>
                <a:ea typeface="Malgun Gothic" pitchFamily="34" charset="-122"/>
                <a:cs typeface="Malgun Gothic" pitchFamily="34" charset="-120"/>
              </a:rPr>
              <a:t>가계 예산 압박</a:t>
            </a:r>
            <a:endParaRPr lang="en-US" sz="1050" dirty="0"/>
          </a:p>
        </p:txBody>
      </p:sp>
      <p:sp>
        <p:nvSpPr>
          <p:cNvPr id="15" name="Text 13"/>
          <p:cNvSpPr/>
          <p:nvPr/>
        </p:nvSpPr>
        <p:spPr>
          <a:xfrm>
            <a:off x="2944368" y="5010912"/>
            <a:ext cx="2148840" cy="457200"/>
          </a:xfrm>
          <a:prstGeom prst="rect">
            <a:avLst/>
          </a:prstGeom>
          <a:noFill/>
          <a:ln/>
        </p:spPr>
        <p:txBody>
          <a:bodyPr wrap="square" lIns="0" tIns="0" rIns="0" bIns="0" rtlCol="0" anchor="t"/>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윤정희  </a:t>
            </a:r>
            <a:pPr indent="0" marL="0">
              <a:buNone/>
            </a:pPr>
            <a:r>
              <a:rPr lang="en-US" sz="930" dirty="0">
                <a:solidFill>
                  <a:srgbClr val="5A6474"/>
                </a:solidFill>
                <a:latin typeface="Malgun Gothic" pitchFamily="34" charset="0"/>
                <a:ea typeface="Malgun Gothic" pitchFamily="34" charset="-122"/>
                <a:cs typeface="Malgun Gothic" pitchFamily="34" charset="-120"/>
              </a:rPr>
              <a:t>연금 수령 전환기</a:t>
            </a:r>
            <a:endParaRPr lang="en-US" sz="1050" dirty="0"/>
          </a:p>
        </p:txBody>
      </p:sp>
      <p:sp>
        <p:nvSpPr>
          <p:cNvPr id="16" name="Text 14"/>
          <p:cNvSpPr/>
          <p:nvPr/>
        </p:nvSpPr>
        <p:spPr>
          <a:xfrm>
            <a:off x="731520" y="5349240"/>
            <a:ext cx="4389120" cy="237744"/>
          </a:xfrm>
          <a:prstGeom prst="rect">
            <a:avLst/>
          </a:prstGeom>
          <a:noFill/>
          <a:ln/>
        </p:spPr>
        <p:txBody>
          <a:bodyPr wrap="square" lIns="0" tIns="0" rIns="0" bIns="0" rtlCol="0" anchor="ctr"/>
          <a:lstStyle/>
          <a:p>
            <a:pPr indent="0" marL="0">
              <a:buNone/>
            </a:pPr>
            <a:r>
              <a:rPr lang="en-US" sz="880" dirty="0">
                <a:solidFill>
                  <a:srgbClr val="5A6474"/>
                </a:solidFill>
                <a:latin typeface="Malgun Gothic" pitchFamily="34" charset="0"/>
                <a:ea typeface="Malgun Gothic" pitchFamily="34" charset="-122"/>
                <a:cs typeface="Malgun Gothic" pitchFamily="34" charset="-120"/>
              </a:rPr>
              <a:t>5개 투자성향을 한 명씩 담당 + 익명 벤치마크용 합성 고객 1만 명</a:t>
            </a:r>
            <a:endParaRPr lang="en-US" sz="880" dirty="0"/>
          </a:p>
        </p:txBody>
      </p:sp>
      <p:sp>
        <p:nvSpPr>
          <p:cNvPr id="17" name="Text 15"/>
          <p:cNvSpPr/>
          <p:nvPr/>
        </p:nvSpPr>
        <p:spPr>
          <a:xfrm>
            <a:off x="5669280" y="1417320"/>
            <a:ext cx="548640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5대 핵심 기능 (기획서 v2.7)</a:t>
            </a:r>
            <a:endParaRPr lang="en-US" sz="1250" dirty="0"/>
          </a:p>
        </p:txBody>
      </p:sp>
      <p:sp>
        <p:nvSpPr>
          <p:cNvPr id="18" name="Shape 16"/>
          <p:cNvSpPr/>
          <p:nvPr/>
        </p:nvSpPr>
        <p:spPr>
          <a:xfrm>
            <a:off x="5669280" y="1837944"/>
            <a:ext cx="310896" cy="310896"/>
          </a:xfrm>
          <a:prstGeom prst="ellipse">
            <a:avLst/>
          </a:prstGeom>
          <a:solidFill>
            <a:srgbClr val="1A4FD8"/>
          </a:solidFill>
          <a:ln/>
        </p:spPr>
      </p:sp>
      <p:sp>
        <p:nvSpPr>
          <p:cNvPr id="19" name="Text 17"/>
          <p:cNvSpPr/>
          <p:nvPr/>
        </p:nvSpPr>
        <p:spPr>
          <a:xfrm>
            <a:off x="5669280" y="183794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a:t>
            </a:r>
            <a:endParaRPr lang="en-US" sz="1200" dirty="0"/>
          </a:p>
        </p:txBody>
      </p:sp>
      <p:sp>
        <p:nvSpPr>
          <p:cNvPr id="20" name="Text 18"/>
          <p:cNvSpPr/>
          <p:nvPr/>
        </p:nvSpPr>
        <p:spPr>
          <a:xfrm>
            <a:off x="6108192" y="1783080"/>
            <a:ext cx="5212080"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나의 자산 홈</a:t>
            </a:r>
            <a:endParaRPr lang="en-US" sz="1250" dirty="0"/>
          </a:p>
        </p:txBody>
      </p:sp>
      <p:sp>
        <p:nvSpPr>
          <p:cNvPr id="21" name="Text 19"/>
          <p:cNvSpPr/>
          <p:nvPr/>
        </p:nvSpPr>
        <p:spPr>
          <a:xfrm>
            <a:off x="6108192" y="2075688"/>
            <a:ext cx="5257800" cy="365760"/>
          </a:xfrm>
          <a:prstGeom prst="rect">
            <a:avLst/>
          </a:prstGeom>
          <a:noFill/>
          <a:ln/>
        </p:spPr>
        <p:txBody>
          <a:bodyPr wrap="square" lIns="0" tIns="0" rIns="0" bIns="0" rtlCol="0" anchor="t"/>
          <a:lstStyle/>
          <a:p>
            <a:pPr indent="0" marL="0">
              <a:buNone/>
            </a:pPr>
            <a:r>
              <a:rPr lang="en-US" sz="960" dirty="0">
                <a:solidFill>
                  <a:srgbClr val="5A6474"/>
                </a:solidFill>
                <a:latin typeface="Malgun Gothic" pitchFamily="34" charset="0"/>
                <a:ea typeface="Malgun Gothic" pitchFamily="34" charset="-122"/>
                <a:cs typeface="Malgun Gothic" pitchFamily="34" charset="-120"/>
              </a:rPr>
              <a:t>총자산 · 계좌/자산군 비중 · 납입 현황 · 일일 가이드</a:t>
            </a:r>
            <a:endParaRPr lang="en-US" sz="960" dirty="0"/>
          </a:p>
        </p:txBody>
      </p:sp>
      <p:sp>
        <p:nvSpPr>
          <p:cNvPr id="22" name="Shape 20"/>
          <p:cNvSpPr/>
          <p:nvPr/>
        </p:nvSpPr>
        <p:spPr>
          <a:xfrm>
            <a:off x="5669280" y="2615184"/>
            <a:ext cx="310896" cy="310896"/>
          </a:xfrm>
          <a:prstGeom prst="ellipse">
            <a:avLst/>
          </a:prstGeom>
          <a:solidFill>
            <a:srgbClr val="1A4FD8"/>
          </a:solidFill>
          <a:ln/>
        </p:spPr>
      </p:sp>
      <p:sp>
        <p:nvSpPr>
          <p:cNvPr id="23" name="Text 21"/>
          <p:cNvSpPr/>
          <p:nvPr/>
        </p:nvSpPr>
        <p:spPr>
          <a:xfrm>
            <a:off x="5669280" y="261518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2</a:t>
            </a:r>
            <a:endParaRPr lang="en-US" sz="1200" dirty="0"/>
          </a:p>
        </p:txBody>
      </p:sp>
      <p:sp>
        <p:nvSpPr>
          <p:cNvPr id="24" name="Text 22"/>
          <p:cNvSpPr/>
          <p:nvPr/>
        </p:nvSpPr>
        <p:spPr>
          <a:xfrm>
            <a:off x="6108192" y="2560320"/>
            <a:ext cx="5212080"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챗봇 (연금가이드)</a:t>
            </a:r>
            <a:endParaRPr lang="en-US" sz="1250" dirty="0"/>
          </a:p>
        </p:txBody>
      </p:sp>
      <p:sp>
        <p:nvSpPr>
          <p:cNvPr id="25" name="Text 23"/>
          <p:cNvSpPr/>
          <p:nvPr/>
        </p:nvSpPr>
        <p:spPr>
          <a:xfrm>
            <a:off x="6108192" y="2852928"/>
            <a:ext cx="5257800" cy="365760"/>
          </a:xfrm>
          <a:prstGeom prst="rect">
            <a:avLst/>
          </a:prstGeom>
          <a:noFill/>
          <a:ln/>
        </p:spPr>
        <p:txBody>
          <a:bodyPr wrap="square" lIns="0" tIns="0" rIns="0" bIns="0" rtlCol="0" anchor="t"/>
          <a:lstStyle/>
          <a:p>
            <a:pPr indent="0" marL="0">
              <a:buNone/>
            </a:pPr>
            <a:r>
              <a:rPr lang="en-US" sz="960" dirty="0">
                <a:solidFill>
                  <a:srgbClr val="5A6474"/>
                </a:solidFill>
                <a:latin typeface="Malgun Gothic" pitchFamily="34" charset="0"/>
                <a:ea typeface="Malgun Gothic" pitchFamily="34" charset="-122"/>
                <a:cs typeface="Malgun Gothic" pitchFamily="34" charset="-120"/>
              </a:rPr>
              <a:t>상품 비교 · 뉴스 요약 · 엔진 결과 설명 — 모든 답에 근거·출처</a:t>
            </a:r>
            <a:endParaRPr lang="en-US" sz="960" dirty="0"/>
          </a:p>
        </p:txBody>
      </p:sp>
      <p:sp>
        <p:nvSpPr>
          <p:cNvPr id="26" name="Shape 24"/>
          <p:cNvSpPr/>
          <p:nvPr/>
        </p:nvSpPr>
        <p:spPr>
          <a:xfrm>
            <a:off x="5669280" y="3392424"/>
            <a:ext cx="310896" cy="310896"/>
          </a:xfrm>
          <a:prstGeom prst="ellipse">
            <a:avLst/>
          </a:prstGeom>
          <a:solidFill>
            <a:srgbClr val="1A4FD8"/>
          </a:solidFill>
          <a:ln/>
        </p:spPr>
      </p:sp>
      <p:sp>
        <p:nvSpPr>
          <p:cNvPr id="27" name="Text 25"/>
          <p:cNvSpPr/>
          <p:nvPr/>
        </p:nvSpPr>
        <p:spPr>
          <a:xfrm>
            <a:off x="5669280" y="339242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3</a:t>
            </a:r>
            <a:endParaRPr lang="en-US" sz="1200" dirty="0"/>
          </a:p>
        </p:txBody>
      </p:sp>
      <p:sp>
        <p:nvSpPr>
          <p:cNvPr id="28" name="Text 26"/>
          <p:cNvSpPr/>
          <p:nvPr/>
        </p:nvSpPr>
        <p:spPr>
          <a:xfrm>
            <a:off x="6108192" y="3337560"/>
            <a:ext cx="5212080"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MY투자 · 투자전략</a:t>
            </a:r>
            <a:endParaRPr lang="en-US" sz="1250" dirty="0"/>
          </a:p>
        </p:txBody>
      </p:sp>
      <p:sp>
        <p:nvSpPr>
          <p:cNvPr id="29" name="Text 27"/>
          <p:cNvSpPr/>
          <p:nvPr/>
        </p:nvSpPr>
        <p:spPr>
          <a:xfrm>
            <a:off x="6108192" y="3630168"/>
            <a:ext cx="5257800" cy="365760"/>
          </a:xfrm>
          <a:prstGeom prst="rect">
            <a:avLst/>
          </a:prstGeom>
          <a:noFill/>
          <a:ln/>
        </p:spPr>
        <p:txBody>
          <a:bodyPr wrap="square" lIns="0" tIns="0" rIns="0" bIns="0" rtlCol="0" anchor="t"/>
          <a:lstStyle/>
          <a:p>
            <a:pPr indent="0" marL="0">
              <a:buNone/>
            </a:pPr>
            <a:r>
              <a:rPr lang="en-US" sz="960" dirty="0">
                <a:solidFill>
                  <a:srgbClr val="5A6474"/>
                </a:solidFill>
                <a:latin typeface="Malgun Gothic" pitchFamily="34" charset="0"/>
                <a:ea typeface="Malgun Gothic" pitchFamily="34" charset="-122"/>
                <a:cs typeface="Malgun Gothic" pitchFamily="34" charset="-120"/>
              </a:rPr>
              <a:t>보유 구성 · 규칙/성향 진단 · 전략 비교 시뮬레이션</a:t>
            </a:r>
            <a:endParaRPr lang="en-US" sz="960" dirty="0"/>
          </a:p>
        </p:txBody>
      </p:sp>
      <p:sp>
        <p:nvSpPr>
          <p:cNvPr id="30" name="Shape 28"/>
          <p:cNvSpPr/>
          <p:nvPr/>
        </p:nvSpPr>
        <p:spPr>
          <a:xfrm>
            <a:off x="5669280" y="4169664"/>
            <a:ext cx="310896" cy="310896"/>
          </a:xfrm>
          <a:prstGeom prst="ellipse">
            <a:avLst/>
          </a:prstGeom>
          <a:solidFill>
            <a:srgbClr val="1A4FD8"/>
          </a:solidFill>
          <a:ln/>
        </p:spPr>
      </p:sp>
      <p:sp>
        <p:nvSpPr>
          <p:cNvPr id="31" name="Text 29"/>
          <p:cNvSpPr/>
          <p:nvPr/>
        </p:nvSpPr>
        <p:spPr>
          <a:xfrm>
            <a:off x="5669280" y="41696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4</a:t>
            </a:r>
            <a:endParaRPr lang="en-US" sz="1200" dirty="0"/>
          </a:p>
        </p:txBody>
      </p:sp>
      <p:sp>
        <p:nvSpPr>
          <p:cNvPr id="32" name="Text 30"/>
          <p:cNvSpPr/>
          <p:nvPr/>
        </p:nvSpPr>
        <p:spPr>
          <a:xfrm>
            <a:off x="6108192" y="4114800"/>
            <a:ext cx="5212080"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타 고객 포트폴리오</a:t>
            </a:r>
            <a:endParaRPr lang="en-US" sz="1250" dirty="0"/>
          </a:p>
        </p:txBody>
      </p:sp>
      <p:sp>
        <p:nvSpPr>
          <p:cNvPr id="33" name="Text 31"/>
          <p:cNvSpPr/>
          <p:nvPr/>
        </p:nvSpPr>
        <p:spPr>
          <a:xfrm>
            <a:off x="6108192" y="4407408"/>
            <a:ext cx="5257800" cy="365760"/>
          </a:xfrm>
          <a:prstGeom prst="rect">
            <a:avLst/>
          </a:prstGeom>
          <a:noFill/>
          <a:ln/>
        </p:spPr>
        <p:txBody>
          <a:bodyPr wrap="square" lIns="0" tIns="0" rIns="0" bIns="0" rtlCol="0" anchor="t"/>
          <a:lstStyle/>
          <a:p>
            <a:pPr indent="0" marL="0">
              <a:buNone/>
            </a:pPr>
            <a:r>
              <a:rPr lang="en-US" sz="960" dirty="0">
                <a:solidFill>
                  <a:srgbClr val="5A6474"/>
                </a:solidFill>
                <a:latin typeface="Malgun Gothic" pitchFamily="34" charset="0"/>
                <a:ea typeface="Malgun Gothic" pitchFamily="34" charset="-122"/>
                <a:cs typeface="Malgun Gothic" pitchFamily="34" charset="-120"/>
              </a:rPr>
              <a:t>익명 목록 · 차이 보기 · 비중 적용 시뮬레이션</a:t>
            </a:r>
            <a:endParaRPr lang="en-US" sz="960" dirty="0"/>
          </a:p>
        </p:txBody>
      </p:sp>
      <p:sp>
        <p:nvSpPr>
          <p:cNvPr id="34" name="Shape 32"/>
          <p:cNvSpPr/>
          <p:nvPr/>
        </p:nvSpPr>
        <p:spPr>
          <a:xfrm>
            <a:off x="5669280" y="4946904"/>
            <a:ext cx="310896" cy="310896"/>
          </a:xfrm>
          <a:prstGeom prst="ellipse">
            <a:avLst/>
          </a:prstGeom>
          <a:solidFill>
            <a:srgbClr val="1A4FD8"/>
          </a:solidFill>
          <a:ln/>
        </p:spPr>
      </p:sp>
      <p:sp>
        <p:nvSpPr>
          <p:cNvPr id="35" name="Text 33"/>
          <p:cNvSpPr/>
          <p:nvPr/>
        </p:nvSpPr>
        <p:spPr>
          <a:xfrm>
            <a:off x="5669280" y="49469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5</a:t>
            </a:r>
            <a:endParaRPr lang="en-US" sz="1200" dirty="0"/>
          </a:p>
        </p:txBody>
      </p:sp>
      <p:sp>
        <p:nvSpPr>
          <p:cNvPr id="36" name="Text 34"/>
          <p:cNvSpPr/>
          <p:nvPr/>
        </p:nvSpPr>
        <p:spPr>
          <a:xfrm>
            <a:off x="6108192" y="4892040"/>
            <a:ext cx="5212080" cy="292608"/>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세금계산</a:t>
            </a:r>
            <a:endParaRPr lang="en-US" sz="1250" dirty="0"/>
          </a:p>
        </p:txBody>
      </p:sp>
      <p:sp>
        <p:nvSpPr>
          <p:cNvPr id="37" name="Text 35"/>
          <p:cNvSpPr/>
          <p:nvPr/>
        </p:nvSpPr>
        <p:spPr>
          <a:xfrm>
            <a:off x="6108192" y="5184648"/>
            <a:ext cx="5257800" cy="365760"/>
          </a:xfrm>
          <a:prstGeom prst="rect">
            <a:avLst/>
          </a:prstGeom>
          <a:noFill/>
          <a:ln/>
        </p:spPr>
        <p:txBody>
          <a:bodyPr wrap="square" lIns="0" tIns="0" rIns="0" bIns="0" rtlCol="0" anchor="t"/>
          <a:lstStyle/>
          <a:p>
            <a:pPr indent="0" marL="0">
              <a:buNone/>
            </a:pPr>
            <a:r>
              <a:rPr lang="en-US" sz="960" dirty="0">
                <a:solidFill>
                  <a:srgbClr val="5A6474"/>
                </a:solidFill>
                <a:latin typeface="Malgun Gothic" pitchFamily="34" charset="0"/>
                <a:ea typeface="Malgun Gothic" pitchFamily="34" charset="-122"/>
                <a:cs typeface="Malgun Gothic" pitchFamily="34" charset="-120"/>
              </a:rPr>
              <a:t>공제율 · 남은 한도 · 예상 세액공제액 — 산식·출처 공개</a:t>
            </a:r>
            <a:endParaRPr lang="en-US" sz="960" dirty="0"/>
          </a:p>
        </p:txBody>
      </p:sp>
      <p:sp>
        <p:nvSpPr>
          <p:cNvPr id="38" name="Shape 36"/>
          <p:cNvSpPr/>
          <p:nvPr/>
        </p:nvSpPr>
        <p:spPr>
          <a:xfrm>
            <a:off x="5669280" y="5715000"/>
            <a:ext cx="5715000" cy="566928"/>
          </a:xfrm>
          <a:prstGeom prst="roundRect">
            <a:avLst>
              <a:gd name="adj" fmla="val 14516"/>
            </a:avLst>
          </a:prstGeom>
          <a:solidFill>
            <a:srgbClr val="EEF3FE"/>
          </a:solidFill>
          <a:ln w="12700">
            <a:solidFill>
              <a:srgbClr val="D7E2F8"/>
            </a:solidFill>
            <a:prstDash val="solid"/>
          </a:ln>
        </p:spPr>
      </p:sp>
      <p:sp>
        <p:nvSpPr>
          <p:cNvPr id="39" name="Text 37"/>
          <p:cNvSpPr/>
          <p:nvPr/>
        </p:nvSpPr>
        <p:spPr>
          <a:xfrm>
            <a:off x="5806440" y="5715000"/>
            <a:ext cx="5486400" cy="566928"/>
          </a:xfrm>
          <a:prstGeom prst="rect">
            <a:avLst/>
          </a:prstGeom>
          <a:noFill/>
          <a:ln/>
        </p:spPr>
        <p:txBody>
          <a:bodyPr wrap="square" lIns="0" tIns="0" rIns="0" bIns="0" rtlCol="0" anchor="ctr"/>
          <a:lstStyle/>
          <a:p>
            <a:pPr algn="ctr" indent="0" marL="0">
              <a:buNone/>
            </a:pPr>
            <a:r>
              <a:rPr lang="en-US" sz="1300" strike="sngStrike" dirty="0">
                <a:solidFill>
                  <a:srgbClr val="5A6474"/>
                </a:solidFill>
                <a:latin typeface="Malgun Gothic" pitchFamily="34" charset="0"/>
                <a:ea typeface="Malgun Gothic" pitchFamily="34" charset="-122"/>
                <a:cs typeface="Malgun Gothic" pitchFamily="34" charset="-120"/>
              </a:rPr>
              <a:t>“대신 굴려주는 AI”</a:t>
            </a:r>
            <a:pPr algn="ctr" indent="0" marL="0">
              <a:buNone/>
            </a:pPr>
            <a:r>
              <a:rPr lang="en-US" sz="1300" b="1" dirty="0">
                <a:solidFill>
                  <a:srgbClr val="9AA3B2"/>
                </a:solidFill>
                <a:latin typeface="Malgun Gothic" pitchFamily="34" charset="0"/>
                <a:ea typeface="Malgun Gothic" pitchFamily="34" charset="-122"/>
                <a:cs typeface="Malgun Gothic" pitchFamily="34" charset="-120"/>
              </a:rPr>
              <a:t>   →   </a:t>
            </a:r>
            <a:pPr algn="ctr" indent="0" marL="0">
              <a:buNone/>
            </a:pPr>
            <a:r>
              <a:rPr lang="en-US" sz="1300" b="1" dirty="0">
                <a:solidFill>
                  <a:srgbClr val="1A4FD8"/>
                </a:solidFill>
                <a:latin typeface="Malgun Gothic" pitchFamily="34" charset="0"/>
                <a:ea typeface="Malgun Gothic" pitchFamily="34" charset="-122"/>
                <a:cs typeface="Malgun Gothic" pitchFamily="34" charset="-120"/>
              </a:rPr>
              <a:t>“스스로 굴리게 돕는 AI”</a:t>
            </a:r>
            <a:endParaRPr lang="en-US" sz="1300" dirty="0"/>
          </a:p>
        </p:txBody>
      </p:sp>
      <p:sp>
        <p:nvSpPr>
          <p:cNvPr id="40" name="Text 38"/>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04 · 설계 원칙</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규제가 요구하기 전에, 구조로 지킨다</a:t>
            </a:r>
            <a:endParaRPr lang="en-US" sz="2800" dirty="0"/>
          </a:p>
        </p:txBody>
      </p:sp>
      <p:sp>
        <p:nvSpPr>
          <p:cNvPr id="4" name="Shape 2"/>
          <p:cNvSpPr/>
          <p:nvPr/>
        </p:nvSpPr>
        <p:spPr>
          <a:xfrm>
            <a:off x="548640" y="1508760"/>
            <a:ext cx="5404104" cy="1783080"/>
          </a:xfrm>
          <a:prstGeom prst="roundRect">
            <a:avLst>
              <a:gd name="adj" fmla="val 4615"/>
            </a:avLst>
          </a:prstGeom>
          <a:solidFill>
            <a:srgbClr val="F7F9FE"/>
          </a:solidFill>
          <a:ln w="12700">
            <a:solidFill>
              <a:srgbClr val="D9E0EC"/>
            </a:solidFill>
            <a:prstDash val="solid"/>
          </a:ln>
        </p:spPr>
      </p:sp>
      <p:sp>
        <p:nvSpPr>
          <p:cNvPr id="5" name="Text 3"/>
          <p:cNvSpPr/>
          <p:nvPr/>
        </p:nvSpPr>
        <p:spPr>
          <a:xfrm>
            <a:off x="749808" y="1673352"/>
            <a:ext cx="3941064" cy="329184"/>
          </a:xfrm>
          <a:prstGeom prst="rect">
            <a:avLst/>
          </a:prstGeom>
          <a:noFill/>
          <a:ln/>
        </p:spPr>
        <p:txBody>
          <a:bodyPr wrap="square" lIns="0" tIns="0" rIns="0" bIns="0" rtlCol="0" anchor="ctr"/>
          <a:lstStyle/>
          <a:p>
            <a:pPr indent="0" marL="0">
              <a:buNone/>
            </a:pPr>
            <a:r>
              <a:rPr lang="en-US" sz="1500" b="1" dirty="0">
                <a:solidFill>
                  <a:srgbClr val="18202E"/>
                </a:solidFill>
                <a:latin typeface="Malgun Gothic" pitchFamily="34" charset="0"/>
                <a:ea typeface="Malgun Gothic" pitchFamily="34" charset="-122"/>
                <a:cs typeface="Malgun Gothic" pitchFamily="34" charset="-120"/>
              </a:rPr>
              <a:t>자문 · 정보 제공형</a:t>
            </a:r>
            <a:endParaRPr lang="en-US" sz="1500" dirty="0"/>
          </a:p>
        </p:txBody>
      </p:sp>
      <p:sp>
        <p:nvSpPr>
          <p:cNvPr id="6" name="Text 4"/>
          <p:cNvSpPr/>
          <p:nvPr/>
        </p:nvSpPr>
        <p:spPr>
          <a:xfrm>
            <a:off x="4745736" y="1691640"/>
            <a:ext cx="1024128" cy="274320"/>
          </a:xfrm>
          <a:prstGeom prst="roundRect">
            <a:avLst>
              <a:gd name="adj" fmla="val 46667"/>
            </a:avLst>
          </a:prstGeom>
          <a:solidFill>
            <a:srgbClr val="FFFFFF"/>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일임 아님</a:t>
            </a:r>
            <a:endParaRPr lang="en-US" sz="880" dirty="0"/>
          </a:p>
        </p:txBody>
      </p:sp>
      <p:sp>
        <p:nvSpPr>
          <p:cNvPr id="7" name="Text 5"/>
          <p:cNvSpPr/>
          <p:nvPr/>
        </p:nvSpPr>
        <p:spPr>
          <a:xfrm>
            <a:off x="749808" y="2093976"/>
            <a:ext cx="5001768" cy="1051560"/>
          </a:xfrm>
          <a:prstGeom prst="rect">
            <a:avLst/>
          </a:prstGeom>
          <a:noFill/>
          <a:ln/>
        </p:spPr>
        <p:txBody>
          <a:bodyPr wrap="square" lIns="0" tIns="0" rIns="0" bIns="0" rtlCol="0" anchor="t"/>
          <a:lstStyle/>
          <a:p>
            <a:pPr indent="0" marL="0">
              <a:buNone/>
            </a:pPr>
            <a:r>
              <a:rPr lang="en-US" sz="1100" dirty="0">
                <a:solidFill>
                  <a:srgbClr val="5A6474"/>
                </a:solidFill>
                <a:latin typeface="Malgun Gothic" pitchFamily="34" charset="0"/>
                <a:ea typeface="Malgun Gothic" pitchFamily="34" charset="-122"/>
                <a:cs typeface="Malgun Gothic" pitchFamily="34" charset="-120"/>
              </a:rPr>
              <a:t>실제 선택·주문은 이용자. 수익률은 과거 실적만 다루고 미래 예측·확정 표현은 어디에도 없다.</a:t>
            </a:r>
            <a:endParaRPr lang="en-US" sz="1100" dirty="0"/>
          </a:p>
        </p:txBody>
      </p:sp>
      <p:sp>
        <p:nvSpPr>
          <p:cNvPr id="8" name="Shape 6"/>
          <p:cNvSpPr/>
          <p:nvPr/>
        </p:nvSpPr>
        <p:spPr>
          <a:xfrm>
            <a:off x="6236208" y="1508760"/>
            <a:ext cx="5404104" cy="1783080"/>
          </a:xfrm>
          <a:prstGeom prst="roundRect">
            <a:avLst>
              <a:gd name="adj" fmla="val 4615"/>
            </a:avLst>
          </a:prstGeom>
          <a:solidFill>
            <a:srgbClr val="EEF3FE"/>
          </a:solidFill>
          <a:ln w="12700">
            <a:solidFill>
              <a:srgbClr val="D7E2F8"/>
            </a:solidFill>
            <a:prstDash val="solid"/>
          </a:ln>
        </p:spPr>
      </p:sp>
      <p:sp>
        <p:nvSpPr>
          <p:cNvPr id="9" name="Text 7"/>
          <p:cNvSpPr/>
          <p:nvPr/>
        </p:nvSpPr>
        <p:spPr>
          <a:xfrm>
            <a:off x="6437376" y="1673352"/>
            <a:ext cx="3941064" cy="329184"/>
          </a:xfrm>
          <a:prstGeom prst="rect">
            <a:avLst/>
          </a:prstGeom>
          <a:noFill/>
          <a:ln/>
        </p:spPr>
        <p:txBody>
          <a:bodyPr wrap="square" lIns="0" tIns="0" rIns="0" bIns="0" rtlCol="0" anchor="ctr"/>
          <a:lstStyle/>
          <a:p>
            <a:pPr indent="0" marL="0">
              <a:buNone/>
            </a:pPr>
            <a:r>
              <a:rPr lang="en-US" sz="1500" b="1" dirty="0">
                <a:solidFill>
                  <a:srgbClr val="18202E"/>
                </a:solidFill>
                <a:latin typeface="Malgun Gothic" pitchFamily="34" charset="0"/>
                <a:ea typeface="Malgun Gothic" pitchFamily="34" charset="-122"/>
                <a:cs typeface="Malgun Gothic" pitchFamily="34" charset="-120"/>
              </a:rPr>
              <a:t>Explainable by Design</a:t>
            </a:r>
            <a:endParaRPr lang="en-US" sz="1500" dirty="0"/>
          </a:p>
        </p:txBody>
      </p:sp>
      <p:sp>
        <p:nvSpPr>
          <p:cNvPr id="10" name="Text 8"/>
          <p:cNvSpPr/>
          <p:nvPr/>
        </p:nvSpPr>
        <p:spPr>
          <a:xfrm>
            <a:off x="10433304" y="1691640"/>
            <a:ext cx="1024128" cy="274320"/>
          </a:xfrm>
          <a:prstGeom prst="roundRect">
            <a:avLst>
              <a:gd name="adj" fmla="val 46667"/>
            </a:avLst>
          </a:prstGeom>
          <a:solidFill>
            <a:srgbClr val="FFFFFF"/>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환각 차단</a:t>
            </a:r>
            <a:endParaRPr lang="en-US" sz="880" dirty="0"/>
          </a:p>
        </p:txBody>
      </p:sp>
      <p:sp>
        <p:nvSpPr>
          <p:cNvPr id="11" name="Text 9"/>
          <p:cNvSpPr/>
          <p:nvPr/>
        </p:nvSpPr>
        <p:spPr>
          <a:xfrm>
            <a:off x="6437376" y="2093976"/>
            <a:ext cx="5001768" cy="1051560"/>
          </a:xfrm>
          <a:prstGeom prst="rect">
            <a:avLst/>
          </a:prstGeom>
          <a:noFill/>
          <a:ln/>
        </p:spPr>
        <p:txBody>
          <a:bodyPr wrap="square" lIns="0" tIns="0" rIns="0" bIns="0" rtlCol="0" anchor="t"/>
          <a:lstStyle/>
          <a:p>
            <a:pPr indent="0" marL="0">
              <a:buNone/>
            </a:pPr>
            <a:r>
              <a:rPr lang="en-US" sz="1100" dirty="0">
                <a:solidFill>
                  <a:srgbClr val="5A6474"/>
                </a:solidFill>
                <a:latin typeface="Malgun Gothic" pitchFamily="34" charset="0"/>
                <a:ea typeface="Malgun Gothic" pitchFamily="34" charset="-122"/>
                <a:cs typeface="Malgun Gothic" pitchFamily="34" charset="-120"/>
              </a:rPr>
              <a:t>계산·판단은 규칙 엔진, LLM은 엔진 수치의 자연어 서술 + Q&amp;A만. LLM의 직접 수치 계산 금지.</a:t>
            </a:r>
            <a:endParaRPr lang="en-US" sz="1100" dirty="0"/>
          </a:p>
        </p:txBody>
      </p:sp>
      <p:sp>
        <p:nvSpPr>
          <p:cNvPr id="12" name="Shape 10"/>
          <p:cNvSpPr/>
          <p:nvPr/>
        </p:nvSpPr>
        <p:spPr>
          <a:xfrm>
            <a:off x="548640" y="3474720"/>
            <a:ext cx="5404104" cy="1783080"/>
          </a:xfrm>
          <a:prstGeom prst="roundRect">
            <a:avLst>
              <a:gd name="adj" fmla="val 4615"/>
            </a:avLst>
          </a:prstGeom>
          <a:solidFill>
            <a:srgbClr val="F7F9FE"/>
          </a:solidFill>
          <a:ln w="12700">
            <a:solidFill>
              <a:srgbClr val="D9E0EC"/>
            </a:solidFill>
            <a:prstDash val="solid"/>
          </a:ln>
        </p:spPr>
      </p:sp>
      <p:sp>
        <p:nvSpPr>
          <p:cNvPr id="13" name="Text 11"/>
          <p:cNvSpPr/>
          <p:nvPr/>
        </p:nvSpPr>
        <p:spPr>
          <a:xfrm>
            <a:off x="749808" y="3639312"/>
            <a:ext cx="3941064" cy="329184"/>
          </a:xfrm>
          <a:prstGeom prst="rect">
            <a:avLst/>
          </a:prstGeom>
          <a:noFill/>
          <a:ln/>
        </p:spPr>
        <p:txBody>
          <a:bodyPr wrap="square" lIns="0" tIns="0" rIns="0" bIns="0" rtlCol="0" anchor="ctr"/>
          <a:lstStyle/>
          <a:p>
            <a:pPr indent="0" marL="0">
              <a:buNone/>
            </a:pPr>
            <a:r>
              <a:rPr lang="en-US" sz="1500" b="1" dirty="0">
                <a:solidFill>
                  <a:srgbClr val="18202E"/>
                </a:solidFill>
                <a:latin typeface="Malgun Gothic" pitchFamily="34" charset="0"/>
                <a:ea typeface="Malgun Gothic" pitchFamily="34" charset="-122"/>
                <a:cs typeface="Malgun Gothic" pitchFamily="34" charset="-120"/>
              </a:rPr>
              <a:t>계좌별 규칙 내장</a:t>
            </a:r>
            <a:endParaRPr lang="en-US" sz="1500" dirty="0"/>
          </a:p>
        </p:txBody>
      </p:sp>
      <p:sp>
        <p:nvSpPr>
          <p:cNvPr id="14" name="Text 12"/>
          <p:cNvSpPr/>
          <p:nvPr/>
        </p:nvSpPr>
        <p:spPr>
          <a:xfrm>
            <a:off x="4745736" y="3657600"/>
            <a:ext cx="1024128" cy="274320"/>
          </a:xfrm>
          <a:prstGeom prst="roundRect">
            <a:avLst>
              <a:gd name="adj" fmla="val 46667"/>
            </a:avLst>
          </a:prstGeom>
          <a:solidFill>
            <a:srgbClr val="FFFFFF"/>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혼합 금지</a:t>
            </a:r>
            <a:endParaRPr lang="en-US" sz="880" dirty="0"/>
          </a:p>
        </p:txBody>
      </p:sp>
      <p:sp>
        <p:nvSpPr>
          <p:cNvPr id="15" name="Text 13"/>
          <p:cNvSpPr/>
          <p:nvPr/>
        </p:nvSpPr>
        <p:spPr>
          <a:xfrm>
            <a:off x="749808" y="4059936"/>
            <a:ext cx="5001768" cy="1051560"/>
          </a:xfrm>
          <a:prstGeom prst="rect">
            <a:avLst/>
          </a:prstGeom>
          <a:noFill/>
          <a:ln/>
        </p:spPr>
        <p:txBody>
          <a:bodyPr wrap="square" lIns="0" tIns="0" rIns="0" bIns="0" rtlCol="0" anchor="t"/>
          <a:lstStyle/>
          <a:p>
            <a:pPr indent="0" marL="0">
              <a:buNone/>
            </a:pPr>
            <a:r>
              <a:rPr lang="en-US" sz="1100" dirty="0">
                <a:solidFill>
                  <a:srgbClr val="5A6474"/>
                </a:solidFill>
                <a:latin typeface="Malgun Gothic" pitchFamily="34" charset="0"/>
                <a:ea typeface="Malgun Gothic" pitchFamily="34" charset="-122"/>
                <a:cs typeface="Malgun Gothic" pitchFamily="34" charset="-120"/>
              </a:rPr>
              <a:t>DC·IRP 위험자산 70% 한도 vs 연금저축 무한도 — 서로 다른 규칙의 혼합을 입력 단계에서 차단.</a:t>
            </a:r>
            <a:endParaRPr lang="en-US" sz="1100" dirty="0"/>
          </a:p>
        </p:txBody>
      </p:sp>
      <p:sp>
        <p:nvSpPr>
          <p:cNvPr id="16" name="Shape 14"/>
          <p:cNvSpPr/>
          <p:nvPr/>
        </p:nvSpPr>
        <p:spPr>
          <a:xfrm>
            <a:off x="6236208" y="3474720"/>
            <a:ext cx="5404104" cy="1783080"/>
          </a:xfrm>
          <a:prstGeom prst="roundRect">
            <a:avLst>
              <a:gd name="adj" fmla="val 4615"/>
            </a:avLst>
          </a:prstGeom>
          <a:solidFill>
            <a:srgbClr val="F7F9FE"/>
          </a:solidFill>
          <a:ln w="12700">
            <a:solidFill>
              <a:srgbClr val="D9E0EC"/>
            </a:solidFill>
            <a:prstDash val="solid"/>
          </a:ln>
        </p:spPr>
      </p:sp>
      <p:sp>
        <p:nvSpPr>
          <p:cNvPr id="17" name="Text 15"/>
          <p:cNvSpPr/>
          <p:nvPr/>
        </p:nvSpPr>
        <p:spPr>
          <a:xfrm>
            <a:off x="6437376" y="3639312"/>
            <a:ext cx="3941064" cy="329184"/>
          </a:xfrm>
          <a:prstGeom prst="rect">
            <a:avLst/>
          </a:prstGeom>
          <a:noFill/>
          <a:ln/>
        </p:spPr>
        <p:txBody>
          <a:bodyPr wrap="square" lIns="0" tIns="0" rIns="0" bIns="0" rtlCol="0" anchor="ctr"/>
          <a:lstStyle/>
          <a:p>
            <a:pPr indent="0" marL="0">
              <a:buNone/>
            </a:pPr>
            <a:r>
              <a:rPr lang="en-US" sz="1500" b="1" dirty="0">
                <a:solidFill>
                  <a:srgbClr val="18202E"/>
                </a:solidFill>
                <a:latin typeface="Malgun Gothic" pitchFamily="34" charset="0"/>
                <a:ea typeface="Malgun Gothic" pitchFamily="34" charset="-122"/>
                <a:cs typeface="Malgun Gothic" pitchFamily="34" charset="-120"/>
              </a:rPr>
              <a:t>실 / 목 데이터 경계</a:t>
            </a:r>
            <a:endParaRPr lang="en-US" sz="1500" dirty="0"/>
          </a:p>
        </p:txBody>
      </p:sp>
      <p:sp>
        <p:nvSpPr>
          <p:cNvPr id="18" name="Text 16"/>
          <p:cNvSpPr/>
          <p:nvPr/>
        </p:nvSpPr>
        <p:spPr>
          <a:xfrm>
            <a:off x="10433304" y="3657600"/>
            <a:ext cx="1024128" cy="274320"/>
          </a:xfrm>
          <a:prstGeom prst="roundRect">
            <a:avLst>
              <a:gd name="adj" fmla="val 46667"/>
            </a:avLst>
          </a:prstGeom>
          <a:solidFill>
            <a:srgbClr val="FFFFFF"/>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경계 표기</a:t>
            </a:r>
            <a:endParaRPr lang="en-US" sz="880" dirty="0"/>
          </a:p>
        </p:txBody>
      </p:sp>
      <p:sp>
        <p:nvSpPr>
          <p:cNvPr id="19" name="Text 17"/>
          <p:cNvSpPr/>
          <p:nvPr/>
        </p:nvSpPr>
        <p:spPr>
          <a:xfrm>
            <a:off x="6437376" y="4059936"/>
            <a:ext cx="5001768" cy="1051560"/>
          </a:xfrm>
          <a:prstGeom prst="rect">
            <a:avLst/>
          </a:prstGeom>
          <a:noFill/>
          <a:ln/>
        </p:spPr>
        <p:txBody>
          <a:bodyPr wrap="square" lIns="0" tIns="0" rIns="0" bIns="0" rtlCol="0" anchor="t"/>
          <a:lstStyle/>
          <a:p>
            <a:pPr indent="0" marL="0">
              <a:buNone/>
            </a:pPr>
            <a:r>
              <a:rPr lang="en-US" sz="1100" dirty="0">
                <a:solidFill>
                  <a:srgbClr val="5A6474"/>
                </a:solidFill>
                <a:latin typeface="Malgun Gothic" pitchFamily="34" charset="0"/>
                <a:ea typeface="Malgun Gothic" pitchFamily="34" charset="-122"/>
                <a:cs typeface="Malgun Gothic" pitchFamily="34" charset="-120"/>
              </a:rPr>
              <a:t>시장·상품 = 공식 API 실데이터, 사용자 계좌 = 시나리오 목데이터. 개인 계좌 데이터는 RAG에 넣지 않는다.</a:t>
            </a:r>
            <a:endParaRPr lang="en-US" sz="1100" dirty="0"/>
          </a:p>
        </p:txBody>
      </p:sp>
      <p:sp>
        <p:nvSpPr>
          <p:cNvPr id="20" name="Shape 18"/>
          <p:cNvSpPr/>
          <p:nvPr/>
        </p:nvSpPr>
        <p:spPr>
          <a:xfrm>
            <a:off x="548640" y="5532120"/>
            <a:ext cx="11091672" cy="731520"/>
          </a:xfrm>
          <a:prstGeom prst="roundRect">
            <a:avLst>
              <a:gd name="adj" fmla="val 11250"/>
            </a:avLst>
          </a:prstGeom>
          <a:solidFill>
            <a:srgbClr val="FFFFFF"/>
          </a:solidFill>
          <a:ln w="12700">
            <a:solidFill>
              <a:srgbClr val="D9E0EC"/>
            </a:solidFill>
            <a:prstDash val="solid"/>
          </a:ln>
        </p:spPr>
      </p:sp>
      <p:sp>
        <p:nvSpPr>
          <p:cNvPr id="21" name="Text 19"/>
          <p:cNvSpPr/>
          <p:nvPr/>
        </p:nvSpPr>
        <p:spPr>
          <a:xfrm>
            <a:off x="749808" y="5532120"/>
            <a:ext cx="10689336" cy="731520"/>
          </a:xfrm>
          <a:prstGeom prst="rect">
            <a:avLst/>
          </a:prstGeom>
          <a:noFill/>
          <a:ln/>
        </p:spPr>
        <p:txBody>
          <a:bodyPr wrap="square" lIns="0" tIns="0" rIns="0" bIns="0" rtlCol="0" anchor="ctr"/>
          <a:lstStyle/>
          <a:p>
            <a:pPr indent="0" marL="0">
              <a:buNone/>
            </a:pPr>
            <a:r>
              <a:rPr lang="en-US" sz="1200" b="1" dirty="0">
                <a:solidFill>
                  <a:srgbClr val="1A4FD8"/>
                </a:solidFill>
                <a:latin typeface="Malgun Gothic" pitchFamily="34" charset="0"/>
                <a:ea typeface="Malgun Gothic" pitchFamily="34" charset="-122"/>
                <a:cs typeface="Malgun Gothic" pitchFamily="34" charset="-120"/>
              </a:rPr>
              <a:t>+ 두 가지 고정 장치   </a:t>
            </a:r>
            <a:pPr indent="0" marL="0">
              <a:buNone/>
            </a:pPr>
            <a:r>
              <a:rPr lang="en-US" sz="1200" dirty="0">
                <a:solidFill>
                  <a:srgbClr val="18202E"/>
                </a:solidFill>
                <a:latin typeface="Malgun Gothic" pitchFamily="34" charset="0"/>
                <a:ea typeface="Malgun Gothic" pitchFamily="34" charset="-122"/>
                <a:cs typeface="Malgun Gothic" pitchFamily="34" charset="-120"/>
              </a:rPr>
              <a:t>모든 수치에 출처 칩(출처·기준일)  ·  이용자 성향 밖 상품·전략 제안 금지</a:t>
            </a:r>
            <a:endParaRPr lang="en-US" sz="1200" dirty="0"/>
          </a:p>
        </p:txBody>
      </p:sp>
      <p:sp>
        <p:nvSpPr>
          <p:cNvPr id="22" name="Text 20"/>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05 · 데이터 — 수집</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공식 API 8종, 재현 가능한 수집 파이프라인</a:t>
            </a:r>
            <a:endParaRPr lang="en-US" sz="2800" dirty="0"/>
          </a:p>
        </p:txBody>
      </p:sp>
      <p:sp>
        <p:nvSpPr>
          <p:cNvPr id="4" name="Shape 2"/>
          <p:cNvSpPr/>
          <p:nvPr/>
        </p:nvSpPr>
        <p:spPr>
          <a:xfrm>
            <a:off x="548640" y="1463040"/>
            <a:ext cx="2624328" cy="1316736"/>
          </a:xfrm>
          <a:prstGeom prst="roundRect">
            <a:avLst>
              <a:gd name="adj" fmla="val 6250"/>
            </a:avLst>
          </a:prstGeom>
          <a:solidFill>
            <a:srgbClr val="FFFFFF"/>
          </a:solidFill>
          <a:ln w="12700">
            <a:solidFill>
              <a:srgbClr val="D9E0EC"/>
            </a:solidFill>
            <a:prstDash val="solid"/>
          </a:ln>
        </p:spPr>
      </p:sp>
      <p:sp>
        <p:nvSpPr>
          <p:cNvPr id="5" name="Text 3"/>
          <p:cNvSpPr/>
          <p:nvPr/>
        </p:nvSpPr>
        <p:spPr>
          <a:xfrm>
            <a:off x="694944" y="1581912"/>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FSS 통합연금포털</a:t>
            </a:r>
            <a:endParaRPr lang="en-US" sz="1150" dirty="0"/>
          </a:p>
        </p:txBody>
      </p:sp>
      <p:sp>
        <p:nvSpPr>
          <p:cNvPr id="6" name="Text 4"/>
          <p:cNvSpPr/>
          <p:nvPr/>
        </p:nvSpPr>
        <p:spPr>
          <a:xfrm>
            <a:off x="694944" y="1901952"/>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연금저축 88개사 · 퇴직연금 126행 공시 수익률·수수료</a:t>
            </a:r>
            <a:endParaRPr lang="en-US" sz="940" dirty="0"/>
          </a:p>
        </p:txBody>
      </p:sp>
      <p:sp>
        <p:nvSpPr>
          <p:cNvPr id="7" name="Shape 5"/>
          <p:cNvSpPr/>
          <p:nvPr/>
        </p:nvSpPr>
        <p:spPr>
          <a:xfrm>
            <a:off x="3374136" y="1463040"/>
            <a:ext cx="2624328" cy="1316736"/>
          </a:xfrm>
          <a:prstGeom prst="roundRect">
            <a:avLst>
              <a:gd name="adj" fmla="val 6250"/>
            </a:avLst>
          </a:prstGeom>
          <a:solidFill>
            <a:srgbClr val="FFFFFF"/>
          </a:solidFill>
          <a:ln w="12700">
            <a:solidFill>
              <a:srgbClr val="D9E0EC"/>
            </a:solidFill>
            <a:prstDash val="solid"/>
          </a:ln>
        </p:spPr>
      </p:sp>
      <p:sp>
        <p:nvSpPr>
          <p:cNvPr id="8" name="Text 6"/>
          <p:cNvSpPr/>
          <p:nvPr/>
        </p:nvSpPr>
        <p:spPr>
          <a:xfrm>
            <a:off x="3520440" y="1581912"/>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KRX 정보데이터</a:t>
            </a:r>
            <a:endParaRPr lang="en-US" sz="1150" dirty="0"/>
          </a:p>
        </p:txBody>
      </p:sp>
      <p:sp>
        <p:nvSpPr>
          <p:cNvPr id="9" name="Text 7"/>
          <p:cNvSpPr/>
          <p:nvPr/>
        </p:nvSpPr>
        <p:spPr>
          <a:xfrm>
            <a:off x="3520440" y="1901952"/>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전 상장 ETF 일별 19필드 · 대표 지수 8종</a:t>
            </a:r>
            <a:endParaRPr lang="en-US" sz="940" dirty="0"/>
          </a:p>
        </p:txBody>
      </p:sp>
      <p:sp>
        <p:nvSpPr>
          <p:cNvPr id="10" name="Shape 8"/>
          <p:cNvSpPr/>
          <p:nvPr/>
        </p:nvSpPr>
        <p:spPr>
          <a:xfrm>
            <a:off x="6199632" y="1463040"/>
            <a:ext cx="2624328" cy="1316736"/>
          </a:xfrm>
          <a:prstGeom prst="roundRect">
            <a:avLst>
              <a:gd name="adj" fmla="val 6250"/>
            </a:avLst>
          </a:prstGeom>
          <a:solidFill>
            <a:srgbClr val="FFFFFF"/>
          </a:solidFill>
          <a:ln w="12700">
            <a:solidFill>
              <a:srgbClr val="D9E0EC"/>
            </a:solidFill>
            <a:prstDash val="solid"/>
          </a:ln>
        </p:spPr>
      </p:sp>
      <p:sp>
        <p:nvSpPr>
          <p:cNvPr id="11" name="Text 9"/>
          <p:cNvSpPr/>
          <p:nvPr/>
        </p:nvSpPr>
        <p:spPr>
          <a:xfrm>
            <a:off x="6345936" y="1581912"/>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한국투자증권 KIS</a:t>
            </a:r>
            <a:endParaRPr lang="en-US" sz="1150" dirty="0"/>
          </a:p>
        </p:txBody>
      </p:sp>
      <p:sp>
        <p:nvSpPr>
          <p:cNvPr id="12" name="Text 10"/>
          <p:cNvSpPr/>
          <p:nvPr/>
        </p:nvSpPr>
        <p:spPr>
          <a:xfrm>
            <a:off x="6345936" y="1901952"/>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수정주가 897,330 관측 · 구성종목 TOP3</a:t>
            </a:r>
            <a:endParaRPr lang="en-US" sz="940" dirty="0"/>
          </a:p>
        </p:txBody>
      </p:sp>
      <p:sp>
        <p:nvSpPr>
          <p:cNvPr id="13" name="Shape 11"/>
          <p:cNvSpPr/>
          <p:nvPr/>
        </p:nvSpPr>
        <p:spPr>
          <a:xfrm>
            <a:off x="9025128" y="1463040"/>
            <a:ext cx="2624328" cy="1316736"/>
          </a:xfrm>
          <a:prstGeom prst="roundRect">
            <a:avLst>
              <a:gd name="adj" fmla="val 6250"/>
            </a:avLst>
          </a:prstGeom>
          <a:solidFill>
            <a:srgbClr val="FFFFFF"/>
          </a:solidFill>
          <a:ln w="12700">
            <a:solidFill>
              <a:srgbClr val="D9E0EC"/>
            </a:solidFill>
            <a:prstDash val="solid"/>
          </a:ln>
        </p:spPr>
      </p:sp>
      <p:sp>
        <p:nvSpPr>
          <p:cNvPr id="14" name="Text 12"/>
          <p:cNvSpPr/>
          <p:nvPr/>
        </p:nvSpPr>
        <p:spPr>
          <a:xfrm>
            <a:off x="9171432" y="1581912"/>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KRX KIND 공시</a:t>
            </a:r>
            <a:endParaRPr lang="en-US" sz="1150" dirty="0"/>
          </a:p>
        </p:txBody>
      </p:sp>
      <p:sp>
        <p:nvSpPr>
          <p:cNvPr id="15" name="Text 13"/>
          <p:cNvSpPr/>
          <p:nvPr/>
        </p:nvSpPr>
        <p:spPr>
          <a:xfrm>
            <a:off x="9171432" y="1901952"/>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현금분배 8,048건 · 분배락 정확 연결 8,029건</a:t>
            </a:r>
            <a:endParaRPr lang="en-US" sz="940" dirty="0"/>
          </a:p>
        </p:txBody>
      </p:sp>
      <p:sp>
        <p:nvSpPr>
          <p:cNvPr id="16" name="Shape 14"/>
          <p:cNvSpPr/>
          <p:nvPr/>
        </p:nvSpPr>
        <p:spPr>
          <a:xfrm>
            <a:off x="548640" y="2944368"/>
            <a:ext cx="2624328" cy="1316736"/>
          </a:xfrm>
          <a:prstGeom prst="roundRect">
            <a:avLst>
              <a:gd name="adj" fmla="val 6250"/>
            </a:avLst>
          </a:prstGeom>
          <a:solidFill>
            <a:srgbClr val="FFFFFF"/>
          </a:solidFill>
          <a:ln w="12700">
            <a:solidFill>
              <a:srgbClr val="D9E0EC"/>
            </a:solidFill>
            <a:prstDash val="solid"/>
          </a:ln>
        </p:spPr>
      </p:sp>
      <p:sp>
        <p:nvSpPr>
          <p:cNvPr id="17" name="Text 15"/>
          <p:cNvSpPr/>
          <p:nvPr/>
        </p:nvSpPr>
        <p:spPr>
          <a:xfrm>
            <a:off x="694944" y="3063240"/>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금융위원회</a:t>
            </a:r>
            <a:endParaRPr lang="en-US" sz="1150" dirty="0"/>
          </a:p>
        </p:txBody>
      </p:sp>
      <p:sp>
        <p:nvSpPr>
          <p:cNvPr id="18" name="Text 16"/>
          <p:cNvSpPr/>
          <p:nvPr/>
        </p:nvSpPr>
        <p:spPr>
          <a:xfrm>
            <a:off x="694944" y="3383280"/>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펀드 기본정보 · 배당 교차검증</a:t>
            </a:r>
            <a:endParaRPr lang="en-US" sz="940" dirty="0"/>
          </a:p>
        </p:txBody>
      </p:sp>
      <p:sp>
        <p:nvSpPr>
          <p:cNvPr id="19" name="Shape 17"/>
          <p:cNvSpPr/>
          <p:nvPr/>
        </p:nvSpPr>
        <p:spPr>
          <a:xfrm>
            <a:off x="3374136" y="2944368"/>
            <a:ext cx="2624328" cy="1316736"/>
          </a:xfrm>
          <a:prstGeom prst="roundRect">
            <a:avLst>
              <a:gd name="adj" fmla="val 6250"/>
            </a:avLst>
          </a:prstGeom>
          <a:solidFill>
            <a:srgbClr val="FFFFFF"/>
          </a:solidFill>
          <a:ln w="12700">
            <a:solidFill>
              <a:srgbClr val="D9E0EC"/>
            </a:solidFill>
            <a:prstDash val="solid"/>
          </a:ln>
        </p:spPr>
      </p:sp>
      <p:sp>
        <p:nvSpPr>
          <p:cNvPr id="20" name="Text 18"/>
          <p:cNvSpPr/>
          <p:nvPr/>
        </p:nvSpPr>
        <p:spPr>
          <a:xfrm>
            <a:off x="3520440" y="3063240"/>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OpenDART</a:t>
            </a:r>
            <a:endParaRPr lang="en-US" sz="1150" dirty="0"/>
          </a:p>
        </p:txBody>
      </p:sp>
      <p:sp>
        <p:nvSpPr>
          <p:cNvPr id="21" name="Text 19"/>
          <p:cNvSpPr/>
          <p:nvPr/>
        </p:nvSpPr>
        <p:spPr>
          <a:xfrm>
            <a:off x="3520440" y="3383280"/>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총보수 누락분 공시 원문 보강</a:t>
            </a:r>
            <a:endParaRPr lang="en-US" sz="940" dirty="0"/>
          </a:p>
        </p:txBody>
      </p:sp>
      <p:sp>
        <p:nvSpPr>
          <p:cNvPr id="22" name="Shape 20"/>
          <p:cNvSpPr/>
          <p:nvPr/>
        </p:nvSpPr>
        <p:spPr>
          <a:xfrm>
            <a:off x="6199632" y="2944368"/>
            <a:ext cx="2624328" cy="1316736"/>
          </a:xfrm>
          <a:prstGeom prst="roundRect">
            <a:avLst>
              <a:gd name="adj" fmla="val 6250"/>
            </a:avLst>
          </a:prstGeom>
          <a:solidFill>
            <a:srgbClr val="FFFFFF"/>
          </a:solidFill>
          <a:ln w="12700">
            <a:solidFill>
              <a:srgbClr val="D9E0EC"/>
            </a:solidFill>
            <a:prstDash val="solid"/>
          </a:ln>
        </p:spPr>
      </p:sp>
      <p:sp>
        <p:nvSpPr>
          <p:cNvPr id="23" name="Text 21"/>
          <p:cNvSpPr/>
          <p:nvPr/>
        </p:nvSpPr>
        <p:spPr>
          <a:xfrm>
            <a:off x="6345936" y="3063240"/>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국가법령정보</a:t>
            </a:r>
            <a:endParaRPr lang="en-US" sz="1150" dirty="0"/>
          </a:p>
        </p:txBody>
      </p:sp>
      <p:sp>
        <p:nvSpPr>
          <p:cNvPr id="24" name="Text 22"/>
          <p:cNvSpPr/>
          <p:nvPr/>
        </p:nvSpPr>
        <p:spPr>
          <a:xfrm>
            <a:off x="6345936" y="3383280"/>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“100분의 70” 원문 기계 검증 → 규칙 마스터 4종</a:t>
            </a:r>
            <a:endParaRPr lang="en-US" sz="940" dirty="0"/>
          </a:p>
        </p:txBody>
      </p:sp>
      <p:sp>
        <p:nvSpPr>
          <p:cNvPr id="25" name="Shape 23"/>
          <p:cNvSpPr/>
          <p:nvPr/>
        </p:nvSpPr>
        <p:spPr>
          <a:xfrm>
            <a:off x="9025128" y="2944368"/>
            <a:ext cx="2624328" cy="1316736"/>
          </a:xfrm>
          <a:prstGeom prst="roundRect">
            <a:avLst>
              <a:gd name="adj" fmla="val 6250"/>
            </a:avLst>
          </a:prstGeom>
          <a:solidFill>
            <a:srgbClr val="FFFFFF"/>
          </a:solidFill>
          <a:ln w="12700">
            <a:solidFill>
              <a:srgbClr val="D9E0EC"/>
            </a:solidFill>
            <a:prstDash val="solid"/>
          </a:ln>
        </p:spPr>
      </p:sp>
      <p:sp>
        <p:nvSpPr>
          <p:cNvPr id="26" name="Text 24"/>
          <p:cNvSpPr/>
          <p:nvPr/>
        </p:nvSpPr>
        <p:spPr>
          <a:xfrm>
            <a:off x="9171432" y="3063240"/>
            <a:ext cx="2331720" cy="292608"/>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NAVER 검색 API</a:t>
            </a:r>
            <a:endParaRPr lang="en-US" sz="1150" dirty="0"/>
          </a:p>
        </p:txBody>
      </p:sp>
      <p:sp>
        <p:nvSpPr>
          <p:cNvPr id="27" name="Text 25"/>
          <p:cNvSpPr/>
          <p:nvPr/>
        </p:nvSpPr>
        <p:spPr>
          <a:xfrm>
            <a:off x="9171432" y="3383280"/>
            <a:ext cx="2331720" cy="768096"/>
          </a:xfrm>
          <a:prstGeom prst="rect">
            <a:avLst/>
          </a:prstGeom>
          <a:noFill/>
          <a:ln/>
        </p:spPr>
        <p:txBody>
          <a:bodyPr wrap="square" lIns="0" tIns="0" rIns="0" bIns="0" rtlCol="0" anchor="t"/>
          <a:lstStyle/>
          <a:p>
            <a:pPr indent="0" marL="0">
              <a:buNone/>
            </a:pPr>
            <a:r>
              <a:rPr lang="en-US" sz="940" dirty="0">
                <a:solidFill>
                  <a:srgbClr val="18202E"/>
                </a:solidFill>
                <a:latin typeface="Malgun Gothic" pitchFamily="34" charset="0"/>
                <a:ea typeface="Malgun Gothic" pitchFamily="34" charset="-122"/>
                <a:cs typeface="Malgun Gothic" pitchFamily="34" charset="-120"/>
              </a:rPr>
              <a:t>한/미 시장 뉴스 14쿼리 · 일 최대 20건</a:t>
            </a:r>
            <a:endParaRPr lang="en-US" sz="940" dirty="0"/>
          </a:p>
        </p:txBody>
      </p:sp>
      <p:sp>
        <p:nvSpPr>
          <p:cNvPr id="28" name="Shape 26"/>
          <p:cNvSpPr/>
          <p:nvPr/>
        </p:nvSpPr>
        <p:spPr>
          <a:xfrm>
            <a:off x="548640" y="4663440"/>
            <a:ext cx="11091672" cy="914400"/>
          </a:xfrm>
          <a:prstGeom prst="roundRect">
            <a:avLst>
              <a:gd name="adj" fmla="val 9000"/>
            </a:avLst>
          </a:prstGeom>
          <a:solidFill>
            <a:srgbClr val="F7F9FE"/>
          </a:solidFill>
          <a:ln w="12700">
            <a:solidFill>
              <a:srgbClr val="D9E0EC"/>
            </a:solidFill>
            <a:prstDash val="solid"/>
          </a:ln>
        </p:spPr>
      </p:sp>
      <p:sp>
        <p:nvSpPr>
          <p:cNvPr id="29" name="Text 27"/>
          <p:cNvSpPr/>
          <p:nvPr/>
        </p:nvSpPr>
        <p:spPr>
          <a:xfrm>
            <a:off x="731520" y="4773168"/>
            <a:ext cx="3657600" cy="256032"/>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재현성 원칙 — 모든 소스 공통</a:t>
            </a:r>
            <a:endParaRPr lang="en-US" sz="1050" dirty="0"/>
          </a:p>
        </p:txBody>
      </p:sp>
      <p:sp>
        <p:nvSpPr>
          <p:cNvPr id="30" name="Text 28"/>
          <p:cNvSpPr/>
          <p:nvPr/>
        </p:nvSpPr>
        <p:spPr>
          <a:xfrm>
            <a:off x="731520" y="5074920"/>
            <a:ext cx="1371600" cy="329184"/>
          </a:xfrm>
          <a:prstGeom prst="roundRect">
            <a:avLst>
              <a:gd name="adj" fmla="val 38889"/>
            </a:avLst>
          </a:prstGeom>
          <a:solidFill>
            <a:srgbClr val="FFFFFF"/>
          </a:solidFill>
          <a:ln w="9525">
            <a:solidFill>
              <a:srgbClr val="D7E2F8"/>
            </a:solidFill>
          </a:ln>
        </p:spPr>
        <p:txBody>
          <a:bodyPr wrap="square" lIns="0" tIns="0" rIns="0" bIns="0" rtlCol="0" anchor="ctr"/>
          <a:lstStyle/>
          <a:p>
            <a:pPr algn="ctr" indent="0" marL="0">
              <a:buNone/>
            </a:pPr>
            <a:r>
              <a:rPr lang="en-US" sz="950" b="1" dirty="0">
                <a:solidFill>
                  <a:srgbClr val="1A4FD8"/>
                </a:solidFill>
                <a:latin typeface="Malgun Gothic" pitchFamily="34" charset="0"/>
                <a:ea typeface="Malgun Gothic" pitchFamily="34" charset="-122"/>
                <a:cs typeface="Malgun Gothic" pitchFamily="34" charset="-120"/>
              </a:rPr>
              <a:t>원본 raw 보존</a:t>
            </a:r>
            <a:endParaRPr lang="en-US" sz="950" dirty="0"/>
          </a:p>
        </p:txBody>
      </p:sp>
      <p:sp>
        <p:nvSpPr>
          <p:cNvPr id="31" name="Text 29"/>
          <p:cNvSpPr/>
          <p:nvPr/>
        </p:nvSpPr>
        <p:spPr>
          <a:xfrm>
            <a:off x="2267712" y="5074920"/>
            <a:ext cx="1691640" cy="329184"/>
          </a:xfrm>
          <a:prstGeom prst="roundRect">
            <a:avLst>
              <a:gd name="adj" fmla="val 38889"/>
            </a:avLst>
          </a:prstGeom>
          <a:solidFill>
            <a:srgbClr val="FFFFFF"/>
          </a:solidFill>
          <a:ln w="9525">
            <a:solidFill>
              <a:srgbClr val="D7E2F8"/>
            </a:solidFill>
          </a:ln>
        </p:spPr>
        <p:txBody>
          <a:bodyPr wrap="square" lIns="0" tIns="0" rIns="0" bIns="0" rtlCol="0" anchor="ctr"/>
          <a:lstStyle/>
          <a:p>
            <a:pPr algn="ctr" indent="0" marL="0">
              <a:buNone/>
            </a:pPr>
            <a:r>
              <a:rPr lang="en-US" sz="950" b="1" dirty="0">
                <a:solidFill>
                  <a:srgbClr val="1A4FD8"/>
                </a:solidFill>
                <a:latin typeface="Malgun Gothic" pitchFamily="34" charset="0"/>
                <a:ea typeface="Malgun Gothic" pitchFamily="34" charset="-122"/>
                <a:cs typeface="Malgun Gothic" pitchFamily="34" charset="-120"/>
              </a:rPr>
              <a:t>SHA-256 매니페스트</a:t>
            </a:r>
            <a:endParaRPr lang="en-US" sz="950" dirty="0"/>
          </a:p>
        </p:txBody>
      </p:sp>
      <p:sp>
        <p:nvSpPr>
          <p:cNvPr id="32" name="Text 30"/>
          <p:cNvSpPr/>
          <p:nvPr/>
        </p:nvSpPr>
        <p:spPr>
          <a:xfrm>
            <a:off x="4123944" y="5074920"/>
            <a:ext cx="1920240" cy="329184"/>
          </a:xfrm>
          <a:prstGeom prst="roundRect">
            <a:avLst>
              <a:gd name="adj" fmla="val 38889"/>
            </a:avLst>
          </a:prstGeom>
          <a:solidFill>
            <a:srgbClr val="FFFFFF"/>
          </a:solidFill>
          <a:ln w="9525">
            <a:solidFill>
              <a:srgbClr val="D7E2F8"/>
            </a:solidFill>
          </a:ln>
        </p:spPr>
        <p:txBody>
          <a:bodyPr wrap="square" lIns="0" tIns="0" rIns="0" bIns="0" rtlCol="0" anchor="ctr"/>
          <a:lstStyle/>
          <a:p>
            <a:pPr algn="ctr" indent="0" marL="0">
              <a:buNone/>
            </a:pPr>
            <a:r>
              <a:rPr lang="en-US" sz="950" b="1" dirty="0">
                <a:solidFill>
                  <a:srgbClr val="1A4FD8"/>
                </a:solidFill>
                <a:latin typeface="Malgun Gothic" pitchFamily="34" charset="0"/>
                <a:ea typeface="Malgun Gothic" pitchFamily="34" charset="-122"/>
                <a:cs typeface="Malgun Gothic" pitchFamily="34" charset="-120"/>
              </a:rPr>
              <a:t>멱등 skip (재호출 금지)</a:t>
            </a:r>
            <a:endParaRPr lang="en-US" sz="950" dirty="0"/>
          </a:p>
        </p:txBody>
      </p:sp>
      <p:sp>
        <p:nvSpPr>
          <p:cNvPr id="33" name="Text 31"/>
          <p:cNvSpPr/>
          <p:nvPr/>
        </p:nvSpPr>
        <p:spPr>
          <a:xfrm>
            <a:off x="6208776" y="5074920"/>
            <a:ext cx="1325880" cy="329184"/>
          </a:xfrm>
          <a:prstGeom prst="roundRect">
            <a:avLst>
              <a:gd name="adj" fmla="val 38889"/>
            </a:avLst>
          </a:prstGeom>
          <a:solidFill>
            <a:srgbClr val="FFFFFF"/>
          </a:solidFill>
          <a:ln w="9525">
            <a:solidFill>
              <a:srgbClr val="D7E2F8"/>
            </a:solidFill>
          </a:ln>
        </p:spPr>
        <p:txBody>
          <a:bodyPr wrap="square" lIns="0" tIns="0" rIns="0" bIns="0" rtlCol="0" anchor="ctr"/>
          <a:lstStyle/>
          <a:p>
            <a:pPr algn="ctr" indent="0" marL="0">
              <a:buNone/>
            </a:pPr>
            <a:r>
              <a:rPr lang="en-US" sz="950" b="1" dirty="0">
                <a:solidFill>
                  <a:srgbClr val="1A4FD8"/>
                </a:solidFill>
                <a:latin typeface="Malgun Gothic" pitchFamily="34" charset="0"/>
                <a:ea typeface="Malgun Gothic" pitchFamily="34" charset="-122"/>
                <a:cs typeface="Malgun Gothic" pitchFamily="34" charset="-120"/>
              </a:rPr>
              <a:t>재시도 백오프</a:t>
            </a:r>
            <a:endParaRPr lang="en-US" sz="950" dirty="0"/>
          </a:p>
        </p:txBody>
      </p:sp>
      <p:sp>
        <p:nvSpPr>
          <p:cNvPr id="34" name="Text 32"/>
          <p:cNvSpPr/>
          <p:nvPr/>
        </p:nvSpPr>
        <p:spPr>
          <a:xfrm>
            <a:off x="7699248" y="5074920"/>
            <a:ext cx="1600200" cy="329184"/>
          </a:xfrm>
          <a:prstGeom prst="roundRect">
            <a:avLst>
              <a:gd name="adj" fmla="val 38889"/>
            </a:avLst>
          </a:prstGeom>
          <a:solidFill>
            <a:srgbClr val="FFFFFF"/>
          </a:solidFill>
          <a:ln w="9525">
            <a:solidFill>
              <a:srgbClr val="D7E2F8"/>
            </a:solidFill>
          </a:ln>
        </p:spPr>
        <p:txBody>
          <a:bodyPr wrap="square" lIns="0" tIns="0" rIns="0" bIns="0" rtlCol="0" anchor="ctr"/>
          <a:lstStyle/>
          <a:p>
            <a:pPr algn="ctr" indent="0" marL="0">
              <a:buNone/>
            </a:pPr>
            <a:r>
              <a:rPr lang="en-US" sz="950" b="1" dirty="0">
                <a:solidFill>
                  <a:srgbClr val="1A4FD8"/>
                </a:solidFill>
                <a:latin typeface="Malgun Gothic" pitchFamily="34" charset="0"/>
                <a:ea typeface="Malgun Gothic" pitchFamily="34" charset="-122"/>
                <a:cs typeface="Malgun Gothic" pitchFamily="34" charset="-120"/>
              </a:rPr>
              <a:t>API 키 로그 금지</a:t>
            </a:r>
            <a:endParaRPr lang="en-US" sz="950" dirty="0"/>
          </a:p>
        </p:txBody>
      </p:sp>
      <p:sp>
        <p:nvSpPr>
          <p:cNvPr id="35" name="Text 33"/>
          <p:cNvSpPr/>
          <p:nvPr/>
        </p:nvSpPr>
        <p:spPr>
          <a:xfrm>
            <a:off x="548640" y="5806440"/>
            <a:ext cx="11091672"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자동화: 뉴스 수집·요약 cron 매일 12:17 KST  ·  KIS 구성종목 cron 매주 월 03:00 KST  ·  원본은 Git 미커밋(명령으로 재생성)</a:t>
            </a:r>
            <a:endParaRPr lang="en-US" sz="950" dirty="0"/>
          </a:p>
        </p:txBody>
      </p:sp>
      <p:sp>
        <p:nvSpPr>
          <p:cNvPr id="36" name="Text 34"/>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06 · 데이터 — 전처리 · 파생 변수</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가격을 '총수익'으로 — 추정 대신 제외</a:t>
            </a:r>
            <a:endParaRPr lang="en-US" sz="2800" dirty="0"/>
          </a:p>
        </p:txBody>
      </p:sp>
      <p:sp>
        <p:nvSpPr>
          <p:cNvPr id="4" name="Shape 2"/>
          <p:cNvSpPr/>
          <p:nvPr/>
        </p:nvSpPr>
        <p:spPr>
          <a:xfrm>
            <a:off x="548640" y="1463040"/>
            <a:ext cx="5394960" cy="932688"/>
          </a:xfrm>
          <a:prstGeom prst="roundRect">
            <a:avLst>
              <a:gd name="adj" fmla="val 8824"/>
            </a:avLst>
          </a:prstGeom>
          <a:solidFill>
            <a:srgbClr val="FFFFFF"/>
          </a:solidFill>
          <a:ln w="12700">
            <a:solidFill>
              <a:srgbClr val="D9E0EC"/>
            </a:solidFill>
            <a:prstDash val="solid"/>
          </a:ln>
        </p:spPr>
      </p:sp>
      <p:sp>
        <p:nvSpPr>
          <p:cNvPr id="5" name="Shape 3"/>
          <p:cNvSpPr/>
          <p:nvPr/>
        </p:nvSpPr>
        <p:spPr>
          <a:xfrm>
            <a:off x="676656" y="1591056"/>
            <a:ext cx="274320" cy="274320"/>
          </a:xfrm>
          <a:prstGeom prst="ellipse">
            <a:avLst/>
          </a:prstGeom>
          <a:solidFill>
            <a:srgbClr val="1A4FD8"/>
          </a:solidFill>
          <a:ln/>
        </p:spPr>
      </p:sp>
      <p:sp>
        <p:nvSpPr>
          <p:cNvPr id="6" name="Text 4"/>
          <p:cNvSpPr/>
          <p:nvPr/>
        </p:nvSpPr>
        <p:spPr>
          <a:xfrm>
            <a:off x="676656" y="159105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7" name="Text 5"/>
          <p:cNvSpPr/>
          <p:nvPr/>
        </p:nvSpPr>
        <p:spPr>
          <a:xfrm>
            <a:off x="1024128" y="1572768"/>
            <a:ext cx="4828032"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수정주가 우선</a:t>
            </a:r>
            <a:endParaRPr lang="en-US" sz="1150" dirty="0"/>
          </a:p>
        </p:txBody>
      </p:sp>
      <p:sp>
        <p:nvSpPr>
          <p:cNvPr id="8" name="Text 6"/>
          <p:cNvSpPr/>
          <p:nvPr/>
        </p:nvSpPr>
        <p:spPr>
          <a:xfrm>
            <a:off x="694944" y="1920240"/>
            <a:ext cx="5102352" cy="384048"/>
          </a:xfrm>
          <a:prstGeom prst="rect">
            <a:avLst/>
          </a:prstGeom>
          <a:noFill/>
          <a:ln/>
        </p:spPr>
        <p:txBody>
          <a:bodyPr wrap="square" lIns="0" tIns="0" rIns="0" bIns="0" rtlCol="0" anchor="t"/>
          <a:lstStyle/>
          <a:p>
            <a:pPr indent="0" marL="0">
              <a:buNone/>
            </a:pPr>
            <a:r>
              <a:rPr lang="en-US" sz="920" dirty="0">
                <a:solidFill>
                  <a:srgbClr val="5A6474"/>
                </a:solidFill>
                <a:latin typeface="Malgun Gothic" pitchFamily="34" charset="0"/>
                <a:ea typeface="Malgun Gothic" pitchFamily="34" charset="-122"/>
                <a:cs typeface="Malgun Gothic" pitchFamily="34" charset="-120"/>
              </a:rPr>
              <a:t>적격 861개는 한투 수정종가 사용 · 폴백 84개는 출처를 결과에 표기</a:t>
            </a:r>
            <a:endParaRPr lang="en-US" sz="920" dirty="0"/>
          </a:p>
        </p:txBody>
      </p:sp>
      <p:sp>
        <p:nvSpPr>
          <p:cNvPr id="9" name="Shape 7"/>
          <p:cNvSpPr/>
          <p:nvPr/>
        </p:nvSpPr>
        <p:spPr>
          <a:xfrm>
            <a:off x="548640" y="2542032"/>
            <a:ext cx="5394960" cy="932688"/>
          </a:xfrm>
          <a:prstGeom prst="roundRect">
            <a:avLst>
              <a:gd name="adj" fmla="val 8824"/>
            </a:avLst>
          </a:prstGeom>
          <a:solidFill>
            <a:srgbClr val="FFFFFF"/>
          </a:solidFill>
          <a:ln w="12700">
            <a:solidFill>
              <a:srgbClr val="D9E0EC"/>
            </a:solidFill>
            <a:prstDash val="solid"/>
          </a:ln>
        </p:spPr>
      </p:sp>
      <p:sp>
        <p:nvSpPr>
          <p:cNvPr id="10" name="Shape 8"/>
          <p:cNvSpPr/>
          <p:nvPr/>
        </p:nvSpPr>
        <p:spPr>
          <a:xfrm>
            <a:off x="676656" y="2670048"/>
            <a:ext cx="274320" cy="274320"/>
          </a:xfrm>
          <a:prstGeom prst="ellipse">
            <a:avLst/>
          </a:prstGeom>
          <a:solidFill>
            <a:srgbClr val="1A4FD8"/>
          </a:solidFill>
          <a:ln/>
        </p:spPr>
      </p:sp>
      <p:sp>
        <p:nvSpPr>
          <p:cNvPr id="11" name="Text 9"/>
          <p:cNvSpPr/>
          <p:nvPr/>
        </p:nvSpPr>
        <p:spPr>
          <a:xfrm>
            <a:off x="676656" y="26700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12" name="Text 10"/>
          <p:cNvSpPr/>
          <p:nvPr/>
        </p:nvSpPr>
        <p:spPr>
          <a:xfrm>
            <a:off x="1024128" y="2651760"/>
            <a:ext cx="4828032"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분배락 정확 연결</a:t>
            </a:r>
            <a:endParaRPr lang="en-US" sz="1150" dirty="0"/>
          </a:p>
        </p:txBody>
      </p:sp>
      <p:sp>
        <p:nvSpPr>
          <p:cNvPr id="13" name="Text 11"/>
          <p:cNvSpPr/>
          <p:nvPr/>
        </p:nvSpPr>
        <p:spPr>
          <a:xfrm>
            <a:off x="694944" y="2999232"/>
            <a:ext cx="5102352" cy="384048"/>
          </a:xfrm>
          <a:prstGeom prst="rect">
            <a:avLst/>
          </a:prstGeom>
          <a:noFill/>
          <a:ln/>
        </p:spPr>
        <p:txBody>
          <a:bodyPr wrap="square" lIns="0" tIns="0" rIns="0" bIns="0" rtlCol="0" anchor="t"/>
          <a:lstStyle/>
          <a:p>
            <a:pPr indent="0" marL="0">
              <a:buNone/>
            </a:pPr>
            <a:r>
              <a:rPr lang="en-US" sz="920" dirty="0">
                <a:solidFill>
                  <a:srgbClr val="5A6474"/>
                </a:solidFill>
                <a:latin typeface="Malgun Gothic" pitchFamily="34" charset="0"/>
                <a:ea typeface="Malgun Gothic" pitchFamily="34" charset="-122"/>
                <a:cs typeface="Malgun Gothic" pitchFamily="34" charset="-120"/>
              </a:rPr>
              <a:t>8,048건 중 8,029건 정확 연결 · 대체 19건은 사유 명시 (은폐 금지)</a:t>
            </a:r>
            <a:endParaRPr lang="en-US" sz="920" dirty="0"/>
          </a:p>
        </p:txBody>
      </p:sp>
      <p:sp>
        <p:nvSpPr>
          <p:cNvPr id="14" name="Shape 12"/>
          <p:cNvSpPr/>
          <p:nvPr/>
        </p:nvSpPr>
        <p:spPr>
          <a:xfrm>
            <a:off x="548640" y="3621024"/>
            <a:ext cx="5394960" cy="932688"/>
          </a:xfrm>
          <a:prstGeom prst="roundRect">
            <a:avLst>
              <a:gd name="adj" fmla="val 8824"/>
            </a:avLst>
          </a:prstGeom>
          <a:solidFill>
            <a:srgbClr val="FFFFFF"/>
          </a:solidFill>
          <a:ln w="12700">
            <a:solidFill>
              <a:srgbClr val="D9E0EC"/>
            </a:solidFill>
            <a:prstDash val="solid"/>
          </a:ln>
        </p:spPr>
      </p:sp>
      <p:sp>
        <p:nvSpPr>
          <p:cNvPr id="15" name="Shape 13"/>
          <p:cNvSpPr/>
          <p:nvPr/>
        </p:nvSpPr>
        <p:spPr>
          <a:xfrm>
            <a:off x="676656" y="3749040"/>
            <a:ext cx="274320" cy="274320"/>
          </a:xfrm>
          <a:prstGeom prst="ellipse">
            <a:avLst/>
          </a:prstGeom>
          <a:solidFill>
            <a:srgbClr val="1A4FD8"/>
          </a:solidFill>
          <a:ln/>
        </p:spPr>
      </p:sp>
      <p:sp>
        <p:nvSpPr>
          <p:cNvPr id="16" name="Text 14"/>
          <p:cNvSpPr/>
          <p:nvPr/>
        </p:nvSpPr>
        <p:spPr>
          <a:xfrm>
            <a:off x="676656" y="37490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17" name="Text 15"/>
          <p:cNvSpPr/>
          <p:nvPr/>
        </p:nvSpPr>
        <p:spPr>
          <a:xfrm>
            <a:off x="1024128" y="3730752"/>
            <a:ext cx="4828032"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총수익(TR) 지수화</a:t>
            </a:r>
            <a:endParaRPr lang="en-US" sz="1150" dirty="0"/>
          </a:p>
        </p:txBody>
      </p:sp>
      <p:sp>
        <p:nvSpPr>
          <p:cNvPr id="18" name="Text 16"/>
          <p:cNvSpPr/>
          <p:nvPr/>
        </p:nvSpPr>
        <p:spPr>
          <a:xfrm>
            <a:off x="694944" y="4078224"/>
            <a:ext cx="5102352" cy="384048"/>
          </a:xfrm>
          <a:prstGeom prst="rect">
            <a:avLst/>
          </a:prstGeom>
          <a:noFill/>
          <a:ln/>
        </p:spPr>
        <p:txBody>
          <a:bodyPr wrap="square" lIns="0" tIns="0" rIns="0" bIns="0" rtlCol="0" anchor="t"/>
          <a:lstStyle/>
          <a:p>
            <a:pPr indent="0" marL="0">
              <a:buNone/>
            </a:pPr>
            <a:r>
              <a:rPr lang="en-US" sz="920" dirty="0">
                <a:solidFill>
                  <a:srgbClr val="5A6474"/>
                </a:solidFill>
                <a:latin typeface="Malgun Gothic" pitchFamily="34" charset="0"/>
                <a:ea typeface="Malgun Gothic" pitchFamily="34" charset="-122"/>
                <a:cs typeface="Malgun Gothic" pitchFamily="34" charset="-120"/>
              </a:rPr>
              <a:t>일별 계수 = (종가 + 분배금) ÷ 직전 종가 → 누적곱 − 1 (재투자 가정)</a:t>
            </a:r>
            <a:endParaRPr lang="en-US" sz="920" dirty="0"/>
          </a:p>
        </p:txBody>
      </p:sp>
      <p:sp>
        <p:nvSpPr>
          <p:cNvPr id="19" name="Shape 17"/>
          <p:cNvSpPr/>
          <p:nvPr/>
        </p:nvSpPr>
        <p:spPr>
          <a:xfrm>
            <a:off x="548640" y="4700016"/>
            <a:ext cx="5394960" cy="932688"/>
          </a:xfrm>
          <a:prstGeom prst="roundRect">
            <a:avLst>
              <a:gd name="adj" fmla="val 8824"/>
            </a:avLst>
          </a:prstGeom>
          <a:solidFill>
            <a:srgbClr val="FFFFFF"/>
          </a:solidFill>
          <a:ln w="12700">
            <a:solidFill>
              <a:srgbClr val="D9E0EC"/>
            </a:solidFill>
            <a:prstDash val="solid"/>
          </a:ln>
        </p:spPr>
      </p:sp>
      <p:sp>
        <p:nvSpPr>
          <p:cNvPr id="20" name="Shape 18"/>
          <p:cNvSpPr/>
          <p:nvPr/>
        </p:nvSpPr>
        <p:spPr>
          <a:xfrm>
            <a:off x="676656" y="4828032"/>
            <a:ext cx="274320" cy="274320"/>
          </a:xfrm>
          <a:prstGeom prst="ellipse">
            <a:avLst/>
          </a:prstGeom>
          <a:solidFill>
            <a:srgbClr val="1A4FD8"/>
          </a:solidFill>
          <a:ln/>
        </p:spPr>
      </p:sp>
      <p:sp>
        <p:nvSpPr>
          <p:cNvPr id="21" name="Text 19"/>
          <p:cNvSpPr/>
          <p:nvPr/>
        </p:nvSpPr>
        <p:spPr>
          <a:xfrm>
            <a:off x="676656" y="48280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22" name="Text 20"/>
          <p:cNvSpPr/>
          <p:nvPr/>
        </p:nvSpPr>
        <p:spPr>
          <a:xfrm>
            <a:off x="1024128" y="4809744"/>
            <a:ext cx="4828032"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결측 = 제외 · 표기</a:t>
            </a:r>
            <a:endParaRPr lang="en-US" sz="1150" dirty="0"/>
          </a:p>
        </p:txBody>
      </p:sp>
      <p:sp>
        <p:nvSpPr>
          <p:cNvPr id="23" name="Text 21"/>
          <p:cNvSpPr/>
          <p:nvPr/>
        </p:nvSpPr>
        <p:spPr>
          <a:xfrm>
            <a:off x="694944" y="5157216"/>
            <a:ext cx="5102352" cy="384048"/>
          </a:xfrm>
          <a:prstGeom prst="rect">
            <a:avLst/>
          </a:prstGeom>
          <a:noFill/>
          <a:ln/>
        </p:spPr>
        <p:txBody>
          <a:bodyPr wrap="square" lIns="0" tIns="0" rIns="0" bIns="0" rtlCol="0" anchor="t"/>
          <a:lstStyle/>
          <a:p>
            <a:pPr indent="0" marL="0">
              <a:buNone/>
            </a:pPr>
            <a:r>
              <a:rPr lang="en-US" sz="920" dirty="0">
                <a:solidFill>
                  <a:srgbClr val="5A6474"/>
                </a:solidFill>
                <a:latin typeface="Malgun Gothic" pitchFamily="34" charset="0"/>
                <a:ea typeface="Malgun Gothic" pitchFamily="34" charset="-122"/>
                <a:cs typeface="Malgun Gothic" pitchFamily="34" charset="-120"/>
              </a:rPr>
              <a:t>관측 부족은 미산출 표기 · 총보수 없는 38개는 0점 — 추정으로 메우지 않음</a:t>
            </a:r>
            <a:endParaRPr lang="en-US" sz="920" dirty="0"/>
          </a:p>
        </p:txBody>
      </p:sp>
      <p:sp>
        <p:nvSpPr>
          <p:cNvPr id="24" name="Text 22"/>
          <p:cNvSpPr/>
          <p:nvPr/>
        </p:nvSpPr>
        <p:spPr>
          <a:xfrm>
            <a:off x="548640" y="5870448"/>
            <a:ext cx="5486400" cy="256032"/>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기간(거래일): 1M=21 · 3M=63 · 6M=126 · 1Y=252 · 2Y=504 · 3Y=756 · 5Y=1,260</a:t>
            </a:r>
            <a:endParaRPr lang="en-US" sz="900" dirty="0"/>
          </a:p>
        </p:txBody>
      </p:sp>
      <p:sp>
        <p:nvSpPr>
          <p:cNvPr id="25" name="Text 23"/>
          <p:cNvSpPr/>
          <p:nvPr/>
        </p:nvSpPr>
        <p:spPr>
          <a:xfrm>
            <a:off x="6263640" y="1463040"/>
            <a:ext cx="512064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ETF 품질점수 가중치 (0~100)</a:t>
            </a:r>
            <a:endParaRPr lang="en-US" sz="1250" dirty="0"/>
          </a:p>
        </p:txBody>
      </p:sp>
      <p:graphicFrame>
        <p:nvGraphicFramePr>
          <p:cNvPr id="26" name="Chart 0" descr=""/>
          <p:cNvGraphicFramePr/>
          <p:nvPr/>
        </p:nvGraphicFramePr>
        <p:xfrm>
          <a:off x="6263640" y="178308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27" name="Shape 24"/>
          <p:cNvSpPr/>
          <p:nvPr/>
        </p:nvSpPr>
        <p:spPr>
          <a:xfrm>
            <a:off x="6263640" y="4800600"/>
            <a:ext cx="5120640" cy="914400"/>
          </a:xfrm>
          <a:prstGeom prst="roundRect">
            <a:avLst>
              <a:gd name="adj" fmla="val 9000"/>
            </a:avLst>
          </a:prstGeom>
          <a:solidFill>
            <a:srgbClr val="E6F3EA"/>
          </a:solidFill>
          <a:ln/>
        </p:spPr>
      </p:sp>
      <p:sp>
        <p:nvSpPr>
          <p:cNvPr id="28" name="Text 25"/>
          <p:cNvSpPr/>
          <p:nvPr/>
        </p:nvSpPr>
        <p:spPr>
          <a:xfrm>
            <a:off x="6446520" y="4800600"/>
            <a:ext cx="4754880" cy="914400"/>
          </a:xfrm>
          <a:prstGeom prst="rect">
            <a:avLst/>
          </a:prstGeom>
          <a:noFill/>
          <a:ln/>
        </p:spPr>
        <p:txBody>
          <a:bodyPr wrap="square" lIns="0" tIns="0" rIns="0" bIns="0" rtlCol="0" anchor="ctr"/>
          <a:lstStyle/>
          <a:p>
            <a:pPr indent="0" marL="0">
              <a:buNone/>
            </a:pPr>
            <a:r>
              <a:rPr lang="en-US" sz="1150" b="1" dirty="0">
                <a:solidFill>
                  <a:srgbClr val="1E8A4C"/>
                </a:solidFill>
                <a:latin typeface="Malgun Gothic" pitchFamily="34" charset="0"/>
                <a:ea typeface="Malgun Gothic" pitchFamily="34" charset="-122"/>
                <a:cs typeface="Malgun Gothic" pitchFamily="34" charset="-120"/>
              </a:rPr>
              <a:t>과거수익률은 랭킹에 쓰지 않는다 </a:t>
            </a:r>
            <a:pPr indent="0" marL="0">
              <a:buNone/>
            </a:pPr>
            <a:r>
              <a:rPr lang="en-US" sz="1050" dirty="0">
                <a:solidFill>
                  <a:srgbClr val="18202E"/>
                </a:solidFill>
                <a:latin typeface="Malgun Gothic" pitchFamily="34" charset="0"/>
                <a:ea typeface="Malgun Gothic" pitchFamily="34" charset="-122"/>
                <a:cs typeface="Malgun Gothic" pitchFamily="34" charset="-120"/>
              </a:rPr>
              <a:t>— “수익률 순위표”가 아니라는 컴플라이언스 방어. 후보 간 상관 0.75 초과는 페널티.</a:t>
            </a:r>
            <a:endParaRPr lang="en-US" sz="1150" dirty="0"/>
          </a:p>
        </p:txBody>
      </p:sp>
      <p:sp>
        <p:nvSpPr>
          <p:cNvPr id="29" name="Text 26"/>
          <p:cNvSpPr/>
          <p:nvPr/>
        </p:nvSpPr>
        <p:spPr>
          <a:xfrm>
            <a:off x="6263640" y="5870448"/>
            <a:ext cx="5120640" cy="256032"/>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뉴스도 동일 원칙 — 선별점수 100점제 70점 컷 · 요약 숫자는 원문의 부분집합만 허용</a:t>
            </a:r>
            <a:endParaRPr lang="en-US" sz="900" dirty="0"/>
          </a:p>
        </p:txBody>
      </p:sp>
      <p:sp>
        <p:nvSpPr>
          <p:cNvPr id="30" name="Text 27"/>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07 · AI 모델링 — 파이프라인</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근거 없는 숫자는, 답변이 되지 못한다</a:t>
            </a:r>
            <a:endParaRPr lang="en-US" sz="2800" dirty="0"/>
          </a:p>
        </p:txBody>
      </p:sp>
      <p:sp>
        <p:nvSpPr>
          <p:cNvPr id="4" name="Shape 2"/>
          <p:cNvSpPr/>
          <p:nvPr/>
        </p:nvSpPr>
        <p:spPr>
          <a:xfrm>
            <a:off x="548640" y="1600200"/>
            <a:ext cx="1700784" cy="1298448"/>
          </a:xfrm>
          <a:prstGeom prst="roundRect">
            <a:avLst>
              <a:gd name="adj" fmla="val 6338"/>
            </a:avLst>
          </a:prstGeom>
          <a:solidFill>
            <a:srgbClr val="F7F9FE"/>
          </a:solidFill>
          <a:ln w="12700">
            <a:solidFill>
              <a:srgbClr val="D9E0EC"/>
            </a:solidFill>
            <a:prstDash val="solid"/>
          </a:ln>
        </p:spPr>
      </p:sp>
      <p:sp>
        <p:nvSpPr>
          <p:cNvPr id="5" name="Text 3"/>
          <p:cNvSpPr/>
          <p:nvPr/>
        </p:nvSpPr>
        <p:spPr>
          <a:xfrm>
            <a:off x="640080" y="1719072"/>
            <a:ext cx="1517904" cy="475488"/>
          </a:xfrm>
          <a:prstGeom prst="rect">
            <a:avLst/>
          </a:prstGeom>
          <a:noFill/>
          <a:ln/>
        </p:spPr>
        <p:txBody>
          <a:bodyPr wrap="square" lIns="0" tIns="0" rIns="0" bIns="0" rtlCol="0" anchor="t"/>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질문</a:t>
            </a:r>
            <a:endParaRPr lang="en-US" sz="1150" dirty="0"/>
          </a:p>
        </p:txBody>
      </p:sp>
      <p:sp>
        <p:nvSpPr>
          <p:cNvPr id="6" name="Text 4"/>
          <p:cNvSpPr/>
          <p:nvPr/>
        </p:nvSpPr>
        <p:spPr>
          <a:xfrm>
            <a:off x="640080" y="2212848"/>
            <a:ext cx="1517904" cy="621792"/>
          </a:xfrm>
          <a:prstGeom prst="rect">
            <a:avLst/>
          </a:prstGeom>
          <a:noFill/>
          <a:ln/>
        </p:spPr>
        <p:txBody>
          <a:bodyPr wrap="square" lIns="0" tIns="0" rIns="0" bIns="0" rtlCol="0" anchor="t"/>
          <a:lstStyle/>
          <a:p>
            <a:pPr indent="0" marL="0">
              <a:buNone/>
            </a:pPr>
            <a:r>
              <a:rPr lang="en-US" sz="860" dirty="0">
                <a:solidFill>
                  <a:srgbClr val="5A6474"/>
                </a:solidFill>
                <a:latin typeface="Malgun Gothic" pitchFamily="34" charset="0"/>
                <a:ea typeface="Malgun Gothic" pitchFamily="34" charset="-122"/>
                <a:cs typeface="Malgun Gothic" pitchFamily="34" charset="-120"/>
              </a:rPr>
              <a:t>자연어 입력</a:t>
            </a:r>
            <a:endParaRPr lang="en-US" sz="860" dirty="0"/>
          </a:p>
        </p:txBody>
      </p:sp>
      <p:sp>
        <p:nvSpPr>
          <p:cNvPr id="7" name="Text 5"/>
          <p:cNvSpPr/>
          <p:nvPr/>
        </p:nvSpPr>
        <p:spPr>
          <a:xfrm>
            <a:off x="2208276" y="2121408"/>
            <a:ext cx="256032" cy="274320"/>
          </a:xfrm>
          <a:prstGeom prst="rect">
            <a:avLst/>
          </a:prstGeom>
          <a:noFill/>
          <a:ln/>
        </p:spPr>
        <p:txBody>
          <a:bodyPr wrap="square" lIns="0" tIns="0" rIns="0" bIns="0" rtlCol="0" anchor="ctr"/>
          <a:lstStyle/>
          <a:p>
            <a:pPr algn="ctr" indent="0" marL="0">
              <a:buNone/>
            </a:pPr>
            <a:r>
              <a:rPr lang="en-US" sz="1200" b="1" dirty="0">
                <a:solidFill>
                  <a:srgbClr val="9AA3B2"/>
                </a:solidFill>
                <a:latin typeface="Malgun Gothic" pitchFamily="34" charset="0"/>
                <a:ea typeface="Malgun Gothic" pitchFamily="34" charset="-122"/>
                <a:cs typeface="Malgun Gothic" pitchFamily="34" charset="-120"/>
              </a:rPr>
              <a:t>→</a:t>
            </a:r>
            <a:endParaRPr lang="en-US" sz="1200" dirty="0"/>
          </a:p>
        </p:txBody>
      </p:sp>
      <p:sp>
        <p:nvSpPr>
          <p:cNvPr id="8" name="Shape 6"/>
          <p:cNvSpPr/>
          <p:nvPr/>
        </p:nvSpPr>
        <p:spPr>
          <a:xfrm>
            <a:off x="2423160" y="1600200"/>
            <a:ext cx="1700784" cy="1298448"/>
          </a:xfrm>
          <a:prstGeom prst="roundRect">
            <a:avLst>
              <a:gd name="adj" fmla="val 6338"/>
            </a:avLst>
          </a:prstGeom>
          <a:solidFill>
            <a:srgbClr val="F7F9FE"/>
          </a:solidFill>
          <a:ln w="12700">
            <a:solidFill>
              <a:srgbClr val="D9E0EC"/>
            </a:solidFill>
            <a:prstDash val="solid"/>
          </a:ln>
        </p:spPr>
      </p:sp>
      <p:sp>
        <p:nvSpPr>
          <p:cNvPr id="9" name="Text 7"/>
          <p:cNvSpPr/>
          <p:nvPr/>
        </p:nvSpPr>
        <p:spPr>
          <a:xfrm>
            <a:off x="2514600" y="1719072"/>
            <a:ext cx="1517904" cy="475488"/>
          </a:xfrm>
          <a:prstGeom prst="rect">
            <a:avLst/>
          </a:prstGeom>
          <a:noFill/>
          <a:ln/>
        </p:spPr>
        <p:txBody>
          <a:bodyPr wrap="square" lIns="0" tIns="0" rIns="0" bIns="0" rtlCol="0" anchor="t"/>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가드레일</a:t>
            </a:r>
            <a:endParaRPr lang="en-US" sz="1150" dirty="0"/>
          </a:p>
        </p:txBody>
      </p:sp>
      <p:sp>
        <p:nvSpPr>
          <p:cNvPr id="10" name="Text 8"/>
          <p:cNvSpPr/>
          <p:nvPr/>
        </p:nvSpPr>
        <p:spPr>
          <a:xfrm>
            <a:off x="2514600" y="2212848"/>
            <a:ext cx="1517904" cy="621792"/>
          </a:xfrm>
          <a:prstGeom prst="rect">
            <a:avLst/>
          </a:prstGeom>
          <a:noFill/>
          <a:ln/>
        </p:spPr>
        <p:txBody>
          <a:bodyPr wrap="square" lIns="0" tIns="0" rIns="0" bIns="0" rtlCol="0" anchor="t"/>
          <a:lstStyle/>
          <a:p>
            <a:pPr indent="0" marL="0">
              <a:buNone/>
            </a:pPr>
            <a:r>
              <a:rPr lang="en-US" sz="860" dirty="0">
                <a:solidFill>
                  <a:srgbClr val="5A6474"/>
                </a:solidFill>
                <a:latin typeface="Malgun Gothic" pitchFamily="34" charset="0"/>
                <a:ea typeface="Malgun Gothic" pitchFamily="34" charset="-122"/>
                <a:cs typeface="Malgun Gothic" pitchFamily="34" charset="-120"/>
              </a:rPr>
              <a:t>민감정보 · 주문 · 미래예측 차단</a:t>
            </a:r>
            <a:endParaRPr lang="en-US" sz="860" dirty="0"/>
          </a:p>
        </p:txBody>
      </p:sp>
      <p:sp>
        <p:nvSpPr>
          <p:cNvPr id="11" name="Text 9"/>
          <p:cNvSpPr/>
          <p:nvPr/>
        </p:nvSpPr>
        <p:spPr>
          <a:xfrm>
            <a:off x="4082796" y="2121408"/>
            <a:ext cx="256032" cy="274320"/>
          </a:xfrm>
          <a:prstGeom prst="rect">
            <a:avLst/>
          </a:prstGeom>
          <a:noFill/>
          <a:ln/>
        </p:spPr>
        <p:txBody>
          <a:bodyPr wrap="square" lIns="0" tIns="0" rIns="0" bIns="0" rtlCol="0" anchor="ctr"/>
          <a:lstStyle/>
          <a:p>
            <a:pPr algn="ctr" indent="0" marL="0">
              <a:buNone/>
            </a:pPr>
            <a:r>
              <a:rPr lang="en-US" sz="1200" b="1" dirty="0">
                <a:solidFill>
                  <a:srgbClr val="9AA3B2"/>
                </a:solidFill>
                <a:latin typeface="Malgun Gothic" pitchFamily="34" charset="0"/>
                <a:ea typeface="Malgun Gothic" pitchFamily="34" charset="-122"/>
                <a:cs typeface="Malgun Gothic" pitchFamily="34" charset="-120"/>
              </a:rPr>
              <a:t>→</a:t>
            </a:r>
            <a:endParaRPr lang="en-US" sz="1200" dirty="0"/>
          </a:p>
        </p:txBody>
      </p:sp>
      <p:sp>
        <p:nvSpPr>
          <p:cNvPr id="12" name="Shape 10"/>
          <p:cNvSpPr/>
          <p:nvPr/>
        </p:nvSpPr>
        <p:spPr>
          <a:xfrm>
            <a:off x="4297680" y="1600200"/>
            <a:ext cx="1700784" cy="1298448"/>
          </a:xfrm>
          <a:prstGeom prst="roundRect">
            <a:avLst>
              <a:gd name="adj" fmla="val 6338"/>
            </a:avLst>
          </a:prstGeom>
          <a:solidFill>
            <a:srgbClr val="F7F9FE"/>
          </a:solidFill>
          <a:ln w="12700">
            <a:solidFill>
              <a:srgbClr val="D9E0EC"/>
            </a:solidFill>
            <a:prstDash val="solid"/>
          </a:ln>
        </p:spPr>
      </p:sp>
      <p:sp>
        <p:nvSpPr>
          <p:cNvPr id="13" name="Text 11"/>
          <p:cNvSpPr/>
          <p:nvPr/>
        </p:nvSpPr>
        <p:spPr>
          <a:xfrm>
            <a:off x="4389120" y="1719072"/>
            <a:ext cx="1517904" cy="475488"/>
          </a:xfrm>
          <a:prstGeom prst="rect">
            <a:avLst/>
          </a:prstGeom>
          <a:noFill/>
          <a:ln/>
        </p:spPr>
        <p:txBody>
          <a:bodyPr wrap="square" lIns="0" tIns="0" rIns="0" bIns="0" rtlCol="0" anchor="t"/>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8-인텐트 라우팅</a:t>
            </a:r>
            <a:endParaRPr lang="en-US" sz="1150" dirty="0"/>
          </a:p>
        </p:txBody>
      </p:sp>
      <p:sp>
        <p:nvSpPr>
          <p:cNvPr id="14" name="Text 12"/>
          <p:cNvSpPr/>
          <p:nvPr/>
        </p:nvSpPr>
        <p:spPr>
          <a:xfrm>
            <a:off x="4389120" y="2212848"/>
            <a:ext cx="1517904" cy="621792"/>
          </a:xfrm>
          <a:prstGeom prst="rect">
            <a:avLst/>
          </a:prstGeom>
          <a:noFill/>
          <a:ln/>
        </p:spPr>
        <p:txBody>
          <a:bodyPr wrap="square" lIns="0" tIns="0" rIns="0" bIns="0" rtlCol="0" anchor="t"/>
          <a:lstStyle/>
          <a:p>
            <a:pPr indent="0" marL="0">
              <a:buNone/>
            </a:pPr>
            <a:r>
              <a:rPr lang="en-US" sz="860" dirty="0">
                <a:solidFill>
                  <a:srgbClr val="5A6474"/>
                </a:solidFill>
                <a:latin typeface="Malgun Gothic" pitchFamily="34" charset="0"/>
                <a:ea typeface="Malgun Gothic" pitchFamily="34" charset="-122"/>
                <a:cs typeface="Malgun Gothic" pitchFamily="34" charset="-120"/>
              </a:rPr>
              <a:t>계좌규칙 · 세액 · 뉴스 · 포트폴리오 …</a:t>
            </a:r>
            <a:endParaRPr lang="en-US" sz="860" dirty="0"/>
          </a:p>
        </p:txBody>
      </p:sp>
      <p:sp>
        <p:nvSpPr>
          <p:cNvPr id="15" name="Text 13"/>
          <p:cNvSpPr/>
          <p:nvPr/>
        </p:nvSpPr>
        <p:spPr>
          <a:xfrm>
            <a:off x="5957316" y="2121408"/>
            <a:ext cx="256032" cy="274320"/>
          </a:xfrm>
          <a:prstGeom prst="rect">
            <a:avLst/>
          </a:prstGeom>
          <a:noFill/>
          <a:ln/>
        </p:spPr>
        <p:txBody>
          <a:bodyPr wrap="square" lIns="0" tIns="0" rIns="0" bIns="0" rtlCol="0" anchor="ctr"/>
          <a:lstStyle/>
          <a:p>
            <a:pPr algn="ctr" indent="0" marL="0">
              <a:buNone/>
            </a:pPr>
            <a:r>
              <a:rPr lang="en-US" sz="1200" b="1" dirty="0">
                <a:solidFill>
                  <a:srgbClr val="9AA3B2"/>
                </a:solidFill>
                <a:latin typeface="Malgun Gothic" pitchFamily="34" charset="0"/>
                <a:ea typeface="Malgun Gothic" pitchFamily="34" charset="-122"/>
                <a:cs typeface="Malgun Gothic" pitchFamily="34" charset="-120"/>
              </a:rPr>
              <a:t>→</a:t>
            </a:r>
            <a:endParaRPr lang="en-US" sz="1200" dirty="0"/>
          </a:p>
        </p:txBody>
      </p:sp>
      <p:sp>
        <p:nvSpPr>
          <p:cNvPr id="16" name="Shape 14"/>
          <p:cNvSpPr/>
          <p:nvPr/>
        </p:nvSpPr>
        <p:spPr>
          <a:xfrm>
            <a:off x="6172200" y="1600200"/>
            <a:ext cx="1700784" cy="1298448"/>
          </a:xfrm>
          <a:prstGeom prst="roundRect">
            <a:avLst>
              <a:gd name="adj" fmla="val 6338"/>
            </a:avLst>
          </a:prstGeom>
          <a:solidFill>
            <a:srgbClr val="EEF3FE"/>
          </a:solidFill>
          <a:ln w="12700">
            <a:solidFill>
              <a:srgbClr val="D7E2F8"/>
            </a:solidFill>
            <a:prstDash val="solid"/>
          </a:ln>
        </p:spPr>
      </p:sp>
      <p:sp>
        <p:nvSpPr>
          <p:cNvPr id="17" name="Text 15"/>
          <p:cNvSpPr/>
          <p:nvPr/>
        </p:nvSpPr>
        <p:spPr>
          <a:xfrm>
            <a:off x="6263640" y="1719072"/>
            <a:ext cx="1517904" cy="475488"/>
          </a:xfrm>
          <a:prstGeom prst="rect">
            <a:avLst/>
          </a:prstGeom>
          <a:noFill/>
          <a:ln/>
        </p:spPr>
        <p:txBody>
          <a:bodyPr wrap="square" lIns="0" tIns="0" rIns="0" bIns="0" rtlCol="0" anchor="t"/>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규칙 엔진 계산</a:t>
            </a:r>
            <a:endParaRPr lang="en-US" sz="1150" dirty="0"/>
          </a:p>
        </p:txBody>
      </p:sp>
      <p:sp>
        <p:nvSpPr>
          <p:cNvPr id="18" name="Text 16"/>
          <p:cNvSpPr/>
          <p:nvPr/>
        </p:nvSpPr>
        <p:spPr>
          <a:xfrm>
            <a:off x="6263640" y="2212848"/>
            <a:ext cx="1517904" cy="621792"/>
          </a:xfrm>
          <a:prstGeom prst="rect">
            <a:avLst/>
          </a:prstGeom>
          <a:noFill/>
          <a:ln/>
        </p:spPr>
        <p:txBody>
          <a:bodyPr wrap="square" lIns="0" tIns="0" rIns="0" bIns="0" rtlCol="0" anchor="t"/>
          <a:lstStyle/>
          <a:p>
            <a:pPr indent="0" marL="0">
              <a:buNone/>
            </a:pPr>
            <a:r>
              <a:rPr lang="en-US" sz="860" dirty="0">
                <a:solidFill>
                  <a:srgbClr val="5A6474"/>
                </a:solidFill>
                <a:latin typeface="Malgun Gothic" pitchFamily="34" charset="0"/>
                <a:ea typeface="Malgun Gothic" pitchFamily="34" charset="-122"/>
                <a:cs typeface="Malgun Gothic" pitchFamily="34" charset="-120"/>
              </a:rPr>
              <a:t>순수 Python · Decimal 결정론</a:t>
            </a:r>
            <a:endParaRPr lang="en-US" sz="860" dirty="0"/>
          </a:p>
        </p:txBody>
      </p:sp>
      <p:sp>
        <p:nvSpPr>
          <p:cNvPr id="19" name="Text 17"/>
          <p:cNvSpPr/>
          <p:nvPr/>
        </p:nvSpPr>
        <p:spPr>
          <a:xfrm>
            <a:off x="7831836" y="2121408"/>
            <a:ext cx="256032" cy="274320"/>
          </a:xfrm>
          <a:prstGeom prst="rect">
            <a:avLst/>
          </a:prstGeom>
          <a:noFill/>
          <a:ln/>
        </p:spPr>
        <p:txBody>
          <a:bodyPr wrap="square" lIns="0" tIns="0" rIns="0" bIns="0" rtlCol="0" anchor="ctr"/>
          <a:lstStyle/>
          <a:p>
            <a:pPr algn="ctr" indent="0" marL="0">
              <a:buNone/>
            </a:pPr>
            <a:r>
              <a:rPr lang="en-US" sz="1200" b="1" dirty="0">
                <a:solidFill>
                  <a:srgbClr val="9AA3B2"/>
                </a:solidFill>
                <a:latin typeface="Malgun Gothic" pitchFamily="34" charset="0"/>
                <a:ea typeface="Malgun Gothic" pitchFamily="34" charset="-122"/>
                <a:cs typeface="Malgun Gothic" pitchFamily="34" charset="-120"/>
              </a:rPr>
              <a:t>→</a:t>
            </a:r>
            <a:endParaRPr lang="en-US" sz="1200" dirty="0"/>
          </a:p>
        </p:txBody>
      </p:sp>
      <p:sp>
        <p:nvSpPr>
          <p:cNvPr id="20" name="Shape 18"/>
          <p:cNvSpPr/>
          <p:nvPr/>
        </p:nvSpPr>
        <p:spPr>
          <a:xfrm>
            <a:off x="8046720" y="1600200"/>
            <a:ext cx="1700784" cy="1298448"/>
          </a:xfrm>
          <a:prstGeom prst="roundRect">
            <a:avLst>
              <a:gd name="adj" fmla="val 6338"/>
            </a:avLst>
          </a:prstGeom>
          <a:solidFill>
            <a:srgbClr val="EEF3FE"/>
          </a:solidFill>
          <a:ln w="12700">
            <a:solidFill>
              <a:srgbClr val="D7E2F8"/>
            </a:solidFill>
            <a:prstDash val="solid"/>
          </a:ln>
        </p:spPr>
      </p:sp>
      <p:sp>
        <p:nvSpPr>
          <p:cNvPr id="21" name="Text 19"/>
          <p:cNvSpPr/>
          <p:nvPr/>
        </p:nvSpPr>
        <p:spPr>
          <a:xfrm>
            <a:off x="8138160" y="1719072"/>
            <a:ext cx="1517904" cy="475488"/>
          </a:xfrm>
          <a:prstGeom prst="rect">
            <a:avLst/>
          </a:prstGeom>
          <a:noFill/>
          <a:ln/>
        </p:spPr>
        <p:txBody>
          <a:bodyPr wrap="square" lIns="0" tIns="0" rIns="0" bIns="0" rtlCol="0" anchor="t"/>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근거 대조 검증</a:t>
            </a:r>
            <a:endParaRPr lang="en-US" sz="1150" dirty="0"/>
          </a:p>
        </p:txBody>
      </p:sp>
      <p:sp>
        <p:nvSpPr>
          <p:cNvPr id="22" name="Text 20"/>
          <p:cNvSpPr/>
          <p:nvPr/>
        </p:nvSpPr>
        <p:spPr>
          <a:xfrm>
            <a:off x="8138160" y="2212848"/>
            <a:ext cx="1517904" cy="621792"/>
          </a:xfrm>
          <a:prstGeom prst="rect">
            <a:avLst/>
          </a:prstGeom>
          <a:noFill/>
          <a:ln/>
        </p:spPr>
        <p:txBody>
          <a:bodyPr wrap="square" lIns="0" tIns="0" rIns="0" bIns="0" rtlCol="0" anchor="t"/>
          <a:lstStyle/>
          <a:p>
            <a:pPr indent="0" marL="0">
              <a:buNone/>
            </a:pPr>
            <a:r>
              <a:rPr lang="en-US" sz="860" dirty="0">
                <a:solidFill>
                  <a:srgbClr val="5A6474"/>
                </a:solidFill>
                <a:latin typeface="Malgun Gothic" pitchFamily="34" charset="0"/>
                <a:ea typeface="Malgun Gothic" pitchFamily="34" charset="-122"/>
                <a:cs typeface="Malgun Gothic" pitchFamily="34" charset="-120"/>
              </a:rPr>
              <a:t>답변 숫자 ↔ NumericEvidence</a:t>
            </a:r>
            <a:endParaRPr lang="en-US" sz="860" dirty="0"/>
          </a:p>
        </p:txBody>
      </p:sp>
      <p:sp>
        <p:nvSpPr>
          <p:cNvPr id="23" name="Text 21"/>
          <p:cNvSpPr/>
          <p:nvPr/>
        </p:nvSpPr>
        <p:spPr>
          <a:xfrm>
            <a:off x="9706356" y="2121408"/>
            <a:ext cx="256032" cy="274320"/>
          </a:xfrm>
          <a:prstGeom prst="rect">
            <a:avLst/>
          </a:prstGeom>
          <a:noFill/>
          <a:ln/>
        </p:spPr>
        <p:txBody>
          <a:bodyPr wrap="square" lIns="0" tIns="0" rIns="0" bIns="0" rtlCol="0" anchor="ctr"/>
          <a:lstStyle/>
          <a:p>
            <a:pPr algn="ctr" indent="0" marL="0">
              <a:buNone/>
            </a:pPr>
            <a:r>
              <a:rPr lang="en-US" sz="1200" b="1" dirty="0">
                <a:solidFill>
                  <a:srgbClr val="9AA3B2"/>
                </a:solidFill>
                <a:latin typeface="Malgun Gothic" pitchFamily="34" charset="0"/>
                <a:ea typeface="Malgun Gothic" pitchFamily="34" charset="-122"/>
                <a:cs typeface="Malgun Gothic" pitchFamily="34" charset="-120"/>
              </a:rPr>
              <a:t>→</a:t>
            </a:r>
            <a:endParaRPr lang="en-US" sz="1200" dirty="0"/>
          </a:p>
        </p:txBody>
      </p:sp>
      <p:sp>
        <p:nvSpPr>
          <p:cNvPr id="24" name="Shape 22"/>
          <p:cNvSpPr/>
          <p:nvPr/>
        </p:nvSpPr>
        <p:spPr>
          <a:xfrm>
            <a:off x="9921240" y="1600200"/>
            <a:ext cx="1700784" cy="1298448"/>
          </a:xfrm>
          <a:prstGeom prst="roundRect">
            <a:avLst>
              <a:gd name="adj" fmla="val 6338"/>
            </a:avLst>
          </a:prstGeom>
          <a:solidFill>
            <a:srgbClr val="F7F9FE"/>
          </a:solidFill>
          <a:ln w="12700">
            <a:solidFill>
              <a:srgbClr val="D9E0EC"/>
            </a:solidFill>
            <a:prstDash val="solid"/>
          </a:ln>
        </p:spPr>
      </p:sp>
      <p:sp>
        <p:nvSpPr>
          <p:cNvPr id="25" name="Text 23"/>
          <p:cNvSpPr/>
          <p:nvPr/>
        </p:nvSpPr>
        <p:spPr>
          <a:xfrm>
            <a:off x="10012680" y="1719072"/>
            <a:ext cx="1517904" cy="475488"/>
          </a:xfrm>
          <a:prstGeom prst="rect">
            <a:avLst/>
          </a:prstGeom>
          <a:noFill/>
          <a:ln/>
        </p:spPr>
        <p:txBody>
          <a:bodyPr wrap="square" lIns="0" tIns="0" rIns="0" bIns="0" rtlCol="0" anchor="t"/>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SSE 스트리밍</a:t>
            </a:r>
            <a:endParaRPr lang="en-US" sz="1150" dirty="0"/>
          </a:p>
        </p:txBody>
      </p:sp>
      <p:sp>
        <p:nvSpPr>
          <p:cNvPr id="26" name="Text 24"/>
          <p:cNvSpPr/>
          <p:nvPr/>
        </p:nvSpPr>
        <p:spPr>
          <a:xfrm>
            <a:off x="10012680" y="2212848"/>
            <a:ext cx="1517904" cy="621792"/>
          </a:xfrm>
          <a:prstGeom prst="rect">
            <a:avLst/>
          </a:prstGeom>
          <a:noFill/>
          <a:ln/>
        </p:spPr>
        <p:txBody>
          <a:bodyPr wrap="square" lIns="0" tIns="0" rIns="0" bIns="0" rtlCol="0" anchor="t"/>
          <a:lstStyle/>
          <a:p>
            <a:pPr indent="0" marL="0">
              <a:buNone/>
            </a:pPr>
            <a:r>
              <a:rPr lang="en-US" sz="860" dirty="0">
                <a:solidFill>
                  <a:srgbClr val="5A6474"/>
                </a:solidFill>
                <a:latin typeface="Malgun Gothic" pitchFamily="34" charset="0"/>
                <a:ea typeface="Malgun Gothic" pitchFamily="34" charset="-122"/>
                <a:cs typeface="Malgun Gothic" pitchFamily="34" charset="-120"/>
              </a:rPr>
              <a:t>검증 답변 선전송 → AI 재서술 교체</a:t>
            </a:r>
            <a:endParaRPr lang="en-US" sz="860" dirty="0"/>
          </a:p>
        </p:txBody>
      </p:sp>
      <p:sp>
        <p:nvSpPr>
          <p:cNvPr id="27" name="Shape 25"/>
          <p:cNvSpPr/>
          <p:nvPr/>
        </p:nvSpPr>
        <p:spPr>
          <a:xfrm>
            <a:off x="548640" y="3246120"/>
            <a:ext cx="7040880" cy="1554480"/>
          </a:xfrm>
          <a:prstGeom prst="roundRect">
            <a:avLst>
              <a:gd name="adj" fmla="val 7059"/>
            </a:avLst>
          </a:prstGeom>
          <a:solidFill>
            <a:srgbClr val="0F1E45"/>
          </a:solidFill>
          <a:ln/>
        </p:spPr>
      </p:sp>
      <p:sp>
        <p:nvSpPr>
          <p:cNvPr id="28" name="Text 26"/>
          <p:cNvSpPr/>
          <p:nvPr/>
        </p:nvSpPr>
        <p:spPr>
          <a:xfrm>
            <a:off x="822960" y="3474720"/>
            <a:ext cx="6492240" cy="457200"/>
          </a:xfrm>
          <a:prstGeom prst="rect">
            <a:avLst/>
          </a:prstGeom>
          <a:noFill/>
          <a:ln/>
        </p:spPr>
        <p:txBody>
          <a:bodyPr wrap="square" lIns="0" tIns="0" rIns="0" bIns="0" rtlCol="0" anchor="ctr"/>
          <a:lstStyle/>
          <a:p>
            <a:pPr indent="0" marL="0">
              <a:buNone/>
            </a:pPr>
            <a:r>
              <a:rPr lang="en-US" sz="2100" b="1" dirty="0">
                <a:solidFill>
                  <a:srgbClr val="FFFFFF"/>
                </a:solidFill>
                <a:latin typeface="Malgun Gothic" pitchFamily="34" charset="0"/>
                <a:ea typeface="Malgun Gothic" pitchFamily="34" charset="-122"/>
                <a:cs typeface="Malgun Gothic" pitchFamily="34" charset="-120"/>
              </a:rPr>
              <a:t>검증 실패 시 → 응답 생성 실패</a:t>
            </a:r>
            <a:endParaRPr lang="en-US" sz="2100" dirty="0"/>
          </a:p>
        </p:txBody>
      </p:sp>
      <p:sp>
        <p:nvSpPr>
          <p:cNvPr id="29" name="Text 27"/>
          <p:cNvSpPr/>
          <p:nvPr/>
        </p:nvSpPr>
        <p:spPr>
          <a:xfrm>
            <a:off x="822960" y="3977640"/>
            <a:ext cx="6492240" cy="685800"/>
          </a:xfrm>
          <a:prstGeom prst="rect">
            <a:avLst/>
          </a:prstGeom>
          <a:noFill/>
          <a:ln/>
        </p:spPr>
        <p:txBody>
          <a:bodyPr wrap="square" lIns="0" tIns="0" rIns="0" bIns="0" rtlCol="0" anchor="t"/>
          <a:lstStyle/>
          <a:p>
            <a:pPr indent="0" marL="0">
              <a:buNone/>
            </a:pPr>
            <a:r>
              <a:rPr lang="en-US" sz="1050" dirty="0">
                <a:solidFill>
                  <a:srgbClr val="C9D6F5"/>
                </a:solidFill>
                <a:latin typeface="Malgun Gothic" pitchFamily="34" charset="0"/>
                <a:ea typeface="Malgun Gothic" pitchFamily="34" charset="-122"/>
                <a:cs typeface="Malgun Gothic" pitchFamily="34" charset="-120"/>
              </a:rPr>
              <a:t>모든 숫자는 엔진·공시·규칙의 근거 객체와 대조됩니다. 일치하지 않으면 그 답변은 아예 만들어지지 않습니다 — 프롬프트가 아니라 아키텍처로 막는 환각.</a:t>
            </a:r>
            <a:endParaRPr lang="en-US" sz="1050" dirty="0"/>
          </a:p>
        </p:txBody>
      </p:sp>
      <p:sp>
        <p:nvSpPr>
          <p:cNvPr id="30" name="Shape 28"/>
          <p:cNvSpPr/>
          <p:nvPr/>
        </p:nvSpPr>
        <p:spPr>
          <a:xfrm>
            <a:off x="7818120" y="3246120"/>
            <a:ext cx="3566160" cy="1554480"/>
          </a:xfrm>
          <a:prstGeom prst="roundRect">
            <a:avLst>
              <a:gd name="adj" fmla="val 5294"/>
            </a:avLst>
          </a:prstGeom>
          <a:solidFill>
            <a:srgbClr val="FFFFFF"/>
          </a:solidFill>
          <a:ln w="12700">
            <a:solidFill>
              <a:srgbClr val="D9E0EC"/>
            </a:solidFill>
            <a:prstDash val="solid"/>
          </a:ln>
        </p:spPr>
      </p:sp>
      <p:sp>
        <p:nvSpPr>
          <p:cNvPr id="31" name="Text 29"/>
          <p:cNvSpPr/>
          <p:nvPr/>
        </p:nvSpPr>
        <p:spPr>
          <a:xfrm>
            <a:off x="8001000" y="3401568"/>
            <a:ext cx="3200400" cy="274320"/>
          </a:xfrm>
          <a:prstGeom prst="rect">
            <a:avLst/>
          </a:prstGeom>
          <a:noFill/>
          <a:ln/>
        </p:spPr>
        <p:txBody>
          <a:bodyPr wrap="square" lIns="0" tIns="0" rIns="0" bIns="0" rtlCol="0" anchor="ctr"/>
          <a:lstStyle/>
          <a:p>
            <a:pPr indent="0" marL="0">
              <a:buNone/>
            </a:pPr>
            <a:r>
              <a:rPr lang="en-US" sz="1200" b="1" dirty="0">
                <a:solidFill>
                  <a:srgbClr val="18202E"/>
                </a:solidFill>
                <a:latin typeface="Malgun Gothic" pitchFamily="34" charset="0"/>
                <a:ea typeface="Malgun Gothic" pitchFamily="34" charset="-122"/>
                <a:cs typeface="Malgun Gothic" pitchFamily="34" charset="-120"/>
              </a:rPr>
              <a:t>LLM은 선택 부품</a:t>
            </a:r>
            <a:endParaRPr lang="en-US" sz="1200" dirty="0"/>
          </a:p>
        </p:txBody>
      </p:sp>
      <p:sp>
        <p:nvSpPr>
          <p:cNvPr id="32" name="Text 30"/>
          <p:cNvSpPr/>
          <p:nvPr/>
        </p:nvSpPr>
        <p:spPr>
          <a:xfrm>
            <a:off x="8001000" y="3703320"/>
            <a:ext cx="3246120" cy="1005840"/>
          </a:xfrm>
          <a:prstGeom prst="rect">
            <a:avLst/>
          </a:prstGeom>
          <a:noFill/>
          <a:ln/>
        </p:spPr>
        <p:txBody>
          <a:bodyPr wrap="square" lIns="0" tIns="0" rIns="0" bIns="0" rtlCol="0" anchor="t"/>
          <a:lstStyle/>
          <a:p>
            <a:pPr indent="0" marL="0">
              <a:buNone/>
            </a:pPr>
            <a:r>
              <a:rPr lang="en-US" sz="1000" dirty="0">
                <a:solidFill>
                  <a:srgbClr val="5A6474"/>
                </a:solidFill>
                <a:latin typeface="Malgun Gothic" pitchFamily="34" charset="0"/>
                <a:ea typeface="Malgun Gothic" pitchFamily="34" charset="-122"/>
                <a:cs typeface="Malgun Gothic" pitchFamily="34" charset="-120"/>
              </a:rPr>
              <a:t>재서술(내레이션)은 opt-in — 꺼져 있어도 결정론 답변만으로 서비스가 성립. 켜져도 가드 통과분만 화면을 교체.</a:t>
            </a:r>
            <a:endParaRPr lang="en-US" sz="1000" dirty="0"/>
          </a:p>
        </p:txBody>
      </p:sp>
      <p:sp>
        <p:nvSpPr>
          <p:cNvPr id="33" name="Text 31"/>
          <p:cNvSpPr/>
          <p:nvPr/>
        </p:nvSpPr>
        <p:spPr>
          <a:xfrm>
            <a:off x="548640" y="5166360"/>
            <a:ext cx="118872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인텐트 8종</a:t>
            </a:r>
            <a:endParaRPr lang="en-US" sz="1000" dirty="0"/>
          </a:p>
        </p:txBody>
      </p:sp>
      <p:sp>
        <p:nvSpPr>
          <p:cNvPr id="34" name="Text 32"/>
          <p:cNvSpPr/>
          <p:nvPr/>
        </p:nvSpPr>
        <p:spPr>
          <a:xfrm>
            <a:off x="1901952" y="5166360"/>
            <a:ext cx="137160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가드레일 10종</a:t>
            </a:r>
            <a:endParaRPr lang="en-US" sz="1000" dirty="0"/>
          </a:p>
        </p:txBody>
      </p:sp>
      <p:sp>
        <p:nvSpPr>
          <p:cNvPr id="35" name="Text 33"/>
          <p:cNvSpPr/>
          <p:nvPr/>
        </p:nvSpPr>
        <p:spPr>
          <a:xfrm>
            <a:off x="3438144" y="5166360"/>
            <a:ext cx="150876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SSE 이벤트 5종</a:t>
            </a:r>
            <a:endParaRPr lang="en-US" sz="1000" dirty="0"/>
          </a:p>
        </p:txBody>
      </p:sp>
      <p:sp>
        <p:nvSpPr>
          <p:cNvPr id="36" name="Text 34"/>
          <p:cNvSpPr/>
          <p:nvPr/>
        </p:nvSpPr>
        <p:spPr>
          <a:xfrm>
            <a:off x="5111496" y="5166360"/>
            <a:ext cx="123444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출처 칩 상시</a:t>
            </a:r>
            <a:endParaRPr lang="en-US" sz="1000" dirty="0"/>
          </a:p>
        </p:txBody>
      </p:sp>
      <p:sp>
        <p:nvSpPr>
          <p:cNvPr id="37" name="Text 35"/>
          <p:cNvSpPr/>
          <p:nvPr/>
        </p:nvSpPr>
        <p:spPr>
          <a:xfrm>
            <a:off x="6510528" y="5166360"/>
            <a:ext cx="1783080" cy="329184"/>
          </a:xfrm>
          <a:prstGeom prst="roundRect">
            <a:avLst>
              <a:gd name="adj" fmla="val 38889"/>
            </a:avLst>
          </a:prstGeom>
          <a:solidFill>
            <a:srgbClr val="EEF3FE"/>
          </a:solidFill>
          <a:ln w="9525">
            <a:solidFill>
              <a:srgbClr val="D7E2F8"/>
            </a:solidFill>
          </a:ln>
        </p:spPr>
        <p:txBody>
          <a:bodyPr wrap="square" lIns="0" tIns="0" rIns="0" bIns="0" rtlCol="0" anchor="ctr"/>
          <a:lstStyle/>
          <a:p>
            <a:pPr algn="ctr" indent="0" marL="0">
              <a:buNone/>
            </a:pPr>
            <a:r>
              <a:rPr lang="en-US" sz="1000" b="1" dirty="0">
                <a:solidFill>
                  <a:srgbClr val="1A4FD8"/>
                </a:solidFill>
                <a:latin typeface="Malgun Gothic" pitchFamily="34" charset="0"/>
                <a:ea typeface="Malgun Gothic" pitchFamily="34" charset="-122"/>
                <a:cs typeface="Malgun Gothic" pitchFamily="34" charset="-120"/>
              </a:rPr>
              <a:t>세션 저장 · 멱등 처리</a:t>
            </a:r>
            <a:endParaRPr lang="en-US" sz="1000" dirty="0"/>
          </a:p>
        </p:txBody>
      </p:sp>
      <p:sp>
        <p:nvSpPr>
          <p:cNvPr id="38" name="Text 36"/>
          <p:cNvSpPr/>
          <p:nvPr/>
        </p:nvSpPr>
        <p:spPr>
          <a:xfrm>
            <a:off x="548640" y="5806440"/>
            <a:ext cx="11091672"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스트리밍 체감: 엔진 검증 답변을 먼저 타이핑으로 보여주고, AI 재서술이 가드를 통과하면 그때 교체(TTFA 단축)</a:t>
            </a:r>
            <a:endParaRPr lang="en-US" sz="950" dirty="0"/>
          </a:p>
        </p:txBody>
      </p:sp>
      <p:sp>
        <p:nvSpPr>
          <p:cNvPr id="39" name="Text 37"/>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08 · AI 모델링 — 규칙 엔진</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연금 제도를 코드로 — 엔진이 계산하는 것들</a:t>
            </a:r>
            <a:endParaRPr lang="en-US" sz="2800" dirty="0"/>
          </a:p>
        </p:txBody>
      </p:sp>
      <p:sp>
        <p:nvSpPr>
          <p:cNvPr id="4" name="Text 2"/>
          <p:cNvSpPr/>
          <p:nvPr/>
        </p:nvSpPr>
        <p:spPr>
          <a:xfrm>
            <a:off x="548640" y="1417320"/>
            <a:ext cx="530352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핵심 규칙 (법령 · 세법 원문 근거)</a:t>
            </a:r>
            <a:endParaRPr lang="en-US" sz="1250" dirty="0"/>
          </a:p>
        </p:txBody>
      </p:sp>
      <p:sp>
        <p:nvSpPr>
          <p:cNvPr id="5" name="Shape 3"/>
          <p:cNvSpPr/>
          <p:nvPr/>
        </p:nvSpPr>
        <p:spPr>
          <a:xfrm>
            <a:off x="548640" y="1783080"/>
            <a:ext cx="5303520" cy="731520"/>
          </a:xfrm>
          <a:prstGeom prst="roundRect">
            <a:avLst>
              <a:gd name="adj" fmla="val 11250"/>
            </a:avLst>
          </a:prstGeom>
          <a:solidFill>
            <a:srgbClr val="FFFFFF"/>
          </a:solidFill>
          <a:ln w="12700">
            <a:solidFill>
              <a:srgbClr val="D9E0EC"/>
            </a:solidFill>
            <a:prstDash val="solid"/>
          </a:ln>
        </p:spPr>
      </p:sp>
      <p:sp>
        <p:nvSpPr>
          <p:cNvPr id="6" name="Text 4"/>
          <p:cNvSpPr/>
          <p:nvPr/>
        </p:nvSpPr>
        <p:spPr>
          <a:xfrm>
            <a:off x="713232" y="1856232"/>
            <a:ext cx="1828800" cy="585216"/>
          </a:xfrm>
          <a:prstGeom prst="rect">
            <a:avLst/>
          </a:prstGeom>
          <a:noFill/>
          <a:ln/>
        </p:spPr>
        <p:txBody>
          <a:bodyPr wrap="square" lIns="0" tIns="0" rIns="0" bIns="0" rtlCol="0" anchor="ctr"/>
          <a:lstStyle/>
          <a:p>
            <a:pPr indent="0" marL="0">
              <a:buNone/>
            </a:pPr>
            <a:r>
              <a:rPr lang="en-US" sz="1100" b="1" dirty="0">
                <a:solidFill>
                  <a:srgbClr val="1A4FD8"/>
                </a:solidFill>
                <a:latin typeface="Malgun Gothic" pitchFamily="34" charset="0"/>
                <a:ea typeface="Malgun Gothic" pitchFamily="34" charset="-122"/>
                <a:cs typeface="Malgun Gothic" pitchFamily="34" charset="-120"/>
              </a:rPr>
              <a:t>위험자산 70% 한도</a:t>
            </a:r>
            <a:endParaRPr lang="en-US" sz="1100" dirty="0"/>
          </a:p>
        </p:txBody>
      </p:sp>
      <p:sp>
        <p:nvSpPr>
          <p:cNvPr id="7" name="Text 5"/>
          <p:cNvSpPr/>
          <p:nvPr/>
        </p:nvSpPr>
        <p:spPr>
          <a:xfrm>
            <a:off x="2606040" y="1856232"/>
            <a:ext cx="3108960" cy="585216"/>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DC·IRP 일반 위험자산 상한 — 적격 TDF·디폴트옵션은 법정 예외</a:t>
            </a:r>
            <a:endParaRPr lang="en-US" sz="940" dirty="0"/>
          </a:p>
        </p:txBody>
      </p:sp>
      <p:sp>
        <p:nvSpPr>
          <p:cNvPr id="8" name="Shape 6"/>
          <p:cNvSpPr/>
          <p:nvPr/>
        </p:nvSpPr>
        <p:spPr>
          <a:xfrm>
            <a:off x="548640" y="2624328"/>
            <a:ext cx="5303520" cy="731520"/>
          </a:xfrm>
          <a:prstGeom prst="roundRect">
            <a:avLst>
              <a:gd name="adj" fmla="val 11250"/>
            </a:avLst>
          </a:prstGeom>
          <a:solidFill>
            <a:srgbClr val="FFFFFF"/>
          </a:solidFill>
          <a:ln w="12700">
            <a:solidFill>
              <a:srgbClr val="D9E0EC"/>
            </a:solidFill>
            <a:prstDash val="solid"/>
          </a:ln>
        </p:spPr>
      </p:sp>
      <p:sp>
        <p:nvSpPr>
          <p:cNvPr id="9" name="Text 7"/>
          <p:cNvSpPr/>
          <p:nvPr/>
        </p:nvSpPr>
        <p:spPr>
          <a:xfrm>
            <a:off x="713232" y="2697480"/>
            <a:ext cx="1828800" cy="585216"/>
          </a:xfrm>
          <a:prstGeom prst="rect">
            <a:avLst/>
          </a:prstGeom>
          <a:noFill/>
          <a:ln/>
        </p:spPr>
        <p:txBody>
          <a:bodyPr wrap="square" lIns="0" tIns="0" rIns="0" bIns="0" rtlCol="0" anchor="ctr"/>
          <a:lstStyle/>
          <a:p>
            <a:pPr indent="0" marL="0">
              <a:buNone/>
            </a:pPr>
            <a:r>
              <a:rPr lang="en-US" sz="1100" b="1" dirty="0">
                <a:solidFill>
                  <a:srgbClr val="1A4FD8"/>
                </a:solidFill>
                <a:latin typeface="Malgun Gothic" pitchFamily="34" charset="0"/>
                <a:ea typeface="Malgun Gothic" pitchFamily="34" charset="-122"/>
                <a:cs typeface="Malgun Gothic" pitchFamily="34" charset="-120"/>
              </a:rPr>
              <a:t>세액공제</a:t>
            </a:r>
            <a:endParaRPr lang="en-US" sz="1100" dirty="0"/>
          </a:p>
        </p:txBody>
      </p:sp>
      <p:sp>
        <p:nvSpPr>
          <p:cNvPr id="10" name="Text 8"/>
          <p:cNvSpPr/>
          <p:nvPr/>
        </p:nvSpPr>
        <p:spPr>
          <a:xfrm>
            <a:off x="2606040" y="2697480"/>
            <a:ext cx="3108960" cy="585216"/>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연금저축 600만 · 합산 900만 원 — 공제율 16.5% / 13.2% (지방세 포함)</a:t>
            </a:r>
            <a:endParaRPr lang="en-US" sz="940" dirty="0"/>
          </a:p>
        </p:txBody>
      </p:sp>
      <p:sp>
        <p:nvSpPr>
          <p:cNvPr id="11" name="Shape 9"/>
          <p:cNvSpPr/>
          <p:nvPr/>
        </p:nvSpPr>
        <p:spPr>
          <a:xfrm>
            <a:off x="548640" y="3465576"/>
            <a:ext cx="5303520" cy="731520"/>
          </a:xfrm>
          <a:prstGeom prst="roundRect">
            <a:avLst>
              <a:gd name="adj" fmla="val 11250"/>
            </a:avLst>
          </a:prstGeom>
          <a:solidFill>
            <a:srgbClr val="FFFFFF"/>
          </a:solidFill>
          <a:ln w="12700">
            <a:solidFill>
              <a:srgbClr val="D9E0EC"/>
            </a:solidFill>
            <a:prstDash val="solid"/>
          </a:ln>
        </p:spPr>
      </p:sp>
      <p:sp>
        <p:nvSpPr>
          <p:cNvPr id="12" name="Text 10"/>
          <p:cNvSpPr/>
          <p:nvPr/>
        </p:nvSpPr>
        <p:spPr>
          <a:xfrm>
            <a:off x="713232" y="3538728"/>
            <a:ext cx="1828800" cy="585216"/>
          </a:xfrm>
          <a:prstGeom prst="rect">
            <a:avLst/>
          </a:prstGeom>
          <a:noFill/>
          <a:ln/>
        </p:spPr>
        <p:txBody>
          <a:bodyPr wrap="square" lIns="0" tIns="0" rIns="0" bIns="0" rtlCol="0" anchor="ctr"/>
          <a:lstStyle/>
          <a:p>
            <a:pPr indent="0" marL="0">
              <a:buNone/>
            </a:pPr>
            <a:r>
              <a:rPr lang="en-US" sz="1100" b="1" dirty="0">
                <a:solidFill>
                  <a:srgbClr val="1A4FD8"/>
                </a:solidFill>
                <a:latin typeface="Malgun Gothic" pitchFamily="34" charset="0"/>
                <a:ea typeface="Malgun Gothic" pitchFamily="34" charset="-122"/>
                <a:cs typeface="Malgun Gothic" pitchFamily="34" charset="-120"/>
              </a:rPr>
              <a:t>연금소득세</a:t>
            </a:r>
            <a:endParaRPr lang="en-US" sz="1100" dirty="0"/>
          </a:p>
        </p:txBody>
      </p:sp>
      <p:sp>
        <p:nvSpPr>
          <p:cNvPr id="13" name="Text 11"/>
          <p:cNvSpPr/>
          <p:nvPr/>
        </p:nvSpPr>
        <p:spPr>
          <a:xfrm>
            <a:off x="2606040" y="3538728"/>
            <a:ext cx="3108960" cy="585216"/>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70세 미만 5.5% → 70~80세 4.4% → 80세 이상 3.3% (연차별 재계산)</a:t>
            </a:r>
            <a:endParaRPr lang="en-US" sz="940" dirty="0"/>
          </a:p>
        </p:txBody>
      </p:sp>
      <p:sp>
        <p:nvSpPr>
          <p:cNvPr id="14" name="Shape 12"/>
          <p:cNvSpPr/>
          <p:nvPr/>
        </p:nvSpPr>
        <p:spPr>
          <a:xfrm>
            <a:off x="548640" y="4306824"/>
            <a:ext cx="5303520" cy="731520"/>
          </a:xfrm>
          <a:prstGeom prst="roundRect">
            <a:avLst>
              <a:gd name="adj" fmla="val 11250"/>
            </a:avLst>
          </a:prstGeom>
          <a:solidFill>
            <a:srgbClr val="FFFFFF"/>
          </a:solidFill>
          <a:ln w="12700">
            <a:solidFill>
              <a:srgbClr val="D9E0EC"/>
            </a:solidFill>
            <a:prstDash val="solid"/>
          </a:ln>
        </p:spPr>
      </p:sp>
      <p:sp>
        <p:nvSpPr>
          <p:cNvPr id="15" name="Text 13"/>
          <p:cNvSpPr/>
          <p:nvPr/>
        </p:nvSpPr>
        <p:spPr>
          <a:xfrm>
            <a:off x="713232" y="4379976"/>
            <a:ext cx="1828800" cy="585216"/>
          </a:xfrm>
          <a:prstGeom prst="rect">
            <a:avLst/>
          </a:prstGeom>
          <a:noFill/>
          <a:ln/>
        </p:spPr>
        <p:txBody>
          <a:bodyPr wrap="square" lIns="0" tIns="0" rIns="0" bIns="0" rtlCol="0" anchor="ctr"/>
          <a:lstStyle/>
          <a:p>
            <a:pPr indent="0" marL="0">
              <a:buNone/>
            </a:pPr>
            <a:r>
              <a:rPr lang="en-US" sz="1100" b="1" dirty="0">
                <a:solidFill>
                  <a:srgbClr val="1A4FD8"/>
                </a:solidFill>
                <a:latin typeface="Malgun Gothic" pitchFamily="34" charset="0"/>
                <a:ea typeface="Malgun Gothic" pitchFamily="34" charset="-122"/>
                <a:cs typeface="Malgun Gothic" pitchFamily="34" charset="-120"/>
              </a:rPr>
              <a:t>1,500만 원 룰</a:t>
            </a:r>
            <a:endParaRPr lang="en-US" sz="1100" dirty="0"/>
          </a:p>
        </p:txBody>
      </p:sp>
      <p:sp>
        <p:nvSpPr>
          <p:cNvPr id="16" name="Text 14"/>
          <p:cNvSpPr/>
          <p:nvPr/>
        </p:nvSpPr>
        <p:spPr>
          <a:xfrm>
            <a:off x="2606040" y="4379976"/>
            <a:ext cx="3108960" cy="585216"/>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연 수령액 초과 시 16.5% 분리과세 가정 + 경고 표시</a:t>
            </a:r>
            <a:endParaRPr lang="en-US" sz="940" dirty="0"/>
          </a:p>
        </p:txBody>
      </p:sp>
      <p:sp>
        <p:nvSpPr>
          <p:cNvPr id="17" name="Shape 15"/>
          <p:cNvSpPr/>
          <p:nvPr/>
        </p:nvSpPr>
        <p:spPr>
          <a:xfrm>
            <a:off x="548640" y="5148072"/>
            <a:ext cx="5303520" cy="731520"/>
          </a:xfrm>
          <a:prstGeom prst="roundRect">
            <a:avLst>
              <a:gd name="adj" fmla="val 11250"/>
            </a:avLst>
          </a:prstGeom>
          <a:solidFill>
            <a:srgbClr val="FFFFFF"/>
          </a:solidFill>
          <a:ln w="12700">
            <a:solidFill>
              <a:srgbClr val="D9E0EC"/>
            </a:solidFill>
            <a:prstDash val="solid"/>
          </a:ln>
        </p:spPr>
      </p:sp>
      <p:sp>
        <p:nvSpPr>
          <p:cNvPr id="18" name="Text 16"/>
          <p:cNvSpPr/>
          <p:nvPr/>
        </p:nvSpPr>
        <p:spPr>
          <a:xfrm>
            <a:off x="713232" y="5221224"/>
            <a:ext cx="1828800" cy="585216"/>
          </a:xfrm>
          <a:prstGeom prst="rect">
            <a:avLst/>
          </a:prstGeom>
          <a:noFill/>
          <a:ln/>
        </p:spPr>
        <p:txBody>
          <a:bodyPr wrap="square" lIns="0" tIns="0" rIns="0" bIns="0" rtlCol="0" anchor="ctr"/>
          <a:lstStyle/>
          <a:p>
            <a:pPr indent="0" marL="0">
              <a:buNone/>
            </a:pPr>
            <a:r>
              <a:rPr lang="en-US" sz="1100" b="1" dirty="0">
                <a:solidFill>
                  <a:srgbClr val="1A4FD8"/>
                </a:solidFill>
                <a:latin typeface="Malgun Gothic" pitchFamily="34" charset="0"/>
                <a:ea typeface="Malgun Gothic" pitchFamily="34" charset="-122"/>
                <a:cs typeface="Malgun Gothic" pitchFamily="34" charset="-120"/>
              </a:rPr>
              <a:t>연금수령한도</a:t>
            </a:r>
            <a:endParaRPr lang="en-US" sz="1100" dirty="0"/>
          </a:p>
        </p:txBody>
      </p:sp>
      <p:sp>
        <p:nvSpPr>
          <p:cNvPr id="19" name="Text 17"/>
          <p:cNvSpPr/>
          <p:nvPr/>
        </p:nvSpPr>
        <p:spPr>
          <a:xfrm>
            <a:off x="2606040" y="5221224"/>
            <a:ext cx="3108960" cy="585216"/>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평가액 ÷ (11 − 수령연차) × 120% — 초과 연차 경고</a:t>
            </a:r>
            <a:endParaRPr lang="en-US" sz="940" dirty="0"/>
          </a:p>
        </p:txBody>
      </p:sp>
      <p:sp>
        <p:nvSpPr>
          <p:cNvPr id="20" name="Text 18"/>
          <p:cNvSpPr/>
          <p:nvPr/>
        </p:nvSpPr>
        <p:spPr>
          <a:xfrm>
            <a:off x="6263640" y="1417320"/>
            <a:ext cx="512064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교육용 포트폴리오 파이프라인</a:t>
            </a:r>
            <a:endParaRPr lang="en-US" sz="1250" dirty="0"/>
          </a:p>
        </p:txBody>
      </p:sp>
      <p:sp>
        <p:nvSpPr>
          <p:cNvPr id="21" name="Shape 19"/>
          <p:cNvSpPr/>
          <p:nvPr/>
        </p:nvSpPr>
        <p:spPr>
          <a:xfrm>
            <a:off x="6263640" y="1783080"/>
            <a:ext cx="5120640" cy="731520"/>
          </a:xfrm>
          <a:prstGeom prst="roundRect">
            <a:avLst>
              <a:gd name="adj" fmla="val 11250"/>
            </a:avLst>
          </a:prstGeom>
          <a:solidFill>
            <a:srgbClr val="FFFFFF"/>
          </a:solidFill>
          <a:ln w="12700">
            <a:solidFill>
              <a:srgbClr val="D9E0EC"/>
            </a:solidFill>
            <a:prstDash val="solid"/>
          </a:ln>
        </p:spPr>
      </p:sp>
      <p:sp>
        <p:nvSpPr>
          <p:cNvPr id="22" name="Shape 20"/>
          <p:cNvSpPr/>
          <p:nvPr/>
        </p:nvSpPr>
        <p:spPr>
          <a:xfrm>
            <a:off x="6391656" y="1911096"/>
            <a:ext cx="274320" cy="274320"/>
          </a:xfrm>
          <a:prstGeom prst="ellipse">
            <a:avLst/>
          </a:prstGeom>
          <a:solidFill>
            <a:srgbClr val="1A4FD8"/>
          </a:solidFill>
          <a:ln/>
        </p:spPr>
      </p:sp>
      <p:sp>
        <p:nvSpPr>
          <p:cNvPr id="23" name="Text 21"/>
          <p:cNvSpPr/>
          <p:nvPr/>
        </p:nvSpPr>
        <p:spPr>
          <a:xfrm>
            <a:off x="6391656" y="191109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24" name="Text 22"/>
          <p:cNvSpPr/>
          <p:nvPr/>
        </p:nvSpPr>
        <p:spPr>
          <a:xfrm>
            <a:off x="6739128" y="1892808"/>
            <a:ext cx="18288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목표 배분</a:t>
            </a:r>
            <a:endParaRPr lang="en-US" sz="1150" dirty="0"/>
          </a:p>
        </p:txBody>
      </p:sp>
      <p:sp>
        <p:nvSpPr>
          <p:cNvPr id="25" name="Text 23"/>
          <p:cNvSpPr/>
          <p:nvPr/>
        </p:nvSpPr>
        <p:spPr>
          <a:xfrm>
            <a:off x="8641080" y="1856232"/>
            <a:ext cx="2651760" cy="58521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성향 5단계 × 나이·은퇴 보정 × 계좌 캡(70% / 90%) — 5슬리브</a:t>
            </a:r>
            <a:endParaRPr lang="en-US" sz="920" dirty="0"/>
          </a:p>
        </p:txBody>
      </p:sp>
      <p:sp>
        <p:nvSpPr>
          <p:cNvPr id="26" name="Shape 24"/>
          <p:cNvSpPr/>
          <p:nvPr/>
        </p:nvSpPr>
        <p:spPr>
          <a:xfrm>
            <a:off x="6263640" y="2624328"/>
            <a:ext cx="5120640" cy="731520"/>
          </a:xfrm>
          <a:prstGeom prst="roundRect">
            <a:avLst>
              <a:gd name="adj" fmla="val 11250"/>
            </a:avLst>
          </a:prstGeom>
          <a:solidFill>
            <a:srgbClr val="FFFFFF"/>
          </a:solidFill>
          <a:ln w="12700">
            <a:solidFill>
              <a:srgbClr val="D9E0EC"/>
            </a:solidFill>
            <a:prstDash val="solid"/>
          </a:ln>
        </p:spPr>
      </p:sp>
      <p:sp>
        <p:nvSpPr>
          <p:cNvPr id="27" name="Shape 25"/>
          <p:cNvSpPr/>
          <p:nvPr/>
        </p:nvSpPr>
        <p:spPr>
          <a:xfrm>
            <a:off x="6391656" y="2752344"/>
            <a:ext cx="274320" cy="274320"/>
          </a:xfrm>
          <a:prstGeom prst="ellipse">
            <a:avLst/>
          </a:prstGeom>
          <a:solidFill>
            <a:srgbClr val="1A4FD8"/>
          </a:solidFill>
          <a:ln/>
        </p:spPr>
      </p:sp>
      <p:sp>
        <p:nvSpPr>
          <p:cNvPr id="28" name="Text 26"/>
          <p:cNvSpPr/>
          <p:nvPr/>
        </p:nvSpPr>
        <p:spPr>
          <a:xfrm>
            <a:off x="6391656" y="2752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29" name="Text 27"/>
          <p:cNvSpPr/>
          <p:nvPr/>
        </p:nvSpPr>
        <p:spPr>
          <a:xfrm>
            <a:off x="6739128" y="2734056"/>
            <a:ext cx="18288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후보 선정</a:t>
            </a:r>
            <a:endParaRPr lang="en-US" sz="1150" dirty="0"/>
          </a:p>
        </p:txBody>
      </p:sp>
      <p:sp>
        <p:nvSpPr>
          <p:cNvPr id="30" name="Text 28"/>
          <p:cNvSpPr/>
          <p:nvPr/>
        </p:nvSpPr>
        <p:spPr>
          <a:xfrm>
            <a:off x="8641080" y="2697480"/>
            <a:ext cx="2651760" cy="58521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품질점수 백분위 · 상관 0.75 초과 페널티 · 과거수익률 미사용</a:t>
            </a:r>
            <a:endParaRPr lang="en-US" sz="920" dirty="0"/>
          </a:p>
        </p:txBody>
      </p:sp>
      <p:sp>
        <p:nvSpPr>
          <p:cNvPr id="31" name="Shape 29"/>
          <p:cNvSpPr/>
          <p:nvPr/>
        </p:nvSpPr>
        <p:spPr>
          <a:xfrm>
            <a:off x="6263640" y="3465576"/>
            <a:ext cx="5120640" cy="731520"/>
          </a:xfrm>
          <a:prstGeom prst="roundRect">
            <a:avLst>
              <a:gd name="adj" fmla="val 11250"/>
            </a:avLst>
          </a:prstGeom>
          <a:solidFill>
            <a:srgbClr val="FFFFFF"/>
          </a:solidFill>
          <a:ln w="12700">
            <a:solidFill>
              <a:srgbClr val="D9E0EC"/>
            </a:solidFill>
            <a:prstDash val="solid"/>
          </a:ln>
        </p:spPr>
      </p:sp>
      <p:sp>
        <p:nvSpPr>
          <p:cNvPr id="32" name="Shape 30"/>
          <p:cNvSpPr/>
          <p:nvPr/>
        </p:nvSpPr>
        <p:spPr>
          <a:xfrm>
            <a:off x="6391656" y="3593592"/>
            <a:ext cx="274320" cy="274320"/>
          </a:xfrm>
          <a:prstGeom prst="ellipse">
            <a:avLst/>
          </a:prstGeom>
          <a:solidFill>
            <a:srgbClr val="1A4FD8"/>
          </a:solidFill>
          <a:ln/>
        </p:spPr>
      </p:sp>
      <p:sp>
        <p:nvSpPr>
          <p:cNvPr id="33" name="Text 31"/>
          <p:cNvSpPr/>
          <p:nvPr/>
        </p:nvSpPr>
        <p:spPr>
          <a:xfrm>
            <a:off x="6391656" y="35935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34" name="Text 32"/>
          <p:cNvSpPr/>
          <p:nvPr/>
        </p:nvSpPr>
        <p:spPr>
          <a:xfrm>
            <a:off x="6739128" y="3575304"/>
            <a:ext cx="18288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위험 통계</a:t>
            </a:r>
            <a:endParaRPr lang="en-US" sz="1150" dirty="0"/>
          </a:p>
        </p:txBody>
      </p:sp>
      <p:sp>
        <p:nvSpPr>
          <p:cNvPr id="35" name="Text 33"/>
          <p:cNvSpPr/>
          <p:nvPr/>
        </p:nvSpPr>
        <p:spPr>
          <a:xfrm>
            <a:off x="8641080" y="3538728"/>
            <a:ext cx="2651760" cy="58521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변동성 · MDD · VaR95 (numpy 가속, 관측 부족 시 미산출 표기)</a:t>
            </a:r>
            <a:endParaRPr lang="en-US" sz="920" dirty="0"/>
          </a:p>
        </p:txBody>
      </p:sp>
      <p:sp>
        <p:nvSpPr>
          <p:cNvPr id="36" name="Shape 34"/>
          <p:cNvSpPr/>
          <p:nvPr/>
        </p:nvSpPr>
        <p:spPr>
          <a:xfrm>
            <a:off x="6263640" y="4306824"/>
            <a:ext cx="5120640" cy="731520"/>
          </a:xfrm>
          <a:prstGeom prst="roundRect">
            <a:avLst>
              <a:gd name="adj" fmla="val 11250"/>
            </a:avLst>
          </a:prstGeom>
          <a:solidFill>
            <a:srgbClr val="FFFFFF"/>
          </a:solidFill>
          <a:ln w="12700">
            <a:solidFill>
              <a:srgbClr val="D9E0EC"/>
            </a:solidFill>
            <a:prstDash val="solid"/>
          </a:ln>
        </p:spPr>
      </p:sp>
      <p:sp>
        <p:nvSpPr>
          <p:cNvPr id="37" name="Shape 35"/>
          <p:cNvSpPr/>
          <p:nvPr/>
        </p:nvSpPr>
        <p:spPr>
          <a:xfrm>
            <a:off x="6391656" y="4434840"/>
            <a:ext cx="274320" cy="274320"/>
          </a:xfrm>
          <a:prstGeom prst="ellipse">
            <a:avLst/>
          </a:prstGeom>
          <a:solidFill>
            <a:srgbClr val="1A4FD8"/>
          </a:solidFill>
          <a:ln/>
        </p:spPr>
      </p:sp>
      <p:sp>
        <p:nvSpPr>
          <p:cNvPr id="38" name="Text 36"/>
          <p:cNvSpPr/>
          <p:nvPr/>
        </p:nvSpPr>
        <p:spPr>
          <a:xfrm>
            <a:off x="6391656" y="4434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39" name="Text 37"/>
          <p:cNvSpPr/>
          <p:nvPr/>
        </p:nvSpPr>
        <p:spPr>
          <a:xfrm>
            <a:off x="6739128" y="4416552"/>
            <a:ext cx="18288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스트레스 3종</a:t>
            </a:r>
            <a:endParaRPr lang="en-US" sz="1150" dirty="0"/>
          </a:p>
        </p:txBody>
      </p:sp>
      <p:sp>
        <p:nvSpPr>
          <p:cNvPr id="40" name="Text 38"/>
          <p:cNvSpPr/>
          <p:nvPr/>
        </p:nvSpPr>
        <p:spPr>
          <a:xfrm>
            <a:off x="8641080" y="4379976"/>
            <a:ext cx="2651760" cy="58521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주식 급락 · 금리/물가 충격 · 스태그플레이션 정책 시나리오</a:t>
            </a:r>
            <a:endParaRPr lang="en-US" sz="920" dirty="0"/>
          </a:p>
        </p:txBody>
      </p:sp>
      <p:sp>
        <p:nvSpPr>
          <p:cNvPr id="41" name="Shape 39"/>
          <p:cNvSpPr/>
          <p:nvPr/>
        </p:nvSpPr>
        <p:spPr>
          <a:xfrm>
            <a:off x="6263640" y="5148072"/>
            <a:ext cx="5120640" cy="731520"/>
          </a:xfrm>
          <a:prstGeom prst="roundRect">
            <a:avLst>
              <a:gd name="adj" fmla="val 11250"/>
            </a:avLst>
          </a:prstGeom>
          <a:solidFill>
            <a:srgbClr val="FFFFFF"/>
          </a:solidFill>
          <a:ln w="12700">
            <a:solidFill>
              <a:srgbClr val="D9E0EC"/>
            </a:solidFill>
            <a:prstDash val="solid"/>
          </a:ln>
        </p:spPr>
      </p:sp>
      <p:sp>
        <p:nvSpPr>
          <p:cNvPr id="42" name="Shape 40"/>
          <p:cNvSpPr/>
          <p:nvPr/>
        </p:nvSpPr>
        <p:spPr>
          <a:xfrm>
            <a:off x="6391656" y="5276088"/>
            <a:ext cx="274320" cy="274320"/>
          </a:xfrm>
          <a:prstGeom prst="ellipse">
            <a:avLst/>
          </a:prstGeom>
          <a:solidFill>
            <a:srgbClr val="1A4FD8"/>
          </a:solidFill>
          <a:ln/>
        </p:spPr>
      </p:sp>
      <p:sp>
        <p:nvSpPr>
          <p:cNvPr id="43" name="Text 41"/>
          <p:cNvSpPr/>
          <p:nvPr/>
        </p:nvSpPr>
        <p:spPr>
          <a:xfrm>
            <a:off x="6391656" y="527608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44" name="Text 42"/>
          <p:cNvSpPr/>
          <p:nvPr/>
        </p:nvSpPr>
        <p:spPr>
          <a:xfrm>
            <a:off x="6739128" y="5257800"/>
            <a:ext cx="1828800" cy="310896"/>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계획수익률 · 리밸런싱</a:t>
            </a:r>
            <a:endParaRPr lang="en-US" sz="1150" dirty="0"/>
          </a:p>
        </p:txBody>
      </p:sp>
      <p:sp>
        <p:nvSpPr>
          <p:cNvPr id="45" name="Text 43"/>
          <p:cNvSpPr/>
          <p:nvPr/>
        </p:nvSpPr>
        <p:spPr>
          <a:xfrm>
            <a:off x="8641080" y="5221224"/>
            <a:ext cx="2651760" cy="58521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CMA 앵커 − 불확실성 할인 · 이탈 ±5%p · 매도 지시 없음</a:t>
            </a:r>
            <a:endParaRPr lang="en-US" sz="920" dirty="0"/>
          </a:p>
        </p:txBody>
      </p:sp>
      <p:sp>
        <p:nvSpPr>
          <p:cNvPr id="46" name="Shape 44"/>
          <p:cNvSpPr/>
          <p:nvPr/>
        </p:nvSpPr>
        <p:spPr>
          <a:xfrm>
            <a:off x="548640" y="5989320"/>
            <a:ext cx="11091672" cy="502920"/>
          </a:xfrm>
          <a:prstGeom prst="roundRect">
            <a:avLst>
              <a:gd name="adj" fmla="val 16364"/>
            </a:avLst>
          </a:prstGeom>
          <a:solidFill>
            <a:srgbClr val="E6F3EA"/>
          </a:solidFill>
          <a:ln/>
        </p:spPr>
      </p:sp>
      <p:sp>
        <p:nvSpPr>
          <p:cNvPr id="47" name="Text 45"/>
          <p:cNvSpPr/>
          <p:nvPr/>
        </p:nvSpPr>
        <p:spPr>
          <a:xfrm>
            <a:off x="731520" y="5989320"/>
            <a:ext cx="10725912" cy="502920"/>
          </a:xfrm>
          <a:prstGeom prst="rect">
            <a:avLst/>
          </a:prstGeom>
          <a:noFill/>
          <a:ln/>
        </p:spPr>
        <p:txBody>
          <a:bodyPr wrap="square" lIns="0" tIns="0" rIns="0" bIns="0" rtlCol="0" anchor="ctr"/>
          <a:lstStyle/>
          <a:p>
            <a:pPr indent="0" marL="0">
              <a:buNone/>
            </a:pPr>
            <a:r>
              <a:rPr lang="en-US" sz="1100" b="1" dirty="0">
                <a:solidFill>
                  <a:srgbClr val="1E8A4C"/>
                </a:solidFill>
                <a:latin typeface="Malgun Gothic" pitchFamily="34" charset="0"/>
                <a:ea typeface="Malgun Gothic" pitchFamily="34" charset="-122"/>
                <a:cs typeface="Malgun Gothic" pitchFamily="34" charset="-120"/>
              </a:rPr>
              <a:t>검증: </a:t>
            </a:r>
            <a:pPr indent="0" marL="0">
              <a:buNone/>
            </a:pPr>
            <a:r>
              <a:rPr lang="en-US" sz="1100" dirty="0">
                <a:solidFill>
                  <a:srgbClr val="18202E"/>
                </a:solidFill>
                <a:latin typeface="Malgun Gothic" pitchFamily="34" charset="0"/>
                <a:ea typeface="Malgun Gothic" pitchFamily="34" charset="-122"/>
                <a:cs typeface="Malgun Gothic" pitchFamily="34" charset="-120"/>
              </a:rPr>
              <a:t>나이 4 × 은퇴 2 × 성향 5 × 계좌 3 = 120개 전수 생성 — 70% 한도 위반 0건 · 슬리브 누락 0건 · DB/로컬 결과 0건 차이</a:t>
            </a:r>
            <a:endParaRPr lang="en-US" sz="1100" dirty="0"/>
          </a:p>
        </p:txBody>
      </p:sp>
      <p:sp>
        <p:nvSpPr>
          <p:cNvPr id="48" name="Text 46"/>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09 · AI 모델링 — 모델 실험 · RAG</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작은 모델이 이겼다 — 검증 통과율로 뽑는다</a:t>
            </a:r>
            <a:endParaRPr lang="en-US" sz="2800" dirty="0"/>
          </a:p>
        </p:txBody>
      </p:sp>
      <p:sp>
        <p:nvSpPr>
          <p:cNvPr id="4" name="Text 2"/>
          <p:cNvSpPr/>
          <p:nvPr/>
        </p:nvSpPr>
        <p:spPr>
          <a:xfrm>
            <a:off x="548640" y="1417320"/>
            <a:ext cx="521208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내레이터 A/B — 가드 검증 통과율</a:t>
            </a:r>
            <a:endParaRPr lang="en-US" sz="1250" dirty="0"/>
          </a:p>
        </p:txBody>
      </p:sp>
      <p:graphicFrame>
        <p:nvGraphicFramePr>
          <p:cNvPr id="5" name="Chart 0" descr=""/>
          <p:cNvGraphicFramePr/>
          <p:nvPr/>
        </p:nvGraphicFramePr>
        <p:xfrm>
          <a:off x="548640" y="1783080"/>
          <a:ext cx="5212080" cy="228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4114800"/>
            <a:ext cx="5212080"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10문항 × 20회 반복 — 빠르고 통과율 높은 Haiku 채택 (thinking OFF로 호출 7.2 → 3.6초)</a:t>
            </a:r>
            <a:endParaRPr lang="en-US" sz="950" dirty="0"/>
          </a:p>
        </p:txBody>
      </p:sp>
      <p:sp>
        <p:nvSpPr>
          <p:cNvPr id="7" name="Shape 4"/>
          <p:cNvSpPr/>
          <p:nvPr/>
        </p:nvSpPr>
        <p:spPr>
          <a:xfrm>
            <a:off x="548640" y="4526280"/>
            <a:ext cx="5212080" cy="603504"/>
          </a:xfrm>
          <a:prstGeom prst="roundRect">
            <a:avLst>
              <a:gd name="adj" fmla="val 13636"/>
            </a:avLst>
          </a:prstGeom>
          <a:solidFill>
            <a:srgbClr val="F7F9FE"/>
          </a:solidFill>
          <a:ln w="12700">
            <a:solidFill>
              <a:srgbClr val="D9E0EC"/>
            </a:solidFill>
            <a:prstDash val="solid"/>
          </a:ln>
        </p:spPr>
      </p:sp>
      <p:sp>
        <p:nvSpPr>
          <p:cNvPr id="8" name="Text 5"/>
          <p:cNvSpPr/>
          <p:nvPr/>
        </p:nvSpPr>
        <p:spPr>
          <a:xfrm>
            <a:off x="694944" y="4581144"/>
            <a:ext cx="1783080" cy="493776"/>
          </a:xfrm>
          <a:prstGeom prst="rect">
            <a:avLst/>
          </a:prstGeom>
          <a:noFill/>
          <a:ln/>
        </p:spPr>
        <p:txBody>
          <a:bodyPr wrap="square" lIns="0" tIns="0" rIns="0" bIns="0" rtlCol="0" anchor="ctr"/>
          <a:lstStyle/>
          <a:p>
            <a:pPr indent="0" marL="0">
              <a:buNone/>
            </a:pPr>
            <a:r>
              <a:rPr lang="en-US" sz="1050" b="1" dirty="0">
                <a:solidFill>
                  <a:srgbClr val="1A4FD8"/>
                </a:solidFill>
                <a:latin typeface="Malgun Gothic" pitchFamily="34" charset="0"/>
                <a:ea typeface="Malgun Gothic" pitchFamily="34" charset="-122"/>
                <a:cs typeface="Malgun Gothic" pitchFamily="34" charset="-120"/>
              </a:rPr>
              <a:t>claude-haiku-4-5</a:t>
            </a:r>
            <a:endParaRPr lang="en-US" sz="1050" dirty="0"/>
          </a:p>
        </p:txBody>
      </p:sp>
      <p:sp>
        <p:nvSpPr>
          <p:cNvPr id="9" name="Text 6"/>
          <p:cNvSpPr/>
          <p:nvPr/>
        </p:nvSpPr>
        <p:spPr>
          <a:xfrm>
            <a:off x="2514600" y="4581144"/>
            <a:ext cx="3154680" cy="493776"/>
          </a:xfrm>
          <a:prstGeom prst="rect">
            <a:avLst/>
          </a:prstGeom>
          <a:noFill/>
          <a:ln/>
        </p:spPr>
        <p:txBody>
          <a:bodyPr wrap="square" lIns="0" tIns="0" rIns="0" bIns="0" rtlCol="0" anchor="ctr"/>
          <a:lstStyle/>
          <a:p>
            <a:pPr indent="0" marL="0">
              <a:buNone/>
            </a:pPr>
            <a:r>
              <a:rPr lang="en-US" sz="920" dirty="0">
                <a:solidFill>
                  <a:srgbClr val="18202E"/>
                </a:solidFill>
                <a:latin typeface="Malgun Gothic" pitchFamily="34" charset="0"/>
                <a:ea typeface="Malgun Gothic" pitchFamily="34" charset="-122"/>
                <a:cs typeface="Malgun Gothic" pitchFamily="34" charset="-120"/>
              </a:rPr>
              <a:t>엔진 수치 재서술 — 해요체 2~3문장 · 350자 · 새 숫자 금지</a:t>
            </a:r>
            <a:endParaRPr lang="en-US" sz="920" dirty="0"/>
          </a:p>
        </p:txBody>
      </p:sp>
      <p:sp>
        <p:nvSpPr>
          <p:cNvPr id="10" name="Shape 7"/>
          <p:cNvSpPr/>
          <p:nvPr/>
        </p:nvSpPr>
        <p:spPr>
          <a:xfrm>
            <a:off x="548640" y="5239512"/>
            <a:ext cx="5212080" cy="603504"/>
          </a:xfrm>
          <a:prstGeom prst="roundRect">
            <a:avLst>
              <a:gd name="adj" fmla="val 13636"/>
            </a:avLst>
          </a:prstGeom>
          <a:solidFill>
            <a:srgbClr val="F7F9FE"/>
          </a:solidFill>
          <a:ln w="12700">
            <a:solidFill>
              <a:srgbClr val="D9E0EC"/>
            </a:solidFill>
            <a:prstDash val="solid"/>
          </a:ln>
        </p:spPr>
      </p:sp>
      <p:sp>
        <p:nvSpPr>
          <p:cNvPr id="11" name="Text 8"/>
          <p:cNvSpPr/>
          <p:nvPr/>
        </p:nvSpPr>
        <p:spPr>
          <a:xfrm>
            <a:off x="694944" y="5294376"/>
            <a:ext cx="1783080" cy="493776"/>
          </a:xfrm>
          <a:prstGeom prst="rect">
            <a:avLst/>
          </a:prstGeom>
          <a:noFill/>
          <a:ln/>
        </p:spPr>
        <p:txBody>
          <a:bodyPr wrap="square" lIns="0" tIns="0" rIns="0" bIns="0" rtlCol="0" anchor="ctr"/>
          <a:lstStyle/>
          <a:p>
            <a:pPr indent="0" marL="0">
              <a:buNone/>
            </a:pPr>
            <a:r>
              <a:rPr lang="en-US" sz="1050" b="1" dirty="0">
                <a:solidFill>
                  <a:srgbClr val="1A4FD8"/>
                </a:solidFill>
                <a:latin typeface="Malgun Gothic" pitchFamily="34" charset="0"/>
                <a:ea typeface="Malgun Gothic" pitchFamily="34" charset="-122"/>
                <a:cs typeface="Malgun Gothic" pitchFamily="34" charset="-120"/>
              </a:rPr>
              <a:t>claude-sonnet-5</a:t>
            </a:r>
            <a:endParaRPr lang="en-US" sz="1050" dirty="0"/>
          </a:p>
        </p:txBody>
      </p:sp>
      <p:sp>
        <p:nvSpPr>
          <p:cNvPr id="12" name="Text 9"/>
          <p:cNvSpPr/>
          <p:nvPr/>
        </p:nvSpPr>
        <p:spPr>
          <a:xfrm>
            <a:off x="2514600" y="5294376"/>
            <a:ext cx="3154680" cy="493776"/>
          </a:xfrm>
          <a:prstGeom prst="rect">
            <a:avLst/>
          </a:prstGeom>
          <a:noFill/>
          <a:ln/>
        </p:spPr>
        <p:txBody>
          <a:bodyPr wrap="square" lIns="0" tIns="0" rIns="0" bIns="0" rtlCol="0" anchor="ctr"/>
          <a:lstStyle/>
          <a:p>
            <a:pPr indent="0" marL="0">
              <a:buNone/>
            </a:pPr>
            <a:r>
              <a:rPr lang="en-US" sz="920" dirty="0">
                <a:solidFill>
                  <a:srgbClr val="18202E"/>
                </a:solidFill>
                <a:latin typeface="Malgun Gothic" pitchFamily="34" charset="0"/>
                <a:ea typeface="Malgun Gothic" pitchFamily="34" charset="-122"/>
                <a:cs typeface="Malgun Gothic" pitchFamily="34" charset="-120"/>
              </a:rPr>
              <a:t>뉴스 3줄 요약 — 요약 숫자 ⊆ 원문 숫자 검증 · 금지어 차단</a:t>
            </a:r>
            <a:endParaRPr lang="en-US" sz="920" dirty="0"/>
          </a:p>
        </p:txBody>
      </p:sp>
      <p:sp>
        <p:nvSpPr>
          <p:cNvPr id="13" name="Text 10"/>
          <p:cNvSpPr/>
          <p:nvPr/>
        </p:nvSpPr>
        <p:spPr>
          <a:xfrm>
            <a:off x="6217920" y="1417320"/>
            <a:ext cx="516636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RAG — 승인 문서만, 하이브리드로</a:t>
            </a:r>
            <a:endParaRPr lang="en-US" sz="1250" dirty="0"/>
          </a:p>
        </p:txBody>
      </p:sp>
      <p:sp>
        <p:nvSpPr>
          <p:cNvPr id="14" name="Shape 11"/>
          <p:cNvSpPr/>
          <p:nvPr/>
        </p:nvSpPr>
        <p:spPr>
          <a:xfrm>
            <a:off x="6217920" y="1783080"/>
            <a:ext cx="5166360" cy="603504"/>
          </a:xfrm>
          <a:prstGeom prst="roundRect">
            <a:avLst>
              <a:gd name="adj" fmla="val 13636"/>
            </a:avLst>
          </a:prstGeom>
          <a:solidFill>
            <a:srgbClr val="FFFFFF"/>
          </a:solidFill>
          <a:ln w="12700">
            <a:solidFill>
              <a:srgbClr val="D9E0EC"/>
            </a:solidFill>
            <a:prstDash val="solid"/>
          </a:ln>
        </p:spPr>
      </p:sp>
      <p:sp>
        <p:nvSpPr>
          <p:cNvPr id="15" name="Text 12"/>
          <p:cNvSpPr/>
          <p:nvPr/>
        </p:nvSpPr>
        <p:spPr>
          <a:xfrm>
            <a:off x="6364224" y="1837944"/>
            <a:ext cx="1691640" cy="493776"/>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임베딩</a:t>
            </a:r>
            <a:endParaRPr lang="en-US" sz="1050" dirty="0"/>
          </a:p>
        </p:txBody>
      </p:sp>
      <p:sp>
        <p:nvSpPr>
          <p:cNvPr id="16" name="Text 13"/>
          <p:cNvSpPr/>
          <p:nvPr/>
        </p:nvSpPr>
        <p:spPr>
          <a:xfrm>
            <a:off x="8092440" y="1837944"/>
            <a:ext cx="3200400" cy="49377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BGE-M3 1024차원 · HNSW 코사인 인덱스</a:t>
            </a:r>
            <a:endParaRPr lang="en-US" sz="920" dirty="0"/>
          </a:p>
        </p:txBody>
      </p:sp>
      <p:sp>
        <p:nvSpPr>
          <p:cNvPr id="17" name="Shape 14"/>
          <p:cNvSpPr/>
          <p:nvPr/>
        </p:nvSpPr>
        <p:spPr>
          <a:xfrm>
            <a:off x="6217920" y="2496312"/>
            <a:ext cx="5166360" cy="603504"/>
          </a:xfrm>
          <a:prstGeom prst="roundRect">
            <a:avLst>
              <a:gd name="adj" fmla="val 13636"/>
            </a:avLst>
          </a:prstGeom>
          <a:solidFill>
            <a:srgbClr val="FFFFFF"/>
          </a:solidFill>
          <a:ln w="12700">
            <a:solidFill>
              <a:srgbClr val="D9E0EC"/>
            </a:solidFill>
            <a:prstDash val="solid"/>
          </a:ln>
        </p:spPr>
      </p:sp>
      <p:sp>
        <p:nvSpPr>
          <p:cNvPr id="18" name="Text 15"/>
          <p:cNvSpPr/>
          <p:nvPr/>
        </p:nvSpPr>
        <p:spPr>
          <a:xfrm>
            <a:off x="6364224" y="2551176"/>
            <a:ext cx="1691640" cy="493776"/>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하이브리드 검색</a:t>
            </a:r>
            <a:endParaRPr lang="en-US" sz="1050" dirty="0"/>
          </a:p>
        </p:txBody>
      </p:sp>
      <p:sp>
        <p:nvSpPr>
          <p:cNvPr id="19" name="Text 16"/>
          <p:cNvSpPr/>
          <p:nvPr/>
        </p:nvSpPr>
        <p:spPr>
          <a:xfrm>
            <a:off x="8092440" y="2551176"/>
            <a:ext cx="3200400" cy="49377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전문검색 + 벡터 후보를 RRF(k=60)로 융합</a:t>
            </a:r>
            <a:endParaRPr lang="en-US" sz="920" dirty="0"/>
          </a:p>
        </p:txBody>
      </p:sp>
      <p:sp>
        <p:nvSpPr>
          <p:cNvPr id="20" name="Shape 17"/>
          <p:cNvSpPr/>
          <p:nvPr/>
        </p:nvSpPr>
        <p:spPr>
          <a:xfrm>
            <a:off x="6217920" y="3209544"/>
            <a:ext cx="5166360" cy="603504"/>
          </a:xfrm>
          <a:prstGeom prst="roundRect">
            <a:avLst>
              <a:gd name="adj" fmla="val 13636"/>
            </a:avLst>
          </a:prstGeom>
          <a:solidFill>
            <a:srgbClr val="FFFFFF"/>
          </a:solidFill>
          <a:ln w="12700">
            <a:solidFill>
              <a:srgbClr val="D9E0EC"/>
            </a:solidFill>
            <a:prstDash val="solid"/>
          </a:ln>
        </p:spPr>
      </p:sp>
      <p:sp>
        <p:nvSpPr>
          <p:cNvPr id="21" name="Text 18"/>
          <p:cNvSpPr/>
          <p:nvPr/>
        </p:nvSpPr>
        <p:spPr>
          <a:xfrm>
            <a:off x="6364224" y="3264408"/>
            <a:ext cx="1691640" cy="493776"/>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결정론 재랭킹</a:t>
            </a:r>
            <a:endParaRPr lang="en-US" sz="1050" dirty="0"/>
          </a:p>
        </p:txBody>
      </p:sp>
      <p:sp>
        <p:nvSpPr>
          <p:cNvPr id="22" name="Text 19"/>
          <p:cNvSpPr/>
          <p:nvPr/>
        </p:nvSpPr>
        <p:spPr>
          <a:xfrm>
            <a:off x="8092440" y="3264408"/>
            <a:ext cx="3200400" cy="49377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제목·발행처·문서타입 가중 · 동점 안정 정렬</a:t>
            </a:r>
            <a:endParaRPr lang="en-US" sz="920" dirty="0"/>
          </a:p>
        </p:txBody>
      </p:sp>
      <p:sp>
        <p:nvSpPr>
          <p:cNvPr id="23" name="Shape 20"/>
          <p:cNvSpPr/>
          <p:nvPr/>
        </p:nvSpPr>
        <p:spPr>
          <a:xfrm>
            <a:off x="6217920" y="3922776"/>
            <a:ext cx="5166360" cy="603504"/>
          </a:xfrm>
          <a:prstGeom prst="roundRect">
            <a:avLst>
              <a:gd name="adj" fmla="val 13636"/>
            </a:avLst>
          </a:prstGeom>
          <a:solidFill>
            <a:srgbClr val="FFFFFF"/>
          </a:solidFill>
          <a:ln w="12700">
            <a:solidFill>
              <a:srgbClr val="D9E0EC"/>
            </a:solidFill>
            <a:prstDash val="solid"/>
          </a:ln>
        </p:spPr>
      </p:sp>
      <p:sp>
        <p:nvSpPr>
          <p:cNvPr id="24" name="Text 21"/>
          <p:cNvSpPr/>
          <p:nvPr/>
        </p:nvSpPr>
        <p:spPr>
          <a:xfrm>
            <a:off x="6364224" y="3977640"/>
            <a:ext cx="1691640" cy="493776"/>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승인 코퍼스 16종</a:t>
            </a:r>
            <a:endParaRPr lang="en-US" sz="1050" dirty="0"/>
          </a:p>
        </p:txBody>
      </p:sp>
      <p:sp>
        <p:nvSpPr>
          <p:cNvPr id="25" name="Text 22"/>
          <p:cNvSpPr/>
          <p:nvPr/>
        </p:nvSpPr>
        <p:spPr>
          <a:xfrm>
            <a:off x="8092440" y="3977640"/>
            <a:ext cx="3200400" cy="49377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규제 9 · 리서치 6 · 공식안내 1 — 검토기한(90/180일) 만료 시 자동 제외</a:t>
            </a:r>
            <a:endParaRPr lang="en-US" sz="920" dirty="0"/>
          </a:p>
        </p:txBody>
      </p:sp>
      <p:sp>
        <p:nvSpPr>
          <p:cNvPr id="26" name="Shape 23"/>
          <p:cNvSpPr/>
          <p:nvPr/>
        </p:nvSpPr>
        <p:spPr>
          <a:xfrm>
            <a:off x="6217920" y="4636008"/>
            <a:ext cx="5166360" cy="603504"/>
          </a:xfrm>
          <a:prstGeom prst="roundRect">
            <a:avLst>
              <a:gd name="adj" fmla="val 13636"/>
            </a:avLst>
          </a:prstGeom>
          <a:solidFill>
            <a:srgbClr val="FFFFFF"/>
          </a:solidFill>
          <a:ln w="12700">
            <a:solidFill>
              <a:srgbClr val="D9E0EC"/>
            </a:solidFill>
            <a:prstDash val="solid"/>
          </a:ln>
        </p:spPr>
      </p:sp>
      <p:sp>
        <p:nvSpPr>
          <p:cNvPr id="27" name="Text 24"/>
          <p:cNvSpPr/>
          <p:nvPr/>
        </p:nvSpPr>
        <p:spPr>
          <a:xfrm>
            <a:off x="6364224" y="4690872"/>
            <a:ext cx="1691640" cy="493776"/>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안전 정책</a:t>
            </a:r>
            <a:endParaRPr lang="en-US" sz="1050" dirty="0"/>
          </a:p>
        </p:txBody>
      </p:sp>
      <p:sp>
        <p:nvSpPr>
          <p:cNvPr id="28" name="Text 25"/>
          <p:cNvSpPr/>
          <p:nvPr/>
        </p:nvSpPr>
        <p:spPr>
          <a:xfrm>
            <a:off x="8092440" y="4690872"/>
            <a:ext cx="3200400" cy="493776"/>
          </a:xfrm>
          <a:prstGeom prst="rect">
            <a:avLst/>
          </a:prstGeom>
          <a:noFill/>
          <a:ln/>
        </p:spPr>
        <p:txBody>
          <a:bodyPr wrap="square" lIns="0" tIns="0" rIns="0" bIns="0" rtlCol="0" anchor="ctr"/>
          <a:lstStyle/>
          <a:p>
            <a:pPr indent="0" marL="0">
              <a:buNone/>
            </a:pPr>
            <a:r>
              <a:rPr lang="en-US" sz="920" dirty="0">
                <a:solidFill>
                  <a:srgbClr val="5A6474"/>
                </a:solidFill>
                <a:latin typeface="Malgun Gothic" pitchFamily="34" charset="0"/>
                <a:ea typeface="Malgun Gothic" pitchFamily="34" charset="-122"/>
                <a:cs typeface="Malgun Gothic" pitchFamily="34" charset="-120"/>
              </a:rPr>
              <a:t>개인정보 · 프롬프트 인젝션 패턴 적재 차단 · 공식 도메인 화이트리스트</a:t>
            </a:r>
            <a:endParaRPr lang="en-US" sz="920" dirty="0"/>
          </a:p>
        </p:txBody>
      </p:sp>
      <p:sp>
        <p:nvSpPr>
          <p:cNvPr id="29" name="Shape 26"/>
          <p:cNvSpPr/>
          <p:nvPr/>
        </p:nvSpPr>
        <p:spPr>
          <a:xfrm>
            <a:off x="6217920" y="5440680"/>
            <a:ext cx="5166360" cy="713232"/>
          </a:xfrm>
          <a:prstGeom prst="roundRect">
            <a:avLst>
              <a:gd name="adj" fmla="val 11538"/>
            </a:avLst>
          </a:prstGeom>
          <a:solidFill>
            <a:srgbClr val="EEF3FE"/>
          </a:solidFill>
          <a:ln w="12700">
            <a:solidFill>
              <a:srgbClr val="D7E2F8"/>
            </a:solidFill>
            <a:prstDash val="solid"/>
          </a:ln>
        </p:spPr>
      </p:sp>
      <p:sp>
        <p:nvSpPr>
          <p:cNvPr id="30" name="Text 27"/>
          <p:cNvSpPr/>
          <p:nvPr/>
        </p:nvSpPr>
        <p:spPr>
          <a:xfrm>
            <a:off x="6400800" y="5440680"/>
            <a:ext cx="4846320" cy="7132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검색 품질 (대표 질의 18케이스)   </a:t>
            </a:r>
            <a:pPr indent="0" marL="0">
              <a:buNone/>
            </a:pPr>
            <a:r>
              <a:rPr lang="en-US" sz="1300" b="1" dirty="0">
                <a:solidFill>
                  <a:srgbClr val="1A4FD8"/>
                </a:solidFill>
                <a:latin typeface="Malgun Gothic" pitchFamily="34" charset="0"/>
                <a:ea typeface="Malgun Gothic" pitchFamily="34" charset="-122"/>
                <a:cs typeface="Malgun Gothic" pitchFamily="34" charset="-120"/>
              </a:rPr>
              <a:t>Hit@1 = 1.0 · Hit@5 = 1.0 · MRR@5 = 1.0</a:t>
            </a:r>
            <a:endParaRPr lang="en-US" sz="1100" dirty="0"/>
          </a:p>
        </p:txBody>
      </p:sp>
      <p:sp>
        <p:nvSpPr>
          <p:cNvPr id="31" name="Text 28"/>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10 · 검증 · 백테스팅</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숫자로 증명하는 안정성</a:t>
            </a:r>
            <a:endParaRPr lang="en-US" sz="2800" dirty="0"/>
          </a:p>
        </p:txBody>
      </p:sp>
      <p:sp>
        <p:nvSpPr>
          <p:cNvPr id="4" name="Shape 2"/>
          <p:cNvSpPr/>
          <p:nvPr/>
        </p:nvSpPr>
        <p:spPr>
          <a:xfrm>
            <a:off x="548640" y="1463040"/>
            <a:ext cx="2651760" cy="1417320"/>
          </a:xfrm>
          <a:prstGeom prst="roundRect">
            <a:avLst>
              <a:gd name="adj" fmla="val 5806"/>
            </a:avLst>
          </a:prstGeom>
          <a:solidFill>
            <a:srgbClr val="FFFFFF"/>
          </a:solidFill>
          <a:ln w="12700">
            <a:solidFill>
              <a:srgbClr val="D9E0EC"/>
            </a:solidFill>
            <a:prstDash val="solid"/>
          </a:ln>
        </p:spPr>
      </p:sp>
      <p:sp>
        <p:nvSpPr>
          <p:cNvPr id="5" name="Text 3"/>
          <p:cNvSpPr/>
          <p:nvPr/>
        </p:nvSpPr>
        <p:spPr>
          <a:xfrm>
            <a:off x="694944" y="1554480"/>
            <a:ext cx="2359152" cy="680314"/>
          </a:xfrm>
          <a:prstGeom prst="rect">
            <a:avLst/>
          </a:prstGeom>
          <a:noFill/>
          <a:ln/>
        </p:spPr>
        <p:txBody>
          <a:bodyPr wrap="square" lIns="0" tIns="0" rIns="0" bIns="0" rtlCol="0" anchor="b"/>
          <a:lstStyle/>
          <a:p>
            <a:pPr indent="0" marL="0">
              <a:buNone/>
            </a:pPr>
            <a:r>
              <a:rPr lang="en-US" sz="2000" b="1" dirty="0">
                <a:solidFill>
                  <a:srgbClr val="1E8A4C"/>
                </a:solidFill>
                <a:latin typeface="Malgun Gothic" pitchFamily="34" charset="0"/>
                <a:ea typeface="Malgun Gothic" pitchFamily="34" charset="-122"/>
                <a:cs typeface="Malgun Gothic" pitchFamily="34" charset="-120"/>
              </a:rPr>
              <a:t>120개 · 0건</a:t>
            </a:r>
            <a:endParaRPr lang="en-US" sz="2000" dirty="0"/>
          </a:p>
        </p:txBody>
      </p:sp>
      <p:sp>
        <p:nvSpPr>
          <p:cNvPr id="6" name="Text 4"/>
          <p:cNvSpPr/>
          <p:nvPr/>
        </p:nvSpPr>
        <p:spPr>
          <a:xfrm>
            <a:off x="694944" y="2254910"/>
            <a:ext cx="235915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포트폴리오 전수 검증</a:t>
            </a:r>
            <a:endParaRPr lang="en-US" sz="1100" dirty="0"/>
          </a:p>
        </p:txBody>
      </p:sp>
      <p:sp>
        <p:nvSpPr>
          <p:cNvPr id="7" name="Text 5"/>
          <p:cNvSpPr/>
          <p:nvPr/>
        </p:nvSpPr>
        <p:spPr>
          <a:xfrm>
            <a:off x="694944" y="2501798"/>
            <a:ext cx="2359152" cy="351130"/>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70% 한도 위반 0 · DB/로컬 0건 차이</a:t>
            </a:r>
            <a:endParaRPr lang="en-US" sz="880" dirty="0"/>
          </a:p>
        </p:txBody>
      </p:sp>
      <p:sp>
        <p:nvSpPr>
          <p:cNvPr id="8" name="Shape 6"/>
          <p:cNvSpPr/>
          <p:nvPr/>
        </p:nvSpPr>
        <p:spPr>
          <a:xfrm>
            <a:off x="3401568" y="1463040"/>
            <a:ext cx="2651760" cy="1417320"/>
          </a:xfrm>
          <a:prstGeom prst="roundRect">
            <a:avLst>
              <a:gd name="adj" fmla="val 5806"/>
            </a:avLst>
          </a:prstGeom>
          <a:solidFill>
            <a:srgbClr val="FFFFFF"/>
          </a:solidFill>
          <a:ln w="12700">
            <a:solidFill>
              <a:srgbClr val="D9E0EC"/>
            </a:solidFill>
            <a:prstDash val="solid"/>
          </a:ln>
        </p:spPr>
      </p:sp>
      <p:sp>
        <p:nvSpPr>
          <p:cNvPr id="9" name="Text 7"/>
          <p:cNvSpPr/>
          <p:nvPr/>
        </p:nvSpPr>
        <p:spPr>
          <a:xfrm>
            <a:off x="3547872" y="1554480"/>
            <a:ext cx="2359152" cy="680314"/>
          </a:xfrm>
          <a:prstGeom prst="rect">
            <a:avLst/>
          </a:prstGeom>
          <a:noFill/>
          <a:ln/>
        </p:spPr>
        <p:txBody>
          <a:bodyPr wrap="square" lIns="0" tIns="0" rIns="0" bIns="0" rtlCol="0" anchor="b"/>
          <a:lstStyle/>
          <a:p>
            <a:pPr indent="0" marL="0">
              <a:buNone/>
            </a:pPr>
            <a:r>
              <a:rPr lang="en-US" sz="2000" b="1" dirty="0">
                <a:solidFill>
                  <a:srgbClr val="1A4FD8"/>
                </a:solidFill>
                <a:latin typeface="Malgun Gothic" pitchFamily="34" charset="0"/>
                <a:ea typeface="Malgun Gothic" pitchFamily="34" charset="-122"/>
                <a:cs typeface="Malgun Gothic" pitchFamily="34" charset="-120"/>
              </a:rPr>
              <a:t>944 passed</a:t>
            </a:r>
            <a:endParaRPr lang="en-US" sz="2000" dirty="0"/>
          </a:p>
        </p:txBody>
      </p:sp>
      <p:sp>
        <p:nvSpPr>
          <p:cNvPr id="10" name="Text 8"/>
          <p:cNvSpPr/>
          <p:nvPr/>
        </p:nvSpPr>
        <p:spPr>
          <a:xfrm>
            <a:off x="3547872" y="2254910"/>
            <a:ext cx="235915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백엔드 회귀 테스트</a:t>
            </a:r>
            <a:endParaRPr lang="en-US" sz="1100" dirty="0"/>
          </a:p>
        </p:txBody>
      </p:sp>
      <p:sp>
        <p:nvSpPr>
          <p:cNvPr id="11" name="Text 9"/>
          <p:cNvSpPr/>
          <p:nvPr/>
        </p:nvSpPr>
        <p:spPr>
          <a:xfrm>
            <a:off x="3547872" y="2501798"/>
            <a:ext cx="2359152" cy="351130"/>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1 skipped · 파일 103개 · 추이 680→944</a:t>
            </a:r>
            <a:endParaRPr lang="en-US" sz="880" dirty="0"/>
          </a:p>
        </p:txBody>
      </p:sp>
      <p:sp>
        <p:nvSpPr>
          <p:cNvPr id="12" name="Shape 10"/>
          <p:cNvSpPr/>
          <p:nvPr/>
        </p:nvSpPr>
        <p:spPr>
          <a:xfrm>
            <a:off x="548640" y="3081528"/>
            <a:ext cx="2651760" cy="1417320"/>
          </a:xfrm>
          <a:prstGeom prst="roundRect">
            <a:avLst>
              <a:gd name="adj" fmla="val 5806"/>
            </a:avLst>
          </a:prstGeom>
          <a:solidFill>
            <a:srgbClr val="FFFFFF"/>
          </a:solidFill>
          <a:ln w="12700">
            <a:solidFill>
              <a:srgbClr val="D9E0EC"/>
            </a:solidFill>
            <a:prstDash val="solid"/>
          </a:ln>
        </p:spPr>
      </p:sp>
      <p:sp>
        <p:nvSpPr>
          <p:cNvPr id="13" name="Text 11"/>
          <p:cNvSpPr/>
          <p:nvPr/>
        </p:nvSpPr>
        <p:spPr>
          <a:xfrm>
            <a:off x="694944" y="3172968"/>
            <a:ext cx="2359152" cy="680314"/>
          </a:xfrm>
          <a:prstGeom prst="rect">
            <a:avLst/>
          </a:prstGeom>
          <a:noFill/>
          <a:ln/>
        </p:spPr>
        <p:txBody>
          <a:bodyPr wrap="square" lIns="0" tIns="0" rIns="0" bIns="0" rtlCol="0" anchor="b"/>
          <a:lstStyle/>
          <a:p>
            <a:pPr indent="0" marL="0">
              <a:buNone/>
            </a:pPr>
            <a:r>
              <a:rPr lang="en-US" sz="2000" b="1" dirty="0">
                <a:solidFill>
                  <a:srgbClr val="1A4FD8"/>
                </a:solidFill>
                <a:latin typeface="Malgun Gothic" pitchFamily="34" charset="0"/>
                <a:ea typeface="Malgun Gothic" pitchFamily="34" charset="-122"/>
                <a:cs typeface="Malgun Gothic" pitchFamily="34" charset="-120"/>
              </a:rPr>
              <a:t>E2E 5종</a:t>
            </a:r>
            <a:endParaRPr lang="en-US" sz="2000" dirty="0"/>
          </a:p>
        </p:txBody>
      </p:sp>
      <p:sp>
        <p:nvSpPr>
          <p:cNvPr id="14" name="Text 12"/>
          <p:cNvSpPr/>
          <p:nvPr/>
        </p:nvSpPr>
        <p:spPr>
          <a:xfrm>
            <a:off x="694944" y="3873398"/>
            <a:ext cx="235915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원격 Supabase 종단 검증</a:t>
            </a:r>
            <a:endParaRPr lang="en-US" sz="1100" dirty="0"/>
          </a:p>
        </p:txBody>
      </p:sp>
      <p:sp>
        <p:nvSpPr>
          <p:cNvPr id="15" name="Text 13"/>
          <p:cNvSpPr/>
          <p:nvPr/>
        </p:nvSpPr>
        <p:spPr>
          <a:xfrm>
            <a:off x="694944" y="4120286"/>
            <a:ext cx="2359152" cy="351130"/>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Auth·RLS 2인 격리 · 인증 챗 · FSS 실적재 · 유니버스 동등성 · 데모 6계정</a:t>
            </a:r>
            <a:endParaRPr lang="en-US" sz="880" dirty="0"/>
          </a:p>
        </p:txBody>
      </p:sp>
      <p:sp>
        <p:nvSpPr>
          <p:cNvPr id="16" name="Shape 14"/>
          <p:cNvSpPr/>
          <p:nvPr/>
        </p:nvSpPr>
        <p:spPr>
          <a:xfrm>
            <a:off x="3401568" y="3081528"/>
            <a:ext cx="2651760" cy="1417320"/>
          </a:xfrm>
          <a:prstGeom prst="roundRect">
            <a:avLst>
              <a:gd name="adj" fmla="val 5806"/>
            </a:avLst>
          </a:prstGeom>
          <a:solidFill>
            <a:srgbClr val="FFFFFF"/>
          </a:solidFill>
          <a:ln w="12700">
            <a:solidFill>
              <a:srgbClr val="D9E0EC"/>
            </a:solidFill>
            <a:prstDash val="solid"/>
          </a:ln>
        </p:spPr>
      </p:sp>
      <p:sp>
        <p:nvSpPr>
          <p:cNvPr id="17" name="Text 15"/>
          <p:cNvSpPr/>
          <p:nvPr/>
        </p:nvSpPr>
        <p:spPr>
          <a:xfrm>
            <a:off x="3547872" y="3172968"/>
            <a:ext cx="2359152" cy="680314"/>
          </a:xfrm>
          <a:prstGeom prst="rect">
            <a:avLst/>
          </a:prstGeom>
          <a:noFill/>
          <a:ln/>
        </p:spPr>
        <p:txBody>
          <a:bodyPr wrap="square" lIns="0" tIns="0" rIns="0" bIns="0" rtlCol="0" anchor="b"/>
          <a:lstStyle/>
          <a:p>
            <a:pPr indent="0" marL="0">
              <a:buNone/>
            </a:pPr>
            <a:r>
              <a:rPr lang="en-US" sz="2000" b="1" dirty="0">
                <a:solidFill>
                  <a:srgbClr val="1A4FD8"/>
                </a:solidFill>
                <a:latin typeface="Malgun Gothic" pitchFamily="34" charset="0"/>
                <a:ea typeface="Malgun Gothic" pitchFamily="34" charset="-122"/>
                <a:cs typeface="Malgun Gothic" pitchFamily="34" charset="-120"/>
              </a:rPr>
              <a:t>게이트 8종</a:t>
            </a:r>
            <a:endParaRPr lang="en-US" sz="2000" dirty="0"/>
          </a:p>
        </p:txBody>
      </p:sp>
      <p:sp>
        <p:nvSpPr>
          <p:cNvPr id="18" name="Text 16"/>
          <p:cNvSpPr/>
          <p:nvPr/>
        </p:nvSpPr>
        <p:spPr>
          <a:xfrm>
            <a:off x="3547872" y="3873398"/>
            <a:ext cx="2359152"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데이터 품질 병합 게이트</a:t>
            </a:r>
            <a:endParaRPr lang="en-US" sz="1100" dirty="0"/>
          </a:p>
        </p:txBody>
      </p:sp>
      <p:sp>
        <p:nvSpPr>
          <p:cNvPr id="19" name="Text 17"/>
          <p:cNvSpPr/>
          <p:nvPr/>
        </p:nvSpPr>
        <p:spPr>
          <a:xfrm>
            <a:off x="3547872" y="4120286"/>
            <a:ext cx="2359152" cy="351130"/>
          </a:xfrm>
          <a:prstGeom prst="rect">
            <a:avLst/>
          </a:prstGeom>
          <a:noFill/>
          <a:ln/>
        </p:spPr>
        <p:txBody>
          <a:bodyPr wrap="square" lIns="0" tIns="0" rIns="0" bIns="0" rtlCol="0" anchor="t"/>
          <a:lstStyle/>
          <a:p>
            <a:pPr indent="0" marL="0">
              <a:buNone/>
            </a:pPr>
            <a:r>
              <a:rPr lang="en-US" sz="880" dirty="0">
                <a:solidFill>
                  <a:srgbClr val="5A6474"/>
                </a:solidFill>
                <a:latin typeface="Malgun Gothic" pitchFamily="34" charset="0"/>
                <a:ea typeface="Malgun Gothic" pitchFamily="34" charset="-122"/>
                <a:cs typeface="Malgun Gothic" pitchFamily="34" charset="-120"/>
              </a:rPr>
              <a:t>스키마 · 의미 · 인과 · 불변조건 · 재현성 등 PR 차단</a:t>
            </a:r>
            <a:endParaRPr lang="en-US" sz="880" dirty="0"/>
          </a:p>
        </p:txBody>
      </p:sp>
      <p:sp>
        <p:nvSpPr>
          <p:cNvPr id="20" name="Text 18"/>
          <p:cNvSpPr/>
          <p:nvPr/>
        </p:nvSpPr>
        <p:spPr>
          <a:xfrm>
            <a:off x="6309360" y="1463040"/>
            <a:ext cx="502920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성능 개선 — 실측</a:t>
            </a:r>
            <a:endParaRPr lang="en-US" sz="1250" dirty="0"/>
          </a:p>
        </p:txBody>
      </p:sp>
      <p:sp>
        <p:nvSpPr>
          <p:cNvPr id="21" name="Shape 19"/>
          <p:cNvSpPr/>
          <p:nvPr/>
        </p:nvSpPr>
        <p:spPr>
          <a:xfrm>
            <a:off x="6309360" y="1828800"/>
            <a:ext cx="5074920" cy="804672"/>
          </a:xfrm>
          <a:prstGeom prst="roundRect">
            <a:avLst>
              <a:gd name="adj" fmla="val 10227"/>
            </a:avLst>
          </a:prstGeom>
          <a:solidFill>
            <a:srgbClr val="FFFFFF"/>
          </a:solidFill>
          <a:ln w="12700">
            <a:solidFill>
              <a:srgbClr val="D9E0EC"/>
            </a:solidFill>
            <a:prstDash val="solid"/>
          </a:ln>
        </p:spPr>
      </p:sp>
      <p:sp>
        <p:nvSpPr>
          <p:cNvPr id="22" name="Text 20"/>
          <p:cNvSpPr/>
          <p:nvPr/>
        </p:nvSpPr>
        <p:spPr>
          <a:xfrm>
            <a:off x="6455664" y="1901952"/>
            <a:ext cx="1600200" cy="658368"/>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공시 질문 응답</a:t>
            </a:r>
            <a:endParaRPr lang="en-US" sz="1050" dirty="0"/>
          </a:p>
        </p:txBody>
      </p:sp>
      <p:sp>
        <p:nvSpPr>
          <p:cNvPr id="23" name="Text 21"/>
          <p:cNvSpPr/>
          <p:nvPr/>
        </p:nvSpPr>
        <p:spPr>
          <a:xfrm>
            <a:off x="8092440" y="1901952"/>
            <a:ext cx="2194560" cy="658368"/>
          </a:xfrm>
          <a:prstGeom prst="rect">
            <a:avLst/>
          </a:prstGeom>
          <a:noFill/>
          <a:ln/>
        </p:spPr>
        <p:txBody>
          <a:bodyPr wrap="square" lIns="0" tIns="0" rIns="0" bIns="0" rtlCol="0" anchor="ctr"/>
          <a:lstStyle/>
          <a:p>
            <a:pPr indent="0" marL="0">
              <a:buNone/>
            </a:pPr>
            <a:r>
              <a:rPr lang="en-US" sz="1200" strike="sngStrike" dirty="0">
                <a:solidFill>
                  <a:srgbClr val="5A6474"/>
                </a:solidFill>
                <a:latin typeface="Malgun Gothic" pitchFamily="34" charset="0"/>
                <a:ea typeface="Malgun Gothic" pitchFamily="34" charset="-122"/>
                <a:cs typeface="Malgun Gothic" pitchFamily="34" charset="-120"/>
              </a:rPr>
              <a:t>1,200ms  </a:t>
            </a:r>
            <a:pPr indent="0" marL="0">
              <a:buNone/>
            </a:pPr>
            <a:r>
              <a:rPr lang="en-US" sz="1200" dirty="0">
                <a:solidFill>
                  <a:srgbClr val="9AA3B2"/>
                </a:solidFill>
                <a:latin typeface="Malgun Gothic" pitchFamily="34" charset="0"/>
                <a:ea typeface="Malgun Gothic" pitchFamily="34" charset="-122"/>
                <a:cs typeface="Malgun Gothic" pitchFamily="34" charset="-120"/>
              </a:rPr>
              <a:t>→  </a:t>
            </a:r>
            <a:pPr indent="0" marL="0">
              <a:buNone/>
            </a:pPr>
            <a:r>
              <a:rPr lang="en-US" sz="1500" b="1" dirty="0">
                <a:solidFill>
                  <a:srgbClr val="1A4FD8"/>
                </a:solidFill>
                <a:latin typeface="Malgun Gothic" pitchFamily="34" charset="0"/>
                <a:ea typeface="Malgun Gothic" pitchFamily="34" charset="-122"/>
                <a:cs typeface="Malgun Gothic" pitchFamily="34" charset="-120"/>
              </a:rPr>
              <a:t>396ms</a:t>
            </a:r>
            <a:endParaRPr lang="en-US" sz="1200" dirty="0"/>
          </a:p>
        </p:txBody>
      </p:sp>
      <p:sp>
        <p:nvSpPr>
          <p:cNvPr id="24" name="Text 22"/>
          <p:cNvSpPr/>
          <p:nvPr/>
        </p:nvSpPr>
        <p:spPr>
          <a:xfrm>
            <a:off x="10332720" y="1901952"/>
            <a:ext cx="1005840" cy="658368"/>
          </a:xfrm>
          <a:prstGeom prst="rect">
            <a:avLst/>
          </a:prstGeom>
          <a:noFill/>
          <a:ln/>
        </p:spPr>
        <p:txBody>
          <a:bodyPr wrap="square" lIns="0" tIns="0" rIns="0" bIns="0" rtlCol="0" anchor="ctr"/>
          <a:lstStyle/>
          <a:p>
            <a:pPr indent="0" marL="0">
              <a:buNone/>
            </a:pPr>
            <a:r>
              <a:rPr lang="en-US" sz="820" dirty="0">
                <a:solidFill>
                  <a:srgbClr val="5A6474"/>
                </a:solidFill>
                <a:latin typeface="Malgun Gothic" pitchFamily="34" charset="0"/>
                <a:ea typeface="Malgun Gothic" pitchFamily="34" charset="-122"/>
                <a:cs typeface="Malgun Gothic" pitchFamily="34" charset="-120"/>
              </a:rPr>
              <a:t>저장소 지연오픈 4-커넥션 풀</a:t>
            </a:r>
            <a:endParaRPr lang="en-US" sz="820" dirty="0"/>
          </a:p>
        </p:txBody>
      </p:sp>
      <p:sp>
        <p:nvSpPr>
          <p:cNvPr id="25" name="Shape 23"/>
          <p:cNvSpPr/>
          <p:nvPr/>
        </p:nvSpPr>
        <p:spPr>
          <a:xfrm>
            <a:off x="6309360" y="2761488"/>
            <a:ext cx="5074920" cy="804672"/>
          </a:xfrm>
          <a:prstGeom prst="roundRect">
            <a:avLst>
              <a:gd name="adj" fmla="val 10227"/>
            </a:avLst>
          </a:prstGeom>
          <a:solidFill>
            <a:srgbClr val="FFFFFF"/>
          </a:solidFill>
          <a:ln w="12700">
            <a:solidFill>
              <a:srgbClr val="D9E0EC"/>
            </a:solidFill>
            <a:prstDash val="solid"/>
          </a:ln>
        </p:spPr>
      </p:sp>
      <p:sp>
        <p:nvSpPr>
          <p:cNvPr id="26" name="Text 24"/>
          <p:cNvSpPr/>
          <p:nvPr/>
        </p:nvSpPr>
        <p:spPr>
          <a:xfrm>
            <a:off x="6455664" y="2834640"/>
            <a:ext cx="1600200" cy="658368"/>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부팅 후 첫 응답</a:t>
            </a:r>
            <a:endParaRPr lang="en-US" sz="1050" dirty="0"/>
          </a:p>
        </p:txBody>
      </p:sp>
      <p:sp>
        <p:nvSpPr>
          <p:cNvPr id="27" name="Text 25"/>
          <p:cNvSpPr/>
          <p:nvPr/>
        </p:nvSpPr>
        <p:spPr>
          <a:xfrm>
            <a:off x="8092440" y="2834640"/>
            <a:ext cx="2194560" cy="658368"/>
          </a:xfrm>
          <a:prstGeom prst="rect">
            <a:avLst/>
          </a:prstGeom>
          <a:noFill/>
          <a:ln/>
        </p:spPr>
        <p:txBody>
          <a:bodyPr wrap="square" lIns="0" tIns="0" rIns="0" bIns="0" rtlCol="0" anchor="ctr"/>
          <a:lstStyle/>
          <a:p>
            <a:pPr indent="0" marL="0">
              <a:buNone/>
            </a:pPr>
            <a:r>
              <a:rPr lang="en-US" sz="1200" strike="sngStrike" dirty="0">
                <a:solidFill>
                  <a:srgbClr val="5A6474"/>
                </a:solidFill>
                <a:latin typeface="Malgun Gothic" pitchFamily="34" charset="0"/>
                <a:ea typeface="Malgun Gothic" pitchFamily="34" charset="-122"/>
                <a:cs typeface="Malgun Gothic" pitchFamily="34" charset="-120"/>
              </a:rPr>
              <a:t>14초  </a:t>
            </a:r>
            <a:pPr indent="0" marL="0">
              <a:buNone/>
            </a:pPr>
            <a:r>
              <a:rPr lang="en-US" sz="1200" dirty="0">
                <a:solidFill>
                  <a:srgbClr val="9AA3B2"/>
                </a:solidFill>
                <a:latin typeface="Malgun Gothic" pitchFamily="34" charset="0"/>
                <a:ea typeface="Malgun Gothic" pitchFamily="34" charset="-122"/>
                <a:cs typeface="Malgun Gothic" pitchFamily="34" charset="-120"/>
              </a:rPr>
              <a:t>→  </a:t>
            </a:r>
            <a:pPr indent="0" marL="0">
              <a:buNone/>
            </a:pPr>
            <a:r>
              <a:rPr lang="en-US" sz="1500" b="1" dirty="0">
                <a:solidFill>
                  <a:srgbClr val="1A4FD8"/>
                </a:solidFill>
                <a:latin typeface="Malgun Gothic" pitchFamily="34" charset="0"/>
                <a:ea typeface="Malgun Gothic" pitchFamily="34" charset="-122"/>
                <a:cs typeface="Malgun Gothic" pitchFamily="34" charset="-120"/>
              </a:rPr>
              <a:t>4초</a:t>
            </a:r>
            <a:endParaRPr lang="en-US" sz="1200" dirty="0"/>
          </a:p>
        </p:txBody>
      </p:sp>
      <p:sp>
        <p:nvSpPr>
          <p:cNvPr id="28" name="Text 26"/>
          <p:cNvSpPr/>
          <p:nvPr/>
        </p:nvSpPr>
        <p:spPr>
          <a:xfrm>
            <a:off x="10332720" y="2834640"/>
            <a:ext cx="1005840" cy="658368"/>
          </a:xfrm>
          <a:prstGeom prst="rect">
            <a:avLst/>
          </a:prstGeom>
          <a:noFill/>
          <a:ln/>
        </p:spPr>
        <p:txBody>
          <a:bodyPr wrap="square" lIns="0" tIns="0" rIns="0" bIns="0" rtlCol="0" anchor="ctr"/>
          <a:lstStyle/>
          <a:p>
            <a:pPr indent="0" marL="0">
              <a:buNone/>
            </a:pPr>
            <a:r>
              <a:rPr lang="en-US" sz="820" dirty="0">
                <a:solidFill>
                  <a:srgbClr val="5A6474"/>
                </a:solidFill>
                <a:latin typeface="Malgun Gothic" pitchFamily="34" charset="0"/>
                <a:ea typeface="Malgun Gothic" pitchFamily="34" charset="-122"/>
                <a:cs typeface="Malgun Gothic" pitchFamily="34" charset="-120"/>
              </a:rPr>
              <a:t>프리워밍 + 추천질문 프리컴퓨트</a:t>
            </a:r>
            <a:endParaRPr lang="en-US" sz="820" dirty="0"/>
          </a:p>
        </p:txBody>
      </p:sp>
      <p:sp>
        <p:nvSpPr>
          <p:cNvPr id="29" name="Shape 27"/>
          <p:cNvSpPr/>
          <p:nvPr/>
        </p:nvSpPr>
        <p:spPr>
          <a:xfrm>
            <a:off x="6309360" y="3694176"/>
            <a:ext cx="5074920" cy="804672"/>
          </a:xfrm>
          <a:prstGeom prst="roundRect">
            <a:avLst>
              <a:gd name="adj" fmla="val 10227"/>
            </a:avLst>
          </a:prstGeom>
          <a:solidFill>
            <a:srgbClr val="FFFFFF"/>
          </a:solidFill>
          <a:ln w="12700">
            <a:solidFill>
              <a:srgbClr val="D9E0EC"/>
            </a:solidFill>
            <a:prstDash val="solid"/>
          </a:ln>
        </p:spPr>
      </p:sp>
      <p:sp>
        <p:nvSpPr>
          <p:cNvPr id="30" name="Text 28"/>
          <p:cNvSpPr/>
          <p:nvPr/>
        </p:nvSpPr>
        <p:spPr>
          <a:xfrm>
            <a:off x="6455664" y="3767328"/>
            <a:ext cx="1600200" cy="658368"/>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내레이터 호출</a:t>
            </a:r>
            <a:endParaRPr lang="en-US" sz="1050" dirty="0"/>
          </a:p>
        </p:txBody>
      </p:sp>
      <p:sp>
        <p:nvSpPr>
          <p:cNvPr id="31" name="Text 29"/>
          <p:cNvSpPr/>
          <p:nvPr/>
        </p:nvSpPr>
        <p:spPr>
          <a:xfrm>
            <a:off x="8092440" y="3767328"/>
            <a:ext cx="2194560" cy="658368"/>
          </a:xfrm>
          <a:prstGeom prst="rect">
            <a:avLst/>
          </a:prstGeom>
          <a:noFill/>
          <a:ln/>
        </p:spPr>
        <p:txBody>
          <a:bodyPr wrap="square" lIns="0" tIns="0" rIns="0" bIns="0" rtlCol="0" anchor="ctr"/>
          <a:lstStyle/>
          <a:p>
            <a:pPr indent="0" marL="0">
              <a:buNone/>
            </a:pPr>
            <a:r>
              <a:rPr lang="en-US" sz="1200" strike="sngStrike" dirty="0">
                <a:solidFill>
                  <a:srgbClr val="5A6474"/>
                </a:solidFill>
                <a:latin typeface="Malgun Gothic" pitchFamily="34" charset="0"/>
                <a:ea typeface="Malgun Gothic" pitchFamily="34" charset="-122"/>
                <a:cs typeface="Malgun Gothic" pitchFamily="34" charset="-120"/>
              </a:rPr>
              <a:t>7.2초  </a:t>
            </a:r>
            <a:pPr indent="0" marL="0">
              <a:buNone/>
            </a:pPr>
            <a:r>
              <a:rPr lang="en-US" sz="1200" dirty="0">
                <a:solidFill>
                  <a:srgbClr val="9AA3B2"/>
                </a:solidFill>
                <a:latin typeface="Malgun Gothic" pitchFamily="34" charset="0"/>
                <a:ea typeface="Malgun Gothic" pitchFamily="34" charset="-122"/>
                <a:cs typeface="Malgun Gothic" pitchFamily="34" charset="-120"/>
              </a:rPr>
              <a:t>→  </a:t>
            </a:r>
            <a:pPr indent="0" marL="0">
              <a:buNone/>
            </a:pPr>
            <a:r>
              <a:rPr lang="en-US" sz="1500" b="1" dirty="0">
                <a:solidFill>
                  <a:srgbClr val="1A4FD8"/>
                </a:solidFill>
                <a:latin typeface="Malgun Gothic" pitchFamily="34" charset="0"/>
                <a:ea typeface="Malgun Gothic" pitchFamily="34" charset="-122"/>
                <a:cs typeface="Malgun Gothic" pitchFamily="34" charset="-120"/>
              </a:rPr>
              <a:t>3.6초</a:t>
            </a:r>
            <a:endParaRPr lang="en-US" sz="1200" dirty="0"/>
          </a:p>
        </p:txBody>
      </p:sp>
      <p:sp>
        <p:nvSpPr>
          <p:cNvPr id="32" name="Text 30"/>
          <p:cNvSpPr/>
          <p:nvPr/>
        </p:nvSpPr>
        <p:spPr>
          <a:xfrm>
            <a:off x="10332720" y="3767328"/>
            <a:ext cx="1005840" cy="658368"/>
          </a:xfrm>
          <a:prstGeom prst="rect">
            <a:avLst/>
          </a:prstGeom>
          <a:noFill/>
          <a:ln/>
        </p:spPr>
        <p:txBody>
          <a:bodyPr wrap="square" lIns="0" tIns="0" rIns="0" bIns="0" rtlCol="0" anchor="ctr"/>
          <a:lstStyle/>
          <a:p>
            <a:pPr indent="0" marL="0">
              <a:buNone/>
            </a:pPr>
            <a:r>
              <a:rPr lang="en-US" sz="820" dirty="0">
                <a:solidFill>
                  <a:srgbClr val="5A6474"/>
                </a:solidFill>
                <a:latin typeface="Malgun Gothic" pitchFamily="34" charset="0"/>
                <a:ea typeface="Malgun Gothic" pitchFamily="34" charset="-122"/>
                <a:cs typeface="Malgun Gothic" pitchFamily="34" charset="-120"/>
              </a:rPr>
              <a:t>Haiku thinking OFF</a:t>
            </a:r>
            <a:endParaRPr lang="en-US" sz="820" dirty="0"/>
          </a:p>
        </p:txBody>
      </p:sp>
      <p:sp>
        <p:nvSpPr>
          <p:cNvPr id="33" name="Shape 31"/>
          <p:cNvSpPr/>
          <p:nvPr/>
        </p:nvSpPr>
        <p:spPr>
          <a:xfrm>
            <a:off x="6309360" y="4626864"/>
            <a:ext cx="5074920" cy="804672"/>
          </a:xfrm>
          <a:prstGeom prst="roundRect">
            <a:avLst>
              <a:gd name="adj" fmla="val 10227"/>
            </a:avLst>
          </a:prstGeom>
          <a:solidFill>
            <a:srgbClr val="FFFFFF"/>
          </a:solidFill>
          <a:ln w="12700">
            <a:solidFill>
              <a:srgbClr val="D9E0EC"/>
            </a:solidFill>
            <a:prstDash val="solid"/>
          </a:ln>
        </p:spPr>
      </p:sp>
      <p:sp>
        <p:nvSpPr>
          <p:cNvPr id="34" name="Text 32"/>
          <p:cNvSpPr/>
          <p:nvPr/>
        </p:nvSpPr>
        <p:spPr>
          <a:xfrm>
            <a:off x="6455664" y="4700016"/>
            <a:ext cx="1600200" cy="658368"/>
          </a:xfrm>
          <a:prstGeom prst="rect">
            <a:avLst/>
          </a:prstGeom>
          <a:noFill/>
          <a:ln/>
        </p:spPr>
        <p:txBody>
          <a:bodyPr wrap="square" lIns="0" tIns="0" rIns="0" bIns="0" rtlCol="0" anchor="ctr"/>
          <a:lstStyle/>
          <a:p>
            <a:pPr indent="0" marL="0">
              <a:buNone/>
            </a:pPr>
            <a:r>
              <a:rPr lang="en-US" sz="1050" b="1" dirty="0">
                <a:solidFill>
                  <a:srgbClr val="18202E"/>
                </a:solidFill>
                <a:latin typeface="Malgun Gothic" pitchFamily="34" charset="0"/>
                <a:ea typeface="Malgun Gothic" pitchFamily="34" charset="-122"/>
                <a:cs typeface="Malgun Gothic" pitchFamily="34" charset="-120"/>
              </a:rPr>
              <a:t>체감 대기(TTFA)</a:t>
            </a:r>
            <a:endParaRPr lang="en-US" sz="1050" dirty="0"/>
          </a:p>
        </p:txBody>
      </p:sp>
      <p:sp>
        <p:nvSpPr>
          <p:cNvPr id="35" name="Text 33"/>
          <p:cNvSpPr/>
          <p:nvPr/>
        </p:nvSpPr>
        <p:spPr>
          <a:xfrm>
            <a:off x="8092440" y="4700016"/>
            <a:ext cx="2194560" cy="658368"/>
          </a:xfrm>
          <a:prstGeom prst="rect">
            <a:avLst/>
          </a:prstGeom>
          <a:noFill/>
          <a:ln/>
        </p:spPr>
        <p:txBody>
          <a:bodyPr wrap="square" lIns="0" tIns="0" rIns="0" bIns="0" rtlCol="0" anchor="ctr"/>
          <a:lstStyle/>
          <a:p>
            <a:pPr indent="0" marL="0">
              <a:buNone/>
            </a:pPr>
            <a:r>
              <a:rPr lang="en-US" sz="1200" strike="sngStrike" dirty="0">
                <a:solidFill>
                  <a:srgbClr val="5A6474"/>
                </a:solidFill>
                <a:latin typeface="Malgun Gothic" pitchFamily="34" charset="0"/>
                <a:ea typeface="Malgun Gothic" pitchFamily="34" charset="-122"/>
                <a:cs typeface="Malgun Gothic" pitchFamily="34" charset="-120"/>
              </a:rPr>
              <a:t>완성 대기  </a:t>
            </a:r>
            <a:pPr indent="0" marL="0">
              <a:buNone/>
            </a:pPr>
            <a:r>
              <a:rPr lang="en-US" sz="1200" dirty="0">
                <a:solidFill>
                  <a:srgbClr val="9AA3B2"/>
                </a:solidFill>
                <a:latin typeface="Malgun Gothic" pitchFamily="34" charset="0"/>
                <a:ea typeface="Malgun Gothic" pitchFamily="34" charset="-122"/>
                <a:cs typeface="Malgun Gothic" pitchFamily="34" charset="-120"/>
              </a:rPr>
              <a:t>→  </a:t>
            </a:r>
            <a:pPr indent="0" marL="0">
              <a:buNone/>
            </a:pPr>
            <a:r>
              <a:rPr lang="en-US" sz="1500" b="1" dirty="0">
                <a:solidFill>
                  <a:srgbClr val="1A4FD8"/>
                </a:solidFill>
                <a:latin typeface="Malgun Gothic" pitchFamily="34" charset="0"/>
                <a:ea typeface="Malgun Gothic" pitchFamily="34" charset="-122"/>
                <a:cs typeface="Malgun Gothic" pitchFamily="34" charset="-120"/>
              </a:rPr>
              <a:t>즉시 타이핑</a:t>
            </a:r>
            <a:endParaRPr lang="en-US" sz="1200" dirty="0"/>
          </a:p>
        </p:txBody>
      </p:sp>
      <p:sp>
        <p:nvSpPr>
          <p:cNvPr id="36" name="Text 34"/>
          <p:cNvSpPr/>
          <p:nvPr/>
        </p:nvSpPr>
        <p:spPr>
          <a:xfrm>
            <a:off x="10332720" y="4700016"/>
            <a:ext cx="1005840" cy="658368"/>
          </a:xfrm>
          <a:prstGeom prst="rect">
            <a:avLst/>
          </a:prstGeom>
          <a:noFill/>
          <a:ln/>
        </p:spPr>
        <p:txBody>
          <a:bodyPr wrap="square" lIns="0" tIns="0" rIns="0" bIns="0" rtlCol="0" anchor="ctr"/>
          <a:lstStyle/>
          <a:p>
            <a:pPr indent="0" marL="0">
              <a:buNone/>
            </a:pPr>
            <a:r>
              <a:rPr lang="en-US" sz="820" dirty="0">
                <a:solidFill>
                  <a:srgbClr val="5A6474"/>
                </a:solidFill>
                <a:latin typeface="Malgun Gothic" pitchFamily="34" charset="0"/>
                <a:ea typeface="Malgun Gothic" pitchFamily="34" charset="-122"/>
                <a:cs typeface="Malgun Gothic" pitchFamily="34" charset="-120"/>
              </a:rPr>
              <a:t>SSE 선전송 → 재서술 교체</a:t>
            </a:r>
            <a:endParaRPr lang="en-US" sz="820" dirty="0"/>
          </a:p>
        </p:txBody>
      </p:sp>
      <p:sp>
        <p:nvSpPr>
          <p:cNvPr id="37" name="Text 35"/>
          <p:cNvSpPr/>
          <p:nvPr/>
        </p:nvSpPr>
        <p:spPr>
          <a:xfrm>
            <a:off x="548640" y="5852160"/>
            <a:ext cx="11091672"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캐시 4중: 내레이션 LRU 256 · 디스크 영속화 · Anthropic 프롬프트 캐싱 · 부팅 프리컴퓨트 — 재호출 비용 최소화</a:t>
            </a:r>
            <a:endParaRPr lang="en-US" sz="950" dirty="0"/>
          </a:p>
        </p:txBody>
      </p:sp>
      <p:sp>
        <p:nvSpPr>
          <p:cNvPr id="38" name="Text 36"/>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11 · 서비스 구현 — 시스템 아키텍처</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단방향 4계층 — LLM 없이도 도는 구조</a:t>
            </a:r>
            <a:endParaRPr lang="en-US" sz="2800" dirty="0"/>
          </a:p>
        </p:txBody>
      </p:sp>
      <p:sp>
        <p:nvSpPr>
          <p:cNvPr id="4" name="Shape 2"/>
          <p:cNvSpPr/>
          <p:nvPr/>
        </p:nvSpPr>
        <p:spPr>
          <a:xfrm>
            <a:off x="548640" y="1463040"/>
            <a:ext cx="7315200" cy="969264"/>
          </a:xfrm>
          <a:prstGeom prst="roundRect">
            <a:avLst>
              <a:gd name="adj" fmla="val 8491"/>
            </a:avLst>
          </a:prstGeom>
          <a:solidFill>
            <a:srgbClr val="FFFFFF"/>
          </a:solidFill>
          <a:ln w="12700">
            <a:solidFill>
              <a:srgbClr val="D9E0EC"/>
            </a:solidFill>
            <a:prstDash val="solid"/>
          </a:ln>
        </p:spPr>
      </p:sp>
      <p:sp>
        <p:nvSpPr>
          <p:cNvPr id="5" name="Text 3"/>
          <p:cNvSpPr/>
          <p:nvPr/>
        </p:nvSpPr>
        <p:spPr>
          <a:xfrm>
            <a:off x="713232" y="1545336"/>
            <a:ext cx="2057400" cy="365760"/>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① 프레젠테이션</a:t>
            </a:r>
            <a:endParaRPr lang="en-US" sz="1150" dirty="0"/>
          </a:p>
        </p:txBody>
      </p:sp>
      <p:sp>
        <p:nvSpPr>
          <p:cNvPr id="6" name="Text 4"/>
          <p:cNvSpPr/>
          <p:nvPr/>
        </p:nvSpPr>
        <p:spPr>
          <a:xfrm>
            <a:off x="713232" y="1920240"/>
            <a:ext cx="2377440" cy="457200"/>
          </a:xfrm>
          <a:prstGeom prst="rect">
            <a:avLst/>
          </a:prstGeom>
          <a:noFill/>
          <a:ln/>
        </p:spPr>
        <p:txBody>
          <a:bodyPr wrap="square" lIns="0" tIns="0" rIns="0" bIns="0" rtlCol="0" anchor="t"/>
          <a:lstStyle/>
          <a:p>
            <a:pPr indent="0" marL="0">
              <a:buNone/>
            </a:pPr>
            <a:r>
              <a:rPr lang="en-US" sz="930" b="1" dirty="0">
                <a:solidFill>
                  <a:srgbClr val="18202E"/>
                </a:solidFill>
                <a:latin typeface="Malgun Gothic" pitchFamily="34" charset="0"/>
                <a:ea typeface="Malgun Gothic" pitchFamily="34" charset="-122"/>
                <a:cs typeface="Malgun Gothic" pitchFamily="34" charset="-120"/>
              </a:rPr>
              <a:t>React 19 + TypeScript + Vite 8 모바일 PWA</a:t>
            </a:r>
            <a:endParaRPr lang="en-US" sz="930" dirty="0"/>
          </a:p>
        </p:txBody>
      </p:sp>
      <p:sp>
        <p:nvSpPr>
          <p:cNvPr id="7" name="Text 5"/>
          <p:cNvSpPr/>
          <p:nvPr/>
        </p:nvSpPr>
        <p:spPr>
          <a:xfrm>
            <a:off x="3246120" y="1545336"/>
            <a:ext cx="4480560" cy="841248"/>
          </a:xfrm>
          <a:prstGeom prst="rect">
            <a:avLst/>
          </a:prstGeom>
          <a:noFill/>
          <a:ln/>
        </p:spPr>
        <p:txBody>
          <a:bodyPr wrap="square" lIns="0" tIns="0" rIns="0" bIns="0" rtlCol="0" anchor="ctr"/>
          <a:lstStyle/>
          <a:p>
            <a:pPr indent="0" marL="0">
              <a:buNone/>
            </a:pPr>
            <a:r>
              <a:rPr lang="en-US" sz="930" dirty="0">
                <a:solidFill>
                  <a:srgbClr val="5A6474"/>
                </a:solidFill>
                <a:latin typeface="Malgun Gothic" pitchFamily="34" charset="0"/>
                <a:ea typeface="Malgun Gothic" pitchFamily="34" charset="-122"/>
                <a:cs typeface="Malgun Gothic" pitchFamily="34" charset="-120"/>
              </a:rPr>
              <a:t>4탭: 홈 · 연금가이드(챗) · 벤치마크 · 프로필 — 라우터/상태관리/차트 라이브러리 0, 순수 CSS</a:t>
            </a:r>
            <a:endParaRPr lang="en-US" sz="930" dirty="0"/>
          </a:p>
        </p:txBody>
      </p:sp>
      <p:sp>
        <p:nvSpPr>
          <p:cNvPr id="8" name="Text 6"/>
          <p:cNvSpPr/>
          <p:nvPr/>
        </p:nvSpPr>
        <p:spPr>
          <a:xfrm>
            <a:off x="4069080" y="2395728"/>
            <a:ext cx="274320" cy="219456"/>
          </a:xfrm>
          <a:prstGeom prst="rect">
            <a:avLst/>
          </a:prstGeom>
          <a:noFill/>
          <a:ln/>
        </p:spPr>
        <p:txBody>
          <a:bodyPr wrap="square" lIns="0" tIns="0" rIns="0" bIns="0" rtlCol="0" anchor="ctr"/>
          <a:lstStyle/>
          <a:p>
            <a:pPr algn="ctr" indent="0" marL="0">
              <a:buNone/>
            </a:pPr>
            <a:r>
              <a:rPr lang="en-US" sz="1100" b="1" dirty="0">
                <a:solidFill>
                  <a:srgbClr val="9AA3B2"/>
                </a:solidFill>
                <a:latin typeface="Malgun Gothic" pitchFamily="34" charset="0"/>
                <a:ea typeface="Malgun Gothic" pitchFamily="34" charset="-122"/>
                <a:cs typeface="Malgun Gothic" pitchFamily="34" charset="-120"/>
              </a:rPr>
              <a:t>↓</a:t>
            </a:r>
            <a:endParaRPr lang="en-US" sz="1100" dirty="0"/>
          </a:p>
        </p:txBody>
      </p:sp>
      <p:sp>
        <p:nvSpPr>
          <p:cNvPr id="9" name="Shape 7"/>
          <p:cNvSpPr/>
          <p:nvPr/>
        </p:nvSpPr>
        <p:spPr>
          <a:xfrm>
            <a:off x="548640" y="2578608"/>
            <a:ext cx="7315200" cy="969264"/>
          </a:xfrm>
          <a:prstGeom prst="roundRect">
            <a:avLst>
              <a:gd name="adj" fmla="val 8491"/>
            </a:avLst>
          </a:prstGeom>
          <a:solidFill>
            <a:srgbClr val="FFFFFF"/>
          </a:solidFill>
          <a:ln w="12700">
            <a:solidFill>
              <a:srgbClr val="D9E0EC"/>
            </a:solidFill>
            <a:prstDash val="solid"/>
          </a:ln>
        </p:spPr>
      </p:sp>
      <p:sp>
        <p:nvSpPr>
          <p:cNvPr id="10" name="Text 8"/>
          <p:cNvSpPr/>
          <p:nvPr/>
        </p:nvSpPr>
        <p:spPr>
          <a:xfrm>
            <a:off x="713232" y="2660904"/>
            <a:ext cx="2057400" cy="365760"/>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② API · 오케스트레이션</a:t>
            </a:r>
            <a:endParaRPr lang="en-US" sz="1150" dirty="0"/>
          </a:p>
        </p:txBody>
      </p:sp>
      <p:sp>
        <p:nvSpPr>
          <p:cNvPr id="11" name="Text 9"/>
          <p:cNvSpPr/>
          <p:nvPr/>
        </p:nvSpPr>
        <p:spPr>
          <a:xfrm>
            <a:off x="713232" y="3035808"/>
            <a:ext cx="2377440" cy="457200"/>
          </a:xfrm>
          <a:prstGeom prst="rect">
            <a:avLst/>
          </a:prstGeom>
          <a:noFill/>
          <a:ln/>
        </p:spPr>
        <p:txBody>
          <a:bodyPr wrap="square" lIns="0" tIns="0" rIns="0" bIns="0" rtlCol="0" anchor="t"/>
          <a:lstStyle/>
          <a:p>
            <a:pPr indent="0" marL="0">
              <a:buNone/>
            </a:pPr>
            <a:r>
              <a:rPr lang="en-US" sz="930" b="1" dirty="0">
                <a:solidFill>
                  <a:srgbClr val="18202E"/>
                </a:solidFill>
                <a:latin typeface="Malgun Gothic" pitchFamily="34" charset="0"/>
                <a:ea typeface="Malgun Gothic" pitchFamily="34" charset="-122"/>
                <a:cs typeface="Malgun Gothic" pitchFamily="34" charset="-120"/>
              </a:rPr>
              <a:t>FastAPI — REST 39 엔드포인트 + SSE</a:t>
            </a:r>
            <a:endParaRPr lang="en-US" sz="930" dirty="0"/>
          </a:p>
        </p:txBody>
      </p:sp>
      <p:sp>
        <p:nvSpPr>
          <p:cNvPr id="12" name="Text 10"/>
          <p:cNvSpPr/>
          <p:nvPr/>
        </p:nvSpPr>
        <p:spPr>
          <a:xfrm>
            <a:off x="3246120" y="2660904"/>
            <a:ext cx="4480560" cy="841248"/>
          </a:xfrm>
          <a:prstGeom prst="rect">
            <a:avLst/>
          </a:prstGeom>
          <a:noFill/>
          <a:ln/>
        </p:spPr>
        <p:txBody>
          <a:bodyPr wrap="square" lIns="0" tIns="0" rIns="0" bIns="0" rtlCol="0" anchor="ctr"/>
          <a:lstStyle/>
          <a:p>
            <a:pPr indent="0" marL="0">
              <a:buNone/>
            </a:pPr>
            <a:r>
              <a:rPr lang="en-US" sz="930" dirty="0">
                <a:solidFill>
                  <a:srgbClr val="5A6474"/>
                </a:solidFill>
                <a:latin typeface="Malgun Gothic" pitchFamily="34" charset="0"/>
                <a:ea typeface="Malgun Gothic" pitchFamily="34" charset="-122"/>
                <a:cs typeface="Malgun Gothic" pitchFamily="34" charset="-120"/>
              </a:rPr>
              <a:t>chat 오케스트레이션(가드레일→핸들러→재서술) · 하이브리드 RAG</a:t>
            </a:r>
            <a:endParaRPr lang="en-US" sz="930" dirty="0"/>
          </a:p>
        </p:txBody>
      </p:sp>
      <p:sp>
        <p:nvSpPr>
          <p:cNvPr id="13" name="Text 11"/>
          <p:cNvSpPr/>
          <p:nvPr/>
        </p:nvSpPr>
        <p:spPr>
          <a:xfrm>
            <a:off x="4069080" y="3511296"/>
            <a:ext cx="274320" cy="219456"/>
          </a:xfrm>
          <a:prstGeom prst="rect">
            <a:avLst/>
          </a:prstGeom>
          <a:noFill/>
          <a:ln/>
        </p:spPr>
        <p:txBody>
          <a:bodyPr wrap="square" lIns="0" tIns="0" rIns="0" bIns="0" rtlCol="0" anchor="ctr"/>
          <a:lstStyle/>
          <a:p>
            <a:pPr algn="ctr" indent="0" marL="0">
              <a:buNone/>
            </a:pPr>
            <a:r>
              <a:rPr lang="en-US" sz="1100" b="1" dirty="0">
                <a:solidFill>
                  <a:srgbClr val="9AA3B2"/>
                </a:solidFill>
                <a:latin typeface="Malgun Gothic" pitchFamily="34" charset="0"/>
                <a:ea typeface="Malgun Gothic" pitchFamily="34" charset="-122"/>
                <a:cs typeface="Malgun Gothic" pitchFamily="34" charset="-120"/>
              </a:rPr>
              <a:t>↓</a:t>
            </a:r>
            <a:endParaRPr lang="en-US" sz="1100" dirty="0"/>
          </a:p>
        </p:txBody>
      </p:sp>
      <p:sp>
        <p:nvSpPr>
          <p:cNvPr id="14" name="Shape 12"/>
          <p:cNvSpPr/>
          <p:nvPr/>
        </p:nvSpPr>
        <p:spPr>
          <a:xfrm>
            <a:off x="548640" y="3694176"/>
            <a:ext cx="7315200" cy="969264"/>
          </a:xfrm>
          <a:prstGeom prst="roundRect">
            <a:avLst>
              <a:gd name="adj" fmla="val 8491"/>
            </a:avLst>
          </a:prstGeom>
          <a:solidFill>
            <a:srgbClr val="EEF3FE"/>
          </a:solidFill>
          <a:ln w="12700">
            <a:solidFill>
              <a:srgbClr val="D7E2F8"/>
            </a:solidFill>
            <a:prstDash val="solid"/>
          </a:ln>
        </p:spPr>
      </p:sp>
      <p:sp>
        <p:nvSpPr>
          <p:cNvPr id="15" name="Text 13"/>
          <p:cNvSpPr/>
          <p:nvPr/>
        </p:nvSpPr>
        <p:spPr>
          <a:xfrm>
            <a:off x="713232" y="3776472"/>
            <a:ext cx="2057400" cy="365760"/>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③ 비즈니스 로직</a:t>
            </a:r>
            <a:endParaRPr lang="en-US" sz="1150" dirty="0"/>
          </a:p>
        </p:txBody>
      </p:sp>
      <p:sp>
        <p:nvSpPr>
          <p:cNvPr id="16" name="Text 14"/>
          <p:cNvSpPr/>
          <p:nvPr/>
        </p:nvSpPr>
        <p:spPr>
          <a:xfrm>
            <a:off x="713232" y="4151376"/>
            <a:ext cx="2377440" cy="457200"/>
          </a:xfrm>
          <a:prstGeom prst="rect">
            <a:avLst/>
          </a:prstGeom>
          <a:noFill/>
          <a:ln/>
        </p:spPr>
        <p:txBody>
          <a:bodyPr wrap="square" lIns="0" tIns="0" rIns="0" bIns="0" rtlCol="0" anchor="t"/>
          <a:lstStyle/>
          <a:p>
            <a:pPr indent="0" marL="0">
              <a:buNone/>
            </a:pPr>
            <a:r>
              <a:rPr lang="en-US" sz="930" b="1" dirty="0">
                <a:solidFill>
                  <a:srgbClr val="18202E"/>
                </a:solidFill>
                <a:latin typeface="Malgun Gothic" pitchFamily="34" charset="0"/>
                <a:ea typeface="Malgun Gothic" pitchFamily="34" charset="-122"/>
                <a:cs typeface="Malgun Gothic" pitchFamily="34" charset="-120"/>
              </a:rPr>
              <a:t>순수 Python 규칙 엔진</a:t>
            </a:r>
            <a:endParaRPr lang="en-US" sz="930" dirty="0"/>
          </a:p>
        </p:txBody>
      </p:sp>
      <p:sp>
        <p:nvSpPr>
          <p:cNvPr id="17" name="Text 15"/>
          <p:cNvSpPr/>
          <p:nvPr/>
        </p:nvSpPr>
        <p:spPr>
          <a:xfrm>
            <a:off x="3246120" y="3776472"/>
            <a:ext cx="4480560" cy="841248"/>
          </a:xfrm>
          <a:prstGeom prst="rect">
            <a:avLst/>
          </a:prstGeom>
          <a:noFill/>
          <a:ln/>
        </p:spPr>
        <p:txBody>
          <a:bodyPr wrap="square" lIns="0" tIns="0" rIns="0" bIns="0" rtlCol="0" anchor="ctr"/>
          <a:lstStyle/>
          <a:p>
            <a:pPr indent="0" marL="0">
              <a:buNone/>
            </a:pPr>
            <a:r>
              <a:rPr lang="en-US" sz="930" dirty="0">
                <a:solidFill>
                  <a:srgbClr val="5A6474"/>
                </a:solidFill>
                <a:latin typeface="Malgun Gothic" pitchFamily="34" charset="0"/>
                <a:ea typeface="Malgun Gothic" pitchFamily="34" charset="-122"/>
                <a:cs typeface="Malgun Gothic" pitchFamily="34" charset="-120"/>
              </a:rPr>
              <a:t>핵심 6모듈 + 계산기·세액·계획수익률·테마 — DB/네트워크/LLM 의존 0 · Decimal 결정론</a:t>
            </a:r>
            <a:endParaRPr lang="en-US" sz="930" dirty="0"/>
          </a:p>
        </p:txBody>
      </p:sp>
      <p:sp>
        <p:nvSpPr>
          <p:cNvPr id="18" name="Text 16"/>
          <p:cNvSpPr/>
          <p:nvPr/>
        </p:nvSpPr>
        <p:spPr>
          <a:xfrm>
            <a:off x="4069080" y="4626864"/>
            <a:ext cx="274320" cy="219456"/>
          </a:xfrm>
          <a:prstGeom prst="rect">
            <a:avLst/>
          </a:prstGeom>
          <a:noFill/>
          <a:ln/>
        </p:spPr>
        <p:txBody>
          <a:bodyPr wrap="square" lIns="0" tIns="0" rIns="0" bIns="0" rtlCol="0" anchor="ctr"/>
          <a:lstStyle/>
          <a:p>
            <a:pPr algn="ctr" indent="0" marL="0">
              <a:buNone/>
            </a:pPr>
            <a:r>
              <a:rPr lang="en-US" sz="1100" b="1" dirty="0">
                <a:solidFill>
                  <a:srgbClr val="9AA3B2"/>
                </a:solidFill>
                <a:latin typeface="Malgun Gothic" pitchFamily="34" charset="0"/>
                <a:ea typeface="Malgun Gothic" pitchFamily="34" charset="-122"/>
                <a:cs typeface="Malgun Gothic" pitchFamily="34" charset="-120"/>
              </a:rPr>
              <a:t>↓</a:t>
            </a:r>
            <a:endParaRPr lang="en-US" sz="1100" dirty="0"/>
          </a:p>
        </p:txBody>
      </p:sp>
      <p:sp>
        <p:nvSpPr>
          <p:cNvPr id="19" name="Shape 17"/>
          <p:cNvSpPr/>
          <p:nvPr/>
        </p:nvSpPr>
        <p:spPr>
          <a:xfrm>
            <a:off x="548640" y="4809744"/>
            <a:ext cx="7315200" cy="969264"/>
          </a:xfrm>
          <a:prstGeom prst="roundRect">
            <a:avLst>
              <a:gd name="adj" fmla="val 8491"/>
            </a:avLst>
          </a:prstGeom>
          <a:solidFill>
            <a:srgbClr val="FFFFFF"/>
          </a:solidFill>
          <a:ln w="12700">
            <a:solidFill>
              <a:srgbClr val="D9E0EC"/>
            </a:solidFill>
            <a:prstDash val="solid"/>
          </a:ln>
        </p:spPr>
      </p:sp>
      <p:sp>
        <p:nvSpPr>
          <p:cNvPr id="20" name="Text 18"/>
          <p:cNvSpPr/>
          <p:nvPr/>
        </p:nvSpPr>
        <p:spPr>
          <a:xfrm>
            <a:off x="713232" y="4892040"/>
            <a:ext cx="2057400" cy="365760"/>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④ 데이터</a:t>
            </a:r>
            <a:endParaRPr lang="en-US" sz="1150" dirty="0"/>
          </a:p>
        </p:txBody>
      </p:sp>
      <p:sp>
        <p:nvSpPr>
          <p:cNvPr id="21" name="Text 19"/>
          <p:cNvSpPr/>
          <p:nvPr/>
        </p:nvSpPr>
        <p:spPr>
          <a:xfrm>
            <a:off x="713232" y="5266944"/>
            <a:ext cx="2377440" cy="457200"/>
          </a:xfrm>
          <a:prstGeom prst="rect">
            <a:avLst/>
          </a:prstGeom>
          <a:noFill/>
          <a:ln/>
        </p:spPr>
        <p:txBody>
          <a:bodyPr wrap="square" lIns="0" tIns="0" rIns="0" bIns="0" rtlCol="0" anchor="t"/>
          <a:lstStyle/>
          <a:p>
            <a:pPr indent="0" marL="0">
              <a:buNone/>
            </a:pPr>
            <a:r>
              <a:rPr lang="en-US" sz="930" b="1" dirty="0">
                <a:solidFill>
                  <a:srgbClr val="18202E"/>
                </a:solidFill>
                <a:latin typeface="Malgun Gothic" pitchFamily="34" charset="0"/>
                <a:ea typeface="Malgun Gothic" pitchFamily="34" charset="-122"/>
                <a:cs typeface="Malgun Gothic" pitchFamily="34" charset="-120"/>
              </a:rPr>
              <a:t>Supabase PostgreSQL 17</a:t>
            </a:r>
            <a:endParaRPr lang="en-US" sz="930" dirty="0"/>
          </a:p>
        </p:txBody>
      </p:sp>
      <p:sp>
        <p:nvSpPr>
          <p:cNvPr id="22" name="Text 20"/>
          <p:cNvSpPr/>
          <p:nvPr/>
        </p:nvSpPr>
        <p:spPr>
          <a:xfrm>
            <a:off x="3246120" y="4892040"/>
            <a:ext cx="4480560" cy="841248"/>
          </a:xfrm>
          <a:prstGeom prst="rect">
            <a:avLst/>
          </a:prstGeom>
          <a:noFill/>
          <a:ln/>
        </p:spPr>
        <p:txBody>
          <a:bodyPr wrap="square" lIns="0" tIns="0" rIns="0" bIns="0" rtlCol="0" anchor="ctr"/>
          <a:lstStyle/>
          <a:p>
            <a:pPr indent="0" marL="0">
              <a:buNone/>
            </a:pPr>
            <a:r>
              <a:rPr lang="en-US" sz="930" dirty="0">
                <a:solidFill>
                  <a:srgbClr val="5A6474"/>
                </a:solidFill>
                <a:latin typeface="Malgun Gothic" pitchFamily="34" charset="0"/>
                <a:ea typeface="Malgun Gothic" pitchFamily="34" charset="-122"/>
                <a:cs typeface="Malgun Gothic" pitchFamily="34" charset="-120"/>
              </a:rPr>
              <a:t>테이블 53개 · 전면 RLS(소유자 스코프/deny-all/서버 전용) · pgvector 1024 HNSW</a:t>
            </a:r>
            <a:endParaRPr lang="en-US" sz="930" dirty="0"/>
          </a:p>
        </p:txBody>
      </p:sp>
      <p:sp>
        <p:nvSpPr>
          <p:cNvPr id="23" name="Shape 21"/>
          <p:cNvSpPr/>
          <p:nvPr/>
        </p:nvSpPr>
        <p:spPr>
          <a:xfrm>
            <a:off x="8183880" y="1463040"/>
            <a:ext cx="3200400" cy="2084832"/>
          </a:xfrm>
          <a:prstGeom prst="roundRect">
            <a:avLst>
              <a:gd name="adj" fmla="val 3947"/>
            </a:avLst>
          </a:prstGeom>
          <a:solidFill>
            <a:srgbClr val="F7F9FE"/>
          </a:solidFill>
          <a:ln w="12700">
            <a:solidFill>
              <a:srgbClr val="D9E0EC"/>
            </a:solidFill>
            <a:prstDash val="solid"/>
          </a:ln>
        </p:spPr>
      </p:sp>
      <p:sp>
        <p:nvSpPr>
          <p:cNvPr id="24" name="Text 22"/>
          <p:cNvSpPr/>
          <p:nvPr/>
        </p:nvSpPr>
        <p:spPr>
          <a:xfrm>
            <a:off x="8339328" y="1591056"/>
            <a:ext cx="2834640" cy="274320"/>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외부 — 공식 데이터</a:t>
            </a:r>
            <a:endParaRPr lang="en-US" sz="1100" dirty="0"/>
          </a:p>
        </p:txBody>
      </p:sp>
      <p:sp>
        <p:nvSpPr>
          <p:cNvPr id="25" name="Text 23"/>
          <p:cNvSpPr/>
          <p:nvPr/>
        </p:nvSpPr>
        <p:spPr>
          <a:xfrm>
            <a:off x="8339328" y="1883664"/>
            <a:ext cx="2926080" cy="914400"/>
          </a:xfrm>
          <a:prstGeom prst="rect">
            <a:avLst/>
          </a:prstGeom>
          <a:noFill/>
          <a:ln/>
        </p:spPr>
        <p:txBody>
          <a:bodyPr wrap="square" lIns="0" tIns="0" rIns="0" bIns="0" rtlCol="0" anchor="t"/>
          <a:lstStyle/>
          <a:p>
            <a:pPr indent="0" marL="0">
              <a:buNone/>
            </a:pPr>
            <a:r>
              <a:rPr lang="en-US" sz="930" dirty="0">
                <a:solidFill>
                  <a:srgbClr val="5A6474"/>
                </a:solidFill>
                <a:latin typeface="Malgun Gothic" pitchFamily="34" charset="0"/>
                <a:ea typeface="Malgun Gothic" pitchFamily="34" charset="-122"/>
                <a:cs typeface="Malgun Gothic" pitchFamily="34" charset="-120"/>
              </a:rPr>
              <a:t>FSS · KRX · KIS · 금융위 · KIND · DART · 법령 · NAVER</a:t>
            </a:r>
            <a:endParaRPr lang="en-US" sz="930" dirty="0"/>
          </a:p>
          <a:p>
            <a:pPr indent="0" marL="0">
              <a:buNone/>
            </a:pPr>
            <a:r>
              <a:rPr lang="en-US" sz="930" dirty="0">
                <a:solidFill>
                  <a:srgbClr val="5A6474"/>
                </a:solidFill>
                <a:latin typeface="Malgun Gothic" pitchFamily="34" charset="0"/>
                <a:ea typeface="Malgun Gothic" pitchFamily="34" charset="-122"/>
                <a:cs typeface="Malgun Gothic" pitchFamily="34" charset="-120"/>
              </a:rPr>
              <a:t>수집기 10종 + cron 2종이 원본 보존·검증 후 적재</a:t>
            </a:r>
            <a:endParaRPr lang="en-US" sz="930" dirty="0"/>
          </a:p>
        </p:txBody>
      </p:sp>
      <p:sp>
        <p:nvSpPr>
          <p:cNvPr id="26" name="Text 24"/>
          <p:cNvSpPr/>
          <p:nvPr/>
        </p:nvSpPr>
        <p:spPr>
          <a:xfrm>
            <a:off x="8339328" y="2798064"/>
            <a:ext cx="2834640"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Claude API</a:t>
            </a:r>
            <a:endParaRPr lang="en-US" sz="1100" dirty="0"/>
          </a:p>
        </p:txBody>
      </p:sp>
      <p:sp>
        <p:nvSpPr>
          <p:cNvPr id="27" name="Text 25"/>
          <p:cNvSpPr/>
          <p:nvPr/>
        </p:nvSpPr>
        <p:spPr>
          <a:xfrm>
            <a:off x="8339328" y="3054096"/>
            <a:ext cx="2926080" cy="457200"/>
          </a:xfrm>
          <a:prstGeom prst="rect">
            <a:avLst/>
          </a:prstGeom>
          <a:noFill/>
          <a:ln/>
        </p:spPr>
        <p:txBody>
          <a:bodyPr wrap="square" lIns="0" tIns="0" rIns="0" bIns="0" rtlCol="0" anchor="t"/>
          <a:lstStyle/>
          <a:p>
            <a:pPr indent="0" marL="0">
              <a:buNone/>
            </a:pPr>
            <a:r>
              <a:rPr lang="en-US" sz="930" dirty="0">
                <a:solidFill>
                  <a:srgbClr val="5A6474"/>
                </a:solidFill>
                <a:latin typeface="Malgun Gothic" pitchFamily="34" charset="0"/>
                <a:ea typeface="Malgun Gothic" pitchFamily="34" charset="-122"/>
                <a:cs typeface="Malgun Gothic" pitchFamily="34" charset="-120"/>
              </a:rPr>
              <a:t>haiku-4-5 재서술 · sonnet-5 요약 — 점선 연결(서술만, 계산 금지)</a:t>
            </a:r>
            <a:endParaRPr lang="en-US" sz="930" dirty="0"/>
          </a:p>
        </p:txBody>
      </p:sp>
      <p:sp>
        <p:nvSpPr>
          <p:cNvPr id="28" name="Shape 26"/>
          <p:cNvSpPr/>
          <p:nvPr/>
        </p:nvSpPr>
        <p:spPr>
          <a:xfrm>
            <a:off x="8183880" y="3703320"/>
            <a:ext cx="3200400" cy="2020824"/>
          </a:xfrm>
          <a:prstGeom prst="roundRect">
            <a:avLst>
              <a:gd name="adj" fmla="val 4072"/>
            </a:avLst>
          </a:prstGeom>
          <a:solidFill>
            <a:srgbClr val="FFFFFF"/>
          </a:solidFill>
          <a:ln w="12700">
            <a:solidFill>
              <a:srgbClr val="D9E0EC"/>
            </a:solidFill>
            <a:prstDash val="solid"/>
          </a:ln>
        </p:spPr>
      </p:sp>
      <p:sp>
        <p:nvSpPr>
          <p:cNvPr id="29" name="Text 27"/>
          <p:cNvSpPr/>
          <p:nvPr/>
        </p:nvSpPr>
        <p:spPr>
          <a:xfrm>
            <a:off x="8339328" y="3822192"/>
            <a:ext cx="2834640" cy="256032"/>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규모 한눈에</a:t>
            </a:r>
            <a:endParaRPr lang="en-US" sz="1100" dirty="0"/>
          </a:p>
        </p:txBody>
      </p:sp>
      <p:sp>
        <p:nvSpPr>
          <p:cNvPr id="30" name="Text 28"/>
          <p:cNvSpPr/>
          <p:nvPr/>
        </p:nvSpPr>
        <p:spPr>
          <a:xfrm>
            <a:off x="8339328" y="4114800"/>
            <a:ext cx="1737360"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REST API</a:t>
            </a:r>
            <a:endParaRPr lang="en-US" sz="950" dirty="0"/>
          </a:p>
        </p:txBody>
      </p:sp>
      <p:sp>
        <p:nvSpPr>
          <p:cNvPr id="31" name="Text 29"/>
          <p:cNvSpPr/>
          <p:nvPr/>
        </p:nvSpPr>
        <p:spPr>
          <a:xfrm>
            <a:off x="10058400" y="4114800"/>
            <a:ext cx="1188720" cy="274320"/>
          </a:xfrm>
          <a:prstGeom prst="rect">
            <a:avLst/>
          </a:prstGeom>
          <a:noFill/>
          <a:ln/>
        </p:spPr>
        <p:txBody>
          <a:bodyPr wrap="square" lIns="0" tIns="0" rIns="0" bIns="0" rtlCol="0" anchor="ctr"/>
          <a:lstStyle/>
          <a:p>
            <a:pPr algn="r" indent="0" marL="0">
              <a:buNone/>
            </a:pPr>
            <a:r>
              <a:rPr lang="en-US" sz="950" b="1" dirty="0">
                <a:solidFill>
                  <a:srgbClr val="18202E"/>
                </a:solidFill>
                <a:latin typeface="Malgun Gothic" pitchFamily="34" charset="0"/>
                <a:ea typeface="Malgun Gothic" pitchFamily="34" charset="-122"/>
                <a:cs typeface="Malgun Gothic" pitchFamily="34" charset="-120"/>
              </a:rPr>
              <a:t>39개</a:t>
            </a:r>
            <a:endParaRPr lang="en-US" sz="950" dirty="0"/>
          </a:p>
        </p:txBody>
      </p:sp>
      <p:sp>
        <p:nvSpPr>
          <p:cNvPr id="32" name="Text 30"/>
          <p:cNvSpPr/>
          <p:nvPr/>
        </p:nvSpPr>
        <p:spPr>
          <a:xfrm>
            <a:off x="8339328" y="4425696"/>
            <a:ext cx="1737360"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DB 테이블 / RLS</a:t>
            </a:r>
            <a:endParaRPr lang="en-US" sz="950" dirty="0"/>
          </a:p>
        </p:txBody>
      </p:sp>
      <p:sp>
        <p:nvSpPr>
          <p:cNvPr id="33" name="Text 31"/>
          <p:cNvSpPr/>
          <p:nvPr/>
        </p:nvSpPr>
        <p:spPr>
          <a:xfrm>
            <a:off x="10058400" y="4425696"/>
            <a:ext cx="1188720" cy="274320"/>
          </a:xfrm>
          <a:prstGeom prst="rect">
            <a:avLst/>
          </a:prstGeom>
          <a:noFill/>
          <a:ln/>
        </p:spPr>
        <p:txBody>
          <a:bodyPr wrap="square" lIns="0" tIns="0" rIns="0" bIns="0" rtlCol="0" anchor="ctr"/>
          <a:lstStyle/>
          <a:p>
            <a:pPr algn="r" indent="0" marL="0">
              <a:buNone/>
            </a:pPr>
            <a:r>
              <a:rPr lang="en-US" sz="950" b="1" dirty="0">
                <a:solidFill>
                  <a:srgbClr val="18202E"/>
                </a:solidFill>
                <a:latin typeface="Malgun Gothic" pitchFamily="34" charset="0"/>
                <a:ea typeface="Malgun Gothic" pitchFamily="34" charset="-122"/>
                <a:cs typeface="Malgun Gothic" pitchFamily="34" charset="-120"/>
              </a:rPr>
              <a:t>53개 · 전면</a:t>
            </a:r>
            <a:endParaRPr lang="en-US" sz="950" dirty="0"/>
          </a:p>
        </p:txBody>
      </p:sp>
      <p:sp>
        <p:nvSpPr>
          <p:cNvPr id="34" name="Text 32"/>
          <p:cNvSpPr/>
          <p:nvPr/>
        </p:nvSpPr>
        <p:spPr>
          <a:xfrm>
            <a:off x="8339328" y="4736592"/>
            <a:ext cx="1737360"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마이그레이션</a:t>
            </a:r>
            <a:endParaRPr lang="en-US" sz="950" dirty="0"/>
          </a:p>
        </p:txBody>
      </p:sp>
      <p:sp>
        <p:nvSpPr>
          <p:cNvPr id="35" name="Text 33"/>
          <p:cNvSpPr/>
          <p:nvPr/>
        </p:nvSpPr>
        <p:spPr>
          <a:xfrm>
            <a:off x="10058400" y="4736592"/>
            <a:ext cx="1188720" cy="274320"/>
          </a:xfrm>
          <a:prstGeom prst="rect">
            <a:avLst/>
          </a:prstGeom>
          <a:noFill/>
          <a:ln/>
        </p:spPr>
        <p:txBody>
          <a:bodyPr wrap="square" lIns="0" tIns="0" rIns="0" bIns="0" rtlCol="0" anchor="ctr"/>
          <a:lstStyle/>
          <a:p>
            <a:pPr algn="r" indent="0" marL="0">
              <a:buNone/>
            </a:pPr>
            <a:r>
              <a:rPr lang="en-US" sz="950" b="1" dirty="0">
                <a:solidFill>
                  <a:srgbClr val="18202E"/>
                </a:solidFill>
                <a:latin typeface="Malgun Gothic" pitchFamily="34" charset="0"/>
                <a:ea typeface="Malgun Gothic" pitchFamily="34" charset="-122"/>
                <a:cs typeface="Malgun Gothic" pitchFamily="34" charset="-120"/>
              </a:rPr>
              <a:t>27개</a:t>
            </a:r>
            <a:endParaRPr lang="en-US" sz="950" dirty="0"/>
          </a:p>
        </p:txBody>
      </p:sp>
      <p:sp>
        <p:nvSpPr>
          <p:cNvPr id="36" name="Text 34"/>
          <p:cNvSpPr/>
          <p:nvPr/>
        </p:nvSpPr>
        <p:spPr>
          <a:xfrm>
            <a:off x="8339328" y="5047488"/>
            <a:ext cx="1737360"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ETF 유니버스</a:t>
            </a:r>
            <a:endParaRPr lang="en-US" sz="950" dirty="0"/>
          </a:p>
        </p:txBody>
      </p:sp>
      <p:sp>
        <p:nvSpPr>
          <p:cNvPr id="37" name="Text 35"/>
          <p:cNvSpPr/>
          <p:nvPr/>
        </p:nvSpPr>
        <p:spPr>
          <a:xfrm>
            <a:off x="10058400" y="5047488"/>
            <a:ext cx="1188720" cy="274320"/>
          </a:xfrm>
          <a:prstGeom prst="rect">
            <a:avLst/>
          </a:prstGeom>
          <a:noFill/>
          <a:ln/>
        </p:spPr>
        <p:txBody>
          <a:bodyPr wrap="square" lIns="0" tIns="0" rIns="0" bIns="0" rtlCol="0" anchor="ctr"/>
          <a:lstStyle/>
          <a:p>
            <a:pPr algn="r" indent="0" marL="0">
              <a:buNone/>
            </a:pPr>
            <a:r>
              <a:rPr lang="en-US" sz="950" b="1" dirty="0">
                <a:solidFill>
                  <a:srgbClr val="18202E"/>
                </a:solidFill>
                <a:latin typeface="Malgun Gothic" pitchFamily="34" charset="0"/>
                <a:ea typeface="Malgun Gothic" pitchFamily="34" charset="-122"/>
                <a:cs typeface="Malgun Gothic" pitchFamily="34" charset="-120"/>
              </a:rPr>
              <a:t>2,507행</a:t>
            </a:r>
            <a:endParaRPr lang="en-US" sz="950" dirty="0"/>
          </a:p>
        </p:txBody>
      </p:sp>
      <p:sp>
        <p:nvSpPr>
          <p:cNvPr id="38" name="Text 36"/>
          <p:cNvSpPr/>
          <p:nvPr/>
        </p:nvSpPr>
        <p:spPr>
          <a:xfrm>
            <a:off x="8339328" y="5358384"/>
            <a:ext cx="1737360"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TR 이력</a:t>
            </a:r>
            <a:endParaRPr lang="en-US" sz="950" dirty="0"/>
          </a:p>
        </p:txBody>
      </p:sp>
      <p:sp>
        <p:nvSpPr>
          <p:cNvPr id="39" name="Text 37"/>
          <p:cNvSpPr/>
          <p:nvPr/>
        </p:nvSpPr>
        <p:spPr>
          <a:xfrm>
            <a:off x="10058400" y="5358384"/>
            <a:ext cx="1188720" cy="274320"/>
          </a:xfrm>
          <a:prstGeom prst="rect">
            <a:avLst/>
          </a:prstGeom>
          <a:noFill/>
          <a:ln/>
        </p:spPr>
        <p:txBody>
          <a:bodyPr wrap="square" lIns="0" tIns="0" rIns="0" bIns="0" rtlCol="0" anchor="ctr"/>
          <a:lstStyle/>
          <a:p>
            <a:pPr algn="r" indent="0" marL="0">
              <a:buNone/>
            </a:pPr>
            <a:r>
              <a:rPr lang="en-US" sz="950" b="1" dirty="0">
                <a:solidFill>
                  <a:srgbClr val="18202E"/>
                </a:solidFill>
                <a:latin typeface="Malgun Gothic" pitchFamily="34" charset="0"/>
                <a:ea typeface="Malgun Gothic" pitchFamily="34" charset="-122"/>
                <a:cs typeface="Malgun Gothic" pitchFamily="34" charset="-120"/>
              </a:rPr>
              <a:t>217,833행</a:t>
            </a:r>
            <a:endParaRPr lang="en-US" sz="950" dirty="0"/>
          </a:p>
        </p:txBody>
      </p:sp>
      <p:sp>
        <p:nvSpPr>
          <p:cNvPr id="40" name="Text 38"/>
          <p:cNvSpPr/>
          <p:nvPr/>
        </p:nvSpPr>
        <p:spPr>
          <a:xfrm>
            <a:off x="548640" y="5989320"/>
            <a:ext cx="86868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React 19</a:t>
            </a:r>
            <a:endParaRPr lang="en-US" sz="900" dirty="0"/>
          </a:p>
        </p:txBody>
      </p:sp>
      <p:sp>
        <p:nvSpPr>
          <p:cNvPr id="41" name="Text 39"/>
          <p:cNvSpPr/>
          <p:nvPr/>
        </p:nvSpPr>
        <p:spPr>
          <a:xfrm>
            <a:off x="1545336" y="5989320"/>
            <a:ext cx="100584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TypeScript</a:t>
            </a:r>
            <a:endParaRPr lang="en-US" sz="900" dirty="0"/>
          </a:p>
        </p:txBody>
      </p:sp>
      <p:sp>
        <p:nvSpPr>
          <p:cNvPr id="42" name="Text 40"/>
          <p:cNvSpPr/>
          <p:nvPr/>
        </p:nvSpPr>
        <p:spPr>
          <a:xfrm>
            <a:off x="2679192" y="5989320"/>
            <a:ext cx="109728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Vite 8 · PWA</a:t>
            </a:r>
            <a:endParaRPr lang="en-US" sz="900" dirty="0"/>
          </a:p>
        </p:txBody>
      </p:sp>
      <p:sp>
        <p:nvSpPr>
          <p:cNvPr id="43" name="Text 41"/>
          <p:cNvSpPr/>
          <p:nvPr/>
        </p:nvSpPr>
        <p:spPr>
          <a:xfrm>
            <a:off x="3904488" y="5989320"/>
            <a:ext cx="86868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FastAPI</a:t>
            </a:r>
            <a:endParaRPr lang="en-US" sz="900" dirty="0"/>
          </a:p>
        </p:txBody>
      </p:sp>
      <p:sp>
        <p:nvSpPr>
          <p:cNvPr id="44" name="Text 42"/>
          <p:cNvSpPr/>
          <p:nvPr/>
        </p:nvSpPr>
        <p:spPr>
          <a:xfrm>
            <a:off x="4901184" y="5989320"/>
            <a:ext cx="105156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pydantic-ai</a:t>
            </a:r>
            <a:endParaRPr lang="en-US" sz="900" dirty="0"/>
          </a:p>
        </p:txBody>
      </p:sp>
      <p:sp>
        <p:nvSpPr>
          <p:cNvPr id="45" name="Text 43"/>
          <p:cNvSpPr/>
          <p:nvPr/>
        </p:nvSpPr>
        <p:spPr>
          <a:xfrm>
            <a:off x="6080760" y="5989320"/>
            <a:ext cx="77724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numpy</a:t>
            </a:r>
            <a:endParaRPr lang="en-US" sz="900" dirty="0"/>
          </a:p>
        </p:txBody>
      </p:sp>
      <p:sp>
        <p:nvSpPr>
          <p:cNvPr id="46" name="Text 44"/>
          <p:cNvSpPr/>
          <p:nvPr/>
        </p:nvSpPr>
        <p:spPr>
          <a:xfrm>
            <a:off x="6986016" y="5989320"/>
            <a:ext cx="123444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PostgreSQL 17</a:t>
            </a:r>
            <a:endParaRPr lang="en-US" sz="900" dirty="0"/>
          </a:p>
        </p:txBody>
      </p:sp>
      <p:sp>
        <p:nvSpPr>
          <p:cNvPr id="47" name="Text 45"/>
          <p:cNvSpPr/>
          <p:nvPr/>
        </p:nvSpPr>
        <p:spPr>
          <a:xfrm>
            <a:off x="8348472" y="5989320"/>
            <a:ext cx="86868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pgvector</a:t>
            </a:r>
            <a:endParaRPr lang="en-US" sz="900" dirty="0"/>
          </a:p>
        </p:txBody>
      </p:sp>
      <p:sp>
        <p:nvSpPr>
          <p:cNvPr id="48" name="Text 46"/>
          <p:cNvSpPr/>
          <p:nvPr/>
        </p:nvSpPr>
        <p:spPr>
          <a:xfrm>
            <a:off x="9345168" y="5989320"/>
            <a:ext cx="82296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BGE-M3</a:t>
            </a:r>
            <a:endParaRPr lang="en-US" sz="900" dirty="0"/>
          </a:p>
        </p:txBody>
      </p:sp>
      <p:sp>
        <p:nvSpPr>
          <p:cNvPr id="49" name="Text 47"/>
          <p:cNvSpPr/>
          <p:nvPr/>
        </p:nvSpPr>
        <p:spPr>
          <a:xfrm>
            <a:off x="10296144" y="5989320"/>
            <a:ext cx="1188720" cy="310896"/>
          </a:xfrm>
          <a:prstGeom prst="roundRect">
            <a:avLst>
              <a:gd name="adj" fmla="val 41176"/>
            </a:avLst>
          </a:prstGeom>
          <a:solidFill>
            <a:srgbClr val="EEF3FE"/>
          </a:solidFill>
          <a:ln w="9525">
            <a:solidFill>
              <a:srgbClr val="D7E2F8"/>
            </a:solidFill>
          </a:ln>
        </p:spPr>
        <p:txBody>
          <a:bodyPr wrap="square" lIns="0" tIns="0" rIns="0" bIns="0" rtlCol="0" anchor="ctr"/>
          <a:lstStyle/>
          <a:p>
            <a:pPr algn="ctr" indent="0" marL="0">
              <a:buNone/>
            </a:pPr>
            <a:r>
              <a:rPr lang="en-US" sz="900" b="1" dirty="0">
                <a:solidFill>
                  <a:srgbClr val="1A4FD8"/>
                </a:solidFill>
                <a:latin typeface="Malgun Gothic" pitchFamily="34" charset="0"/>
                <a:ea typeface="Malgun Gothic" pitchFamily="34" charset="-122"/>
                <a:cs typeface="Malgun Gothic" pitchFamily="34" charset="-120"/>
              </a:rPr>
              <a:t>GitHub Actions</a:t>
            </a:r>
            <a:endParaRPr lang="en-US" sz="900" dirty="0"/>
          </a:p>
        </p:txBody>
      </p:sp>
      <p:sp>
        <p:nvSpPr>
          <p:cNvPr id="50" name="Text 48"/>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12 · 서비스 구현 — 핵심 기능 · 시연</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로그인부터 답변까지 — 데모 흐름</a:t>
            </a:r>
            <a:endParaRPr lang="en-US" sz="2800" dirty="0"/>
          </a:p>
        </p:txBody>
      </p:sp>
      <p:sp>
        <p:nvSpPr>
          <p:cNvPr id="4" name="Shape 2"/>
          <p:cNvSpPr/>
          <p:nvPr/>
        </p:nvSpPr>
        <p:spPr>
          <a:xfrm>
            <a:off x="548640" y="1508760"/>
            <a:ext cx="2066544" cy="1078992"/>
          </a:xfrm>
          <a:prstGeom prst="roundRect">
            <a:avLst>
              <a:gd name="adj" fmla="val 7627"/>
            </a:avLst>
          </a:prstGeom>
          <a:solidFill>
            <a:srgbClr val="FFFFFF"/>
          </a:solidFill>
          <a:ln w="12700">
            <a:solidFill>
              <a:srgbClr val="D9E0EC"/>
            </a:solidFill>
            <a:prstDash val="solid"/>
          </a:ln>
        </p:spPr>
      </p:sp>
      <p:sp>
        <p:nvSpPr>
          <p:cNvPr id="5" name="Shape 3"/>
          <p:cNvSpPr/>
          <p:nvPr/>
        </p:nvSpPr>
        <p:spPr>
          <a:xfrm>
            <a:off x="667512" y="1627632"/>
            <a:ext cx="256032" cy="256032"/>
          </a:xfrm>
          <a:prstGeom prst="ellipse">
            <a:avLst/>
          </a:prstGeom>
          <a:solidFill>
            <a:srgbClr val="1A4FD8"/>
          </a:solidFill>
          <a:ln/>
        </p:spPr>
      </p:sp>
      <p:sp>
        <p:nvSpPr>
          <p:cNvPr id="6" name="Text 4"/>
          <p:cNvSpPr/>
          <p:nvPr/>
        </p:nvSpPr>
        <p:spPr>
          <a:xfrm>
            <a:off x="667512" y="162763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1</a:t>
            </a:r>
            <a:endParaRPr lang="en-US" sz="1050" dirty="0"/>
          </a:p>
        </p:txBody>
      </p:sp>
      <p:sp>
        <p:nvSpPr>
          <p:cNvPr id="7" name="Text 5"/>
          <p:cNvSpPr/>
          <p:nvPr/>
        </p:nvSpPr>
        <p:spPr>
          <a:xfrm>
            <a:off x="987552" y="1609344"/>
            <a:ext cx="1536192" cy="292608"/>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로그인</a:t>
            </a:r>
            <a:endParaRPr lang="en-US" sz="1100" dirty="0"/>
          </a:p>
        </p:txBody>
      </p:sp>
      <p:sp>
        <p:nvSpPr>
          <p:cNvPr id="8" name="Text 6"/>
          <p:cNvSpPr/>
          <p:nvPr/>
        </p:nvSpPr>
        <p:spPr>
          <a:xfrm>
            <a:off x="676656" y="1956816"/>
            <a:ext cx="1810512" cy="548640"/>
          </a:xfrm>
          <a:prstGeom prst="rect">
            <a:avLst/>
          </a:prstGeom>
          <a:noFill/>
          <a:ln/>
        </p:spPr>
        <p:txBody>
          <a:bodyPr wrap="square" lIns="0" tIns="0" rIns="0" bIns="0" rtlCol="0" anchor="t"/>
          <a:lstStyle/>
          <a:p>
            <a:pPr indent="0" marL="0">
              <a:buNone/>
            </a:pPr>
            <a:r>
              <a:rPr lang="en-US" sz="870" dirty="0">
                <a:solidFill>
                  <a:srgbClr val="5A6474"/>
                </a:solidFill>
                <a:latin typeface="Malgun Gothic" pitchFamily="34" charset="0"/>
                <a:ea typeface="Malgun Gothic" pitchFamily="34" charset="-122"/>
                <a:cs typeface="Malgun Gothic" pitchFamily="34" charset="-120"/>
              </a:rPr>
              <a:t>데모 계정 (Supabase Auth)</a:t>
            </a:r>
            <a:endParaRPr lang="en-US" sz="870" dirty="0"/>
          </a:p>
        </p:txBody>
      </p:sp>
      <p:sp>
        <p:nvSpPr>
          <p:cNvPr id="9" name="Text 7"/>
          <p:cNvSpPr/>
          <p:nvPr/>
        </p:nvSpPr>
        <p:spPr>
          <a:xfrm>
            <a:off x="2587752" y="1874520"/>
            <a:ext cx="237744" cy="274320"/>
          </a:xfrm>
          <a:prstGeom prst="rect">
            <a:avLst/>
          </a:prstGeom>
          <a:noFill/>
          <a:ln/>
        </p:spPr>
        <p:txBody>
          <a:bodyPr wrap="square" lIns="0" tIns="0" rIns="0" bIns="0" rtlCol="0" anchor="ctr"/>
          <a:lstStyle/>
          <a:p>
            <a:pPr algn="ctr" indent="0" marL="0">
              <a:buNone/>
            </a:pPr>
            <a:r>
              <a:rPr lang="en-US" sz="1100" b="1" dirty="0">
                <a:solidFill>
                  <a:srgbClr val="9AA3B2"/>
                </a:solidFill>
                <a:latin typeface="Malgun Gothic" pitchFamily="34" charset="0"/>
                <a:ea typeface="Malgun Gothic" pitchFamily="34" charset="-122"/>
                <a:cs typeface="Malgun Gothic" pitchFamily="34" charset="-120"/>
              </a:rPr>
              <a:t>→</a:t>
            </a:r>
            <a:endParaRPr lang="en-US" sz="1100" dirty="0"/>
          </a:p>
        </p:txBody>
      </p:sp>
      <p:sp>
        <p:nvSpPr>
          <p:cNvPr id="10" name="Shape 8"/>
          <p:cNvSpPr/>
          <p:nvPr/>
        </p:nvSpPr>
        <p:spPr>
          <a:xfrm>
            <a:off x="2807208" y="1508760"/>
            <a:ext cx="2066544" cy="1078992"/>
          </a:xfrm>
          <a:prstGeom prst="roundRect">
            <a:avLst>
              <a:gd name="adj" fmla="val 7627"/>
            </a:avLst>
          </a:prstGeom>
          <a:solidFill>
            <a:srgbClr val="FFFFFF"/>
          </a:solidFill>
          <a:ln w="12700">
            <a:solidFill>
              <a:srgbClr val="D9E0EC"/>
            </a:solidFill>
            <a:prstDash val="solid"/>
          </a:ln>
        </p:spPr>
      </p:sp>
      <p:sp>
        <p:nvSpPr>
          <p:cNvPr id="11" name="Shape 9"/>
          <p:cNvSpPr/>
          <p:nvPr/>
        </p:nvSpPr>
        <p:spPr>
          <a:xfrm>
            <a:off x="2926080" y="1627632"/>
            <a:ext cx="256032" cy="256032"/>
          </a:xfrm>
          <a:prstGeom prst="ellipse">
            <a:avLst/>
          </a:prstGeom>
          <a:solidFill>
            <a:srgbClr val="1A4FD8"/>
          </a:solidFill>
          <a:ln/>
        </p:spPr>
      </p:sp>
      <p:sp>
        <p:nvSpPr>
          <p:cNvPr id="12" name="Text 10"/>
          <p:cNvSpPr/>
          <p:nvPr/>
        </p:nvSpPr>
        <p:spPr>
          <a:xfrm>
            <a:off x="2926080" y="162763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2</a:t>
            </a:r>
            <a:endParaRPr lang="en-US" sz="1050" dirty="0"/>
          </a:p>
        </p:txBody>
      </p:sp>
      <p:sp>
        <p:nvSpPr>
          <p:cNvPr id="13" name="Text 11"/>
          <p:cNvSpPr/>
          <p:nvPr/>
        </p:nvSpPr>
        <p:spPr>
          <a:xfrm>
            <a:off x="3246120" y="1609344"/>
            <a:ext cx="1536192" cy="292608"/>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계좌 연동 동의</a:t>
            </a:r>
            <a:endParaRPr lang="en-US" sz="1100" dirty="0"/>
          </a:p>
        </p:txBody>
      </p:sp>
      <p:sp>
        <p:nvSpPr>
          <p:cNvPr id="14" name="Text 12"/>
          <p:cNvSpPr/>
          <p:nvPr/>
        </p:nvSpPr>
        <p:spPr>
          <a:xfrm>
            <a:off x="2935224" y="1956816"/>
            <a:ext cx="1810512" cy="548640"/>
          </a:xfrm>
          <a:prstGeom prst="rect">
            <a:avLst/>
          </a:prstGeom>
          <a:noFill/>
          <a:ln/>
        </p:spPr>
        <p:txBody>
          <a:bodyPr wrap="square" lIns="0" tIns="0" rIns="0" bIns="0" rtlCol="0" anchor="t"/>
          <a:lstStyle/>
          <a:p>
            <a:pPr indent="0" marL="0">
              <a:buNone/>
            </a:pPr>
            <a:r>
              <a:rPr lang="en-US" sz="870" dirty="0">
                <a:solidFill>
                  <a:srgbClr val="5A6474"/>
                </a:solidFill>
                <a:latin typeface="Malgun Gothic" pitchFamily="34" charset="0"/>
                <a:ea typeface="Malgun Gothic" pitchFamily="34" charset="-122"/>
                <a:cs typeface="Malgun Gothic" pitchFamily="34" charset="-120"/>
              </a:rPr>
              <a:t>표시 전용 — 실제 연결·매매 없음</a:t>
            </a:r>
            <a:endParaRPr lang="en-US" sz="870" dirty="0"/>
          </a:p>
        </p:txBody>
      </p:sp>
      <p:sp>
        <p:nvSpPr>
          <p:cNvPr id="15" name="Text 13"/>
          <p:cNvSpPr/>
          <p:nvPr/>
        </p:nvSpPr>
        <p:spPr>
          <a:xfrm>
            <a:off x="4846320" y="1874520"/>
            <a:ext cx="237744" cy="274320"/>
          </a:xfrm>
          <a:prstGeom prst="rect">
            <a:avLst/>
          </a:prstGeom>
          <a:noFill/>
          <a:ln/>
        </p:spPr>
        <p:txBody>
          <a:bodyPr wrap="square" lIns="0" tIns="0" rIns="0" bIns="0" rtlCol="0" anchor="ctr"/>
          <a:lstStyle/>
          <a:p>
            <a:pPr algn="ctr" indent="0" marL="0">
              <a:buNone/>
            </a:pPr>
            <a:r>
              <a:rPr lang="en-US" sz="1100" b="1" dirty="0">
                <a:solidFill>
                  <a:srgbClr val="9AA3B2"/>
                </a:solidFill>
                <a:latin typeface="Malgun Gothic" pitchFamily="34" charset="0"/>
                <a:ea typeface="Malgun Gothic" pitchFamily="34" charset="-122"/>
                <a:cs typeface="Malgun Gothic" pitchFamily="34" charset="-120"/>
              </a:rPr>
              <a:t>→</a:t>
            </a:r>
            <a:endParaRPr lang="en-US" sz="1100" dirty="0"/>
          </a:p>
        </p:txBody>
      </p:sp>
      <p:sp>
        <p:nvSpPr>
          <p:cNvPr id="16" name="Shape 14"/>
          <p:cNvSpPr/>
          <p:nvPr/>
        </p:nvSpPr>
        <p:spPr>
          <a:xfrm>
            <a:off x="5065776" y="1508760"/>
            <a:ext cx="2066544" cy="1078992"/>
          </a:xfrm>
          <a:prstGeom prst="roundRect">
            <a:avLst>
              <a:gd name="adj" fmla="val 7627"/>
            </a:avLst>
          </a:prstGeom>
          <a:solidFill>
            <a:srgbClr val="FFFFFF"/>
          </a:solidFill>
          <a:ln w="12700">
            <a:solidFill>
              <a:srgbClr val="D9E0EC"/>
            </a:solidFill>
            <a:prstDash val="solid"/>
          </a:ln>
        </p:spPr>
      </p:sp>
      <p:sp>
        <p:nvSpPr>
          <p:cNvPr id="17" name="Shape 15"/>
          <p:cNvSpPr/>
          <p:nvPr/>
        </p:nvSpPr>
        <p:spPr>
          <a:xfrm>
            <a:off x="5184648" y="1627632"/>
            <a:ext cx="256032" cy="256032"/>
          </a:xfrm>
          <a:prstGeom prst="ellipse">
            <a:avLst/>
          </a:prstGeom>
          <a:solidFill>
            <a:srgbClr val="1A4FD8"/>
          </a:solidFill>
          <a:ln/>
        </p:spPr>
      </p:sp>
      <p:sp>
        <p:nvSpPr>
          <p:cNvPr id="18" name="Text 16"/>
          <p:cNvSpPr/>
          <p:nvPr/>
        </p:nvSpPr>
        <p:spPr>
          <a:xfrm>
            <a:off x="5184648" y="162763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3</a:t>
            </a:r>
            <a:endParaRPr lang="en-US" sz="1050" dirty="0"/>
          </a:p>
        </p:txBody>
      </p:sp>
      <p:sp>
        <p:nvSpPr>
          <p:cNvPr id="19" name="Text 17"/>
          <p:cNvSpPr/>
          <p:nvPr/>
        </p:nvSpPr>
        <p:spPr>
          <a:xfrm>
            <a:off x="5504688" y="1609344"/>
            <a:ext cx="1536192" cy="292608"/>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투자성향 진단</a:t>
            </a:r>
            <a:endParaRPr lang="en-US" sz="1100" dirty="0"/>
          </a:p>
        </p:txBody>
      </p:sp>
      <p:sp>
        <p:nvSpPr>
          <p:cNvPr id="20" name="Text 18"/>
          <p:cNvSpPr/>
          <p:nvPr/>
        </p:nvSpPr>
        <p:spPr>
          <a:xfrm>
            <a:off x="5193792" y="1956816"/>
            <a:ext cx="1810512" cy="548640"/>
          </a:xfrm>
          <a:prstGeom prst="rect">
            <a:avLst/>
          </a:prstGeom>
          <a:noFill/>
          <a:ln/>
        </p:spPr>
        <p:txBody>
          <a:bodyPr wrap="square" lIns="0" tIns="0" rIns="0" bIns="0" rtlCol="0" anchor="t"/>
          <a:lstStyle/>
          <a:p>
            <a:pPr indent="0" marL="0">
              <a:buNone/>
            </a:pPr>
            <a:r>
              <a:rPr lang="en-US" sz="870" dirty="0">
                <a:solidFill>
                  <a:srgbClr val="5A6474"/>
                </a:solidFill>
                <a:latin typeface="Malgun Gothic" pitchFamily="34" charset="0"/>
                <a:ea typeface="Malgun Gothic" pitchFamily="34" charset="-122"/>
                <a:cs typeface="Malgun Gothic" pitchFamily="34" charset="-120"/>
              </a:rPr>
              <a:t>12문항 확인서 · 5단계 성향</a:t>
            </a:r>
            <a:endParaRPr lang="en-US" sz="870" dirty="0"/>
          </a:p>
        </p:txBody>
      </p:sp>
      <p:sp>
        <p:nvSpPr>
          <p:cNvPr id="21" name="Text 19"/>
          <p:cNvSpPr/>
          <p:nvPr/>
        </p:nvSpPr>
        <p:spPr>
          <a:xfrm>
            <a:off x="7104888" y="1874520"/>
            <a:ext cx="237744" cy="274320"/>
          </a:xfrm>
          <a:prstGeom prst="rect">
            <a:avLst/>
          </a:prstGeom>
          <a:noFill/>
          <a:ln/>
        </p:spPr>
        <p:txBody>
          <a:bodyPr wrap="square" lIns="0" tIns="0" rIns="0" bIns="0" rtlCol="0" anchor="ctr"/>
          <a:lstStyle/>
          <a:p>
            <a:pPr algn="ctr" indent="0" marL="0">
              <a:buNone/>
            </a:pPr>
            <a:r>
              <a:rPr lang="en-US" sz="1100" b="1" dirty="0">
                <a:solidFill>
                  <a:srgbClr val="9AA3B2"/>
                </a:solidFill>
                <a:latin typeface="Malgun Gothic" pitchFamily="34" charset="0"/>
                <a:ea typeface="Malgun Gothic" pitchFamily="34" charset="-122"/>
                <a:cs typeface="Malgun Gothic" pitchFamily="34" charset="-120"/>
              </a:rPr>
              <a:t>→</a:t>
            </a:r>
            <a:endParaRPr lang="en-US" sz="1100" dirty="0"/>
          </a:p>
        </p:txBody>
      </p:sp>
      <p:sp>
        <p:nvSpPr>
          <p:cNvPr id="22" name="Shape 20"/>
          <p:cNvSpPr/>
          <p:nvPr/>
        </p:nvSpPr>
        <p:spPr>
          <a:xfrm>
            <a:off x="7324344" y="1508760"/>
            <a:ext cx="2066544" cy="1078992"/>
          </a:xfrm>
          <a:prstGeom prst="roundRect">
            <a:avLst>
              <a:gd name="adj" fmla="val 7627"/>
            </a:avLst>
          </a:prstGeom>
          <a:solidFill>
            <a:srgbClr val="FFFFFF"/>
          </a:solidFill>
          <a:ln w="12700">
            <a:solidFill>
              <a:srgbClr val="D9E0EC"/>
            </a:solidFill>
            <a:prstDash val="solid"/>
          </a:ln>
        </p:spPr>
      </p:sp>
      <p:sp>
        <p:nvSpPr>
          <p:cNvPr id="23" name="Shape 21"/>
          <p:cNvSpPr/>
          <p:nvPr/>
        </p:nvSpPr>
        <p:spPr>
          <a:xfrm>
            <a:off x="7443216" y="1627632"/>
            <a:ext cx="256032" cy="256032"/>
          </a:xfrm>
          <a:prstGeom prst="ellipse">
            <a:avLst/>
          </a:prstGeom>
          <a:solidFill>
            <a:srgbClr val="1A4FD8"/>
          </a:solidFill>
          <a:ln/>
        </p:spPr>
      </p:sp>
      <p:sp>
        <p:nvSpPr>
          <p:cNvPr id="24" name="Text 22"/>
          <p:cNvSpPr/>
          <p:nvPr/>
        </p:nvSpPr>
        <p:spPr>
          <a:xfrm>
            <a:off x="7443216" y="162763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4</a:t>
            </a:r>
            <a:endParaRPr lang="en-US" sz="1050" dirty="0"/>
          </a:p>
        </p:txBody>
      </p:sp>
      <p:sp>
        <p:nvSpPr>
          <p:cNvPr id="25" name="Text 23"/>
          <p:cNvSpPr/>
          <p:nvPr/>
        </p:nvSpPr>
        <p:spPr>
          <a:xfrm>
            <a:off x="7763256" y="1609344"/>
            <a:ext cx="1536192" cy="292608"/>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메인 홈 · 4탭</a:t>
            </a:r>
            <a:endParaRPr lang="en-US" sz="1100" dirty="0"/>
          </a:p>
        </p:txBody>
      </p:sp>
      <p:sp>
        <p:nvSpPr>
          <p:cNvPr id="26" name="Text 24"/>
          <p:cNvSpPr/>
          <p:nvPr/>
        </p:nvSpPr>
        <p:spPr>
          <a:xfrm>
            <a:off x="7452360" y="1956816"/>
            <a:ext cx="1810512" cy="548640"/>
          </a:xfrm>
          <a:prstGeom prst="rect">
            <a:avLst/>
          </a:prstGeom>
          <a:noFill/>
          <a:ln/>
        </p:spPr>
        <p:txBody>
          <a:bodyPr wrap="square" lIns="0" tIns="0" rIns="0" bIns="0" rtlCol="0" anchor="t"/>
          <a:lstStyle/>
          <a:p>
            <a:pPr indent="0" marL="0">
              <a:buNone/>
            </a:pPr>
            <a:r>
              <a:rPr lang="en-US" sz="870" dirty="0">
                <a:solidFill>
                  <a:srgbClr val="5A6474"/>
                </a:solidFill>
                <a:latin typeface="Malgun Gothic" pitchFamily="34" charset="0"/>
                <a:ea typeface="Malgun Gothic" pitchFamily="34" charset="-122"/>
                <a:cs typeface="Malgun Gothic" pitchFamily="34" charset="-120"/>
              </a:rPr>
              <a:t>자산 도넛 · 전략 카드 · 벤치마크</a:t>
            </a:r>
            <a:endParaRPr lang="en-US" sz="870" dirty="0"/>
          </a:p>
        </p:txBody>
      </p:sp>
      <p:sp>
        <p:nvSpPr>
          <p:cNvPr id="27" name="Text 25"/>
          <p:cNvSpPr/>
          <p:nvPr/>
        </p:nvSpPr>
        <p:spPr>
          <a:xfrm>
            <a:off x="9363456" y="1874520"/>
            <a:ext cx="237744" cy="274320"/>
          </a:xfrm>
          <a:prstGeom prst="rect">
            <a:avLst/>
          </a:prstGeom>
          <a:noFill/>
          <a:ln/>
        </p:spPr>
        <p:txBody>
          <a:bodyPr wrap="square" lIns="0" tIns="0" rIns="0" bIns="0" rtlCol="0" anchor="ctr"/>
          <a:lstStyle/>
          <a:p>
            <a:pPr algn="ctr" indent="0" marL="0">
              <a:buNone/>
            </a:pPr>
            <a:r>
              <a:rPr lang="en-US" sz="1100" b="1" dirty="0">
                <a:solidFill>
                  <a:srgbClr val="9AA3B2"/>
                </a:solidFill>
                <a:latin typeface="Malgun Gothic" pitchFamily="34" charset="0"/>
                <a:ea typeface="Malgun Gothic" pitchFamily="34" charset="-122"/>
                <a:cs typeface="Malgun Gothic" pitchFamily="34" charset="-120"/>
              </a:rPr>
              <a:t>→</a:t>
            </a:r>
            <a:endParaRPr lang="en-US" sz="1100" dirty="0"/>
          </a:p>
        </p:txBody>
      </p:sp>
      <p:sp>
        <p:nvSpPr>
          <p:cNvPr id="28" name="Shape 26"/>
          <p:cNvSpPr/>
          <p:nvPr/>
        </p:nvSpPr>
        <p:spPr>
          <a:xfrm>
            <a:off x="9582912" y="1508760"/>
            <a:ext cx="2066544" cy="1078992"/>
          </a:xfrm>
          <a:prstGeom prst="roundRect">
            <a:avLst>
              <a:gd name="adj" fmla="val 7627"/>
            </a:avLst>
          </a:prstGeom>
          <a:solidFill>
            <a:srgbClr val="EEF3FE"/>
          </a:solidFill>
          <a:ln w="12700">
            <a:solidFill>
              <a:srgbClr val="D7E2F8"/>
            </a:solidFill>
            <a:prstDash val="solid"/>
          </a:ln>
        </p:spPr>
      </p:sp>
      <p:sp>
        <p:nvSpPr>
          <p:cNvPr id="29" name="Shape 27"/>
          <p:cNvSpPr/>
          <p:nvPr/>
        </p:nvSpPr>
        <p:spPr>
          <a:xfrm>
            <a:off x="9701784" y="1627632"/>
            <a:ext cx="256032" cy="256032"/>
          </a:xfrm>
          <a:prstGeom prst="ellipse">
            <a:avLst/>
          </a:prstGeom>
          <a:solidFill>
            <a:srgbClr val="1A4FD8"/>
          </a:solidFill>
          <a:ln/>
        </p:spPr>
      </p:sp>
      <p:sp>
        <p:nvSpPr>
          <p:cNvPr id="30" name="Text 28"/>
          <p:cNvSpPr/>
          <p:nvPr/>
        </p:nvSpPr>
        <p:spPr>
          <a:xfrm>
            <a:off x="9701784" y="1627632"/>
            <a:ext cx="25603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5</a:t>
            </a:r>
            <a:endParaRPr lang="en-US" sz="1050" dirty="0"/>
          </a:p>
        </p:txBody>
      </p:sp>
      <p:sp>
        <p:nvSpPr>
          <p:cNvPr id="31" name="Text 29"/>
          <p:cNvSpPr/>
          <p:nvPr/>
        </p:nvSpPr>
        <p:spPr>
          <a:xfrm>
            <a:off x="10021824" y="1609344"/>
            <a:ext cx="1536192" cy="292608"/>
          </a:xfrm>
          <a:prstGeom prst="rect">
            <a:avLst/>
          </a:prstGeom>
          <a:noFill/>
          <a:ln/>
        </p:spPr>
        <p:txBody>
          <a:bodyPr wrap="square" lIns="0" tIns="0" rIns="0" bIns="0" rtlCol="0" anchor="ctr"/>
          <a:lstStyle/>
          <a:p>
            <a:pPr indent="0" marL="0">
              <a:buNone/>
            </a:pPr>
            <a:r>
              <a:rPr lang="en-US" sz="1100" b="1" dirty="0">
                <a:solidFill>
                  <a:srgbClr val="18202E"/>
                </a:solidFill>
                <a:latin typeface="Malgun Gothic" pitchFamily="34" charset="0"/>
                <a:ea typeface="Malgun Gothic" pitchFamily="34" charset="-122"/>
                <a:cs typeface="Malgun Gothic" pitchFamily="34" charset="-120"/>
              </a:rPr>
              <a:t>연금가이드 챗</a:t>
            </a:r>
            <a:endParaRPr lang="en-US" sz="1100" dirty="0"/>
          </a:p>
        </p:txBody>
      </p:sp>
      <p:sp>
        <p:nvSpPr>
          <p:cNvPr id="32" name="Text 30"/>
          <p:cNvSpPr/>
          <p:nvPr/>
        </p:nvSpPr>
        <p:spPr>
          <a:xfrm>
            <a:off x="9710928" y="1956816"/>
            <a:ext cx="1810512" cy="548640"/>
          </a:xfrm>
          <a:prstGeom prst="rect">
            <a:avLst/>
          </a:prstGeom>
          <a:noFill/>
          <a:ln/>
        </p:spPr>
        <p:txBody>
          <a:bodyPr wrap="square" lIns="0" tIns="0" rIns="0" bIns="0" rtlCol="0" anchor="t"/>
          <a:lstStyle/>
          <a:p>
            <a:pPr indent="0" marL="0">
              <a:buNone/>
            </a:pPr>
            <a:r>
              <a:rPr lang="en-US" sz="870" dirty="0">
                <a:solidFill>
                  <a:srgbClr val="5A6474"/>
                </a:solidFill>
                <a:latin typeface="Malgun Gothic" pitchFamily="34" charset="0"/>
                <a:ea typeface="Malgun Gothic" pitchFamily="34" charset="-122"/>
                <a:cs typeface="Malgun Gothic" pitchFamily="34" charset="-120"/>
              </a:rPr>
              <a:t>질문 → 근거 있는 답변</a:t>
            </a:r>
            <a:endParaRPr lang="en-US" sz="870" dirty="0"/>
          </a:p>
        </p:txBody>
      </p:sp>
      <p:sp>
        <p:nvSpPr>
          <p:cNvPr id="33" name="Text 31"/>
          <p:cNvSpPr/>
          <p:nvPr/>
        </p:nvSpPr>
        <p:spPr>
          <a:xfrm>
            <a:off x="548640" y="2880360"/>
            <a:ext cx="548640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챗 경험 — 화면에서 보이는 것</a:t>
            </a:r>
            <a:endParaRPr lang="en-US" sz="1250" dirty="0"/>
          </a:p>
        </p:txBody>
      </p:sp>
      <p:sp>
        <p:nvSpPr>
          <p:cNvPr id="34" name="Text 32"/>
          <p:cNvSpPr/>
          <p:nvPr/>
        </p:nvSpPr>
        <p:spPr>
          <a:xfrm>
            <a:off x="548640" y="3200400"/>
            <a:ext cx="5577840" cy="2560320"/>
          </a:xfrm>
          <a:prstGeom prst="rect">
            <a:avLst/>
          </a:prstGeom>
          <a:noFill/>
          <a:ln/>
        </p:spPr>
        <p:txBody>
          <a:bodyPr wrap="square" lIns="0" tIns="0" rIns="0" bIns="0" rtlCol="0" anchor="t"/>
          <a:lstStyle/>
          <a:p>
            <a:pPr marL="127000" indent="-127000">
              <a:spcAft>
                <a:spcPts val="700"/>
              </a:spcAft>
              <a:buSzPct val="100000"/>
              <a:buChar char="•"/>
            </a:pPr>
            <a:r>
              <a:rPr lang="en-US" sz="1100" dirty="0">
                <a:solidFill>
                  <a:srgbClr val="18202E"/>
                </a:solidFill>
                <a:latin typeface="Malgun Gothic" pitchFamily="34" charset="0"/>
                <a:ea typeface="Malgun Gothic" pitchFamily="34" charset="-122"/>
                <a:cs typeface="Malgun Gothic" pitchFamily="34" charset="-120"/>
              </a:rPr>
              <a:t>웰컴: 추천 카드 5종 + ETF 테마 23종 + 보유 ETF 리밸런싱 패널</a:t>
            </a:r>
            <a:endParaRPr lang="en-US" sz="1100" dirty="0"/>
          </a:p>
          <a:p>
            <a:pPr marL="127000" indent="-127000">
              <a:spcAft>
                <a:spcPts val="700"/>
              </a:spcAft>
              <a:buSzPct val="100000"/>
              <a:buChar char="•"/>
            </a:pPr>
            <a:r>
              <a:rPr lang="en-US" sz="1100" dirty="0">
                <a:solidFill>
                  <a:srgbClr val="18202E"/>
                </a:solidFill>
                <a:latin typeface="Malgun Gothic" pitchFamily="34" charset="0"/>
                <a:ea typeface="Malgun Gothic" pitchFamily="34" charset="-122"/>
                <a:cs typeface="Malgun Gothic" pitchFamily="34" charset="-120"/>
              </a:rPr>
              <a:t>검증 답변이 먼저 타이핑되고, AI 재서술이 가드를 통과하면 교체 (해요체)</a:t>
            </a:r>
            <a:endParaRPr lang="en-US" sz="1100" dirty="0"/>
          </a:p>
          <a:p>
            <a:pPr marL="127000" indent="-127000">
              <a:spcAft>
                <a:spcPts val="700"/>
              </a:spcAft>
              <a:buSzPct val="100000"/>
              <a:buChar char="•"/>
            </a:pPr>
            <a:r>
              <a:rPr lang="en-US" sz="1100" dirty="0">
                <a:solidFill>
                  <a:srgbClr val="18202E"/>
                </a:solidFill>
                <a:latin typeface="Malgun Gothic" pitchFamily="34" charset="0"/>
                <a:ea typeface="Malgun Gothic" pitchFamily="34" charset="-122"/>
                <a:cs typeface="Malgun Gothic" pitchFamily="34" charset="-120"/>
              </a:rPr>
              <a:t>모든 숫자에 출처 칩 · 숫자 근거 그리드(기본 6개 + 더보기)</a:t>
            </a:r>
            <a:endParaRPr lang="en-US" sz="1100" dirty="0"/>
          </a:p>
          <a:p>
            <a:pPr marL="127000" indent="-127000">
              <a:spcAft>
                <a:spcPts val="700"/>
              </a:spcAft>
              <a:buSzPct val="100000"/>
              <a:buChar char="•"/>
            </a:pPr>
            <a:r>
              <a:rPr lang="en-US" sz="1100" dirty="0">
                <a:solidFill>
                  <a:srgbClr val="18202E"/>
                </a:solidFill>
                <a:latin typeface="Malgun Gothic" pitchFamily="34" charset="0"/>
                <a:ea typeface="Malgun Gothic" pitchFamily="34" charset="-122"/>
                <a:cs typeface="Malgun Gothic" pitchFamily="34" charset="-120"/>
              </a:rPr>
              <a:t>시각화 4형태(도넛·게이지·KPI·시계열) + “이어서 물어보기” 후속 카드</a:t>
            </a:r>
            <a:endParaRPr lang="en-US" sz="1100" dirty="0"/>
          </a:p>
          <a:p>
            <a:pPr marL="127000" indent="-127000">
              <a:spcAft>
                <a:spcPts val="700"/>
              </a:spcAft>
              <a:buSzPct val="100000"/>
              <a:buChar char="•"/>
            </a:pPr>
            <a:r>
              <a:rPr lang="en-US" sz="1100" dirty="0">
                <a:solidFill>
                  <a:srgbClr val="18202E"/>
                </a:solidFill>
                <a:latin typeface="Malgun Gothic" pitchFamily="34" charset="0"/>
                <a:ea typeface="Malgun Gothic" pitchFamily="34" charset="-122"/>
                <a:cs typeface="Malgun Gothic" pitchFamily="34" charset="-120"/>
              </a:rPr>
              <a:t>대화 저장·불러오기·삭제 (본인 세션만 — RLS)</a:t>
            </a:r>
            <a:endParaRPr lang="en-US" sz="1100" dirty="0"/>
          </a:p>
        </p:txBody>
      </p:sp>
      <p:sp>
        <p:nvSpPr>
          <p:cNvPr id="35" name="Shape 33"/>
          <p:cNvSpPr/>
          <p:nvPr/>
        </p:nvSpPr>
        <p:spPr>
          <a:xfrm>
            <a:off x="6400800" y="2880360"/>
            <a:ext cx="4983480" cy="2880360"/>
          </a:xfrm>
          <a:prstGeom prst="roundRect">
            <a:avLst>
              <a:gd name="adj" fmla="val 3175"/>
            </a:avLst>
          </a:prstGeom>
          <a:solidFill>
            <a:srgbClr val="F7F9FE"/>
          </a:solidFill>
          <a:ln w="15875">
            <a:solidFill>
              <a:srgbClr val="9AA3B2"/>
            </a:solidFill>
            <a:prstDash val="dash"/>
          </a:ln>
        </p:spPr>
      </p:sp>
      <p:sp>
        <p:nvSpPr>
          <p:cNvPr id="36" name="Text 34"/>
          <p:cNvSpPr/>
          <p:nvPr/>
        </p:nvSpPr>
        <p:spPr>
          <a:xfrm>
            <a:off x="8549640" y="3703320"/>
            <a:ext cx="685800" cy="685800"/>
          </a:xfrm>
          <a:prstGeom prst="rect">
            <a:avLst/>
          </a:prstGeom>
          <a:noFill/>
          <a:ln/>
        </p:spPr>
        <p:txBody>
          <a:bodyPr wrap="square" lIns="0" tIns="0" rIns="0" bIns="0" rtlCol="0" anchor="ctr"/>
          <a:lstStyle/>
          <a:p>
            <a:pPr algn="ctr" indent="0" marL="0">
              <a:buNone/>
            </a:pPr>
            <a:r>
              <a:rPr lang="en-US" sz="3000" dirty="0">
                <a:solidFill>
                  <a:srgbClr val="1A4FD8"/>
                </a:solidFill>
                <a:latin typeface="Malgun Gothic" pitchFamily="34" charset="0"/>
                <a:ea typeface="Malgun Gothic" pitchFamily="34" charset="-122"/>
                <a:cs typeface="Malgun Gothic" pitchFamily="34" charset="-120"/>
              </a:rPr>
              <a:t>▶</a:t>
            </a:r>
            <a:endParaRPr lang="en-US" sz="3000" dirty="0"/>
          </a:p>
        </p:txBody>
      </p:sp>
      <p:sp>
        <p:nvSpPr>
          <p:cNvPr id="37" name="Text 35"/>
          <p:cNvSpPr/>
          <p:nvPr/>
        </p:nvSpPr>
        <p:spPr>
          <a:xfrm>
            <a:off x="6583680" y="4480560"/>
            <a:ext cx="4617720" cy="310896"/>
          </a:xfrm>
          <a:prstGeom prst="rect">
            <a:avLst/>
          </a:prstGeom>
          <a:noFill/>
          <a:ln/>
        </p:spPr>
        <p:txBody>
          <a:bodyPr wrap="square" lIns="0" tIns="0" rIns="0" bIns="0" rtlCol="0" anchor="ctr"/>
          <a:lstStyle/>
          <a:p>
            <a:pPr algn="ctr" indent="0" marL="0">
              <a:buNone/>
            </a:pPr>
            <a:r>
              <a:rPr lang="en-US" sz="1150" b="1" dirty="0">
                <a:solidFill>
                  <a:srgbClr val="18202E"/>
                </a:solidFill>
                <a:latin typeface="Malgun Gothic" pitchFamily="34" charset="0"/>
                <a:ea typeface="Malgun Gothic" pitchFamily="34" charset="-122"/>
                <a:cs typeface="Malgun Gothic" pitchFamily="34" charset="-120"/>
              </a:rPr>
              <a:t>시연 영상 / GIF 자리 — 발표 시 삽입</a:t>
            </a:r>
            <a:endParaRPr lang="en-US" sz="1150" dirty="0"/>
          </a:p>
        </p:txBody>
      </p:sp>
      <p:sp>
        <p:nvSpPr>
          <p:cNvPr id="38" name="Text 36"/>
          <p:cNvSpPr/>
          <p:nvPr/>
        </p:nvSpPr>
        <p:spPr>
          <a:xfrm>
            <a:off x="6675120" y="4828032"/>
            <a:ext cx="4434840" cy="777240"/>
          </a:xfrm>
          <a:prstGeom prst="rect">
            <a:avLst/>
          </a:prstGeom>
          <a:noFill/>
          <a:ln/>
        </p:spPr>
        <p:txBody>
          <a:bodyPr wrap="square" lIns="0" tIns="0" rIns="0" bIns="0" rtlCol="0" anchor="t"/>
          <a:lstStyle/>
          <a:p>
            <a:pPr algn="ctr" indent="0" marL="0">
              <a:buNone/>
            </a:pPr>
            <a:r>
              <a:rPr lang="en-US" sz="930" dirty="0">
                <a:solidFill>
                  <a:srgbClr val="5A6474"/>
                </a:solidFill>
                <a:latin typeface="Malgun Gothic" pitchFamily="34" charset="0"/>
                <a:ea typeface="Malgun Gothic" pitchFamily="34" charset="-122"/>
                <a:cs typeface="Malgun Gothic" pitchFamily="34" charset="-120"/>
              </a:rPr>
              <a:t>추천 데모: 정민재(계좌 간 중복 편중) 로그인 → “내 포트폴리오 점검해줘” → 위험 편중 진단 + 출처 칩 확인 → “세액공제 얼마 받아요?” 후속</a:t>
            </a:r>
            <a:endParaRPr lang="en-US" sz="930" dirty="0"/>
          </a:p>
        </p:txBody>
      </p:sp>
      <p:sp>
        <p:nvSpPr>
          <p:cNvPr id="39" name="Text 37"/>
          <p:cNvSpPr/>
          <p:nvPr/>
        </p:nvSpPr>
        <p:spPr>
          <a:xfrm>
            <a:off x="548640" y="5943600"/>
            <a:ext cx="11091672" cy="274320"/>
          </a:xfrm>
          <a:prstGeom prst="rect">
            <a:avLst/>
          </a:prstGeom>
          <a:noFill/>
          <a:ln/>
        </p:spPr>
        <p:txBody>
          <a:bodyPr wrap="square" lIns="0" tIns="0" rIns="0" bIns="0" rtlCol="0" anchor="ctr"/>
          <a:lstStyle/>
          <a:p>
            <a:pPr indent="0" marL="0">
              <a:buNone/>
            </a:pPr>
            <a:r>
              <a:rPr lang="en-US" sz="950" dirty="0">
                <a:solidFill>
                  <a:srgbClr val="5A6474"/>
                </a:solidFill>
                <a:latin typeface="Malgun Gothic" pitchFamily="34" charset="0"/>
                <a:ea typeface="Malgun Gothic" pitchFamily="34" charset="-122"/>
                <a:cs typeface="Malgun Gothic" pitchFamily="34" charset="-120"/>
              </a:rPr>
              <a:t>모든 화면은 표시 전용 목데이터 — 실제 금융사 연결 · 주문 · 자동매매는 발생하지 않음</a:t>
            </a:r>
            <a:endParaRPr lang="en-US" sz="950" dirty="0"/>
          </a:p>
        </p:txBody>
      </p:sp>
      <p:sp>
        <p:nvSpPr>
          <p:cNvPr id="40" name="Text 38"/>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13 · 비즈니스 가치</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증권사 KPI에 닿는 '설명 레이어'</a:t>
            </a:r>
            <a:endParaRPr lang="en-US" sz="2800" dirty="0"/>
          </a:p>
        </p:txBody>
      </p:sp>
      <p:sp>
        <p:nvSpPr>
          <p:cNvPr id="4" name="Shape 2"/>
          <p:cNvSpPr/>
          <p:nvPr/>
        </p:nvSpPr>
        <p:spPr>
          <a:xfrm>
            <a:off x="548640" y="1508760"/>
            <a:ext cx="5404104" cy="1737360"/>
          </a:xfrm>
          <a:prstGeom prst="roundRect">
            <a:avLst>
              <a:gd name="adj" fmla="val 4737"/>
            </a:avLst>
          </a:prstGeom>
          <a:solidFill>
            <a:srgbClr val="FFFFFF"/>
          </a:solidFill>
          <a:ln w="12700">
            <a:solidFill>
              <a:srgbClr val="D9E0EC"/>
            </a:solidFill>
            <a:prstDash val="solid"/>
          </a:ln>
        </p:spPr>
      </p:sp>
      <p:sp>
        <p:nvSpPr>
          <p:cNvPr id="5" name="Text 3"/>
          <p:cNvSpPr/>
          <p:nvPr/>
        </p:nvSpPr>
        <p:spPr>
          <a:xfrm>
            <a:off x="749808" y="1673352"/>
            <a:ext cx="3849624" cy="329184"/>
          </a:xfrm>
          <a:prstGeom prst="rect">
            <a:avLst/>
          </a:prstGeom>
          <a:noFill/>
          <a:ln/>
        </p:spPr>
        <p:txBody>
          <a:bodyPr wrap="square" lIns="0" tIns="0" rIns="0" bIns="0" rtlCol="0" anchor="ctr"/>
          <a:lstStyle/>
          <a:p>
            <a:pPr indent="0" marL="0">
              <a:buNone/>
            </a:pPr>
            <a:r>
              <a:rPr lang="en-US" sz="1450" b="1" dirty="0">
                <a:solidFill>
                  <a:srgbClr val="18202E"/>
                </a:solidFill>
                <a:latin typeface="Malgun Gothic" pitchFamily="34" charset="0"/>
                <a:ea typeface="Malgun Gothic" pitchFamily="34" charset="-122"/>
                <a:cs typeface="Malgun Gothic" pitchFamily="34" charset="-120"/>
              </a:rPr>
              <a:t>신뢰 리스크 제거</a:t>
            </a:r>
            <a:endParaRPr lang="en-US" sz="1450" dirty="0"/>
          </a:p>
        </p:txBody>
      </p:sp>
      <p:sp>
        <p:nvSpPr>
          <p:cNvPr id="6" name="Text 4"/>
          <p:cNvSpPr/>
          <p:nvPr/>
        </p:nvSpPr>
        <p:spPr>
          <a:xfrm>
            <a:off x="4654296" y="1691640"/>
            <a:ext cx="1115568" cy="274320"/>
          </a:xfrm>
          <a:prstGeom prst="roundRect">
            <a:avLst>
              <a:gd name="adj" fmla="val 46667"/>
            </a:avLst>
          </a:prstGeom>
          <a:solidFill>
            <a:srgbClr val="EEF3FE"/>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컴플라이언스</a:t>
            </a:r>
            <a:endParaRPr lang="en-US" sz="880" dirty="0"/>
          </a:p>
        </p:txBody>
      </p:sp>
      <p:sp>
        <p:nvSpPr>
          <p:cNvPr id="7" name="Text 5"/>
          <p:cNvSpPr/>
          <p:nvPr/>
        </p:nvSpPr>
        <p:spPr>
          <a:xfrm>
            <a:off x="749808" y="2075688"/>
            <a:ext cx="5001768" cy="1005840"/>
          </a:xfrm>
          <a:prstGeom prst="rect">
            <a:avLst/>
          </a:prstGeom>
          <a:noFill/>
          <a:ln/>
        </p:spPr>
        <p:txBody>
          <a:bodyPr wrap="square" lIns="0" tIns="0" rIns="0" bIns="0" rtlCol="0" anchor="t"/>
          <a:lstStyle/>
          <a:p>
            <a:pPr indent="0" marL="0">
              <a:buNone/>
            </a:pPr>
            <a:r>
              <a:rPr lang="en-US" sz="1080" dirty="0">
                <a:solidFill>
                  <a:srgbClr val="5A6474"/>
                </a:solidFill>
                <a:latin typeface="Malgun Gothic" pitchFamily="34" charset="0"/>
                <a:ea typeface="Malgun Gothic" pitchFamily="34" charset="-122"/>
                <a:cs typeface="Malgun Gothic" pitchFamily="34" charset="-120"/>
              </a:rPr>
              <a:t>환각 수치가 구조적으로 차단된 금융 챗봇 — 오답 민원·규제 리스크를 아키텍처 수준에서 낮춘다.</a:t>
            </a:r>
            <a:endParaRPr lang="en-US" sz="1080" dirty="0"/>
          </a:p>
        </p:txBody>
      </p:sp>
      <p:sp>
        <p:nvSpPr>
          <p:cNvPr id="8" name="Shape 6"/>
          <p:cNvSpPr/>
          <p:nvPr/>
        </p:nvSpPr>
        <p:spPr>
          <a:xfrm>
            <a:off x="6236208" y="1508760"/>
            <a:ext cx="5404104" cy="1737360"/>
          </a:xfrm>
          <a:prstGeom prst="roundRect">
            <a:avLst>
              <a:gd name="adj" fmla="val 4737"/>
            </a:avLst>
          </a:prstGeom>
          <a:solidFill>
            <a:srgbClr val="FFFFFF"/>
          </a:solidFill>
          <a:ln w="12700">
            <a:solidFill>
              <a:srgbClr val="D9E0EC"/>
            </a:solidFill>
            <a:prstDash val="solid"/>
          </a:ln>
        </p:spPr>
      </p:sp>
      <p:sp>
        <p:nvSpPr>
          <p:cNvPr id="9" name="Text 7"/>
          <p:cNvSpPr/>
          <p:nvPr/>
        </p:nvSpPr>
        <p:spPr>
          <a:xfrm>
            <a:off x="6437376" y="1673352"/>
            <a:ext cx="3849624" cy="329184"/>
          </a:xfrm>
          <a:prstGeom prst="rect">
            <a:avLst/>
          </a:prstGeom>
          <a:noFill/>
          <a:ln/>
        </p:spPr>
        <p:txBody>
          <a:bodyPr wrap="square" lIns="0" tIns="0" rIns="0" bIns="0" rtlCol="0" anchor="ctr"/>
          <a:lstStyle/>
          <a:p>
            <a:pPr indent="0" marL="0">
              <a:buNone/>
            </a:pPr>
            <a:r>
              <a:rPr lang="en-US" sz="1450" b="1" dirty="0">
                <a:solidFill>
                  <a:srgbClr val="18202E"/>
                </a:solidFill>
                <a:latin typeface="Malgun Gothic" pitchFamily="34" charset="0"/>
                <a:ea typeface="Malgun Gothic" pitchFamily="34" charset="-122"/>
                <a:cs typeface="Malgun Gothic" pitchFamily="34" charset="-120"/>
              </a:rPr>
              <a:t>운영 자동화</a:t>
            </a:r>
            <a:endParaRPr lang="en-US" sz="1450" dirty="0"/>
          </a:p>
        </p:txBody>
      </p:sp>
      <p:sp>
        <p:nvSpPr>
          <p:cNvPr id="10" name="Text 8"/>
          <p:cNvSpPr/>
          <p:nvPr/>
        </p:nvSpPr>
        <p:spPr>
          <a:xfrm>
            <a:off x="10341864" y="1691640"/>
            <a:ext cx="1115568" cy="274320"/>
          </a:xfrm>
          <a:prstGeom prst="roundRect">
            <a:avLst>
              <a:gd name="adj" fmla="val 46667"/>
            </a:avLst>
          </a:prstGeom>
          <a:solidFill>
            <a:srgbClr val="EEF3FE"/>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비용 절감</a:t>
            </a:r>
            <a:endParaRPr lang="en-US" sz="880" dirty="0"/>
          </a:p>
        </p:txBody>
      </p:sp>
      <p:sp>
        <p:nvSpPr>
          <p:cNvPr id="11" name="Text 9"/>
          <p:cNvSpPr/>
          <p:nvPr/>
        </p:nvSpPr>
        <p:spPr>
          <a:xfrm>
            <a:off x="6437376" y="2075688"/>
            <a:ext cx="5001768" cy="1005840"/>
          </a:xfrm>
          <a:prstGeom prst="rect">
            <a:avLst/>
          </a:prstGeom>
          <a:noFill/>
          <a:ln/>
        </p:spPr>
        <p:txBody>
          <a:bodyPr wrap="square" lIns="0" tIns="0" rIns="0" bIns="0" rtlCol="0" anchor="t"/>
          <a:lstStyle/>
          <a:p>
            <a:pPr indent="0" marL="0">
              <a:buNone/>
            </a:pPr>
            <a:r>
              <a:rPr lang="en-US" sz="1080" dirty="0">
                <a:solidFill>
                  <a:srgbClr val="5A6474"/>
                </a:solidFill>
                <a:latin typeface="Malgun Gothic" pitchFamily="34" charset="0"/>
                <a:ea typeface="Malgun Gothic" pitchFamily="34" charset="-122"/>
                <a:cs typeface="Malgun Gothic" pitchFamily="34" charset="-120"/>
              </a:rPr>
              <a:t>수집 → 선별 → 요약 → 검증까지 무인 파이프라인. 뉴스 일 최대 20건, 100건 로테이션 상시 신선도.</a:t>
            </a:r>
            <a:endParaRPr lang="en-US" sz="1080" dirty="0"/>
          </a:p>
        </p:txBody>
      </p:sp>
      <p:sp>
        <p:nvSpPr>
          <p:cNvPr id="12" name="Shape 10"/>
          <p:cNvSpPr/>
          <p:nvPr/>
        </p:nvSpPr>
        <p:spPr>
          <a:xfrm>
            <a:off x="548640" y="3429000"/>
            <a:ext cx="5404104" cy="1737360"/>
          </a:xfrm>
          <a:prstGeom prst="roundRect">
            <a:avLst>
              <a:gd name="adj" fmla="val 4737"/>
            </a:avLst>
          </a:prstGeom>
          <a:solidFill>
            <a:srgbClr val="FFFFFF"/>
          </a:solidFill>
          <a:ln w="12700">
            <a:solidFill>
              <a:srgbClr val="D9E0EC"/>
            </a:solidFill>
            <a:prstDash val="solid"/>
          </a:ln>
        </p:spPr>
      </p:sp>
      <p:sp>
        <p:nvSpPr>
          <p:cNvPr id="13" name="Text 11"/>
          <p:cNvSpPr/>
          <p:nvPr/>
        </p:nvSpPr>
        <p:spPr>
          <a:xfrm>
            <a:off x="749808" y="3593592"/>
            <a:ext cx="3849624" cy="329184"/>
          </a:xfrm>
          <a:prstGeom prst="rect">
            <a:avLst/>
          </a:prstGeom>
          <a:noFill/>
          <a:ln/>
        </p:spPr>
        <p:txBody>
          <a:bodyPr wrap="square" lIns="0" tIns="0" rIns="0" bIns="0" rtlCol="0" anchor="ctr"/>
          <a:lstStyle/>
          <a:p>
            <a:pPr indent="0" marL="0">
              <a:buNone/>
            </a:pPr>
            <a:r>
              <a:rPr lang="en-US" sz="1450" b="1" dirty="0">
                <a:solidFill>
                  <a:srgbClr val="18202E"/>
                </a:solidFill>
                <a:latin typeface="Malgun Gothic" pitchFamily="34" charset="0"/>
                <a:ea typeface="Malgun Gothic" pitchFamily="34" charset="-122"/>
                <a:cs typeface="Malgun Gothic" pitchFamily="34" charset="-120"/>
              </a:rPr>
              <a:t>저비용 AI 운영</a:t>
            </a:r>
            <a:endParaRPr lang="en-US" sz="1450" dirty="0"/>
          </a:p>
        </p:txBody>
      </p:sp>
      <p:sp>
        <p:nvSpPr>
          <p:cNvPr id="14" name="Text 12"/>
          <p:cNvSpPr/>
          <p:nvPr/>
        </p:nvSpPr>
        <p:spPr>
          <a:xfrm>
            <a:off x="4654296" y="3611880"/>
            <a:ext cx="1115568" cy="274320"/>
          </a:xfrm>
          <a:prstGeom prst="roundRect">
            <a:avLst>
              <a:gd name="adj" fmla="val 46667"/>
            </a:avLst>
          </a:prstGeom>
          <a:solidFill>
            <a:srgbClr val="EEF3FE"/>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TCO</a:t>
            </a:r>
            <a:endParaRPr lang="en-US" sz="880" dirty="0"/>
          </a:p>
        </p:txBody>
      </p:sp>
      <p:sp>
        <p:nvSpPr>
          <p:cNvPr id="15" name="Text 13"/>
          <p:cNvSpPr/>
          <p:nvPr/>
        </p:nvSpPr>
        <p:spPr>
          <a:xfrm>
            <a:off x="749808" y="3995928"/>
            <a:ext cx="5001768" cy="1005840"/>
          </a:xfrm>
          <a:prstGeom prst="rect">
            <a:avLst/>
          </a:prstGeom>
          <a:noFill/>
          <a:ln/>
        </p:spPr>
        <p:txBody>
          <a:bodyPr wrap="square" lIns="0" tIns="0" rIns="0" bIns="0" rtlCol="0" anchor="t"/>
          <a:lstStyle/>
          <a:p>
            <a:pPr indent="0" marL="0">
              <a:buNone/>
            </a:pPr>
            <a:r>
              <a:rPr lang="en-US" sz="1080" dirty="0">
                <a:solidFill>
                  <a:srgbClr val="5A6474"/>
                </a:solidFill>
                <a:latin typeface="Malgun Gothic" pitchFamily="34" charset="0"/>
                <a:ea typeface="Malgun Gothic" pitchFamily="34" charset="-122"/>
                <a:cs typeface="Malgun Gothic" pitchFamily="34" charset="-120"/>
              </a:rPr>
              <a:t>결정론 답변 + 캐시 4중 + Haiku 채택으로 호출당 비용·지연 최소화. LLM이 꺼져도 서비스 성립.</a:t>
            </a:r>
            <a:endParaRPr lang="en-US" sz="1080" dirty="0"/>
          </a:p>
        </p:txBody>
      </p:sp>
      <p:sp>
        <p:nvSpPr>
          <p:cNvPr id="16" name="Shape 14"/>
          <p:cNvSpPr/>
          <p:nvPr/>
        </p:nvSpPr>
        <p:spPr>
          <a:xfrm>
            <a:off x="6236208" y="3429000"/>
            <a:ext cx="5404104" cy="1737360"/>
          </a:xfrm>
          <a:prstGeom prst="roundRect">
            <a:avLst>
              <a:gd name="adj" fmla="val 4737"/>
            </a:avLst>
          </a:prstGeom>
          <a:solidFill>
            <a:srgbClr val="FFFFFF"/>
          </a:solidFill>
          <a:ln w="12700">
            <a:solidFill>
              <a:srgbClr val="D9E0EC"/>
            </a:solidFill>
            <a:prstDash val="solid"/>
          </a:ln>
        </p:spPr>
      </p:sp>
      <p:sp>
        <p:nvSpPr>
          <p:cNvPr id="17" name="Text 15"/>
          <p:cNvSpPr/>
          <p:nvPr/>
        </p:nvSpPr>
        <p:spPr>
          <a:xfrm>
            <a:off x="6437376" y="3593592"/>
            <a:ext cx="3849624" cy="329184"/>
          </a:xfrm>
          <a:prstGeom prst="rect">
            <a:avLst/>
          </a:prstGeom>
          <a:noFill/>
          <a:ln/>
        </p:spPr>
        <p:txBody>
          <a:bodyPr wrap="square" lIns="0" tIns="0" rIns="0" bIns="0" rtlCol="0" anchor="ctr"/>
          <a:lstStyle/>
          <a:p>
            <a:pPr indent="0" marL="0">
              <a:buNone/>
            </a:pPr>
            <a:r>
              <a:rPr lang="en-US" sz="1450" b="1" dirty="0">
                <a:solidFill>
                  <a:srgbClr val="18202E"/>
                </a:solidFill>
                <a:latin typeface="Malgun Gothic" pitchFamily="34" charset="0"/>
                <a:ea typeface="Malgun Gothic" pitchFamily="34" charset="-122"/>
                <a:cs typeface="Malgun Gothic" pitchFamily="34" charset="-120"/>
              </a:rPr>
              <a:t>계좌 유입 · 락인</a:t>
            </a:r>
            <a:endParaRPr lang="en-US" sz="1450" dirty="0"/>
          </a:p>
        </p:txBody>
      </p:sp>
      <p:sp>
        <p:nvSpPr>
          <p:cNvPr id="18" name="Text 16"/>
          <p:cNvSpPr/>
          <p:nvPr/>
        </p:nvSpPr>
        <p:spPr>
          <a:xfrm>
            <a:off x="10341864" y="3611880"/>
            <a:ext cx="1115568" cy="274320"/>
          </a:xfrm>
          <a:prstGeom prst="roundRect">
            <a:avLst>
              <a:gd name="adj" fmla="val 46667"/>
            </a:avLst>
          </a:prstGeom>
          <a:solidFill>
            <a:srgbClr val="EEF3FE"/>
          </a:solidFill>
          <a:ln w="9525">
            <a:solidFill>
              <a:srgbClr val="D7E2F8"/>
            </a:solidFill>
          </a:ln>
        </p:spPr>
        <p:txBody>
          <a:bodyPr wrap="square" lIns="0" tIns="0" rIns="0" bIns="0" rtlCol="0" anchor="ctr"/>
          <a:lstStyle/>
          <a:p>
            <a:pPr algn="ctr" indent="0" marL="0">
              <a:buNone/>
            </a:pPr>
            <a:r>
              <a:rPr lang="en-US" sz="880" b="1" dirty="0">
                <a:solidFill>
                  <a:srgbClr val="1A4FD8"/>
                </a:solidFill>
                <a:latin typeface="Malgun Gothic" pitchFamily="34" charset="0"/>
                <a:ea typeface="Malgun Gothic" pitchFamily="34" charset="-122"/>
                <a:cs typeface="Malgun Gothic" pitchFamily="34" charset="-120"/>
              </a:rPr>
              <a:t>성장 KPI</a:t>
            </a:r>
            <a:endParaRPr lang="en-US" sz="880" dirty="0"/>
          </a:p>
        </p:txBody>
      </p:sp>
      <p:sp>
        <p:nvSpPr>
          <p:cNvPr id="19" name="Text 17"/>
          <p:cNvSpPr/>
          <p:nvPr/>
        </p:nvSpPr>
        <p:spPr>
          <a:xfrm>
            <a:off x="6437376" y="3995928"/>
            <a:ext cx="5001768" cy="1005840"/>
          </a:xfrm>
          <a:prstGeom prst="rect">
            <a:avLst/>
          </a:prstGeom>
          <a:noFill/>
          <a:ln/>
        </p:spPr>
        <p:txBody>
          <a:bodyPr wrap="square" lIns="0" tIns="0" rIns="0" bIns="0" rtlCol="0" anchor="t"/>
          <a:lstStyle/>
          <a:p>
            <a:pPr indent="0" marL="0">
              <a:buNone/>
            </a:pPr>
            <a:r>
              <a:rPr lang="en-US" sz="1080" dirty="0">
                <a:solidFill>
                  <a:srgbClr val="5A6474"/>
                </a:solidFill>
                <a:latin typeface="Malgun Gothic" pitchFamily="34" charset="0"/>
                <a:ea typeface="Malgun Gothic" pitchFamily="34" charset="-122"/>
                <a:cs typeface="Malgun Gothic" pitchFamily="34" charset="-120"/>
              </a:rPr>
              <a:t>실물이전 시대의 유치 경쟁력 — 조회·일임이 아닌 '설명'으로 셀프 운용 고객을 묶는 차별화 레이어.</a:t>
            </a:r>
            <a:endParaRPr lang="en-US" sz="1080" dirty="0"/>
          </a:p>
        </p:txBody>
      </p:sp>
      <p:sp>
        <p:nvSpPr>
          <p:cNvPr id="20" name="Shape 18"/>
          <p:cNvSpPr/>
          <p:nvPr/>
        </p:nvSpPr>
        <p:spPr>
          <a:xfrm>
            <a:off x="548640" y="5486400"/>
            <a:ext cx="11091672" cy="777240"/>
          </a:xfrm>
          <a:prstGeom prst="roundRect">
            <a:avLst>
              <a:gd name="adj" fmla="val 10588"/>
            </a:avLst>
          </a:prstGeom>
          <a:solidFill>
            <a:srgbClr val="EEF3FE"/>
          </a:solidFill>
          <a:ln w="12700">
            <a:solidFill>
              <a:srgbClr val="D7E2F8"/>
            </a:solidFill>
            <a:prstDash val="solid"/>
          </a:ln>
        </p:spPr>
      </p:sp>
      <p:sp>
        <p:nvSpPr>
          <p:cNvPr id="21" name="Text 19"/>
          <p:cNvSpPr/>
          <p:nvPr/>
        </p:nvSpPr>
        <p:spPr>
          <a:xfrm>
            <a:off x="749808" y="5486400"/>
            <a:ext cx="10689336" cy="777240"/>
          </a:xfrm>
          <a:prstGeom prst="rect">
            <a:avLst/>
          </a:prstGeom>
          <a:noFill/>
          <a:ln/>
        </p:spPr>
        <p:txBody>
          <a:bodyPr wrap="square" lIns="0" tIns="0" rIns="0" bIns="0" rtlCol="0" anchor="ctr"/>
          <a:lstStyle/>
          <a:p>
            <a:pPr indent="0" marL="0">
              <a:buNone/>
            </a:pPr>
            <a:r>
              <a:rPr lang="en-US" sz="1150" b="1" dirty="0">
                <a:solidFill>
                  <a:srgbClr val="1A4FD8"/>
                </a:solidFill>
                <a:latin typeface="Malgun Gothic" pitchFamily="34" charset="0"/>
                <a:ea typeface="Malgun Gothic" pitchFamily="34" charset="-122"/>
                <a:cs typeface="Malgun Gothic" pitchFamily="34" charset="-120"/>
              </a:rPr>
              <a:t>정직한 정량화 원칙 — </a:t>
            </a:r>
            <a:pPr indent="0" marL="0">
              <a:buNone/>
            </a:pPr>
            <a:r>
              <a:rPr lang="en-US" sz="1150" dirty="0">
                <a:solidFill>
                  <a:srgbClr val="18202E"/>
                </a:solidFill>
                <a:latin typeface="Malgun Gothic" pitchFamily="34" charset="0"/>
                <a:ea typeface="Malgun Gothic" pitchFamily="34" charset="-122"/>
                <a:cs typeface="Malgun Gothic" pitchFamily="34" charset="-120"/>
              </a:rPr>
              <a:t>임의 ROI 추정 대신 실측 지표로 말한다: 적격 ETF 861개 · 검증 포트폴리오 120개 위반 0건 · 테스트 944개 · 응답 396ms.</a:t>
            </a:r>
            <a:endParaRPr lang="en-US" sz="1150" dirty="0"/>
          </a:p>
        </p:txBody>
      </p:sp>
      <p:sp>
        <p:nvSpPr>
          <p:cNvPr id="22" name="Text 20"/>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402336"/>
            <a:ext cx="8229600" cy="274320"/>
          </a:xfrm>
          <a:prstGeom prst="rect">
            <a:avLst/>
          </a:prstGeom>
          <a:noFill/>
          <a:ln/>
        </p:spPr>
        <p:txBody>
          <a:bodyPr wrap="square" lIns="0" tIns="0" rIns="0" bIns="0" rtlCol="0" anchor="ctr"/>
          <a:lstStyle/>
          <a:p>
            <a:pPr indent="0" marL="0">
              <a:buNone/>
            </a:pPr>
            <a:r>
              <a:rPr lang="en-US" sz="1050" b="1" spc="200" kern="0" dirty="0">
                <a:solidFill>
                  <a:srgbClr val="1A4FD8"/>
                </a:solidFill>
                <a:latin typeface="Malgun Gothic" pitchFamily="34" charset="0"/>
                <a:ea typeface="Malgun Gothic" pitchFamily="34" charset="-122"/>
                <a:cs typeface="Malgun Gothic" pitchFamily="34" charset="-120"/>
              </a:rPr>
              <a:t>14 · 한계 · 다음 단계</a:t>
            </a:r>
            <a:endParaRPr lang="en-US" sz="1050" dirty="0"/>
          </a:p>
        </p:txBody>
      </p:sp>
      <p:sp>
        <p:nvSpPr>
          <p:cNvPr id="3" name="Text 1"/>
          <p:cNvSpPr/>
          <p:nvPr/>
        </p:nvSpPr>
        <p:spPr>
          <a:xfrm>
            <a:off x="548640" y="676656"/>
            <a:ext cx="11091672" cy="548640"/>
          </a:xfrm>
          <a:prstGeom prst="rect">
            <a:avLst/>
          </a:prstGeom>
          <a:noFill/>
          <a:ln/>
        </p:spPr>
        <p:txBody>
          <a:bodyPr wrap="square" lIns="0" tIns="0" rIns="0" bIns="0" rtlCol="0" anchor="ctr"/>
          <a:lstStyle/>
          <a:p>
            <a:pPr indent="0" marL="0">
              <a:buNone/>
            </a:pPr>
            <a:r>
              <a:rPr lang="en-US" sz="2800" b="1" dirty="0">
                <a:solidFill>
                  <a:srgbClr val="18202E"/>
                </a:solidFill>
                <a:latin typeface="Malgun Gothic" pitchFamily="34" charset="0"/>
                <a:ea typeface="Malgun Gothic" pitchFamily="34" charset="-122"/>
                <a:cs typeface="Malgun Gothic" pitchFamily="34" charset="-120"/>
              </a:rPr>
              <a:t>지금 안 되는 것과, 되게 만들 순서</a:t>
            </a:r>
            <a:endParaRPr lang="en-US" sz="2800" dirty="0"/>
          </a:p>
        </p:txBody>
      </p:sp>
      <p:sp>
        <p:nvSpPr>
          <p:cNvPr id="4" name="Text 2"/>
          <p:cNvSpPr/>
          <p:nvPr/>
        </p:nvSpPr>
        <p:spPr>
          <a:xfrm>
            <a:off x="548640" y="1417320"/>
            <a:ext cx="530352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한계 — 솔직 공개</a:t>
            </a:r>
            <a:endParaRPr lang="en-US" sz="1250" dirty="0"/>
          </a:p>
        </p:txBody>
      </p:sp>
      <p:sp>
        <p:nvSpPr>
          <p:cNvPr id="5" name="Shape 3"/>
          <p:cNvSpPr/>
          <p:nvPr/>
        </p:nvSpPr>
        <p:spPr>
          <a:xfrm>
            <a:off x="548640" y="1783080"/>
            <a:ext cx="5349240" cy="896112"/>
          </a:xfrm>
          <a:prstGeom prst="roundRect">
            <a:avLst>
              <a:gd name="adj" fmla="val 9184"/>
            </a:avLst>
          </a:prstGeom>
          <a:solidFill>
            <a:srgbClr val="FBF1DF"/>
          </a:solidFill>
          <a:ln/>
        </p:spPr>
      </p:sp>
      <p:sp>
        <p:nvSpPr>
          <p:cNvPr id="6" name="Text 4"/>
          <p:cNvSpPr/>
          <p:nvPr/>
        </p:nvSpPr>
        <p:spPr>
          <a:xfrm>
            <a:off x="713232" y="1856232"/>
            <a:ext cx="1463040" cy="749808"/>
          </a:xfrm>
          <a:prstGeom prst="rect">
            <a:avLst/>
          </a:prstGeom>
          <a:noFill/>
          <a:ln/>
        </p:spPr>
        <p:txBody>
          <a:bodyPr wrap="square" lIns="0" tIns="0" rIns="0" bIns="0" rtlCol="0" anchor="ctr"/>
          <a:lstStyle/>
          <a:p>
            <a:pPr indent="0" marL="0">
              <a:buNone/>
            </a:pPr>
            <a:r>
              <a:rPr lang="en-US" sz="1050" b="1" dirty="0">
                <a:solidFill>
                  <a:srgbClr val="C77A1E"/>
                </a:solidFill>
                <a:latin typeface="Malgun Gothic" pitchFamily="34" charset="0"/>
                <a:ea typeface="Malgun Gothic" pitchFamily="34" charset="-122"/>
                <a:cs typeface="Malgun Gothic" pitchFamily="34" charset="-120"/>
              </a:rPr>
              <a:t>데이터</a:t>
            </a:r>
            <a:endParaRPr lang="en-US" sz="1050" dirty="0"/>
          </a:p>
        </p:txBody>
      </p:sp>
      <p:sp>
        <p:nvSpPr>
          <p:cNvPr id="7" name="Text 5"/>
          <p:cNvSpPr/>
          <p:nvPr/>
        </p:nvSpPr>
        <p:spPr>
          <a:xfrm>
            <a:off x="2194560" y="1856232"/>
            <a:ext cx="3566160" cy="749808"/>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실계좌·마이데이터 미연동(시나리오 목데이터) · 총보수 미확보 38개 · 장기 계획가정(CMA) 승인 대기</a:t>
            </a:r>
            <a:endParaRPr lang="en-US" sz="940" dirty="0"/>
          </a:p>
        </p:txBody>
      </p:sp>
      <p:sp>
        <p:nvSpPr>
          <p:cNvPr id="8" name="Shape 6"/>
          <p:cNvSpPr/>
          <p:nvPr/>
        </p:nvSpPr>
        <p:spPr>
          <a:xfrm>
            <a:off x="548640" y="2807208"/>
            <a:ext cx="5349240" cy="896112"/>
          </a:xfrm>
          <a:prstGeom prst="roundRect">
            <a:avLst>
              <a:gd name="adj" fmla="val 9184"/>
            </a:avLst>
          </a:prstGeom>
          <a:solidFill>
            <a:srgbClr val="FBF1DF"/>
          </a:solidFill>
          <a:ln/>
        </p:spPr>
      </p:sp>
      <p:sp>
        <p:nvSpPr>
          <p:cNvPr id="9" name="Text 7"/>
          <p:cNvSpPr/>
          <p:nvPr/>
        </p:nvSpPr>
        <p:spPr>
          <a:xfrm>
            <a:off x="713232" y="2880360"/>
            <a:ext cx="1463040" cy="749808"/>
          </a:xfrm>
          <a:prstGeom prst="rect">
            <a:avLst/>
          </a:prstGeom>
          <a:noFill/>
          <a:ln/>
        </p:spPr>
        <p:txBody>
          <a:bodyPr wrap="square" lIns="0" tIns="0" rIns="0" bIns="0" rtlCol="0" anchor="ctr"/>
          <a:lstStyle/>
          <a:p>
            <a:pPr indent="0" marL="0">
              <a:buNone/>
            </a:pPr>
            <a:r>
              <a:rPr lang="en-US" sz="1050" b="1" dirty="0">
                <a:solidFill>
                  <a:srgbClr val="C77A1E"/>
                </a:solidFill>
                <a:latin typeface="Malgun Gothic" pitchFamily="34" charset="0"/>
                <a:ea typeface="Malgun Gothic" pitchFamily="34" charset="-122"/>
                <a:cs typeface="Malgun Gothic" pitchFamily="34" charset="-120"/>
              </a:rPr>
              <a:t>모델 · 운영</a:t>
            </a:r>
            <a:endParaRPr lang="en-US" sz="1050" dirty="0"/>
          </a:p>
        </p:txBody>
      </p:sp>
      <p:sp>
        <p:nvSpPr>
          <p:cNvPr id="10" name="Text 8"/>
          <p:cNvSpPr/>
          <p:nvPr/>
        </p:nvSpPr>
        <p:spPr>
          <a:xfrm>
            <a:off x="2194560" y="2880360"/>
            <a:ext cx="3566160" cy="749808"/>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내레이션 가드 잔여 결함 보강 진행 · 포트폴리오 단위 위험/스트레스 정책 상한 미확정</a:t>
            </a:r>
            <a:endParaRPr lang="en-US" sz="940" dirty="0"/>
          </a:p>
        </p:txBody>
      </p:sp>
      <p:sp>
        <p:nvSpPr>
          <p:cNvPr id="11" name="Shape 9"/>
          <p:cNvSpPr/>
          <p:nvPr/>
        </p:nvSpPr>
        <p:spPr>
          <a:xfrm>
            <a:off x="548640" y="3831336"/>
            <a:ext cx="5349240" cy="896112"/>
          </a:xfrm>
          <a:prstGeom prst="roundRect">
            <a:avLst>
              <a:gd name="adj" fmla="val 9184"/>
            </a:avLst>
          </a:prstGeom>
          <a:solidFill>
            <a:srgbClr val="FBF1DF"/>
          </a:solidFill>
          <a:ln/>
        </p:spPr>
      </p:sp>
      <p:sp>
        <p:nvSpPr>
          <p:cNvPr id="12" name="Text 10"/>
          <p:cNvSpPr/>
          <p:nvPr/>
        </p:nvSpPr>
        <p:spPr>
          <a:xfrm>
            <a:off x="713232" y="3904488"/>
            <a:ext cx="1463040" cy="749808"/>
          </a:xfrm>
          <a:prstGeom prst="rect">
            <a:avLst/>
          </a:prstGeom>
          <a:noFill/>
          <a:ln/>
        </p:spPr>
        <p:txBody>
          <a:bodyPr wrap="square" lIns="0" tIns="0" rIns="0" bIns="0" rtlCol="0" anchor="ctr"/>
          <a:lstStyle/>
          <a:p>
            <a:pPr indent="0" marL="0">
              <a:buNone/>
            </a:pPr>
            <a:r>
              <a:rPr lang="en-US" sz="1050" b="1" dirty="0">
                <a:solidFill>
                  <a:srgbClr val="C77A1E"/>
                </a:solidFill>
                <a:latin typeface="Malgun Gothic" pitchFamily="34" charset="0"/>
                <a:ea typeface="Malgun Gothic" pitchFamily="34" charset="-122"/>
                <a:cs typeface="Malgun Gothic" pitchFamily="34" charset="-120"/>
              </a:rPr>
              <a:t>화면</a:t>
            </a:r>
            <a:endParaRPr lang="en-US" sz="1050" dirty="0"/>
          </a:p>
        </p:txBody>
      </p:sp>
      <p:sp>
        <p:nvSpPr>
          <p:cNvPr id="13" name="Text 11"/>
          <p:cNvSpPr/>
          <p:nvPr/>
        </p:nvSpPr>
        <p:spPr>
          <a:xfrm>
            <a:off x="2194560" y="3904488"/>
            <a:ext cx="3566160" cy="749808"/>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계산기·추천카드 전용 화면 연결 진행 중(현재 챗 경유) · 회원가입 미구현</a:t>
            </a:r>
            <a:endParaRPr lang="en-US" sz="940" dirty="0"/>
          </a:p>
        </p:txBody>
      </p:sp>
      <p:sp>
        <p:nvSpPr>
          <p:cNvPr id="14" name="Shape 12"/>
          <p:cNvSpPr/>
          <p:nvPr/>
        </p:nvSpPr>
        <p:spPr>
          <a:xfrm>
            <a:off x="548640" y="4855464"/>
            <a:ext cx="5349240" cy="896112"/>
          </a:xfrm>
          <a:prstGeom prst="roundRect">
            <a:avLst>
              <a:gd name="adj" fmla="val 9184"/>
            </a:avLst>
          </a:prstGeom>
          <a:solidFill>
            <a:srgbClr val="FBF1DF"/>
          </a:solidFill>
          <a:ln/>
        </p:spPr>
      </p:sp>
      <p:sp>
        <p:nvSpPr>
          <p:cNvPr id="15" name="Text 13"/>
          <p:cNvSpPr/>
          <p:nvPr/>
        </p:nvSpPr>
        <p:spPr>
          <a:xfrm>
            <a:off x="713232" y="4928616"/>
            <a:ext cx="1463040" cy="749808"/>
          </a:xfrm>
          <a:prstGeom prst="rect">
            <a:avLst/>
          </a:prstGeom>
          <a:noFill/>
          <a:ln/>
        </p:spPr>
        <p:txBody>
          <a:bodyPr wrap="square" lIns="0" tIns="0" rIns="0" bIns="0" rtlCol="0" anchor="ctr"/>
          <a:lstStyle/>
          <a:p>
            <a:pPr indent="0" marL="0">
              <a:buNone/>
            </a:pPr>
            <a:r>
              <a:rPr lang="en-US" sz="1050" b="1" dirty="0">
                <a:solidFill>
                  <a:srgbClr val="C77A1E"/>
                </a:solidFill>
                <a:latin typeface="Malgun Gothic" pitchFamily="34" charset="0"/>
                <a:ea typeface="Malgun Gothic" pitchFamily="34" charset="-122"/>
                <a:cs typeface="Malgun Gothic" pitchFamily="34" charset="-120"/>
              </a:rPr>
              <a:t>컴플라이언스</a:t>
            </a:r>
            <a:endParaRPr lang="en-US" sz="1050" dirty="0"/>
          </a:p>
        </p:txBody>
      </p:sp>
      <p:sp>
        <p:nvSpPr>
          <p:cNvPr id="16" name="Text 14"/>
          <p:cNvSpPr/>
          <p:nvPr/>
        </p:nvSpPr>
        <p:spPr>
          <a:xfrm>
            <a:off x="2194560" y="4928616"/>
            <a:ext cx="3566160" cy="749808"/>
          </a:xfrm>
          <a:prstGeom prst="rect">
            <a:avLst/>
          </a:prstGeom>
          <a:noFill/>
          <a:ln/>
        </p:spPr>
        <p:txBody>
          <a:bodyPr wrap="square" lIns="0" tIns="0" rIns="0" bIns="0" rtlCol="0" anchor="ctr"/>
          <a:lstStyle/>
          <a:p>
            <a:pPr indent="0" marL="0">
              <a:buNone/>
            </a:pPr>
            <a:r>
              <a:rPr lang="en-US" sz="940" dirty="0">
                <a:solidFill>
                  <a:srgbClr val="18202E"/>
                </a:solidFill>
                <a:latin typeface="Malgun Gothic" pitchFamily="34" charset="0"/>
                <a:ea typeface="Malgun Gothic" pitchFamily="34" charset="-122"/>
                <a:cs typeface="Malgun Gothic" pitchFamily="34" charset="-120"/>
              </a:rPr>
              <a:t>표현 규제 엄격 적용은 학습·발표 단계 유예 — 실서비스화 시 재검토 전제</a:t>
            </a:r>
            <a:endParaRPr lang="en-US" sz="940" dirty="0"/>
          </a:p>
        </p:txBody>
      </p:sp>
      <p:sp>
        <p:nvSpPr>
          <p:cNvPr id="17" name="Text 15"/>
          <p:cNvSpPr/>
          <p:nvPr/>
        </p:nvSpPr>
        <p:spPr>
          <a:xfrm>
            <a:off x="6263640" y="1417320"/>
            <a:ext cx="5120640" cy="274320"/>
          </a:xfrm>
          <a:prstGeom prst="rect">
            <a:avLst/>
          </a:prstGeom>
          <a:noFill/>
          <a:ln/>
        </p:spPr>
        <p:txBody>
          <a:bodyPr wrap="square" lIns="0" tIns="0" rIns="0" bIns="0" rtlCol="0" anchor="ctr"/>
          <a:lstStyle/>
          <a:p>
            <a:pPr indent="0" marL="0">
              <a:buNone/>
            </a:pPr>
            <a:r>
              <a:rPr lang="en-US" sz="1250" b="1" dirty="0">
                <a:solidFill>
                  <a:srgbClr val="18202E"/>
                </a:solidFill>
                <a:latin typeface="Malgun Gothic" pitchFamily="34" charset="0"/>
                <a:ea typeface="Malgun Gothic" pitchFamily="34" charset="-122"/>
                <a:cs typeface="Malgun Gothic" pitchFamily="34" charset="-120"/>
              </a:rPr>
              <a:t>로드맵 — 우선순위 순</a:t>
            </a:r>
            <a:endParaRPr lang="en-US" sz="1250" dirty="0"/>
          </a:p>
        </p:txBody>
      </p:sp>
      <p:sp>
        <p:nvSpPr>
          <p:cNvPr id="18" name="Shape 16"/>
          <p:cNvSpPr/>
          <p:nvPr/>
        </p:nvSpPr>
        <p:spPr>
          <a:xfrm>
            <a:off x="6263640" y="1874520"/>
            <a:ext cx="292608" cy="292608"/>
          </a:xfrm>
          <a:prstGeom prst="ellipse">
            <a:avLst/>
          </a:prstGeom>
          <a:solidFill>
            <a:srgbClr val="1A4FD8"/>
          </a:solidFill>
          <a:ln/>
        </p:spPr>
      </p:sp>
      <p:sp>
        <p:nvSpPr>
          <p:cNvPr id="19" name="Text 17"/>
          <p:cNvSpPr/>
          <p:nvPr/>
        </p:nvSpPr>
        <p:spPr>
          <a:xfrm>
            <a:off x="6263640" y="187452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1</a:t>
            </a:r>
            <a:endParaRPr lang="en-US" sz="1100" dirty="0"/>
          </a:p>
        </p:txBody>
      </p:sp>
      <p:sp>
        <p:nvSpPr>
          <p:cNvPr id="20" name="Text 18"/>
          <p:cNvSpPr/>
          <p:nvPr/>
        </p:nvSpPr>
        <p:spPr>
          <a:xfrm>
            <a:off x="6675120" y="1801368"/>
            <a:ext cx="4663440" cy="27432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내레이션 가드 결함 보강</a:t>
            </a:r>
            <a:endParaRPr lang="en-US" sz="1150" dirty="0"/>
          </a:p>
        </p:txBody>
      </p:sp>
      <p:sp>
        <p:nvSpPr>
          <p:cNvPr id="21" name="Text 19"/>
          <p:cNvSpPr/>
          <p:nvPr/>
        </p:nvSpPr>
        <p:spPr>
          <a:xfrm>
            <a:off x="6675120" y="2075688"/>
            <a:ext cx="4709160" cy="292608"/>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실측 미탐 3종 · 표기 변형 오탐 처리</a:t>
            </a:r>
            <a:endParaRPr lang="en-US" sz="900" dirty="0"/>
          </a:p>
        </p:txBody>
      </p:sp>
      <p:sp>
        <p:nvSpPr>
          <p:cNvPr id="22" name="Shape 20"/>
          <p:cNvSpPr/>
          <p:nvPr/>
        </p:nvSpPr>
        <p:spPr>
          <a:xfrm>
            <a:off x="6263640" y="2596896"/>
            <a:ext cx="292608" cy="292608"/>
          </a:xfrm>
          <a:prstGeom prst="ellipse">
            <a:avLst/>
          </a:prstGeom>
          <a:solidFill>
            <a:srgbClr val="1A4FD8"/>
          </a:solidFill>
          <a:ln/>
        </p:spPr>
      </p:sp>
      <p:sp>
        <p:nvSpPr>
          <p:cNvPr id="23" name="Text 21"/>
          <p:cNvSpPr/>
          <p:nvPr/>
        </p:nvSpPr>
        <p:spPr>
          <a:xfrm>
            <a:off x="6263640" y="259689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2</a:t>
            </a:r>
            <a:endParaRPr lang="en-US" sz="1100" dirty="0"/>
          </a:p>
        </p:txBody>
      </p:sp>
      <p:sp>
        <p:nvSpPr>
          <p:cNvPr id="24" name="Text 22"/>
          <p:cNvSpPr/>
          <p:nvPr/>
        </p:nvSpPr>
        <p:spPr>
          <a:xfrm>
            <a:off x="6675120" y="2523744"/>
            <a:ext cx="4663440" cy="27432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계산기 · 추천카드 화면 연결</a:t>
            </a:r>
            <a:endParaRPr lang="en-US" sz="1150" dirty="0"/>
          </a:p>
        </p:txBody>
      </p:sp>
      <p:sp>
        <p:nvSpPr>
          <p:cNvPr id="25" name="Text 23"/>
          <p:cNvSpPr/>
          <p:nvPr/>
        </p:nvSpPr>
        <p:spPr>
          <a:xfrm>
            <a:off x="6675120" y="2798064"/>
            <a:ext cx="4709160" cy="292608"/>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“예상 수익률” 슬라이더 → 전략 선택 UI로 교체</a:t>
            </a:r>
            <a:endParaRPr lang="en-US" sz="900" dirty="0"/>
          </a:p>
        </p:txBody>
      </p:sp>
      <p:sp>
        <p:nvSpPr>
          <p:cNvPr id="26" name="Shape 24"/>
          <p:cNvSpPr/>
          <p:nvPr/>
        </p:nvSpPr>
        <p:spPr>
          <a:xfrm>
            <a:off x="6263640" y="3319272"/>
            <a:ext cx="292608" cy="292608"/>
          </a:xfrm>
          <a:prstGeom prst="ellipse">
            <a:avLst/>
          </a:prstGeom>
          <a:solidFill>
            <a:srgbClr val="B9C6E8"/>
          </a:solidFill>
          <a:ln/>
        </p:spPr>
      </p:sp>
      <p:sp>
        <p:nvSpPr>
          <p:cNvPr id="27" name="Text 25"/>
          <p:cNvSpPr/>
          <p:nvPr/>
        </p:nvSpPr>
        <p:spPr>
          <a:xfrm>
            <a:off x="6263640" y="331927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3</a:t>
            </a:r>
            <a:endParaRPr lang="en-US" sz="1100" dirty="0"/>
          </a:p>
        </p:txBody>
      </p:sp>
      <p:sp>
        <p:nvSpPr>
          <p:cNvPr id="28" name="Text 26"/>
          <p:cNvSpPr/>
          <p:nvPr/>
        </p:nvSpPr>
        <p:spPr>
          <a:xfrm>
            <a:off x="6675120" y="3246120"/>
            <a:ext cx="4663440" cy="27432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포트폴리오 위험 정책 확정</a:t>
            </a:r>
            <a:endParaRPr lang="en-US" sz="1150" dirty="0"/>
          </a:p>
        </p:txBody>
      </p:sp>
      <p:sp>
        <p:nvSpPr>
          <p:cNvPr id="29" name="Text 27"/>
          <p:cNvSpPr/>
          <p:nvPr/>
        </p:nvSpPr>
        <p:spPr>
          <a:xfrm>
            <a:off x="6675120" y="3520440"/>
            <a:ext cx="4709160" cy="292608"/>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변동성 · 하락위험 · 스트레스 산출 상한</a:t>
            </a:r>
            <a:endParaRPr lang="en-US" sz="900" dirty="0"/>
          </a:p>
        </p:txBody>
      </p:sp>
      <p:sp>
        <p:nvSpPr>
          <p:cNvPr id="30" name="Shape 28"/>
          <p:cNvSpPr/>
          <p:nvPr/>
        </p:nvSpPr>
        <p:spPr>
          <a:xfrm>
            <a:off x="6263640" y="4041648"/>
            <a:ext cx="292608" cy="292608"/>
          </a:xfrm>
          <a:prstGeom prst="ellipse">
            <a:avLst/>
          </a:prstGeom>
          <a:solidFill>
            <a:srgbClr val="B9C6E8"/>
          </a:solidFill>
          <a:ln/>
        </p:spPr>
      </p:sp>
      <p:sp>
        <p:nvSpPr>
          <p:cNvPr id="31" name="Text 29"/>
          <p:cNvSpPr/>
          <p:nvPr/>
        </p:nvSpPr>
        <p:spPr>
          <a:xfrm>
            <a:off x="6263640" y="404164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4</a:t>
            </a:r>
            <a:endParaRPr lang="en-US" sz="1100" dirty="0"/>
          </a:p>
        </p:txBody>
      </p:sp>
      <p:sp>
        <p:nvSpPr>
          <p:cNvPr id="32" name="Text 30"/>
          <p:cNvSpPr/>
          <p:nvPr/>
        </p:nvSpPr>
        <p:spPr>
          <a:xfrm>
            <a:off x="6675120" y="3968496"/>
            <a:ext cx="4663440" cy="27432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장기 계획가정(CMA) 승인</a:t>
            </a:r>
            <a:endParaRPr lang="en-US" sz="1150" dirty="0"/>
          </a:p>
        </p:txBody>
      </p:sp>
      <p:sp>
        <p:nvSpPr>
          <p:cNvPr id="33" name="Text 31"/>
          <p:cNvSpPr/>
          <p:nvPr/>
        </p:nvSpPr>
        <p:spPr>
          <a:xfrm>
            <a:off x="6675120" y="4242816"/>
            <a:ext cx="4709160" cy="292608"/>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갱신 주체 · 화면 표현 정책 포함</a:t>
            </a:r>
            <a:endParaRPr lang="en-US" sz="900" dirty="0"/>
          </a:p>
        </p:txBody>
      </p:sp>
      <p:sp>
        <p:nvSpPr>
          <p:cNvPr id="34" name="Shape 32"/>
          <p:cNvSpPr/>
          <p:nvPr/>
        </p:nvSpPr>
        <p:spPr>
          <a:xfrm>
            <a:off x="6263640" y="4764024"/>
            <a:ext cx="292608" cy="292608"/>
          </a:xfrm>
          <a:prstGeom prst="ellipse">
            <a:avLst/>
          </a:prstGeom>
          <a:solidFill>
            <a:srgbClr val="B9C6E8"/>
          </a:solidFill>
          <a:ln/>
        </p:spPr>
      </p:sp>
      <p:sp>
        <p:nvSpPr>
          <p:cNvPr id="35" name="Text 33"/>
          <p:cNvSpPr/>
          <p:nvPr/>
        </p:nvSpPr>
        <p:spPr>
          <a:xfrm>
            <a:off x="6263640" y="476402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5</a:t>
            </a:r>
            <a:endParaRPr lang="en-US" sz="1100" dirty="0"/>
          </a:p>
        </p:txBody>
      </p:sp>
      <p:sp>
        <p:nvSpPr>
          <p:cNvPr id="36" name="Text 34"/>
          <p:cNvSpPr/>
          <p:nvPr/>
        </p:nvSpPr>
        <p:spPr>
          <a:xfrm>
            <a:off x="6675120" y="4690872"/>
            <a:ext cx="4663440" cy="27432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RAG 재임베딩</a:t>
            </a:r>
            <a:endParaRPr lang="en-US" sz="1150" dirty="0"/>
          </a:p>
        </p:txBody>
      </p:sp>
      <p:sp>
        <p:nvSpPr>
          <p:cNvPr id="37" name="Text 35"/>
          <p:cNvSpPr/>
          <p:nvPr/>
        </p:nvSpPr>
        <p:spPr>
          <a:xfrm>
            <a:off x="6675120" y="4965192"/>
            <a:ext cx="4709160" cy="292608"/>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청킹 헤딩 경로 보강</a:t>
            </a:r>
            <a:endParaRPr lang="en-US" sz="900" dirty="0"/>
          </a:p>
        </p:txBody>
      </p:sp>
      <p:sp>
        <p:nvSpPr>
          <p:cNvPr id="38" name="Shape 36"/>
          <p:cNvSpPr/>
          <p:nvPr/>
        </p:nvSpPr>
        <p:spPr>
          <a:xfrm>
            <a:off x="6263640" y="5486400"/>
            <a:ext cx="292608" cy="292608"/>
          </a:xfrm>
          <a:prstGeom prst="ellipse">
            <a:avLst/>
          </a:prstGeom>
          <a:solidFill>
            <a:srgbClr val="B9C6E8"/>
          </a:solidFill>
          <a:ln/>
        </p:spPr>
      </p:sp>
      <p:sp>
        <p:nvSpPr>
          <p:cNvPr id="39" name="Text 37"/>
          <p:cNvSpPr/>
          <p:nvPr/>
        </p:nvSpPr>
        <p:spPr>
          <a:xfrm>
            <a:off x="6263640" y="548640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6</a:t>
            </a:r>
            <a:endParaRPr lang="en-US" sz="1100" dirty="0"/>
          </a:p>
        </p:txBody>
      </p:sp>
      <p:sp>
        <p:nvSpPr>
          <p:cNvPr id="40" name="Text 38"/>
          <p:cNvSpPr/>
          <p:nvPr/>
        </p:nvSpPr>
        <p:spPr>
          <a:xfrm>
            <a:off x="6675120" y="5413248"/>
            <a:ext cx="4663440" cy="274320"/>
          </a:xfrm>
          <a:prstGeom prst="rect">
            <a:avLst/>
          </a:prstGeom>
          <a:noFill/>
          <a:ln/>
        </p:spPr>
        <p:txBody>
          <a:bodyPr wrap="square" lIns="0" tIns="0" rIns="0" bIns="0" rtlCol="0" anchor="ctr"/>
          <a:lstStyle/>
          <a:p>
            <a:pPr indent="0" marL="0">
              <a:buNone/>
            </a:pPr>
            <a:r>
              <a:rPr lang="en-US" sz="1150" b="1" dirty="0">
                <a:solidFill>
                  <a:srgbClr val="18202E"/>
                </a:solidFill>
                <a:latin typeface="Malgun Gothic" pitchFamily="34" charset="0"/>
                <a:ea typeface="Malgun Gothic" pitchFamily="34" charset="-122"/>
                <a:cs typeface="Malgun Gothic" pitchFamily="34" charset="-120"/>
              </a:rPr>
              <a:t>실계좌 연동 (장기)</a:t>
            </a:r>
            <a:endParaRPr lang="en-US" sz="1150" dirty="0"/>
          </a:p>
        </p:txBody>
      </p:sp>
      <p:sp>
        <p:nvSpPr>
          <p:cNvPr id="41" name="Text 39"/>
          <p:cNvSpPr/>
          <p:nvPr/>
        </p:nvSpPr>
        <p:spPr>
          <a:xfrm>
            <a:off x="6675120" y="5687568"/>
            <a:ext cx="4709160" cy="292608"/>
          </a:xfrm>
          <a:prstGeom prst="rect">
            <a:avLst/>
          </a:prstGeom>
          <a:noFill/>
          <a:ln/>
        </p:spPr>
        <p:txBody>
          <a:bodyPr wrap="square" lIns="0" tIns="0" rIns="0" bIns="0" rtlCol="0" anchor="ctr"/>
          <a:lstStyle/>
          <a:p>
            <a:pPr indent="0" marL="0">
              <a:buNone/>
            </a:pPr>
            <a:r>
              <a:rPr lang="en-US" sz="900" dirty="0">
                <a:solidFill>
                  <a:srgbClr val="5A6474"/>
                </a:solidFill>
                <a:latin typeface="Malgun Gothic" pitchFamily="34" charset="0"/>
                <a:ea typeface="Malgun Gothic" pitchFamily="34" charset="-122"/>
                <a:cs typeface="Malgun Gothic" pitchFamily="34" charset="-120"/>
              </a:rPr>
              <a:t>마이데이터 · 회원가입 · 계좌 API</a:t>
            </a:r>
            <a:endParaRPr lang="en-US" sz="900" dirty="0"/>
          </a:p>
        </p:txBody>
      </p:sp>
      <p:sp>
        <p:nvSpPr>
          <p:cNvPr id="42" name="Text 40"/>
          <p:cNvSpPr/>
          <p:nvPr/>
        </p:nvSpPr>
        <p:spPr>
          <a:xfrm>
            <a:off x="9509760" y="6528816"/>
            <a:ext cx="2130552" cy="237744"/>
          </a:xfrm>
          <a:prstGeom prst="rect">
            <a:avLst/>
          </a:prstGeom>
          <a:noFill/>
          <a:ln/>
        </p:spPr>
        <p:txBody>
          <a:bodyPr wrap="square" lIns="0" tIns="0" rIns="0" bIns="0" rtlCol="0" anchor="ctr"/>
          <a:lstStyle/>
          <a:p>
            <a:pPr algn="r" indent="0" marL="0">
              <a:buNone/>
            </a:pPr>
            <a:r>
              <a:rPr lang="en-US" sz="850" dirty="0">
                <a:solidFill>
                  <a:srgbClr val="9AA3B2"/>
                </a:solidFill>
                <a:latin typeface="Malgun Gothic" pitchFamily="34" charset="0"/>
                <a:ea typeface="Malgun Gothic" pitchFamily="34" charset="-122"/>
                <a:cs typeface="Malgun Gothic" pitchFamily="34" charset="-120"/>
              </a:rPr>
              <a:t>연금:KDA · KDA 증권  |  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E45"/>
        </a:solidFill>
      </p:bgPr>
    </p:bg>
    <p:spTree>
      <p:nvGrpSpPr>
        <p:cNvPr id="1" name=""/>
        <p:cNvGrpSpPr/>
        <p:nvPr/>
      </p:nvGrpSpPr>
      <p:grpSpPr>
        <a:xfrm>
          <a:off x="0" y="0"/>
          <a:ext cx="0" cy="0"/>
          <a:chOff x="0" y="0"/>
          <a:chExt cx="0" cy="0"/>
        </a:xfrm>
      </p:grpSpPr>
      <p:sp>
        <p:nvSpPr>
          <p:cNvPr id="2" name="Text 0"/>
          <p:cNvSpPr/>
          <p:nvPr/>
        </p:nvSpPr>
        <p:spPr>
          <a:xfrm>
            <a:off x="548640" y="502920"/>
            <a:ext cx="5486400" cy="292608"/>
          </a:xfrm>
          <a:prstGeom prst="rect">
            <a:avLst/>
          </a:prstGeom>
          <a:noFill/>
          <a:ln/>
        </p:spPr>
        <p:txBody>
          <a:bodyPr wrap="square" lIns="0" tIns="0" rIns="0" bIns="0" rtlCol="0" anchor="ctr"/>
          <a:lstStyle/>
          <a:p>
            <a:pPr indent="0" marL="0">
              <a:buNone/>
            </a:pPr>
            <a:r>
              <a:rPr lang="en-US" sz="1100" b="1" spc="300" kern="0" dirty="0">
                <a:solidFill>
                  <a:srgbClr val="8FB0F8"/>
                </a:solidFill>
                <a:latin typeface="Malgun Gothic" pitchFamily="34" charset="0"/>
                <a:ea typeface="Malgun Gothic" pitchFamily="34" charset="-122"/>
                <a:cs typeface="Malgun Gothic" pitchFamily="34" charset="-120"/>
              </a:rPr>
              <a:t>TEAM  KDA 증권</a:t>
            </a:r>
            <a:endParaRPr lang="en-US" sz="1100" dirty="0"/>
          </a:p>
        </p:txBody>
      </p:sp>
      <p:sp>
        <p:nvSpPr>
          <p:cNvPr id="3" name="Text 1"/>
          <p:cNvSpPr/>
          <p:nvPr/>
        </p:nvSpPr>
        <p:spPr>
          <a:xfrm>
            <a:off x="548640" y="841248"/>
            <a:ext cx="11091672" cy="457200"/>
          </a:xfrm>
          <a:prstGeom prst="rect">
            <a:avLst/>
          </a:prstGeom>
          <a:noFill/>
          <a:ln/>
        </p:spPr>
        <p:txBody>
          <a:bodyPr wrap="square" lIns="0" tIns="0" rIns="0" bIns="0" rtlCol="0" anchor="ctr"/>
          <a:lstStyle/>
          <a:p>
            <a:pPr indent="0" marL="0">
              <a:buNone/>
            </a:pPr>
            <a:r>
              <a:rPr lang="en-US" sz="2400" b="1" dirty="0">
                <a:solidFill>
                  <a:srgbClr val="FFFFFF"/>
                </a:solidFill>
                <a:latin typeface="Malgun Gothic" pitchFamily="34" charset="0"/>
                <a:ea typeface="Malgun Gothic" pitchFamily="34" charset="-122"/>
                <a:cs typeface="Malgun Gothic" pitchFamily="34" charset="-120"/>
              </a:rPr>
              <a:t>여섯 명이 12일 — 역할과 질문 받을 사람</a:t>
            </a:r>
            <a:endParaRPr lang="en-US" sz="2400" dirty="0"/>
          </a:p>
        </p:txBody>
      </p:sp>
      <p:sp>
        <p:nvSpPr>
          <p:cNvPr id="4" name="Shape 2"/>
          <p:cNvSpPr/>
          <p:nvPr/>
        </p:nvSpPr>
        <p:spPr>
          <a:xfrm>
            <a:off x="548640" y="1600200"/>
            <a:ext cx="3602736" cy="1234440"/>
          </a:xfrm>
          <a:prstGeom prst="roundRect">
            <a:avLst>
              <a:gd name="adj" fmla="val 7407"/>
            </a:avLst>
          </a:prstGeom>
          <a:solidFill>
            <a:srgbClr val="1B2F66"/>
          </a:solidFill>
          <a:ln w="12700">
            <a:solidFill>
              <a:srgbClr val="31437F"/>
            </a:solidFill>
            <a:prstDash val="solid"/>
          </a:ln>
        </p:spPr>
      </p:sp>
      <p:sp>
        <p:nvSpPr>
          <p:cNvPr id="5" name="Text 3"/>
          <p:cNvSpPr/>
          <p:nvPr/>
        </p:nvSpPr>
        <p:spPr>
          <a:xfrm>
            <a:off x="731520" y="1728216"/>
            <a:ext cx="3236976"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이재용   </a:t>
            </a:r>
            <a:pPr indent="0" marL="0">
              <a:buNone/>
            </a:pPr>
            <a:r>
              <a:rPr lang="en-US" sz="1050" b="1" dirty="0">
                <a:solidFill>
                  <a:srgbClr val="8FB0F8"/>
                </a:solidFill>
                <a:latin typeface="Malgun Gothic" pitchFamily="34" charset="0"/>
                <a:ea typeface="Malgun Gothic" pitchFamily="34" charset="-122"/>
                <a:cs typeface="Malgun Gothic" pitchFamily="34" charset="-120"/>
              </a:rPr>
              <a:t>총괄</a:t>
            </a:r>
            <a:endParaRPr lang="en-US" sz="1400" dirty="0"/>
          </a:p>
        </p:txBody>
      </p:sp>
      <p:sp>
        <p:nvSpPr>
          <p:cNvPr id="6" name="Text 4"/>
          <p:cNvSpPr/>
          <p:nvPr/>
        </p:nvSpPr>
        <p:spPr>
          <a:xfrm>
            <a:off x="731520" y="2112264"/>
            <a:ext cx="3236976" cy="603504"/>
          </a:xfrm>
          <a:prstGeom prst="rect">
            <a:avLst/>
          </a:prstGeom>
          <a:noFill/>
          <a:ln/>
        </p:spPr>
        <p:txBody>
          <a:bodyPr wrap="square" lIns="0" tIns="0" rIns="0" bIns="0" rtlCol="0" anchor="t"/>
          <a:lstStyle/>
          <a:p>
            <a:pPr indent="0" marL="0">
              <a:buNone/>
            </a:pPr>
            <a:r>
              <a:rPr lang="en-US" sz="980" dirty="0">
                <a:solidFill>
                  <a:srgbClr val="9DB0D8"/>
                </a:solidFill>
                <a:latin typeface="Malgun Gothic" pitchFamily="34" charset="0"/>
                <a:ea typeface="Malgun Gothic" pitchFamily="34" charset="-122"/>
                <a:cs typeface="Malgun Gothic" pitchFamily="34" charset="-120"/>
              </a:rPr>
              <a:t>전체 아키텍처 · 코드 정합성 · 머지 승인</a:t>
            </a:r>
            <a:endParaRPr lang="en-US" sz="980" dirty="0"/>
          </a:p>
        </p:txBody>
      </p:sp>
      <p:sp>
        <p:nvSpPr>
          <p:cNvPr id="7" name="Shape 5"/>
          <p:cNvSpPr/>
          <p:nvPr/>
        </p:nvSpPr>
        <p:spPr>
          <a:xfrm>
            <a:off x="4343400" y="1600200"/>
            <a:ext cx="3602736" cy="1234440"/>
          </a:xfrm>
          <a:prstGeom prst="roundRect">
            <a:avLst>
              <a:gd name="adj" fmla="val 7407"/>
            </a:avLst>
          </a:prstGeom>
          <a:solidFill>
            <a:srgbClr val="1B2F66"/>
          </a:solidFill>
          <a:ln w="12700">
            <a:solidFill>
              <a:srgbClr val="31437F"/>
            </a:solidFill>
            <a:prstDash val="solid"/>
          </a:ln>
        </p:spPr>
      </p:sp>
      <p:sp>
        <p:nvSpPr>
          <p:cNvPr id="8" name="Text 6"/>
          <p:cNvSpPr/>
          <p:nvPr/>
        </p:nvSpPr>
        <p:spPr>
          <a:xfrm>
            <a:off x="4526280" y="1728216"/>
            <a:ext cx="3236976"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이호연   </a:t>
            </a:r>
            <a:pPr indent="0" marL="0">
              <a:buNone/>
            </a:pPr>
            <a:r>
              <a:rPr lang="en-US" sz="1050" b="1" dirty="0">
                <a:solidFill>
                  <a:srgbClr val="8FB0F8"/>
                </a:solidFill>
                <a:latin typeface="Malgun Gothic" pitchFamily="34" charset="0"/>
                <a:ea typeface="Malgun Gothic" pitchFamily="34" charset="-122"/>
                <a:cs typeface="Malgun Gothic" pitchFamily="34" charset="-120"/>
              </a:rPr>
              <a:t>팀장 · 백엔드</a:t>
            </a:r>
            <a:endParaRPr lang="en-US" sz="1400" dirty="0"/>
          </a:p>
        </p:txBody>
      </p:sp>
      <p:sp>
        <p:nvSpPr>
          <p:cNvPr id="9" name="Text 7"/>
          <p:cNvSpPr/>
          <p:nvPr/>
        </p:nvSpPr>
        <p:spPr>
          <a:xfrm>
            <a:off x="4526280" y="2112264"/>
            <a:ext cx="3236976" cy="603504"/>
          </a:xfrm>
          <a:prstGeom prst="rect">
            <a:avLst/>
          </a:prstGeom>
          <a:noFill/>
          <a:ln/>
        </p:spPr>
        <p:txBody>
          <a:bodyPr wrap="square" lIns="0" tIns="0" rIns="0" bIns="0" rtlCol="0" anchor="t"/>
          <a:lstStyle/>
          <a:p>
            <a:pPr indent="0" marL="0">
              <a:buNone/>
            </a:pPr>
            <a:r>
              <a:rPr lang="en-US" sz="980" dirty="0">
                <a:solidFill>
                  <a:srgbClr val="9DB0D8"/>
                </a:solidFill>
                <a:latin typeface="Malgun Gothic" pitchFamily="34" charset="0"/>
                <a:ea typeface="Malgun Gothic" pitchFamily="34" charset="-122"/>
                <a:cs typeface="Malgun Gothic" pitchFamily="34" charset="-120"/>
              </a:rPr>
              <a:t>챗봇 파이프라인 · 가드레일 · RAG · SSE</a:t>
            </a:r>
            <a:endParaRPr lang="en-US" sz="980" dirty="0"/>
          </a:p>
        </p:txBody>
      </p:sp>
      <p:sp>
        <p:nvSpPr>
          <p:cNvPr id="10" name="Shape 8"/>
          <p:cNvSpPr/>
          <p:nvPr/>
        </p:nvSpPr>
        <p:spPr>
          <a:xfrm>
            <a:off x="8138160" y="1600200"/>
            <a:ext cx="3602736" cy="1234440"/>
          </a:xfrm>
          <a:prstGeom prst="roundRect">
            <a:avLst>
              <a:gd name="adj" fmla="val 7407"/>
            </a:avLst>
          </a:prstGeom>
          <a:solidFill>
            <a:srgbClr val="1B2F66"/>
          </a:solidFill>
          <a:ln w="12700">
            <a:solidFill>
              <a:srgbClr val="31437F"/>
            </a:solidFill>
            <a:prstDash val="solid"/>
          </a:ln>
        </p:spPr>
      </p:sp>
      <p:sp>
        <p:nvSpPr>
          <p:cNvPr id="11" name="Text 9"/>
          <p:cNvSpPr/>
          <p:nvPr/>
        </p:nvSpPr>
        <p:spPr>
          <a:xfrm>
            <a:off x="8321040" y="1728216"/>
            <a:ext cx="3236976"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김태형   </a:t>
            </a:r>
            <a:pPr indent="0" marL="0">
              <a:buNone/>
            </a:pPr>
            <a:r>
              <a:rPr lang="en-US" sz="1050" b="1" dirty="0">
                <a:solidFill>
                  <a:srgbClr val="8FB0F8"/>
                </a:solidFill>
                <a:latin typeface="Malgun Gothic" pitchFamily="34" charset="0"/>
                <a:ea typeface="Malgun Gothic" pitchFamily="34" charset="-122"/>
                <a:cs typeface="Malgun Gothic" pitchFamily="34" charset="-120"/>
              </a:rPr>
              <a:t>알고리즘</a:t>
            </a:r>
            <a:endParaRPr lang="en-US" sz="1400" dirty="0"/>
          </a:p>
        </p:txBody>
      </p:sp>
      <p:sp>
        <p:nvSpPr>
          <p:cNvPr id="12" name="Text 10"/>
          <p:cNvSpPr/>
          <p:nvPr/>
        </p:nvSpPr>
        <p:spPr>
          <a:xfrm>
            <a:off x="8321040" y="2112264"/>
            <a:ext cx="3236976" cy="603504"/>
          </a:xfrm>
          <a:prstGeom prst="rect">
            <a:avLst/>
          </a:prstGeom>
          <a:noFill/>
          <a:ln/>
        </p:spPr>
        <p:txBody>
          <a:bodyPr wrap="square" lIns="0" tIns="0" rIns="0" bIns="0" rtlCol="0" anchor="t"/>
          <a:lstStyle/>
          <a:p>
            <a:pPr indent="0" marL="0">
              <a:buNone/>
            </a:pPr>
            <a:r>
              <a:rPr lang="en-US" sz="980" dirty="0">
                <a:solidFill>
                  <a:srgbClr val="9DB0D8"/>
                </a:solidFill>
                <a:latin typeface="Malgun Gothic" pitchFamily="34" charset="0"/>
                <a:ea typeface="Malgun Gothic" pitchFamily="34" charset="-122"/>
                <a:cs typeface="Malgun Gothic" pitchFamily="34" charset="-120"/>
              </a:rPr>
              <a:t>규칙 엔진 · 포트폴리오 · 계산기 · 데이터 산식</a:t>
            </a:r>
            <a:endParaRPr lang="en-US" sz="980" dirty="0"/>
          </a:p>
        </p:txBody>
      </p:sp>
      <p:sp>
        <p:nvSpPr>
          <p:cNvPr id="13" name="Shape 11"/>
          <p:cNvSpPr/>
          <p:nvPr/>
        </p:nvSpPr>
        <p:spPr>
          <a:xfrm>
            <a:off x="548640" y="3017520"/>
            <a:ext cx="3602736" cy="1234440"/>
          </a:xfrm>
          <a:prstGeom prst="roundRect">
            <a:avLst>
              <a:gd name="adj" fmla="val 7407"/>
            </a:avLst>
          </a:prstGeom>
          <a:solidFill>
            <a:srgbClr val="1B2F66"/>
          </a:solidFill>
          <a:ln w="12700">
            <a:solidFill>
              <a:srgbClr val="31437F"/>
            </a:solidFill>
            <a:prstDash val="solid"/>
          </a:ln>
        </p:spPr>
      </p:sp>
      <p:sp>
        <p:nvSpPr>
          <p:cNvPr id="14" name="Text 12"/>
          <p:cNvSpPr/>
          <p:nvPr/>
        </p:nvSpPr>
        <p:spPr>
          <a:xfrm>
            <a:off x="731520" y="3145536"/>
            <a:ext cx="3236976"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최호택   </a:t>
            </a:r>
            <a:pPr indent="0" marL="0">
              <a:buNone/>
            </a:pPr>
            <a:r>
              <a:rPr lang="en-US" sz="1050" b="1" dirty="0">
                <a:solidFill>
                  <a:srgbClr val="8FB0F8"/>
                </a:solidFill>
                <a:latin typeface="Malgun Gothic" pitchFamily="34" charset="0"/>
                <a:ea typeface="Malgun Gothic" pitchFamily="34" charset="-122"/>
                <a:cs typeface="Malgun Gothic" pitchFamily="34" charset="-120"/>
              </a:rPr>
              <a:t>프론트</a:t>
            </a:r>
            <a:endParaRPr lang="en-US" sz="1400" dirty="0"/>
          </a:p>
        </p:txBody>
      </p:sp>
      <p:sp>
        <p:nvSpPr>
          <p:cNvPr id="15" name="Text 13"/>
          <p:cNvSpPr/>
          <p:nvPr/>
        </p:nvSpPr>
        <p:spPr>
          <a:xfrm>
            <a:off x="731520" y="3529584"/>
            <a:ext cx="3236976" cy="603504"/>
          </a:xfrm>
          <a:prstGeom prst="rect">
            <a:avLst/>
          </a:prstGeom>
          <a:noFill/>
          <a:ln/>
        </p:spPr>
        <p:txBody>
          <a:bodyPr wrap="square" lIns="0" tIns="0" rIns="0" bIns="0" rtlCol="0" anchor="t"/>
          <a:lstStyle/>
          <a:p>
            <a:pPr indent="0" marL="0">
              <a:buNone/>
            </a:pPr>
            <a:r>
              <a:rPr lang="en-US" sz="980" dirty="0">
                <a:solidFill>
                  <a:srgbClr val="9DB0D8"/>
                </a:solidFill>
                <a:latin typeface="Malgun Gothic" pitchFamily="34" charset="0"/>
                <a:ea typeface="Malgun Gothic" pitchFamily="34" charset="-122"/>
                <a:cs typeface="Malgun Gothic" pitchFamily="34" charset="-120"/>
              </a:rPr>
              <a:t>React PWA · 로그인 플로우 · 화면</a:t>
            </a:r>
            <a:endParaRPr lang="en-US" sz="980" dirty="0"/>
          </a:p>
        </p:txBody>
      </p:sp>
      <p:sp>
        <p:nvSpPr>
          <p:cNvPr id="16" name="Shape 14"/>
          <p:cNvSpPr/>
          <p:nvPr/>
        </p:nvSpPr>
        <p:spPr>
          <a:xfrm>
            <a:off x="4343400" y="3017520"/>
            <a:ext cx="3602736" cy="1234440"/>
          </a:xfrm>
          <a:prstGeom prst="roundRect">
            <a:avLst>
              <a:gd name="adj" fmla="val 7407"/>
            </a:avLst>
          </a:prstGeom>
          <a:solidFill>
            <a:srgbClr val="1B2F66"/>
          </a:solidFill>
          <a:ln w="12700">
            <a:solidFill>
              <a:srgbClr val="31437F"/>
            </a:solidFill>
            <a:prstDash val="solid"/>
          </a:ln>
        </p:spPr>
      </p:sp>
      <p:sp>
        <p:nvSpPr>
          <p:cNvPr id="17" name="Text 15"/>
          <p:cNvSpPr/>
          <p:nvPr/>
        </p:nvSpPr>
        <p:spPr>
          <a:xfrm>
            <a:off x="4526280" y="3145536"/>
            <a:ext cx="3236976"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진재현   </a:t>
            </a:r>
            <a:pPr indent="0" marL="0">
              <a:buNone/>
            </a:pPr>
            <a:r>
              <a:rPr lang="en-US" sz="1050" b="1" dirty="0">
                <a:solidFill>
                  <a:srgbClr val="8FB0F8"/>
                </a:solidFill>
                <a:latin typeface="Malgun Gothic" pitchFamily="34" charset="0"/>
                <a:ea typeface="Malgun Gothic" pitchFamily="34" charset="-122"/>
                <a:cs typeface="Malgun Gothic" pitchFamily="34" charset="-120"/>
              </a:rPr>
              <a:t>프론트</a:t>
            </a:r>
            <a:endParaRPr lang="en-US" sz="1400" dirty="0"/>
          </a:p>
        </p:txBody>
      </p:sp>
      <p:sp>
        <p:nvSpPr>
          <p:cNvPr id="18" name="Text 16"/>
          <p:cNvSpPr/>
          <p:nvPr/>
        </p:nvSpPr>
        <p:spPr>
          <a:xfrm>
            <a:off x="4526280" y="3529584"/>
            <a:ext cx="3236976" cy="603504"/>
          </a:xfrm>
          <a:prstGeom prst="rect">
            <a:avLst/>
          </a:prstGeom>
          <a:noFill/>
          <a:ln/>
        </p:spPr>
        <p:txBody>
          <a:bodyPr wrap="square" lIns="0" tIns="0" rIns="0" bIns="0" rtlCol="0" anchor="t"/>
          <a:lstStyle/>
          <a:p>
            <a:pPr indent="0" marL="0">
              <a:buNone/>
            </a:pPr>
            <a:r>
              <a:rPr lang="en-US" sz="980" dirty="0">
                <a:solidFill>
                  <a:srgbClr val="9DB0D8"/>
                </a:solidFill>
                <a:latin typeface="Malgun Gothic" pitchFamily="34" charset="0"/>
                <a:ea typeface="Malgun Gothic" pitchFamily="34" charset="-122"/>
                <a:cs typeface="Malgun Gothic" pitchFamily="34" charset="-120"/>
              </a:rPr>
              <a:t>챗 UI · 스트리밍 소비 · 시각화</a:t>
            </a:r>
            <a:endParaRPr lang="en-US" sz="980" dirty="0"/>
          </a:p>
        </p:txBody>
      </p:sp>
      <p:sp>
        <p:nvSpPr>
          <p:cNvPr id="19" name="Shape 17"/>
          <p:cNvSpPr/>
          <p:nvPr/>
        </p:nvSpPr>
        <p:spPr>
          <a:xfrm>
            <a:off x="8138160" y="3017520"/>
            <a:ext cx="3602736" cy="1234440"/>
          </a:xfrm>
          <a:prstGeom prst="roundRect">
            <a:avLst>
              <a:gd name="adj" fmla="val 7407"/>
            </a:avLst>
          </a:prstGeom>
          <a:solidFill>
            <a:srgbClr val="1B2F66"/>
          </a:solidFill>
          <a:ln w="12700">
            <a:solidFill>
              <a:srgbClr val="31437F"/>
            </a:solidFill>
            <a:prstDash val="solid"/>
          </a:ln>
        </p:spPr>
      </p:sp>
      <p:sp>
        <p:nvSpPr>
          <p:cNvPr id="20" name="Text 18"/>
          <p:cNvSpPr/>
          <p:nvPr/>
        </p:nvSpPr>
        <p:spPr>
          <a:xfrm>
            <a:off x="8321040" y="3145536"/>
            <a:ext cx="3236976"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정인성   </a:t>
            </a:r>
            <a:pPr indent="0" marL="0">
              <a:buNone/>
            </a:pPr>
            <a:r>
              <a:rPr lang="en-US" sz="1050" b="1" dirty="0">
                <a:solidFill>
                  <a:srgbClr val="8FB0F8"/>
                </a:solidFill>
                <a:latin typeface="Malgun Gothic" pitchFamily="34" charset="0"/>
                <a:ea typeface="Malgun Gothic" pitchFamily="34" charset="-122"/>
                <a:cs typeface="Malgun Gothic" pitchFamily="34" charset="-120"/>
              </a:rPr>
              <a:t>사이드 기능</a:t>
            </a:r>
            <a:endParaRPr lang="en-US" sz="1400" dirty="0"/>
          </a:p>
        </p:txBody>
      </p:sp>
      <p:sp>
        <p:nvSpPr>
          <p:cNvPr id="21" name="Text 19"/>
          <p:cNvSpPr/>
          <p:nvPr/>
        </p:nvSpPr>
        <p:spPr>
          <a:xfrm>
            <a:off x="8321040" y="3529584"/>
            <a:ext cx="3236976" cy="603504"/>
          </a:xfrm>
          <a:prstGeom prst="rect">
            <a:avLst/>
          </a:prstGeom>
          <a:noFill/>
          <a:ln/>
        </p:spPr>
        <p:txBody>
          <a:bodyPr wrap="square" lIns="0" tIns="0" rIns="0" bIns="0" rtlCol="0" anchor="t"/>
          <a:lstStyle/>
          <a:p>
            <a:pPr indent="0" marL="0">
              <a:buNone/>
            </a:pPr>
            <a:r>
              <a:rPr lang="en-US" sz="980" dirty="0">
                <a:solidFill>
                  <a:srgbClr val="9DB0D8"/>
                </a:solidFill>
                <a:latin typeface="Malgun Gothic" pitchFamily="34" charset="0"/>
                <a:ea typeface="Malgun Gothic" pitchFamily="34" charset="-122"/>
                <a:cs typeface="Malgun Gothic" pitchFamily="34" charset="-120"/>
              </a:rPr>
              <a:t>미션 · 커뮤니티 확장</a:t>
            </a:r>
            <a:endParaRPr lang="en-US" sz="980" dirty="0"/>
          </a:p>
        </p:txBody>
      </p:sp>
      <p:sp>
        <p:nvSpPr>
          <p:cNvPr id="22" name="Text 20"/>
          <p:cNvSpPr/>
          <p:nvPr/>
        </p:nvSpPr>
        <p:spPr>
          <a:xfrm>
            <a:off x="548640" y="4800600"/>
            <a:ext cx="7680960" cy="1097280"/>
          </a:xfrm>
          <a:prstGeom prst="rect">
            <a:avLst/>
          </a:prstGeom>
          <a:noFill/>
          <a:ln/>
        </p:spPr>
        <p:txBody>
          <a:bodyPr wrap="square" lIns="0" tIns="0" rIns="0" bIns="0" rtlCol="0" anchor="t"/>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정보가 충분하면, 투자자는 현명하다.
</a:t>
            </a:r>
            <a:pPr indent="0" marL="0">
              <a:buNone/>
            </a:pPr>
            <a:r>
              <a:rPr lang="en-US" sz="1400" dirty="0">
                <a:solidFill>
                  <a:srgbClr val="8FB0F8"/>
                </a:solidFill>
                <a:latin typeface="Malgun Gothic" pitchFamily="34" charset="0"/>
                <a:ea typeface="Malgun Gothic" pitchFamily="34" charset="-122"/>
                <a:cs typeface="Malgun Gothic" pitchFamily="34" charset="-120"/>
              </a:rPr>
              <a:t>연금:KDA는 그 정보를 검증된 구조로 전합니다.</a:t>
            </a:r>
            <a:endParaRPr lang="en-US" sz="2000" dirty="0"/>
          </a:p>
        </p:txBody>
      </p:sp>
      <p:sp>
        <p:nvSpPr>
          <p:cNvPr id="23" name="Text 21"/>
          <p:cNvSpPr/>
          <p:nvPr/>
        </p:nvSpPr>
        <p:spPr>
          <a:xfrm>
            <a:off x="8412480" y="4892040"/>
            <a:ext cx="2971800" cy="548640"/>
          </a:xfrm>
          <a:prstGeom prst="rect">
            <a:avLst/>
          </a:prstGeom>
          <a:noFill/>
          <a:ln/>
        </p:spPr>
        <p:txBody>
          <a:bodyPr wrap="square" lIns="0" tIns="0" rIns="0" bIns="0" rtlCol="0" anchor="ctr"/>
          <a:lstStyle/>
          <a:p>
            <a:pPr algn="r" indent="0" marL="0">
              <a:buNone/>
            </a:pPr>
            <a:r>
              <a:rPr lang="en-US" sz="1900" b="1" dirty="0">
                <a:solidFill>
                  <a:srgbClr val="FFFFFF"/>
                </a:solidFill>
                <a:latin typeface="Malgun Gothic" pitchFamily="34" charset="0"/>
                <a:ea typeface="Malgun Gothic" pitchFamily="34" charset="-122"/>
                <a:cs typeface="Malgun Gothic" pitchFamily="34" charset="-120"/>
              </a:rPr>
              <a:t>감사합니다 · Q&amp;A</a:t>
            </a:r>
            <a:endParaRPr lang="en-US" sz="1900" dirty="0"/>
          </a:p>
        </p:txBody>
      </p:sp>
      <p:sp>
        <p:nvSpPr>
          <p:cNvPr id="24" name="Text 22"/>
          <p:cNvSpPr/>
          <p:nvPr/>
        </p:nvSpPr>
        <p:spPr>
          <a:xfrm>
            <a:off x="6583680" y="5486400"/>
            <a:ext cx="4800600" cy="274320"/>
          </a:xfrm>
          <a:prstGeom prst="rect">
            <a:avLst/>
          </a:prstGeom>
          <a:noFill/>
          <a:ln/>
        </p:spPr>
        <p:txBody>
          <a:bodyPr wrap="square" lIns="0" tIns="0" rIns="0" bIns="0" rtlCol="0" anchor="ctr"/>
          <a:lstStyle/>
          <a:p>
            <a:pPr algn="r" indent="0" marL="0">
              <a:buNone/>
            </a:pPr>
            <a:r>
              <a:rPr lang="en-US" sz="950" dirty="0">
                <a:solidFill>
                  <a:srgbClr val="6E7FA8"/>
                </a:solidFill>
                <a:latin typeface="Malgun Gothic" pitchFamily="34" charset="0"/>
                <a:ea typeface="Malgun Gothic" pitchFamily="34" charset="-122"/>
                <a:cs typeface="Malgun Gothic" pitchFamily="34" charset="-120"/>
              </a:rPr>
              <a:t>GitHub: KDA-securities · 발표 레퍼런스 문서 별도 제공</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연금:KDA — 발표자료</dc:title>
  <dc:subject>PptxGenJS Presentation</dc:subject>
  <dc:creator>KDA 증권</dc:creator>
  <cp:lastModifiedBy>KDA 증권</cp:lastModifiedBy>
  <cp:revision>1</cp:revision>
  <dcterms:created xsi:type="dcterms:W3CDTF">2026-07-22T02:43:35Z</dcterms:created>
  <dcterms:modified xsi:type="dcterms:W3CDTF">2026-07-22T02:43:35Z</dcterms:modified>
</cp:coreProperties>
</file>